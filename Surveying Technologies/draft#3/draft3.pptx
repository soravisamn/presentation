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7_0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D_0.xml" ContentType="application/vnd.ms-powerpoint.comments+xml"/>
  <Override PartName="/ppt/notesSlides/notesSlide4.xml" ContentType="application/vnd.openxmlformats-officedocument.presentationml.notesSlide+xml"/>
  <Override PartName="/ppt/comments/modernComment_10E_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10_0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1C_0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3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79" r:id="rId19"/>
    <p:sldId id="281" r:id="rId20"/>
    <p:sldId id="282" r:id="rId21"/>
    <p:sldId id="284" r:id="rId22"/>
    <p:sldId id="285" r:id="rId23"/>
    <p:sldId id="286" r:id="rId24"/>
    <p:sldId id="288" r:id="rId25"/>
    <p:sldId id="289" r:id="rId26"/>
    <p:sldId id="290" r:id="rId27"/>
    <p:sldId id="292" r:id="rId28"/>
    <p:sldId id="295" r:id="rId29"/>
    <p:sldId id="298" r:id="rId30"/>
    <p:sldId id="299" r:id="rId31"/>
    <p:sldId id="300" r:id="rId32"/>
    <p:sldId id="303" r:id="rId33"/>
    <p:sldId id="304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336" r:id="rId64"/>
    <p:sldId id="337" r:id="rId65"/>
    <p:sldId id="338" r:id="rId66"/>
    <p:sldId id="339" r:id="rId67"/>
    <p:sldId id="340" r:id="rId68"/>
    <p:sldId id="341" r:id="rId69"/>
    <p:sldId id="342" r:id="rId70"/>
    <p:sldId id="343" r:id="rId71"/>
    <p:sldId id="344" r:id="rId72"/>
    <p:sldId id="345" r:id="rId73"/>
    <p:sldId id="346" r:id="rId74"/>
    <p:sldId id="347" r:id="rId75"/>
    <p:sldId id="348" r:id="rId76"/>
    <p:sldId id="349" r:id="rId77"/>
    <p:sldId id="350" r:id="rId78"/>
    <p:sldId id="351" r:id="rId79"/>
    <p:sldId id="352" r:id="rId80"/>
    <p:sldId id="353" r:id="rId81"/>
    <p:sldId id="354" r:id="rId82"/>
    <p:sldId id="355" r:id="rId83"/>
    <p:sldId id="356" r:id="rId84"/>
    <p:sldId id="357" r:id="rId85"/>
    <p:sldId id="358" r:id="rId86"/>
    <p:sldId id="359" r:id="rId87"/>
    <p:sldId id="360" r:id="rId88"/>
    <p:sldId id="361" r:id="rId89"/>
    <p:sldId id="362" r:id="rId90"/>
    <p:sldId id="363" r:id="rId91"/>
    <p:sldId id="364" r:id="rId92"/>
    <p:sldId id="365" r:id="rId93"/>
    <p:sldId id="366" r:id="rId94"/>
    <p:sldId id="367" r:id="rId95"/>
    <p:sldId id="368" r:id="rId96"/>
    <p:sldId id="369" r:id="rId97"/>
    <p:sldId id="370" r:id="rId98"/>
    <p:sldId id="371" r:id="rId99"/>
    <p:sldId id="372" r:id="rId100"/>
    <p:sldId id="373" r:id="rId101"/>
    <p:sldId id="374" r:id="rId10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9B0316-D830-F671-275E-34A370945443}" name="soravis amnuaysarn" initials="sa" userId="f5c98df1a6ae588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73" autoAdjust="0"/>
    <p:restoredTop sz="88136" autoAdjust="0"/>
  </p:normalViewPr>
  <p:slideViewPr>
    <p:cSldViewPr snapToGrid="0" snapToObjects="1">
      <p:cViewPr varScale="1">
        <p:scale>
          <a:sx n="97" d="100"/>
          <a:sy n="97" d="100"/>
        </p:scale>
        <p:origin x="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F1FB4A-C442-40D6-856C-7DB364AE451D}" authorId="{0A9B0316-D830-F671-275E-34A370945443}" created="2026-10-07T09:47:51.30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2" creationId="{00000000-0000-0000-0000-000000000000}"/>
      <ac:txMk cp="0" len="25">
        <ac:context len="26" hash="2359142445"/>
      </ac:txMk>
    </ac:txMkLst>
    <p188:pos x="3571076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6F3EB6-862C-4FD3-BB92-B92836238F65}" authorId="{0A9B0316-D830-F671-275E-34A370945443}" created="2026-10-07T09:55:38.9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0"/>
      <ac:spMk id="2" creationId="{00000000-0000-0000-0000-000000000000}"/>
      <ac:txMk cp="0" len="39">
        <ac:context len="40" hash="2808953387"/>
      </ac:txMk>
    </ac:txMkLst>
    <p188:pos x="5517863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1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DE595B-C5F5-466B-ABAC-B61DA470B5EB}" authorId="{0A9B0316-D830-F671-275E-34A370945443}" created="2026-10-07T10:54:44.8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4"/>
      <ac:spMk id="2" creationId="{00000000-0000-0000-0000-000000000000}"/>
      <ac:txMk cp="0" len="46">
        <ac:context len="47" hash="1692469333"/>
      </ac:txMk>
    </ac:txMkLst>
    <p188:pos x="6973037" y="256622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D0F159-22DC-4781-BE38-2D2DB9239751}" authorId="{0A9B0316-D830-F671-275E-34A370945443}" created="2026-10-07T09:31:20.2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spMk id="2" creationId="{00000000-0000-0000-0000-000000000000}"/>
      <ac:txMk cp="0" len="48">
        <ac:context len="49" hash="1954804131"/>
      </ac:txMk>
    </ac:txMkLst>
    <p188:pos x="6918960" y="249555"/>
    <p188:txBody>
      <a:bodyPr/>
      <a:lstStyle/>
      <a:p>
        <a:r>
          <a:rPr lang="th-TH"/>
          <a:t>ใส่รูป</a:t>
        </a:r>
      </a:p>
    </p188:txBody>
  </p188:cm>
</p188:cmLst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96FBB3-2923-43B6-9E03-1D1434B277B8}" authorId="{0A9B0316-D830-F671-275E-34A370945443}" created="2026-10-07T10:24:52.5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2"/>
      <ac:spMk id="2" creationId="{00000000-0000-0000-0000-000000000000}"/>
      <ac:txMk cp="7" len="37">
        <ac:context len="45" hash="2509057227"/>
      </ac:txMk>
    </ac:txMkLst>
    <p188:pos x="6088134" y="256622"/>
    <p188:txBody>
      <a:bodyPr/>
      <a:lstStyle/>
      <a:p>
        <a:r>
          <a:rPr lang="th-TH"/>
          <a:t>ใส่รูป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C29F7-3B8A-49A8-8D51-0B0B64BF80C0}" type="datetimeFigureOut">
              <a:rPr lang="th-TH" smtClean="0"/>
              <a:t>07/10/69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DEAAF-1AC6-4292-8FFD-E94BA42EBA0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593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ข้อความบนสไลด์ 6 บรรทัดนี้เป็นความรู้ทั่วไปที่ยังไม่มีแหล่งอ้างอิง — เริ่มต้นด้วย: ขั้นวางแผน: ใช้ระดับความสูงและ… / ขั้นออกแบบ: วิศวกรใช้ระดับและค… / ขั้นก่อสร้าง: ผู้รับเหมาถ่ายทอ… / ผลต่อเนื่อง: ทุกขั้นอ้างอิงข้อ… / ที่มาที่ตรวจพบ งานสำรวจใช้ในกา… / หากการก่อสร้างมีความคลาดเคลื่อ…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ความคลาดเคลื่อนรวมกันทำให้ GNSS ที่ไม่ปรับแก้คลาดเคลื่อนราว 5–10 เมตร จึงต้องปรับแก้ก่อนนำไปใช้ในงานสำรวจ (ที่มา: swiftnav.com) ที่มาของข้อความที่เพิ่ม: cartrack.co.th/blog/gnss-khuue-aair, swiftnav.com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DGNSS (Differential GNSS): เทียบการวัดของเครื่อง Rover กับสถานีอ้างอิงที่ทราบพิกัด แล้วส่งค่าแก้ระยะ (Pseudorange Correction) ของดาวเทียมแต่ละดวง เพื่อกำจัดความคลาดเคลื่อนที่ทั้งสองเครื่องได้รับร่วมกัน ให้ความถูกต้องระดับต่ำกว่า 1 เมตรภายในระยะจำกัด (ที่มา: swiftnav.com) รอตรวจแหล่ง: SBAS (Satellite-Based Augmentation System): สถานีอ้างอิงภาคพื้นดินคำนวณค่าแก้ แล้วส่งผ่านดาวเทียมค้างฟ้า ครอบคลุมพื้นที่กว้างโดยไม่ต้องมีโครงสร้างพื้นฐานในพื้นที่ ให้ความถูกต้องราว 1–3 เมตร (ที่มา: swiftnav.com) รอตรวจแหล่ง: RTK (Real-Time Kinematic): ใช้การวัดเฟสคลื่นพาห์ (Carrier Phase) ร่วมกับข้อมูลรหัส แล้วแก้ค่าจำนวนเต็มไม่ทราบค่า (Integer Ambiguity) ด้วยการหาผลต่างสองชั้น (Double Differencing) ให้ความถูกต้องระดับ 1–2 เซนติเมตร ใช้เวลาเริ่มต้นราว 5 วินาที แต่ต้องอยู่ห่างสถานีฐานไม่เกินราว 20–30 กิโลเมตร (ที่มา: swiftnav.com) รอตรวจแหล่ง: PPP (Precise Point Positioning): ใช้ค่าแก้วงโคจร นาฬิกาดาวเทียม และบรรยากาศ จากสถานีอ้างอิงที่กระจายทั่วโลก ให้ความถูกต้องระดับเซนติเมตรทั่วโลก แต่ต้องรอให้ค่าลู่เข้าราว 10–30 นาที (ที่มา: swiftnav.com) รอตรวจแหล่ง: PPP-RTK: รวมการครอบคลุมทั่วโลกของ PPP เข้ากับการลู่เข้าเร็วของ RTK โดยส่งค่าแก้แยกเป็นองค์ประกอบ (State Space Representation, SSR) ที่ใช้ได้ทั้งภูมิภาค ให้ความถูกต้องราว 3–7 เซนติเมตร เริ่มต้นราว 10–30 วินาที (ที่มา: swiftnav.com) ที่มาของข้อความที่เพิ่ม: swiftnav.com ที่มา: https://www.swiftnav.com/resource/blog/what-are-the-different-types-of-gnss-corrections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Static Survey (การรังวัดแบบสถิต): เป็นการตั้งเครื่องรับสัญญาณ GNSS ไว้ ณ หมุดรังวัดนิ่งเป็นระยะเวลานาน (ตั้งแต่ 20 นาทีไปจนถึงหลายชั่วโมง) เพื่อบันทึกข้อมูลดิบ (RINEX) แล้วนำไปประมวลผลภายหลัง (Post-Processing) ในสำนักงาน รอตรวจแหล่ง: ระดับความแม่นยำและการใช้งาน: ให้ความถูกต้องสูงที่สุดระดับมิลลิเมตรถึงซับเซนติเมตร (±3–10 มม.) จึงเป็นวิธีมาตรฐานสำหรับสร้างและขยายโครงข่าย หมุดควบคุมหลัก (Control Networks/Benchmarks) งานรังวัดทางธรณีวิทยา งานติดตามการเคลื่อนตัวของโครงสร้าง และการรังวัดเชื่อมโยงกับระบบพิกัดหลักของประเทศ รอตรวจแหล่ง: เครื่องรับ GNSS ตั้งแต่ 2 เครื่องขึ้นไปสังเกตดาวเทียมชุดเดียวกันพร้อมกันเป็นเวลานาน โดยเครื่องอยู่นิ่ง บันทึกการวัดเฟสคลื่นพาห์ (Carrier Phase) แล้วนำไปประมวลผลภายหลัง ทำให้แก้ค่าจำนวนเต็มไม่ทราบค่า (Integer Ambiguity) ได้เชื่อถือกว่าการแก้แบบเรียลไทม์ (ที่มา: apeksgnss.com/blog/what-is-static-gnss-survey-explained) รอตรวจแหล่ง: เวลาสังเกตการณ์ขึ้นกับความยาวเส้นฐาน: ไม่เกิน 20 กม. ประมาณ 20–30 นาที, 20–100 กม. ประมาณ 1–4 ชั่วโมง, เกิน 100 กม. ตั้งแต่ 4 ชั่วโมงขึ้นไป (ที่มา: apeksgnss.com/blog/what-is-static-gnss-survey-explained) รอตรวจแหล่ง: ให้ความถูกต้องสูงกว่า RTK: Static ประมาณ ±3–10 มม. ทางราบ และ ±5–15 มม. ทางดิ่ง ส่วน RTK ประมาณ ±8–15 มม. ทางราบ เพราะสังเกตนานทำให้แก้ค่า Ambiguity ได้น่าเชื่อถือและเฉลี่ยความคลาดเคลื่อนจากบรรยากาศได้ดีกว่า (ที่มา: apeksgnss.com) รอตรวจแหล่ง: เหมาะกับงานสร้างโครงข่ายหมุดควบคุม งานควบคุมทางธรณีมาตรและที่ดิน และงานติดตามการทรุดตัวหรือการเคลื่อนตัวของโครงสร้าง ซึ่งความละเอียดระดับ ±3 มม. ตรวจจับการเคลื่อนที่ที่ RTK มองไม่เห็นได้ (ที่มา: apeksgnss.com) รอตรวจแหล่ง: ข้อแลกเปลี่ยน: ต้องประมวลผลภายหลัง ใช้เวลา 20 นาทีถึงหลายชั่วโมงต่อจุด ขณะที่ RTK ได้ผลทันทีและใช้เวลาราว 10–30 วินาทีต่อจุด จึงเหมาะกับงานปักหมุดและสำรวจรายละเอียด (ที่มา: apeksgnss.com) ที่มาของข้อความที่เพิ่ม: apeksgnss.com/blog/what-is-static-gnss-survey-explained</a:t>
            </a:r>
          </a:p>
          <a:p>
            <a:endParaRPr/>
          </a:p>
          <a:p>
            <a:r>
              <a:t>อ้างอิงต้นทาง: [29][30][31][32][33][34][35]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CORS (Continuously Operating Reference Station): สถานีรับสัญญาณ GNSS ถาวรที่บันทึกข้อมูลตลอด 24 ชั่วโมง รอตรวจแหล่ง: LRTN (กรมที่ดิน): เครือข่ายสถานีมากกว่า 600 สถานีทั่วประเทศ ออกแบบรองรับงานรังวัดที่ดิน ออกโฉนด อ้างอิงระบบพิกัด WGS84 และแปลงเป็น Indian 1975 (UTM)</a:t>
            </a:r>
          </a:p>
          <a:p>
            <a:endParaRPr/>
          </a:p>
          <a:p>
            <a:r>
              <a:t>อ้างอิงต้นทาง: [37][39][40][41][42][43][36][28][38]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[28][46][32][48]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[1][2][4][6][14]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[3][1][4][5]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การรังวัดย้อนหาตำแหน่งตั้งกล้อง (Resection): สามารถตั้งกล้องบนจุดสุ่มที่ยังไม่ทราบพิกัด แล้วส่องรังวัดมุมและระยะไปยังหมุดอ้างอิงที่ทราบพิกัดตั้งแต่ 2 จุดขึ้นไป เพื่อให้ระบบในตัวกล้องคำนวณหาตำแหน่งพิกัดจุดตั้งกล้องได้ทันที รอตรวจแหล่ง: หมายเหตุ: ชุดมาตรฐาน ISO 17123 (เช่น ส่วนที่ 5 สำหรับ Total Station) เป็นขั้นตอนทดสอบความแม่นยำของตัวเครื่องมือ ไม่ใช่เกณฑ์ปิดวงรอบของ Traverse [รอตรวจสอบที่มาของอ้างอิง  เดิมที่ระบุ ISO 17123-3]</a:t>
            </a:r>
          </a:p>
          <a:p>
            <a:endParaRPr/>
          </a:p>
          <a:p>
            <a:r>
              <a:t>อ้างอิงต้นทาง: [5][7][6][9]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[11][12][4][14][13][6]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ส่วนซ้อนในแนวบิน (Forward Overlap): กำหนดให้อยู่ที่ 70–80% (เกณฑ์มาตรฐานทั่วไปแนะนำไม่น้อยกว่า 75%) เพื่อให้รูปภาพประชิดมีจุดเด่นร่วมกันเพียงพอสำหรับการประมวลผลปรับเกลี่ยบล็อกภาพถ่าย (Bundle Adjustment) รอตรวจแหล่ง: ส่วนเกยระหว่างแนวบิน (Sidelap): กำหนดให้อยู่ที่ 60–75% (เกณฑ์มาตรฐานทั่วไปแนะนำไม่น้อยกว่า 60%) เพื่อเชื่อมโยงโครงข่ายภาพถ่ายทางข้าง ลดความบิดเบี้ยวบริเวณขอบพื้นที่ ที่มาของข้อความที่เพิ่ม: Thammaboribal et al. 2026, Thammaboribal et al. 2026 (ไฟล์ 4861-Article Text… ในโฟลเดอร์ 6) และ Semantic Scholar PDF จาก links.txt บท 4</a:t>
            </a:r>
          </a:p>
          <a:p>
            <a:endParaRPr/>
          </a:p>
          <a:p>
            <a:r>
              <a:t>อ้างอิงต้นทาง: [1][3]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ระยะพื้นต่อพิกเซล (Ground Sampling Distance - GSD): ระยะทางจริงบนดินที่ครอบคลุมโดย 1 พิกเซลในภาพถ่าย (เช่น 1–3. ซม./พิกเซล) ค่า GSD ยิ่งเล็ก ภาพจะยิ่งมีความละเอียดและให้ความถูกต้องเชิงตำแหน่งสูงขึ้น รอตรวจแหล่ง: GCP (Ground Control Point): เป้าบนพื้นดินรูปกากบาทหรือตารางหมากรุกที่มีสีตัดกับพื้นผิว (ขนาดกว้าง/ยาวไม่น้อยกว่า 25 เท่าของค่า GSD) ซึ่งผ่านการรังวัดพิกัดจริงด้วย GNSS RTK ใช้ดึงและยึดโยงโมเดลเข้ากับระบบพิกัดจริงบนดิน ขจัดความคลาดเคลื่อนทางเรขาคณิต (เช่น ปัญหารูปทรงแอ่นโค้งแบบ Doming Effect) รอตรวจแหล่ง: *Consumer Grade (โดรนทั่วไป)*: ใช้ GCP อย่างน้อย 9 จุด ต่อบล็อกการบิน กระจายสม่ำเสมอห่างกันไม่เกิน 200 เมตร รอตรวจแหล่ง: *Professional Grade*: ใช้ GCP อย่างน้อย 5 จุด ระยะห่างไม่เกิน 500 เมตร รอตรวจแหล่ง: *Survey Grade (โดรน RTK/PPK)*: ใช้ GCP เพียง 2 จุดขึ้นไป ต่อเที่ยวบิน เพื่อควบคุมและดึงระดับพิกัด</a:t>
            </a:r>
          </a:p>
          <a:p>
            <a:endParaRPr/>
          </a:p>
          <a:p>
            <a:r>
              <a:t>อ้างอิงต้นทาง: [10][8][14][24][12][15][5][20][21][22][23]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[5][3][30]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Multirotor (โดรนหลายใบพัด): ขึ้น-ลงทางดิ่งได้สะดวก เหมาะสำหรับพื้นที่ขนาดเล็กถึงปานกลาง (ประมาณ 1–5 ตร.กม.) และงานเก็บรายละเอียดอาคาร/โครงสร้าง รอตรวจแหล่ง: Fixed-Wing / VTOL (โดรนปีกไฟว์ / โดรนปีกไฟว์ขึ้นลงทางดิ่ง): บินได้ไกลและนาน ครอบคลุมพื้นที่ได้หลายตารางกิโลเมตรต่อ 1 เที่ยวบิน เหมาะสำหรับงานแนวระเบียงยาว (Corridor Mapping) ถนน ทางรถไฟ และผังเมืองขนาดใหญ่</a:t>
            </a:r>
          </a:p>
          <a:p>
            <a:endParaRPr/>
          </a:p>
          <a:p>
            <a:r>
              <a:t>อ้างอิงต้นทาง: [33][34][39][40][7][37][38]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ระบบวัดระยะทางแบบ Active Sensing: LiDAR (Light Detection and Ranging) เป็นระบบสำรวจระยะไกลแบบส่งสัญญาณเอง (Active) โดยยิงพัลส์เลเซอร์ (เช่น คลื่นอินฟราเรดใกล้ / Near Infrared ความยาวคลื่น 1550 นาโนเมตร) ออกไปกระทบวัตถุหรือพื้นผิว แล้วรับสัญญาณสะท้อนกลับมา รอตรวจแหล่ง: คุณสมบัติสะท้อนกลับหลายครั้ง (Multiple Returns): พัลส์เลเซอร์ 1 พัลส์ สามารถสะท้อนกลับได้หลายครั้ง (เช่น First return สะท้อนจากยอดไม้, Intermediate returns สะท้อนจากกิ่งก้าน, และ Last return สะท้อนจากพื้นดิน) ทำให้ LiDAR มีศักยภาพสูงในการเจาะผ่านช่องว่างทรงพุ่มไม้ลงไปวัดระดับพื้นดินจริงใต้ต้นไม้ได้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ให้ความถูกต้องทางดิ่งสูงระดับ 1–3 เซนติเมตร ถึง 15 เซนติเมตร ขึ้นอยู่กับระดับความสูงบินและสเปกของเซนเซอร์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มีการกำหนดรหัสประเภทจุดมาตรฐาน (ASPRS Standard Point Classes) เช่น Class 1: Unclassified, Class 2: Ground, Class 3–5: Low/Medium/High Vegetation, Class 6: Building, Class 7: Low Point (Noise), Class 9: Water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กำหนดขนาดเซลล์กริด (เช่น 0. เมตร) และใช้ Search Radius ในการประมาณค่าเชิงพื้นที่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 (แถว ความถูกต้องเชิงตำแหน่ง (Positional Accuracy)): Photogrammetry (Drone): พื้นที่เปิดโล่งที่ใช้ RTK/PPK ร่วมกับ GCPs: ทางราบประมาณ 1–3 ซม. ทางดิ่งประมาณ 2–4 ซม. ลดลงมากในพื้นที่ป่าหรือพืชพรรณหนาแน่น; LiDAR: พื้นที่เปิดโล่งเงื่อนไขเดียวกัน: ทางราบประมาณ 2–5 ซม. ทางดิ่งประมาณ 1–3 ซม. (หรือ ±2–15 ซม. สำหรับระบบอากาศยาน) วัดระยะดิ่งโดยตรง จึงสม่ำเสมอกว่า รอตรวจแหล่ง (แถว ความละเอียดและคุณลักษณะข้อมูล (Resolution &amp; Attributes)): Photogrammetry (Drone): กำหนดโดย GSD (เช่น 1–3.5 ซม./พิกเซล) ภาพคมชัดสมจริงและมีสี RGB สูง; LiDAR: กำหนดโดย Point Density (เช่น 50–200+ จุด/ตร.ม. สำหรับโดรน) เรขาคณิตหนาแน่นแม่นยำ ข้อมูลดิบมีเฉพาะ Intensity ต้องติดกล้อง RGB เพิ่มหากต้องการสี ยังไม่มีข้อมูลในต้นฉบับ (แถว ระยะเวลาการสำรวจ): ต้นฉบับระบุเพียงว่าใช้เวลาประมวลผล SfM นานกว่า ยังไม่มีข้อมูลเวลาบินเก็บข้อมูลในต้นฉบับ | ยังไม่มีข้อมูลในต้นฉบับ (ต้นฉบับระบุว่าต้องใช้ทักษะกรองจุดพื้นดิน Ground Filtering) รอตรวจแหล่ง (แถว ต้นทุน): Photogrammetry (Drone): ชุดโดรนประมาณ $2,000–$30,000; LiDAR: ชุดโดรน LiDAR ประมาณ $15,000–$350,000+ เซนเซอร์และ GNSS/IMU ราคาสูงกว่ามาก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ส่งคลื่นเสียงลงไปตรงๆ เป็นลำคลื่นแคบเพียงลำเดียว ได้ข้อมูลความลึกเป็นจุดเดี่ยวต่อการส่ง 1 ครั้ง (Single point per ping)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ส่งคลื่นเสียงออกเป็นแถบพัดกระจายหลายลำคลื่นพร้อมกัน (Wide Swath / Fan-shaped) ทำให้ได้ข้อมูลครอบคลุมพื้นที่พื้นท้องน้ำ 100% (100% Bottom Ensonification Coverage) ได้ผลลัพธ์เป็นกลุ่มจุด 3 มิติ (3D Point Cloud) ความละเอียดสูงระดับเซนติเมตร ตลอดจนข้อมูลความเข้มการสะท้อนกลับ (Backscatter) เพื่อจำแนกประเภทวัสดุพื้นท้องน้ำ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การวางแนวรังวัดภาคสนาม (Survey Line Planning): กำหนดแนวรังวัดเป็นเส้นตัดขวางลำน้ำ (Cross-section lines) และแนวตัดตามยาว (Longitudinal profile lines) โดยวางระยะห่างของแนวรังวัดให้เหมาะสมกับขนาดและความซับซ้อนของลำน้ำ (เช่น แนวตัดขวางทุกๆ 5 เมตร และแนวตัดตามยาวทุกๆ 25 เมตร ในงานสำรวจคลอง)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ความลาดชัน (Slope Analysis): คำนวณอัตราการเปลี่ยนแปลงความสูงต่อระยะทางทางราบ (แสดงผลเป็นองศา 0–90 องศา หรือเปอร์เซ็นต์) สำหรับประเมินความเสี่ยงและเลือกพื้นที่เหมาะสม รอตรวจแหล่ง: ทิศทางความลาดชัน (Aspect Analysis): คำนวณทิศทางที่ความลาดชันหันไป (ทิศทางตามเข็มนาฬิกา 0–360 องศา จากทิศเหนือ) ซึ่งสำคัญต่อการประเมินการรับรังสีอาทิตย์ ลม ปริมาณฝน และสภาพจุลภาคทางภูมิอากาศ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กระบวนการลำดับชั้นเชิงวิเคราะห์ (AHP - Analytic Hierarchy Process): ประยุกต์ใช้เทคนิคของ Saaty โดยคำนวณเปรียบเทียบความสำคัญทีละคู่ (Pairwise Comparison Matrix - PCM) บนสเกล 1–9 ร่วมกับความคิดเห็นของผู้เชี่ยวชาญ เพื่อกำหนดน้ำหนักความสำคัญถ่วงน้ำหนัก (Normalized Weights) ให้แก่แต่ละชั้นปัจจัย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องค์ประกอบหลัก 3 ประการของ Spatial Database (เช่น PostGIS และ Geodatabase):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TIN (Triangulated Irregular Network): โครงสร้างเวกเตอร์ที่เชื่อมโยงจุดพิกัดความสูงสุ่ม (Nodes / Mass points) เข้าด้วยกันเป็นพื้นผิวสามเหลี่ยมที่ไม่ซ้อนทับกัน (Faces) ตามหลัก Delaunay Triangulation จุดเด่นของ TIN คือสามารถปรับความหนาแน่นของสามเหลี่ยมตามความขรุขระของพื้นที่ (ใช้โครงข่ายหนาแน่นในพื้นที่ชัน/ขรุขระ และใช้โครงข่ายเบาบางในพื้นที่ราบ) พร้อมรองรับการป้อน Breaklines (เช่น แนวสันเขา คันดิน ขอบถนน หรือลำน้ำ) เพื่อบังคับไม่ให้ขอบสามเหลี่ยมลากข้ามแนวโครงสร้างจริง ทำให้ได้ภูมิประเทศที่มีความถูกต้องทางกายภาพสูง4.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DTM ถูกนำไปใช้เป็นฐานเรขาคณิตสำหรับการคำนวณปริมาณงานดินตัด-ดินถม (Earthwork Cut-and-Fill Volumes), การวิเคราะห์ทางอุทกวิทยาและการไหลของน้ำ (Hydrological &amp; Flood Modeling) และการวิเคราะห์คุณลักษณะทางภูมิประเทศ เช่น ความลาดชัน (Slope), ทิศทางความลาดชัน (Aspect) และทัศนวิสัยการมองเห็น (Viewshed)4.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Metric Reference (ข้อมูลอ้างอิงมิติทางกายภาพจริง): ใช้เป็นฐานอ้างอิงมิติที่แม่นยำสำหรับการสร้าง ควบคุม และตรวจสอบแบบจำลอง 3 มิติ1618. รอตรวจแหล่ง: Deformation &amp; Structural Monitoring: ใช้ตรวจสอบและวัดการเคลื่อนตัว การทรุดตัว (Settlement), การเอียง (Tilt), รอยแตกร้าว (Cracking), ตรวจสอบระยะปลอดภัยขอบเขตโครงสร้างรถไฟ (Structure-Gauge / Clearance Inspection) และตรวจสอบหน้าตัดคันหินคันทาง (Ballast Profile) ด้วยความแม่นยำระดับมิลลิเมตร8.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ระดับความก้าวหน้าทางดิจิทัล: แยกความแตกต่างชัดเจนระหว่าง Digital Model (มีเฉพาะโมเดลเรขาคณิต 3D), Digital Shadow (มีข้อมูลไหลทางเดียวจากกายภาพไปดิจิทัล) และ Digital Twin (มีข้อมูลไหลและตอบกลับสองทางแบบอัตโนมัติ)3132.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Input Stage: นำข้อมูลเรขาคณิตความละเอียดสูงจาก Point Cloud (TLS, SLAM, UAV) และโมเดล Scan-to-BIM มาสร้างเป็นฐานเรขาคณิตเสมือน1233. รอตรวจแหล่ง: Sensing &amp; Integration Stage: เชื่อมโยงโมเดล 3D เข้ากับเครือข่ายเซนเซอร์ตรวจวัดสด (IoT / Physical Sensors) ผ่านสัญญาณไร้สาย (เช่น 4G, LoRaWAN, REST APIs) เซนเซอร์ที่นิยมใช้ ได้แก่ เซนเซอร์วัดความเค้น/การยืดหด (Fiber Optic / Strain Gauges), เครื่องวัดการสั่นสะเทือน (Vibrometers), เซนเซอร์วัดการเอียง (Tilt Sensors), เครื่องวัดระดับน้ำ (Stage Gauges / Piezometers), เครื่องวัดปริมาณฝน (Rain Gauges) และเครื่องวัดกระแสน้ำ (ADCP)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งานเฝ้าระวังภัยพิบัติน้ำท่วมและลุ่มน้ำเมือง (Hydro-Pluviometric Monitoring): โครงการแม่น้ำไทเบอร์ (Tiber River) ในกรุงโรม ซึ่งสร้าง Point Cloud และโมเดล Scan-to-BIM ของสะพาน 16 แห่งและตลิ่ง บูรณาการเข้ากับระบบ WebGIS และเซนเซอร์อุทกศาสตร์เพื่อบริหารจัดการความเสี่ยงน้ำท่วมและการบำรุงรักษาตลิ่งตามเงื่อนไขจริง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กำหนดคุณภาพ Point Cloud: ควบคุมค่า Accuracy, Resolution และ Coverage ให้สอดคล้องกับวัตถุประสงค์4952. รอตรวจแหล่ง: ประโยชน์และการใช้งาน: ใช้จัดทำแบบจำลองสภาวะจริง (As-is / As-built BIM) สำหรับอาคารเดิมที่ไม่มีแบบแปลนดิจิทัล, งานบูรณะอนุรักษ์โบราณสถานและมรดกทางวัฒนธรรม, การวิเคราะห์แบบจำลองพลังงานและภัยอพยพ, และการจำลองมิติเวลาและความปลอดภัยไซต์งาน (4D Construction Safety Simulation)5758.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การประยุกต์ใช้ Mobile LiDAR ร่วมกับปัญญาประดิษฐ์โครงข่ายประสาทเทียม (Deep Learning เช่น PointNet++) เพื่อสกัดองค์ประกอบของถนนแบบ 3 มิติ ระบบสามารถจำแนกประเภทวัตถุ (Semantic Segmentation) ได้แก่ พื้นถนน, เสาไฟฟ้า, ยานพาหนะ, ต้นไม้ และอาคาร โดยได้ค่าความแม่นยำรวมสูงถึง 92.4% และค่า mIoU 0.846 รอตรวจแหล่ง: สามารถวัดค่าพารามิเตอร์ทางวิศวกรรมได้อย่างแม่นยำระดับซับเซนติเมตร (RMSE เฉลี่ย 0. ซม.) เช่น ความกว้างช่องจราจร, ความยาวเส้นทาง, ขนาดทางข้ามหมากลาย และความสูงเสาไฟฟ้า รอตรวจแหล่ง: ช่วยลดระยะเวลาประมวลผลข้อมูลภาคสนามด้วยมือลงได้ถึง 85% (จากเดิม 40 ชั่วโมง เหลือเพียง 6 ชั่วโมงต่อกิโลเมตร) รอตรวจแหล่ง: การนำ Mobile LiDAR และ Photogrammetry มาสร้างดิจิทัลทวิน (Digital Twin) สำหรับบริหารโครงสร้างพื้นฐาน เช่น โครงการของ Georgia Department of Transportation (GDOT) ที่ดึงข้อมูลสินทรัพย์ทางหลวงกว่า 80,000 ไมล์ เปลี่ยน "Dark Data" หรือข้อมูลซ่อนเร้น ให้กลายเป็นฐานข้อมูลเชิงพื้นที่เพื่อการวางแผนและตั้งงบประมาณ รอตรวจแหล่ง: กรณีศึกษา เมือง Perry, Iowa ใช้ Mobile LiDAR สแกนเมืองทั้งเมือง (ปริมาณข้อมูล 4. Terabytes) เพื่อสร้าง 3D Reality Mesh ในการบริหารจัดการสินทรัพย์โครงสร้างพื้นฐานสีเทา (ถนน, ทางเท้า, ขอบถนน) ร่วมกับโครงสร้างพื้นฐานสีเขียว (ต้นไม้, พื้นที่ธรรมชาติ)</a:t>
            </a:r>
          </a:p>
          <a:p>
            <a:endParaRPr/>
          </a:p>
          <a:p>
            <a:r>
              <a:t>อ้างอิงต้นทาง: [8][1][2][3][4][5][6][7]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การใช้เครื่องหยั่งความลึกแบบหลายลำคลื่น (Multibeam Echo Sounder - MBES) ในการสแกนพื้นผิวใต้น้ำแบบครอบคลุม 100% เพื่อสร้างแบบจำลอง 3 มิติความละเอียดสูงสำหรับทางน้ำ โครงสร้างใต้น้ำ และการศึกษาสัณฐานธารน้ำ</a:t>
            </a:r>
          </a:p>
          <a:p>
            <a:endParaRPr/>
          </a:p>
          <a:p>
            <a:r>
              <a:t>อ้างอิงต้นทาง: [12][14][15][16][17][18][13]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งานวิจัยสำรวจคันทางถนนในจังหวัดลำปาง พบว่าการคำนวณปริมาตรดินจาก UAV มีค่าต่างจากการสำรวจด้วยกล้องสถานีรวม (Total Station) เพียง 8% (UAV คำนวณได้ 570. ลบ.ม. vs Total Station 620. ลบ.ม.) รอตรวจแหล่ง: โครงการสำรวจปริมาณดินถมก่อนก่อสร้างอาคารด่านพรมแดนสระแก้ว พบว่าปริมาณดินถมที่คำนวณจาก UAV ต่างจากรายการวัสดุและค่าใช้จ่าย (BOQ) อยู่ 9.79% รอตรวจแหล่ง: การสำรวจด้วย LiDAR บน UAV (เช่น YellowScan Mapper บน DJI Matrice 300 RTK) ในพื้นที่เขาใหญ่ 3,000 ไร่ สามารถเก็บข้อมูลภูมิประเทศได้อย่างรวดเร็ว โดยมีค่าความคลาดเคลื่อนทางดิ่งเฉลี่ยไม่เกิน 5 เซนติเมตร</a:t>
            </a:r>
          </a:p>
          <a:p>
            <a:endParaRPr/>
          </a:p>
          <a:p>
            <a:r>
              <a:t>อ้างอิงต้นทาง: [14][15][26][27][19][8][22][23]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จังหวัดนครศรีธรรมราช (1990–2025): พบการกัดเซาะรุนแรงบริเวณอ่าวปากพนังและบ้านเกาะทัง (อัตราการถอยร่น -3 ถึง -5 ม./ปี และบางจุดวิกฤตเกิน -30 ม./ปี) ในขณะที่บริเวณแหลมตะลุมพุกเกิดการทับถมของตะกอนงอกออกไป (+32. ม./ปี) รอตรวจแหล่ง: เกาะคอเขา และบ้านน้ำเค็ม จ.พังงา: การคำนวณอัตราการกัดเซาะจำแนกเป็นระดับรุนแรง (&gt; -5 ม./ปี) และปานกลาง (-1 ถึง -5 ม./ปี) ซึ่งพบว่าการสร้างกำแพงกันคลื่น (Seawall) หลังเกิดสึนามิกลายเป็นปัจจัยเร่งการกัดเซาะในพื้นที่ข้างเคียง รอตรวจแหล่ง: หาดนาใต้-หาดเขาปิหลาย จ.พังงา: การใช้ UAV DSM เปรียบเทียบสัณฐานชายหาดช่วงมรสุมและหลังมรสุม พบความแม่นยำสูงเมื่อเทียบกับ RTK ภาคสนาม (RMSE ความสูง 0. - 0. เมตร) ช่วยแสดงการเปลี่ยนแปลงความลาดชันและปริมาณเนินทรายได้อย่างชัดเจน</a:t>
            </a:r>
          </a:p>
          <a:p>
            <a:endParaRPr/>
          </a:p>
          <a:p>
            <a:r>
              <a:t>อ้างอิงต้นทาง: [28][33][32][34][35][36]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[37][38][39][40][41][42][43]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การจัดหมวดหมู่และการแบ่งแยกพื้นที่เชิงความหมาย (Semantic Segmentation): AI สามารถจำแนกวัตถุและคุณลักษณะของพื้นที่ออกจากกันได้อย่างแม่นยำสูง เช่น แยกพื้นถนน, เสาไฟฟ้า, ยานพาหนะ, ต้นไม้, อาคาร, สายไฟ และท่อใต้ดิน. ตัวอย่างเช่น การใช้โมเดล PointNet++ ประมวลผลข้อมูล Mobile LiDAR บนถนนเมืองเบงกาลูรู สามารถแยกแยะวัตถุหลัก 5 ประเภท ได้ความแม่นยำรวมสูงถึง 92.4% และค่า mIoU 0.846.</a:t>
            </a:r>
          </a:p>
          <a:p>
            <a:endParaRPr/>
          </a:p>
          <a:p>
            <a:r>
              <a:t>อ้างอิงต้นทาง: [1][5][12][17][7]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การสกัดเรขาคณิตถนนและบัญชีสินทรัพย์ (Road Geometry &amp; Asset Inventory): เทคโนโลยี Mobile LiDAR ร่วมกับ AI สามารถวัดขนาดองค์ประกอบทางวิศวกรรมได้อัตโนมัติ เช่น ความกว้างช่องจราจร (Lane width), ความยาวเส้นทาง, ขนาดทางข้ามหมากลาย (Zebra crossing) และความสูงเสาไฟฟ้า โดยมีความคลาดเคลื่อนต่ำในระดับซับเซนติเมตร (RMSE เฉลี่ยเพียง 0. ซม.). รอตรวจแหล่ง: การลดเวลาและต้นทุนอย่างมหาศาล: กระบวนการสกัดข้อมูลอัตโนมัติช่วยลดเวลาการทำงานด้วยมือ (Manual processing) ลงได้ถึง 85% (ลดเวลาจาก 40 ชั่วโมง เหลือเพียง 6 ชั่วโมงต่อกิโลเมตร) และลดค่าใช้จ่ายด้านแรงงานในสัดส่วนเท่ากัน. รอตรวจแหล่ง: การกู้คืนข้อมูลซ่อนเร้น (Unlocking "Dark Data"): ระบบ Generative AI และ Feature Recognition สามารถอ่านแบบ CAD ดั้งเดิม, เลเยอร์ GIS และบันทึกประวัติศาสตร์ เพื่อดึงคุณลักษณะของสินทรัพย์ที่ไม่เคยถูกจัดหมวดหมู่มาก่อน มาแปลงเป็นฐานข้อมูลเชิงพื้นที่ที่ใช้งานได้จริง (เช่น โครงการ Georgia DOT ที่สกัดข้อมูลถนนกว่า 80,000 ไมล์).</a:t>
            </a:r>
          </a:p>
          <a:p>
            <a:endParaRPr/>
          </a:p>
          <a:p>
            <a:r>
              <a:t>อ้างอิงต้นทาง: [4][1][29]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อ้างอิงต้นทาง: [32][35]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การบูรณาการ RTK GNSS ร่วมกับ SLAM (Drift Elimination): ระบบ SLAM แบบบริสุทธิ์มักเกิดปัญหา SLAM Drift (ความคลาดเคลื่อนสะสมตามระยะทางเดิน ซึ่งอาจเบี่ยงเบนได้ 50 ซม. ถึงมากกว่า 1 เมตร ทุกๆ ระยะ 500 เมตร) การนำ RTK GNSS ที่มีความแม่นยำระดับเซนติเมตรเข้ามาดึงปรับใน Factor Graph Optimization ช่วยขจัด Drift ได้แบบเรียลไทม์ ทำให้ค่าพิกัดสัมบูรณ์กลางแจ้งมีความแม่นยำสูงถึง ≤ 2 ซม.. รอตรวจแหล่ง: การผสานเซนเซอร์หลายรูปแบบ (Multi-Sensor Fusion): การทำงานร่วมกันระหว่างเซนเซอร์วัดการเคลื่อนที่ IMU ความถี่สูง (200Hz), กล้องบันทึกภาพถ่าย RGB, เครื่องรับสัญญาณ RTK GNSS และ LiDAR ช่วยให้การสำรวจดำเนินไปอย่างต่อเนื่องและไม่มี Drift แม้จะเดินเข้า-ออกระหว่างพื้นที่กลางแจ้งและพื้นที่ร่ม/อาคารที่อับสัญญาณดาวเทียม.</a:t>
            </a:r>
          </a:p>
          <a:p>
            <a:endParaRPr/>
          </a:p>
          <a:p>
            <a:r>
              <a:t>อ้างอิงต้นทาง: [41][9][43]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แบบจำลองระดับเมืองและระดับชาติ (City &amp; National Scale Twins): ตัวอย่างเช่น Virtual Singapore ที่บูรณาการข้อมูล GIS 3 มิติ, LiDAR และเซนเซอร์ IoT จากกว่า 100 หน่วยงาน เพื่อจำลองการจราจร, การไหลเวียนความร้อน และการวางผังเมือง หรือ Perry, Iowa ที่สร้างดิจิทัลทวินครอบคลุมทั้งเมืองเพื่อบริหารจัดการโครงสร้างพื้นฐานสีเทา (ถนน, ทางเท้า) และสีเขียว (พื้นที่ป่าไม้). รอตรวจแหล่ง: ความยั่งยืนและการลดผลกระทบสิ่งแวดล้อม: ช่วยลดการเดินทางลงพื้นที่สำรวจซ้ำซ้อน (ลดการปล่อยก๊าซเรือนกระจก), ประหยัดงบประมาณบำรุงรักษา (เช่น กรมขนส่งฮาวายประหยัดได้ 940,000 ต่อปี) และเพิ่มความปลอดภัยให้กับเจ้าหน้าที่.</a:t>
            </a:r>
          </a:p>
          <a:p>
            <a:endParaRPr/>
          </a:p>
          <a:p>
            <a:r>
              <a:t>อ้างอิงต้นทาง: [52][57][10][62][65][66][9]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โน้ตผู้บรรยาย: รอตรวจแหล่ง: การบรรลุจุดสมดุลของการสำรวจ (The Surveying Sweet Spot): การหลอมรวมระหว่าง LiDAR, RTK GNSS, AI และ Cloud Processing ทำให้งานสำรวจบรรลุความสมบูรณ์แบบทั้ง 4 ด้านพร้อมกัน คือ ความถูกต้องสูง (High Accuracy), ความรวดเร็ว (Speed), ความคุ้มค่าด้านต้นทุน (Cost Efficiency) และ ความปลอดภัยของเจ้าหน้าที่ (Safety).</a:t>
            </a:r>
          </a:p>
          <a:p>
            <a:endParaRPr/>
          </a:p>
          <a:p>
            <a:r>
              <a:t>อ้างอิงต้นทาง: [1][17]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0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D_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C_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เทคโนโลยีการสำรวจภูมิประเทศในปัจจุบัน: จากการรังวัดภาคสนามสู่การสำรวจเชิงดิจิทัล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Draft #3 · ยังไม่ตกแต่ง · ตัวเลขอยู่ในโน้ตผู้บรรยายและรอตรวจแหล่งที่มา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บทนำและความสำคัญของงานสำรวจภูมิประเทศ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1.1 ความสำคัญของข้อมูลภูมิประเทศต่อการออกแบบและก่อสร้าง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ข้อมูลภูมิประเทศเป็นข้อมูลพื้นฐานที่สุดของงานวางแผน, ออกแบบ, และก่อสร้าง ได้แก่ ระดับความสูง, ความลาดชัน, ขอบเขตพื้นที่, และตำแหน่งของสิ่งปลูกสร้าง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636F5-4E00-5845-3638-71892E9A2E46}"/>
              </a:ext>
            </a:extLst>
          </p:cNvPr>
          <p:cNvSpPr txBox="1"/>
          <p:nvPr/>
        </p:nvSpPr>
        <p:spPr>
          <a:xfrm>
            <a:off x="548639" y="5693950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ผลต่อเนื่อง: ทุกขั้นอ้างอิงข้อมูลชุดเดียวกัน ความผิดพลาดตั้งแต่ต้นจึงส่งต่อไปถึงงบประมาณและความปลอดภัยของโครงสร้าง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F8BDB-A687-9199-4A1D-37CADF4D3F6C}"/>
              </a:ext>
            </a:extLst>
          </p:cNvPr>
          <p:cNvSpPr txBox="1"/>
          <p:nvPr/>
        </p:nvSpPr>
        <p:spPr>
          <a:xfrm>
            <a:off x="548638" y="2407989"/>
            <a:ext cx="11094415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ตัวอย่างความสำคัญของข้อมูลภูมิประเทศต่อการออกแบบและก่อสร้าง</a:t>
            </a:r>
            <a:endParaRPr lang="th-TH" sz="2400" b="0" dirty="0">
              <a:latin typeface="TH Sarabun New"/>
              <a:ea typeface="TH Sarabun New"/>
              <a:cs typeface="TH Sarabun New"/>
            </a:endParaRP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ขั้นวางแผน: ใช้ระดับความสูงและขอบเขตพื้นที่เปรียบเทียบทางเลือกของแนวโครงการ ว่าแนวใดผ่านพื้นที่ลาดชัน พื้นที่ลุ่ม หรือพื้นที่ที่มีสิ่งปลูกสร้างเดิม เพื่อเลือกแนวที่ก่อสร้างได้จริงและกระทบน้อยที่สุดก่อนตัดสินใจลงทุน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ขั้นออกแบบ: วิศวกรใช้ระดับและความลาดชันของพื้นดินกำหนดระดับถนน ความลาดของคลอง ระดับพื้นอาคาร และตำแหน่งสิ่งปลูกสร้างให้ตรงกับพื้นที่จริง หากข้อมูลผิด แบบที่ได้ก็ผิดตามไปทั้งชุด</a:t>
            </a:r>
          </a:p>
          <a:p>
            <a:pPr marL="320040" indent="-274320">
              <a:spcAft>
                <a:spcPts val="600"/>
              </a:spcAft>
              <a:buFontTx/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ขั้นก่อสร้าง: ผู้รับเหมาถ่ายทอดตำแหน่งและระดับจากแบบลงสู่พื้นที่จริง (ปักหมุดแนว) และเทียบปริมาณงานที่ทำจริงกับแบบ โดยใช้ข้อมูลภูมิประเทศชุดเดียวกัน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1.1 ความสำคัญของข้อมูลภูมิประเทศต่อการออกแบบและก่อสร้าง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102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ตัวอย่างการใช้ข้อมูลภูมิประเทศในงานออกแบบและก่อสร้าง</a:t>
            </a:r>
            <a:endParaRPr lang="th-TH" sz="2400" b="0" dirty="0">
              <a:latin typeface="TH Sarabun New"/>
              <a:ea typeface="TH Sarabun New"/>
              <a:cs typeface="TH Sarabun New"/>
            </a:endParaRP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ใช้คำนวณปริมาณงานดิน: เปรียบเทียบระดับพื้นดินเดิมกับระดับที่ออกแบบ ส่วนที่พื้นดินสูงกว่าแบบคือดินที่ต้องตัด ส่วนที่ต่ำกว่าแบบคือส่วนที่ต้องถม นำพื้นที่ของแต่ละช่วงคูณกับความต่างระดับแล้วรวมกัน จะได้ปริมาตรดินตัดและดินถม ใช้ประมาณราคา จำนวนเที่ยวขนดิน และตรวจรับงาน เช่น การถมปรับพื้นที่ก่อสร้างโรงงาน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ประเมินพื้นที่เสี่ยงน้ำท่วมและการกัดเซาะ: น้ำไหลจากที่สูงไปที่ต่ำตามความลาดชัน จากแบบจำลองระดับพื้นดินจึงดูได้ว่าน้ำจะไหลไปรวมที่จุดใด พื้นที่ใดมีระดับต่ำกว่าระดับน้ำที่คาดว่าจะท่วม และทางน้ำหรือพื้นที่ลาดชันตรงไหนน้ำไหลเร็วจนเสี่ยงถูกกัดเซาะ ใช้เลือกตำแหน่งตั้งอาคารและวางแนวคันป้องกัน</a:t>
            </a:r>
          </a:p>
          <a:p>
            <a:pPr marL="320040" indent="-274320">
              <a:spcAft>
                <a:spcPts val="600"/>
              </a:spcAft>
              <a:buFontTx/>
              <a:buChar char="•"/>
            </a:pPr>
            <a:r>
              <a:rPr lang="th-TH" sz="2400" dirty="0">
                <a:latin typeface="TH Sarabun New"/>
                <a:ea typeface="TH Sarabun New"/>
                <a:cs typeface="TH Sarabun New"/>
              </a:rPr>
              <a:t>กำหนดแนวทางระบายน้ำ: ดูระดับพื้นดินเพื่อวางแนวคูหรือท่อให้มีความลาดต่อเนื่องไปสู่จุดปลายน้ำ เช่น ทางน้ำสาธารณะ โดยไม่มีจุดที่น้ำขังค้างระหว่างทาง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CD8A0-36A1-FC8B-1EAF-40AB84923EFB}"/>
              </a:ext>
            </a:extLst>
          </p:cNvPr>
          <p:cNvSpPr txBox="1"/>
          <p:nvPr/>
        </p:nvSpPr>
        <p:spPr>
          <a:xfrm>
            <a:off x="548639" y="4754880"/>
            <a:ext cx="1109441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หากการก่อสร้างมีความคลาดเคลื่อนมากกว่าเกณฑ์ที่ยอมรับได้ จะส่งผลให้ โครงสร้างตั้งผิดตำแหน่งหรือระดับ ต้องรื้อแก้ไขงาน ปริมาณวัสดุคลาดเคลื่อนจากแบบ และเกิดความเสี่ยงต่อความปลอดภัยของโครงสร้าง ดังนั้นจึงต้องเลือกใช้วิธีการสำรวจและเทคโนโลยีที่เหมาะสม เพื่อให้การก่อสร้างเป็นไปตามแบบที่กำหนด ทั้งในด้านตำแหน่งและระดับ ความปลอดภัย รวมถึงช่วยลดต้นทุนและเวลาในการก่อสร้าง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1.2 การเปลี่ยนแปลงของเทคโนโลยีงานสำรวจตามยุคสมัย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50429" y="2298629"/>
            <a:ext cx="4206240" cy="236372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ยุคปัจจุบัน: UAV/Drone และ LiDAR เก็บข้อมูลได้ครอบคลุมพื้นที่กว้างในเวลาสั้น ผลลัพธ์เปลี่ยนจากข้อมูลเป็นจุดไม่กี่จุด เป็นข้อมูลพื้นผิวที่ประกอบด้วยจุดจำนวนมาก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A7DF7F-AFEB-9C33-697F-628D136BD1CC}"/>
              </a:ext>
            </a:extLst>
          </p:cNvPr>
          <p:cNvCxnSpPr>
            <a:cxnSpLocks/>
          </p:cNvCxnSpPr>
          <p:nvPr/>
        </p:nvCxnSpPr>
        <p:spPr>
          <a:xfrm>
            <a:off x="749808" y="2029968"/>
            <a:ext cx="101772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EB4009-4DA5-70E2-9EFB-08D3E915468F}"/>
              </a:ext>
            </a:extLst>
          </p:cNvPr>
          <p:cNvSpPr txBox="1"/>
          <p:nvPr/>
        </p:nvSpPr>
        <p:spPr>
          <a:xfrm>
            <a:off x="311201" y="2316402"/>
            <a:ext cx="344500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ยุคดั้งเดิม: ใช้เทปวัดระยะ, กล้องระดับ, และกล้องวัดมุม ต้องอาศัยกำลังคนและเวลาในสนามมาก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29FB90-B3F8-836A-0CE5-E69282C4BAB0}"/>
              </a:ext>
            </a:extLst>
          </p:cNvPr>
          <p:cNvSpPr txBox="1"/>
          <p:nvPr/>
        </p:nvSpPr>
        <p:spPr>
          <a:xfrm>
            <a:off x="3955923" y="2262053"/>
            <a:ext cx="37650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ยุคอิเล็กทรอนิกส์: กล้อง Total Station และเครื่องรับสัญญาณดาวเทียม GNSS ช่วยให้วัดได้เร็วและบันทึกข้อมูลเป็นดิจิทัล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1.3 จากการสำรวจแบบดั้งเดิมสู่ Digital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51733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Digital Survey คือการสำรวจที่ข้อมูลเป็นดิจิทัลตลอดกระบวนการ ตั้งแต่การเก็บข้อมูล การประมวลผล จนถึงการส่งมอบ </a:t>
            </a:r>
            <a:r>
              <a:rPr lang="th-TH" sz="3000" dirty="0">
                <a:latin typeface="TH Sarabun New"/>
                <a:ea typeface="TH Sarabun New"/>
                <a:cs typeface="TH Sarabun New"/>
              </a:rPr>
              <a:t>ข้อมูลที่ได้นำไปใช้ต่อในระบบ CAD, GIS และ BIM ได้โดยตรง ลดการคัดลอกและแปลงข้อมูลซ้ำ</a:t>
            </a:r>
          </a:p>
          <a:p>
            <a:pPr marL="320040" indent="-274320">
              <a:spcAft>
                <a:spcPts val="600"/>
              </a:spcAft>
              <a:buChar char="•"/>
            </a:pPr>
            <a:endParaRPr lang="th-TH" sz="3000" b="0" dirty="0">
              <a:latin typeface="TH Sarabun New"/>
              <a:ea typeface="TH Sarabun New"/>
              <a:cs typeface="TH Sarabun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A6118-CE9E-36BA-999F-CF1D03FA3926}"/>
              </a:ext>
            </a:extLst>
          </p:cNvPr>
          <p:cNvSpPr txBox="1"/>
          <p:nvPr/>
        </p:nvSpPr>
        <p:spPr>
          <a:xfrm>
            <a:off x="548639" y="2882360"/>
            <a:ext cx="110944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3000" b="0" dirty="0">
                <a:latin typeface="TH Sarabun New"/>
                <a:ea typeface="TH Sarabun New"/>
                <a:cs typeface="TH Sarabun New"/>
              </a:rPr>
              <a:t>ผลลัพธ์ที่ได้คือช่วยลดระยะเวลาปฏิบัติงานภาคสนาม ลดความเสี่ยงของผู้ปฏิบัติงานในพื้นที่อันตราย และตรวจสอบย้อนกลับได้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เทคโนโลยีการกำหนดตำแหน่งด้วยดาวเทียม GNSS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2.1 เทคโนโลยีการกำหนดตำแหน่งด้วยดาวเทียม GNSS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3" y="1137880"/>
            <a:ext cx="11094415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1800" b="0" dirty="0">
                <a:latin typeface="TH Sarabun New"/>
                <a:ea typeface="TH Sarabun New"/>
                <a:cs typeface="TH Sarabun New"/>
              </a:rPr>
              <a:t>GNSS (Global Navigation Satellite System) คือระบบดาวเทียมนำร่องที่ให้บริการระบุตำแหน่งครอบคลุมทั่วโลก ดาวเทียมส่งสัญญาณให้เครื่องรับนำไปคำนวณพิกัดบนผิวโลก การใช้หลายระบบร่วมกัน (เช่น GPS กับ GLONASS) ช่วยเพิ่มความแม่นยำและการครอบคลุม เช่น ถ้าสัญญาณ GPS ขาดในพื้นที่ที่ถูกบัง ระบบอื่นช่วยได้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1" y="1998095"/>
            <a:ext cx="2130552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2.1 ตัวอย่างระบบ GNSS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794154"/>
              </p:ext>
            </p:extLst>
          </p:nvPr>
        </p:nvGraphicFramePr>
        <p:xfrm>
          <a:off x="548642" y="2496312"/>
          <a:ext cx="3886200" cy="20116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0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lang="th-TH" sz="1600" b="1" dirty="0">
                          <a:solidFill>
                            <a:srgbClr val="00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</a:t>
                      </a:r>
                      <a:endParaRPr lang="th-TH" sz="1600" b="1" dirty="0">
                        <a:solidFill>
                          <a:srgbClr val="000000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1" dirty="0">
                          <a:solidFill>
                            <a:srgbClr val="00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ผู้ดำเนินการ</a:t>
                      </a:r>
                      <a:endParaRPr lang="th-TH" sz="1600" b="1" dirty="0">
                        <a:solidFill>
                          <a:srgbClr val="000000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rgbClr val="00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GPS</a:t>
                      </a:r>
                      <a:endParaRPr lang="th-TH" sz="1600" b="0">
                        <a:solidFill>
                          <a:srgbClr val="000000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rgbClr val="00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สหรัฐฯ</a:t>
                      </a:r>
                      <a:endParaRPr lang="th-TH" sz="1600" b="0" dirty="0">
                        <a:solidFill>
                          <a:srgbClr val="000000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rgbClr val="00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GLONASS</a:t>
                      </a:r>
                      <a:endParaRPr lang="th-TH" sz="1600" b="0">
                        <a:solidFill>
                          <a:srgbClr val="000000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rgbClr val="00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รัสเซีย</a:t>
                      </a:r>
                      <a:endParaRPr lang="th-TH" sz="1600" b="0">
                        <a:solidFill>
                          <a:srgbClr val="000000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rgbClr val="00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Galileo</a:t>
                      </a:r>
                      <a:endParaRPr lang="th-TH" sz="1600" b="0">
                        <a:solidFill>
                          <a:srgbClr val="000000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rgbClr val="00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สหภาพยุโรป</a:t>
                      </a:r>
                      <a:endParaRPr lang="th-TH" sz="1600" b="0">
                        <a:solidFill>
                          <a:srgbClr val="000000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lang="th-TH" sz="1600" b="0">
                          <a:solidFill>
                            <a:srgbClr val="00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BeiDou</a:t>
                      </a:r>
                      <a:endParaRPr lang="th-TH" sz="1600" b="0">
                        <a:solidFill>
                          <a:srgbClr val="000000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tc>
                  <a:txBody>
                    <a:bodyPr/>
                    <a:lstStyle/>
                    <a:p>
                      <a:r>
                        <a:rPr lang="th-TH" sz="1600" b="0" dirty="0">
                          <a:solidFill>
                            <a:srgbClr val="00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จีน</a:t>
                      </a:r>
                      <a:endParaRPr lang="th-TH" sz="1600" b="0" dirty="0">
                        <a:solidFill>
                          <a:srgbClr val="000000"/>
                        </a:solidFill>
                        <a:latin typeface="TH Sarabun New" panose="020B0500040200020003" pitchFamily="34" charset="-34"/>
                        <a:ea typeface="TH Sarabun New"/>
                        <a:cs typeface="TH Sarabun New" panose="020B0500040200020003" pitchFamily="34" charset="-34"/>
                      </a:endParaRPr>
                    </a:p>
                  </a:txBody>
                  <a:tcPr marL="73152" marR="73152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529AB3-120C-393C-3A15-D8326F126485}"/>
              </a:ext>
            </a:extLst>
          </p:cNvPr>
          <p:cNvSpPr txBox="1"/>
          <p:nvPr/>
        </p:nvSpPr>
        <p:spPr>
          <a:xfrm>
            <a:off x="5077206" y="28998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1800" b="0" dirty="0">
                <a:latin typeface="TH Sarabun New"/>
                <a:ea typeface="TH Sarabun New"/>
                <a:cs typeface="TH Sarabun New"/>
              </a:rPr>
              <a:t>ข้อมูลที่ได้จากสัญญาณจากดาวเทียมมีความคลาดเคลื่อนสะสมจากหลายสาเหตุ ได้แก่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ED953-9047-4317-0DE9-52B6D2D43C1D}"/>
              </a:ext>
            </a:extLst>
          </p:cNvPr>
          <p:cNvSpPr txBox="1"/>
          <p:nvPr/>
        </p:nvSpPr>
        <p:spPr>
          <a:xfrm>
            <a:off x="5559553" y="3429000"/>
            <a:ext cx="5875160" cy="167122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ชั้นบรรยากาศ: สัญญาณผ่านชั้นไอโอโนสเฟียร์และโทรโพสเฟียร์ จึงช้าลงและหักเห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นาฬิกาดาวเทียม: นาฬิกาอะตอมบนดาวเทียมเบี่ยงเบนเล็กน้อย กระทบการคำนวณตำแหน่ง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วงโคจรดาวเทียม: ดาวเทียมโคจรเบี่ยงจากเส้นทางที่คาดไว้เล็กน้อย</a:t>
            </a:r>
          </a:p>
          <a:p>
            <a:pPr marL="331470" indent="-285750" algn="thaiDi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สัญญาณสะท้อน (Multipath): เครื่องรับได้สัญญาณเดียวกันหลายสำเนาเมื่อสะท้อนอาคารหรือต้นไม้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2.2 GNSS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47851"/>
            <a:ext cx="10158984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GNSS Correction คือ ข้อมูลแก้ค่าที่ส่งให้เครื่องรับ เพื่อหักล้างความคลาดเคลื่อนข้างต้นออกจากพิกัดที่คำนวณได้ ประกอบด้วยวิธี</a:t>
            </a:r>
            <a:r>
              <a:rPr lang="th-TH" sz="2400" dirty="0">
                <a:latin typeface="TH Sarabun New"/>
                <a:ea typeface="TH Sarabun New"/>
                <a:cs typeface="TH Sarabun New"/>
              </a:rPr>
              <a:t>ดังนี้</a:t>
            </a:r>
            <a:endParaRPr lang="th-TH" sz="2400" b="0" dirty="0"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5" name="ตารางเปรียบเทียบวิธีแก้ค่า GNSS">
            <a:extLst>
              <a:ext uri="{FF2B5EF4-FFF2-40B4-BE49-F238E27FC236}">
                <a16:creationId xmlns:a16="http://schemas.microsoft.com/office/drawing/2014/main" id="{21A4E536-DD87-D630-6C17-BB1435BA7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713929"/>
              </p:ext>
            </p:extLst>
          </p:nvPr>
        </p:nvGraphicFramePr>
        <p:xfrm>
          <a:off x="548640" y="2386584"/>
          <a:ext cx="10158984" cy="36472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98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0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วิธี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หลักการ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DGNSS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Differential GNSS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เทียบการวัดของเครื่อง Rover กับสถานีอ้างอิงที่ทราบพิกัด แล้วส่งค่าแก้ระยะ (Pseudorange Correction) ของดาวเทียมแต่ละดวง เพื่อกำจัดความคลาดเคลื่อนที่ทั้งสองเครื่องได้รับร่วมกัน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SBAS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Satellite-Based Augmentation System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สถานีอ้างอิงภาคพื้นดินคำนวณค่าแก้ แล้วส่งผ่านดาวเทียมค้างฟ้า ครอบคลุมพื้นที่กว้างโดยไม่ต้องมีโครงสร้างพื้นฐานในพื้นที่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RTK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Real-Time Kinematic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ใช้การวัดเฟสคลื่นพาห์ (Carrier Phase) ร่วมกับข้อมูลรหัส แล้วแก้ค่าจำนวนเต็มไม่ทราบค่า (Integer Ambiguity) ด้วยการหาผลต่างสองชั้น (Double Differencing)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PPP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Precise Point Positioning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ใช้ค่าแก้วงโคจร นาฬิกาดาวเทียม และบรรยากาศ จากสถานีอ้างอิงที่กระจายทั่วโลก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8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PPP-RTK</a:t>
                      </a:r>
                      <a:endParaRPr lang="en-US" sz="12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รวมการครอบคลุมทั่วโลกของ PPP เข้ากับการลู่เข้าเร็วของ RTK โดยส่งค่าแก้แยกเป็นองค์ประกอบ (State Space Representation, SSR) ที่ใช้ได้ทั้งภูมิภาค</a:t>
                      </a:r>
                      <a:endParaRPr lang="en-US" sz="16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D8BAD7-24AD-BC23-0D2A-36F83F34D985}"/>
              </a:ext>
            </a:extLst>
          </p:cNvPr>
          <p:cNvSpPr txBox="1"/>
          <p:nvPr/>
        </p:nvSpPr>
        <p:spPr>
          <a:xfrm>
            <a:off x="548640" y="1998095"/>
            <a:ext cx="3136392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1600" b="1" dirty="0">
                <a:latin typeface="TH Sarabun New"/>
                <a:ea typeface="TH Sarabun New"/>
                <a:cs typeface="TH Sarabun New"/>
              </a:rPr>
              <a:t>ตารางที่ 2.2 ตัวอย่าง GNSS </a:t>
            </a:r>
            <a:r>
              <a:rPr lang="en-US" sz="1600" b="1" dirty="0">
                <a:latin typeface="TH Sarabun New"/>
                <a:ea typeface="TH Sarabun New"/>
                <a:cs typeface="TH Sarabun New"/>
              </a:rPr>
              <a:t>Correction</a:t>
            </a:r>
            <a:endParaRPr lang="th-TH" sz="1600" b="1" dirty="0"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2.2 GNSS Correction (ต่อ)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2.3 Static Survey และการสร้างหมุดควบคุม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1" y="1069848"/>
            <a:ext cx="11094414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thaiDist"/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Static Survey (การรังวัดแบบสถิต)</a:t>
            </a:r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เป็นการตั้งเครื่องรับสัญญาณ GNSS ไว้ ณ หมุดรังวัดนิ่งเป็นระยะเวลานาน (ตั้งแต่ 20 นาทีไปจนถึงหลายชั่วโมง) เพื่อบันทึกข้อมูลดิบ (RINEX) แล้วนำไปประมวลผลภายหลัง (Post-Processing) ในสำนักงาน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9F048-F4D1-0097-1362-E6A868BE95A1}"/>
              </a:ext>
            </a:extLst>
          </p:cNvPr>
          <p:cNvSpPr txBox="1"/>
          <p:nvPr/>
        </p:nvSpPr>
        <p:spPr>
          <a:xfrm>
            <a:off x="548641" y="1806852"/>
            <a:ext cx="110944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>
              <a:lnSpc>
                <a:spcPct val="100000"/>
              </a:lnSpc>
              <a:buNone/>
            </a:pPr>
            <a:r>
              <a:rPr lang="th-TH" sz="1800" b="1" dirty="0">
                <a:solidFill>
                  <a:schemeClr val="tx1"/>
                </a:solidFill>
                <a:effectLst/>
                <a:latin typeface="+mn-lt"/>
              </a:rPr>
              <a:t>หลักการของ Static Survey</a:t>
            </a:r>
            <a:r>
              <a:rPr lang="th-TH" sz="1800" b="0" dirty="0">
                <a:solidFill>
                  <a:schemeClr val="tx1"/>
                </a:solidFill>
                <a:effectLst/>
                <a:latin typeface="+mn-lt"/>
              </a:rPr>
              <a:t>   </a:t>
            </a:r>
          </a:p>
          <a:p>
            <a:pPr algn="thaiDist">
              <a:lnSpc>
                <a:spcPct val="100000"/>
              </a:lnSpc>
              <a:buNone/>
            </a:pPr>
            <a:r>
              <a:rPr lang="th-TH" sz="1800" b="0" dirty="0">
                <a:solidFill>
                  <a:schemeClr val="tx1"/>
                </a:solidFill>
                <a:effectLst/>
                <a:latin typeface="+mn-lt"/>
              </a:rPr>
              <a:t>เครื่องรับ GNSS ตั้งแต่ 2 เครื่องขึ้นไปสังเกตดาวเทียมชุดเดียวกันพร้อมกันเป็นเวลานาน โดยเครื่องอยู่นิ่ง บันทึกการวัดเฟสคลื่นพาห์ (Carrier Phase) แล้วนำไปประมวลผลภายหลัง ทำให้แก้ค่าจำนวนเต็มไม่ทราบค่า (Integer Ambiguity) ได้เชื่อถือกว่าการแก้แบบเรียลไทม์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8FD39-8E16-8ECC-E9E2-28054D957652}"/>
              </a:ext>
            </a:extLst>
          </p:cNvPr>
          <p:cNvSpPr txBox="1"/>
          <p:nvPr/>
        </p:nvSpPr>
        <p:spPr>
          <a:xfrm>
            <a:off x="548639" y="4640846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</a:t>
            </a:r>
            <a:endParaRPr lang="th-TH" b="0" dirty="0">
              <a:solidFill>
                <a:schemeClr val="tx1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แปลงไฟล์ดิบเป็น RINEX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ประมวลผลเส้นฐาน (Baseline) ระหว่างจุดที่ตั้งเครื่อง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th-TH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ปรับแก้โครงข่ายรวมหลายเส้นฐานให้ได้พิกัดและค่าความละเอียดที่สอดคล้องกัน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43D68-6710-87DB-8644-8F7F36E00DF3}"/>
              </a:ext>
            </a:extLst>
          </p:cNvPr>
          <p:cNvSpPr txBox="1"/>
          <p:nvPr/>
        </p:nvSpPr>
        <p:spPr>
          <a:xfrm>
            <a:off x="548639" y="6001357"/>
            <a:ext cx="10808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u="sng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หมายเหตุ</a:t>
            </a:r>
            <a:r>
              <a:rPr lang="th-TH" sz="1800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เวลาสังเกตการณ์ขึ้นกับความยาวเส้นฐาน: ไม่เกิน 20 กม. ประมาณ 20–30 นาที, 20–100 กม. ประมาณ 1–4 ชั่วโมง, เกิน 100 กม. ตั้งแต่ 4 ชั่วโมงขึ้นไป</a:t>
            </a:r>
            <a:endParaRPr lang="th-TH" sz="1800" b="0" dirty="0">
              <a:solidFill>
                <a:srgbClr val="839496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2.4 CORS และระบบอ้างอิงพิกัด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267" y="5646458"/>
            <a:ext cx="10410494" cy="88639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ระบบอ้างอิงพิกัด (Coordinate Reference Systems)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 การรังวัดด้วย GNSS ได้ค่าพิกัดบนทรงรีสากล (เช่น WGS84 หรือ ITRF) จึงต้องนำมาผ่านกระบวนการแปลงพิกัด (On-site Calibration / Localization) เพื่อให้อยู่ในระบบพิกัดฉากราบท้องถิ่น (เช่น UTM หรือ Indian 1975) และใช้แบบจำลองยีออยด์ (เช่น TGM2017) ในการแปลงความสูงเหนือทรงรี (Ellipsoidal Height) เป็นความสูงออร์โทเมตริกเหนือระดับทะเลปานกลาง (Orthometric Height)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653AF-2C83-AD0B-9380-BA5BDDCE317C}"/>
              </a:ext>
            </a:extLst>
          </p:cNvPr>
          <p:cNvSpPr txBox="1"/>
          <p:nvPr/>
        </p:nvSpPr>
        <p:spPr>
          <a:xfrm>
            <a:off x="619433" y="938080"/>
            <a:ext cx="11023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CORS (Continuously Operating Reference Station)</a:t>
            </a:r>
            <a:r>
              <a:rPr lang="th-TH" dirty="0"/>
              <a:t>คือสถานีรับสัญญาณ GNSS ที่ติดตั้งถาวรบนพิกัดที่รู้ค่าแน่นอน และรับสัญญาณดาวเทียมต่อเนื่องตลอด 24 ชั่วโมง เพื่อคำนวณค่าแก้ความคลาดเคลื่อนส่งให้ผู้ใช้ผ่านอินเทอร์เน็ต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66BA5-D414-9914-9834-A73958D9F2F9}"/>
              </a:ext>
            </a:extLst>
          </p:cNvPr>
          <p:cNvSpPr txBox="1"/>
          <p:nvPr/>
        </p:nvSpPr>
        <p:spPr>
          <a:xfrm>
            <a:off x="541276" y="24108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2.3 เครือข่าย CORS ในประเทศไทย</a:t>
            </a:r>
            <a:endParaRPr lang="th-TH" b="0" dirty="0">
              <a:solidFill>
                <a:srgbClr val="839496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9" name="ตารางเครือข่าย CORS ในประเทศไทย">
            <a:extLst>
              <a:ext uri="{FF2B5EF4-FFF2-40B4-BE49-F238E27FC236}">
                <a16:creationId xmlns:a16="http://schemas.microsoft.com/office/drawing/2014/main" id="{6792DD9D-4366-5EB0-0C9B-85B5CF984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409831"/>
              </p:ext>
            </p:extLst>
          </p:nvPr>
        </p:nvGraphicFramePr>
        <p:xfrm>
          <a:off x="627102" y="2820194"/>
          <a:ext cx="9900002" cy="24001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3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1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6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เครือข่าย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จุดเด่น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ระบบพิกัดอ้างอิง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เหมาะสำหรับ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8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LRTN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กรมที่ดิน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เครือข่ายสถานี</a:t>
                      </a:r>
                      <a:r>
                        <a:rPr lang="th-TH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จำนวน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มากทั่วประเทศ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WGS84 และแปลงเป็น Indian 1975 (UTM)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งานรังวัดที่ดิน ออกโฉนด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52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RTSD CORS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กรมแผนที่ทหาร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เน้นความแม่นยำระดับ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Geodetic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ระบบพิกัดสากล ITRF / WGS84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งานโครงสร้างพื้นฐาน แผนที่ระดับชาติ งานวิชาการ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และงานยุทธศาสตร์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E5A3E3D-4E7B-B711-74D9-EB7D9993598C}"/>
              </a:ext>
            </a:extLst>
          </p:cNvPr>
          <p:cNvSpPr txBox="1"/>
          <p:nvPr/>
        </p:nvSpPr>
        <p:spPr>
          <a:xfrm>
            <a:off x="627102" y="1509507"/>
            <a:ext cx="110236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sz="1800" dirty="0"/>
              <a:t>ทำหน้าที่เป็นสถานีฐาน (Base Station) ถาวร ผู้ใช้งานจึงสามารถหาตำแหน่งที่มีความแม่นยำระดับเซนติเมตรแบบเวลาจริง (Real-time) ได้ทันที โดยไม่จำเป็นต้องจัดหาหมุดควบคุมเพื่อติดตั้งสถานีฐานของตนเองทุกครั้ง นอกจากนี้ พิกัดที่ได้จากงานทุกชิ้นยังอ้างอิงอยู่ในกรอบอ้างอิงเดียวกันของเครือข่าย และข้อมูลสังเกตการณ์ที่สถานีบันทึกสะสมไว้ยังสามารถนำไปประมวลผลภายหลัง เพื่อสร้างหมุดควบคุมได้อีกด้วย</a:t>
            </a:r>
            <a:r>
              <a:rPr lang="th-TH" sz="1800" b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kumimoji="0" lang="th-TH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เครือข่าย CORS ในประเทศไทย มีดังนี้</a:t>
            </a:r>
            <a:endParaRPr kumimoji="0" lang="th-TH" sz="1800" i="0" u="none" strike="noStrike" kern="1200" cap="none" spc="0" normalizeH="0" baseline="0" noProof="0" dirty="0">
              <a:ln>
                <a:noFill/>
              </a:ln>
              <a:solidFill>
                <a:srgbClr val="839496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2.5 การประยุกต์ใช้ GNSS ในงานสำรวจภูมิประเทศ</a:t>
            </a:r>
          </a:p>
        </p:txBody>
      </p:sp>
      <p:graphicFrame>
        <p:nvGraphicFramePr>
          <p:cNvPr id="5" name="ตารางงานสำรวจที่ใช้ GNSS">
            <a:extLst>
              <a:ext uri="{FF2B5EF4-FFF2-40B4-BE49-F238E27FC236}">
                <a16:creationId xmlns:a16="http://schemas.microsoft.com/office/drawing/2014/main" id="{05B4E1C5-F7C7-1005-4928-528FF33AA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869150"/>
              </p:ext>
            </p:extLst>
          </p:nvPr>
        </p:nvGraphicFramePr>
        <p:xfrm>
          <a:off x="548640" y="1280160"/>
          <a:ext cx="11091672" cy="52017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3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7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ภาพประกอบ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งานรังวัดที่ดินและแบ่งแยกแปลง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รังวัดขอบเขตและออกโฉนดตามมาตรฐานกรมที่ดินด้วย Network RTK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(เว้นไว้สำหรับรูป)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อ้างอิง [R1]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5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งานก่อสร้างและปักหมุดแนว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Construction &amp; Stakeout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กำหนดแนวเส้นทาง วางผังโครงสร้าง และปักหมุดตำแหน่งอาคาร ถนน สะพาน ได้อย่างรวดเร็ว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(เว้นไว้สำหรับรูป)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อ้างอิง [R2]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งานสำรวจรายละเอียดและทำงานร่วมกับโดรน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Drone Survey - RTK/PPK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ใช้บันทึกตำแหน่งศูนย์กลางภาพถ่ายจากโดรน หรือใช้รังวัดตำแหน่งหมุดควบคุมภาพถ่าย (GCPs) และจุดตรวจสอบ (Checkpoints) ภาคสนามด้วยความแม่นยำระดับเซนติเมตร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(เว้นไว้สำหรับรูป)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อ้างอิง [R3]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4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งานทำระดับด้วย GNSS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GNSS Leveling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ใช้วิธี Static Survey ร่วมกับแบบจำลองยีออยด์ TGM2017 และสถานี CORS ในการคำนวณหาค่าความสูงออร์โทเมตริกสำหรับงานวิศวกรรมโยธาและงานน้ำ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(เว้นไว้สำหรับรูป)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อ้างอิง [R4]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C30D221-BB6E-205F-FC44-19350364CDCC}"/>
              </a:ext>
            </a:extLst>
          </p:cNvPr>
          <p:cNvSpPr txBox="1"/>
          <p:nvPr/>
        </p:nvSpPr>
        <p:spPr>
          <a:xfrm>
            <a:off x="472450" y="9379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2.4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การประยุกต์ใช้ GNSS ในงานสำรวจภูมิประเทศ</a:t>
            </a:r>
            <a:endParaRPr lang="th-TH" b="0" dirty="0">
              <a:solidFill>
                <a:srgbClr val="839496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เทคโนโลยีการสำรวจด้วย Total Station (กล้องประมวลผลรวม)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3.1 เทคโนโลยีการสำรวจด้วยกล้อง Total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03225"/>
            <a:ext cx="11094415" cy="8556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หลักการคือ กล้อง Total Station เป็นการพัฒนาเครื่องมือวัดสำรวจโดยรวมกล้องวัดมุมดิจิทัล (Digital Theodolite) เข้ากับเครื่องวัดระยะทางด้วยคลื่นอิเล็กทรอนิกส์ (EDM) และไมโครโพรเซสเซอร์บันทึกประมวลผลไว้ในเครื่องเดียวกัน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7541C-994A-5816-084E-B54C5CD92EFB}"/>
              </a:ext>
            </a:extLst>
          </p:cNvPr>
          <p:cNvSpPr txBox="1"/>
          <p:nvPr/>
        </p:nvSpPr>
        <p:spPr>
          <a:xfrm>
            <a:off x="548640" y="2774915"/>
            <a:ext cx="9863721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600" b="1" dirty="0">
                <a:latin typeface="TH Sarabun New"/>
                <a:ea typeface="TH Sarabun New"/>
                <a:cs typeface="TH Sarabun New"/>
              </a:rPr>
              <a:t>วัตถุประสงค์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รังวัดมุม ระยะทาง และคำนวณตำแหน่ง 3 มิติของจุดต่าง ๆ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สำรวจรายละเอียดภูมิประเทศ และสร้างหมุดควบคุมย่อยในพื้นที่ที่ GNSS ทำงานได้ไม่ดี</a:t>
            </a:r>
          </a:p>
          <a:p>
            <a:pPr marL="777240" lvl="1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งานที่ต้องการความถูกต้องละเอียดประณีตระดับมิลลิเมตร เช่น งานก่อสร้างและงานโครงสร้าง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3.2 การรังวัดมุม ระยะทาง และระดับ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866" y="5538612"/>
            <a:ext cx="11094415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หมายเหตุ </a:t>
            </a:r>
            <a:r>
              <a:rPr lang="th-TH" dirty="0">
                <a:latin typeface="TH Sarabun New"/>
                <a:ea typeface="TH Sarabun New"/>
                <a:cs typeface="TH Sarabun New"/>
              </a:rPr>
              <a:t>การหาความสูงวิธีนี้ไม่ใช่การถ่ายระดับด้วยกล้องระดับ (Differential Leveling) ความแม่นยำแนวดิ่งจะลดลงเมื่อระยะเล็งไกล จึงไม่ควรใช้ทดแทนการถ่ายระดับเพื่อกำหนดค่าระดับของหมุด BM</a:t>
            </a:r>
          </a:p>
        </p:txBody>
      </p:sp>
      <p:graphicFrame>
        <p:nvGraphicFramePr>
          <p:cNvPr id="5" name="ตารางการรังวัดด้วย Total Station">
            <a:extLst>
              <a:ext uri="{FF2B5EF4-FFF2-40B4-BE49-F238E27FC236}">
                <a16:creationId xmlns:a16="http://schemas.microsoft.com/office/drawing/2014/main" id="{B8BD721F-433E-1A45-4375-F41EB187E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720768"/>
              </p:ext>
            </p:extLst>
          </p:nvPr>
        </p:nvGraphicFramePr>
        <p:xfrm>
          <a:off x="701609" y="1580145"/>
          <a:ext cx="11091672" cy="3703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3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การรังวัดมุม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วัดค่ามุมราบ (Horizontal Angle) และมุมดิ่ง (Vertical Angle / Zenith Angle) โดยใช้จานองศาในแนวราบและแนวดิ่ง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การรังวัดระยะทาง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เครื่อง EDM ยิงสัญญาณเลเซอร์ไปยังเป้าหมาย เช่น ปริซึมสะท้อนแสง (Reflector Prism) หรือวัดแบบไม่ใช้ปริซึม (Reflectorless) บนพื้นผิววัตถุ โดยคำนวณระยะทางด้วยหลักการ Time-of-Flight หรือ Phase Shift ในการปฏิบัติงานจริงต้องตั้งค่าปรับแก้สภาพบรรยากาศ (Atmospheric Correction - ppm) ตามอุณหภูมิและความดันอากาศ รวมถึงป้อนค่าคงที่ปริซึม (Prism Constant) ให้ถูกต้องตามผู้ผลิต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การหาความสูงและคำนวณตำแหน่ง 3D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กล้องสามารถหาความสูงด้วยวิธีตรีโกณมิติ (Trigonometric Heighting) และคำนวณพิกัดฉาก 3 มิติ (X, Y, Z) ได้จากการประมวลผลมุมราบ มุมดิ่ง และระยะทางเอียงร่วมกัน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867248-1810-BE5C-3F91-13B7418FC944}"/>
              </a:ext>
            </a:extLst>
          </p:cNvPr>
          <p:cNvSpPr txBox="1"/>
          <p:nvPr/>
        </p:nvSpPr>
        <p:spPr>
          <a:xfrm>
            <a:off x="698866" y="1095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3.1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รายละเอียด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การรังวัดมุม ระยะทาง และระดับ</a:t>
            </a:r>
            <a:endParaRPr lang="th-TH" b="0" dirty="0">
              <a:solidFill>
                <a:srgbClr val="839496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3.3 วิธีการสำรวจรายละเอียดภูมิประเทศ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DC13F-C4A2-C19D-9174-490E928AAF8D}"/>
              </a:ext>
            </a:extLst>
          </p:cNvPr>
          <p:cNvSpPr txBox="1"/>
          <p:nvPr/>
        </p:nvSpPr>
        <p:spPr>
          <a:xfrm>
            <a:off x="548640" y="5275308"/>
            <a:ext cx="109551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Total Station บันทึกพิกัดของแต่ละจุดพร้อมรหัสรายละเอียด (Feature Code) เช่น ขอบถนน เสาไฟ ต้นไม้ ลงในตัวเครื่องหรือตัวเก็บข้อมูลระหว่างรังวัด เมื่อส่งออกไฟล์ไปยังโปรแกรม CADD หรือ GIS ซอฟต์แวร์จะอ่านรหัสเหล่านี้เพื่อลากเส้นและใส่สัญลักษณ์ตามชนิดของจุดให้อัตโนมัติ จึงสร้างแผนที่ภูมิประเทศได้เลยโดยไม่ต้องพิมพ์พิกัดซ้ำและไม่ต้องจำว่าแต่ละจุดคืออะไร ลดทั้งเวลาและโอกาสคัดลอกผิดครับ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E3019-6A28-D0B7-7ACB-1C20DE49CABC}"/>
              </a:ext>
            </a:extLst>
          </p:cNvPr>
          <p:cNvSpPr txBox="1"/>
          <p:nvPr/>
        </p:nvSpPr>
        <p:spPr>
          <a:xfrm>
            <a:off x="698866" y="1018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3.2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รายละเอียด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สำรวจรายละเอียดภูมิประเทศ</a:t>
            </a:r>
            <a:endParaRPr lang="th-TH" b="0" dirty="0">
              <a:solidFill>
                <a:srgbClr val="839496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11" name="ตารางวิธีปฏิบัติงานภาคสนาม">
            <a:extLst>
              <a:ext uri="{FF2B5EF4-FFF2-40B4-BE49-F238E27FC236}">
                <a16:creationId xmlns:a16="http://schemas.microsoft.com/office/drawing/2014/main" id="{18FD469E-56D9-D34A-8744-8A572F441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63661"/>
              </p:ext>
            </p:extLst>
          </p:nvPr>
        </p:nvGraphicFramePr>
        <p:xfrm>
          <a:off x="548640" y="1441030"/>
          <a:ext cx="11091672" cy="36197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8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8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หัวข้อ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รายละเอียด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การตั้งกล้องและส่อง Backsight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เริ่มต้นโดยตั้งกล้องบนหมุดหลักฐานที่ทราบพิกัด (Occupied Station) ผ่านดิ่งกล้อง (Optical หรือ Laser Plummet) ปรับระดับฟองกลมหรือฟองอิเล็กทรอนิกส์ให้ประณีต จากนั้นตั้งค่า Backsight โดยป้อนพิกัดหมุดอ้างอิงหรือป้อนมุมแอซิมัท (Azimuth) ทราบค่า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การรังวัดย้อนหาตำแหน่งตั้งกล้อง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Resection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สามารถตั้งกล้องบนจุดสุ่มที่ยังไม่ทราบพิกัด แล้วส่องรังวัดมุมและระยะไปยังหมุดอ้างอิงที่ทราบพิกัดตั้งแต่ 2 จุดขึ้นไป เพื่อให้ระบบในตัวกล้องคำนวณหาตำแหน่งพิกัดจุดตั้งกล้องได้ทันที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การเก็บรายละเอียดและการเดินวงรอบ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Traverse Survey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ส่องรังวัดแบบรัศมีเพื่อเก็บพิกัดและรายละเอียดภูมิประเทศ หรือเดินวงรอบปิด (Closed Loop Traverse) เพื่อสร้างหมุดควบคุมย่อย ซึ่งสามารถตรวจสอบความถูกต้องภาคสนามได้จากค่าความคลาดเคลื่อนทางมุม (Angular Misclosure) และทางราบ (Linear Misclosure) เทียบกับเกณฑ์ชั้นความแม่นยำของงานสำรวจที่กำหนด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2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การประมวลผลแบบ Digital Survey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ข้อมูลพิกัดและรหัสรายละเอียด (Feature Code) ที่บันทึกไว้สามารถส่งออกไปยังโปรแกรม CADD และ GIS เพื่อเขียนแบบและสร้างแผนที่ภูมิประเทศได้ทันที โดยไม่ต้องป้อนข้อมูลซ้ำ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ea typeface="Calibri" charset="0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3.4 การทำงานร่วมกับ GNSS และระบบพิกัด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09447"/>
            <a:ext cx="11094415" cy="547226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จุดเด่นที่เสริมซึ่งกันและกัน: GNSS มีประสิทธิภาพสูงในพื้นที่เปิดโล่งและครอบคลุมระยะทางไกล ส่วน Total Station เหมาะอย่างยิ่งสำหรับพื้นที่อับสัญญาณดาวเทียม เช่น ภายในอาคาร ตรอกซอกซอย หรือใต้เรือนยอดไม้หนาแน่น รวมถึงงานที่ต้องการความถูกต้องละเอียดประณีตระดับมิลลิเมตร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การสร้างและส่งต่อหมุดควบคุม: ใช้ GNSS (เช่น NRTK หรือ Radio RTK) รังวัดกำหนดหมุดควบคุมหลักภายนอกอาคาร (เช่น BM1, BM2) แล้วใช้ Total Station ส่องอ้างอิง Backsight เดินวงรอบต่อเข้าไปเก็บรายละเอียดในพื้นที่อับสัญญาณหรือภายในอาคาร (เช่น BM3, BM4)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dirty="0">
                <a:latin typeface="TH Sarabun New"/>
                <a:ea typeface="TH Sarabun New"/>
                <a:cs typeface="TH Sarabun New"/>
              </a:rPr>
              <a:t>งานก่อสร้างและงานโครงสร้าง: ใช้ GNSS วางผังภาพรวมโครงการ แล้วใช้ Total Station ตรวจสอบแนวดิ่ง (Plumbness) ตั้งแนวเสา ฐานราก และติดตามการเคลื่อนตัวของโครงสร้าง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dirty="0">
                <a:latin typeface="TH Sarabun New"/>
                <a:ea typeface="TH Sarabun New"/>
                <a:cs typeface="TH Sarabun New"/>
              </a:rPr>
              <a:t>การยึดโยงระบบพิกัด: การรังวัดด้วย Total Station โดยอ้างอิงจากหมุดควบคุม GNSS ช่วยให้ข้อมูลรายละเอียดทั้งหมดถูกยึดโยงเข้ากับระบบพิกัดอ้างอิงของประเทศ (เช่น UTM, Indian 1975, WGS84 หรือ ITRF) อย่างถูกต้องและเป็นมาตรฐานเดียวกัน</a:t>
            </a:r>
          </a:p>
          <a:p>
            <a:pPr marL="45720">
              <a:spcAft>
                <a:spcPts val="600"/>
              </a:spcAft>
            </a:pPr>
            <a:endParaRPr lang="th-TH" sz="2600" b="0" dirty="0">
              <a:latin typeface="TH Sarabun New"/>
              <a:ea typeface="TH Sarabun New"/>
              <a:cs typeface="TH Sarabun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เทคโนโลยีการสำรวจด้วย UAV/Drone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4.1 Photogrammetry และการถ่ายภาพทางอากาศ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29895"/>
            <a:ext cx="11094415" cy="67095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000" b="0" dirty="0">
                <a:latin typeface="TH Sarabun New"/>
                <a:ea typeface="TH Sarabun New"/>
                <a:cs typeface="TH Sarabun New"/>
              </a:rPr>
              <a:t>หลักการทำงานแบบ Passive Sensing: UAV Photogrammetry เป็นการสำรวจระยะไกลแบบไม่ยิงลำแสงสะท้อน (Passive) โดยถ่ายภาพทางอากาศ 2 มิติหลายๆ ภาพจากมุมมองที่ต่างกันและมีส่วนทับซ้อนกัน แล้วนำมาคำนวณสร้างเรขาคณิต 3 มิติด้วยหลักการทางคณิตศาสตร์แบบสามเหลี่ยม (Triangulation)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65D5B-AA0E-1008-1970-8DBE0B8E17CC}"/>
              </a:ext>
            </a:extLst>
          </p:cNvPr>
          <p:cNvSpPr txBox="1"/>
          <p:nvPr/>
        </p:nvSpPr>
        <p:spPr>
          <a:xfrm>
            <a:off x="548640" y="2050175"/>
            <a:ext cx="10876444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b="1" dirty="0">
                <a:latin typeface="TH Sarabun New"/>
                <a:ea typeface="TH Sarabun New"/>
                <a:cs typeface="TH Sarabun New"/>
              </a:rPr>
              <a:t>กระบวนการประมวลผลภาพถ่าย แบ่งออกได้เป็น 2 แบบ</a:t>
            </a:r>
          </a:p>
          <a:p>
            <a:pPr marL="388620" indent="-342900">
              <a:spcAft>
                <a:spcPts val="600"/>
              </a:spcAft>
              <a:buFont typeface="+mj-lt"/>
              <a:buAutoNum type="arabicPeriod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Structure from Motion (</a:t>
            </a:r>
            <a:r>
              <a:rPr lang="en-US" b="0" dirty="0" err="1">
                <a:latin typeface="TH Sarabun New"/>
                <a:ea typeface="TH Sarabun New"/>
                <a:cs typeface="TH Sarabun New"/>
              </a:rPr>
              <a:t>SfM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):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ตรวจจับและจับคู่จุดลักษณะเด่น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Feature Matching)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ข้ามภาพถ่าย เพื่อประเมินตำแหน่ง ทิศทาง และค่าพารามิเตอร์ของกล้อง พร้อมสร้างกลุ่มเมฆจุดแบบโปร่ง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Sparse Point Cloud)[1] 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ตรวจหาจุดลักษณะเด่นด้วยตัวตรวจจับ เช่น 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SIFT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หรือ 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SURF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แล้วจับคู่ระหว่างคู่ภาพ และตัดจุดที่จับคู่ผิดพลาดออกด้วยการประมาณค่าที่ทนต่อค่าผิดปกติ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Robust Estimation)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ปรับเกลี่ยบล็อกภาพ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Bundle Adjustment)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เพื่อประมาณตำแหน่งและทิศทางของกล้องแต่ละภาพ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Exterior Orientation)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ร่วมกับพิกัด 3 มิติของจุดที่จับคู่ได้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เมื่อใส่ 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GCP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ซอฟต์แวร์จะนำพิกัดที่รังวัดมารวมในการปรับแก้ ช่วยเพิ่มความถูกต้องสัมบูรณ์และลดความบิดเบี้ยวทางเรขาคณิต</a:t>
            </a:r>
          </a:p>
          <a:p>
            <a:pPr marL="388620" indent="-342900">
              <a:spcAft>
                <a:spcPts val="600"/>
              </a:spcAft>
              <a:buFont typeface="+mj-lt"/>
              <a:buAutoNum type="arabicPeriod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Multi-View Stereo (MVS):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คำนวณข้อมูลความลึก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Depth Map)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จากหลายภาพที่มองเห็นพื้นที่เดียวกัน เพื่อสร้างกลุ่มเมฆจุดความหนาแน่นสูง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Dense Point Cloud)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และพื้นผิว 3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 Mesh[1] </a:t>
            </a: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ดำเนินการต่อจากผลการจัดแนวภาพ (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Image Alignment)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ของ </a:t>
            </a:r>
            <a:r>
              <a:rPr lang="en-US" b="0" dirty="0" err="1">
                <a:latin typeface="TH Sarabun New"/>
                <a:ea typeface="TH Sarabun New"/>
                <a:cs typeface="TH Sarabun New"/>
              </a:rPr>
              <a:t>SfM</a:t>
            </a:r>
            <a:endParaRPr lang="en-US" b="0" dirty="0">
              <a:latin typeface="TH Sarabun New"/>
              <a:ea typeface="TH Sarabun New"/>
              <a:cs typeface="TH Sarabun New"/>
            </a:endParaRPr>
          </a:p>
          <a:p>
            <a:pPr marL="78867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จากกลุ่มเมฆจุดหนาแน่นนี้ สร้าง 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DSM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และแบบจำลอง 3</a:t>
            </a:r>
            <a:r>
              <a:rPr lang="en-US" b="0" dirty="0">
                <a:latin typeface="TH Sarabun New"/>
                <a:ea typeface="TH Sarabun New"/>
                <a:cs typeface="TH Sarabun New"/>
              </a:rPr>
              <a:t>D Mesh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ที่มีพื้นผิวได้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4.1 Photogrammetry และการถ่ายภาพทางอากาศ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58240"/>
            <a:ext cx="10660134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สัดส่วนส่วนซ้อนและส่วนเกย (</a:t>
            </a:r>
            <a:r>
              <a:rPr lang="en-US" sz="2200" b="0" dirty="0">
                <a:latin typeface="TH Sarabun New"/>
                <a:ea typeface="TH Sarabun New"/>
                <a:cs typeface="TH Sarabun New"/>
              </a:rPr>
              <a:t>Overlap &amp; </a:t>
            </a:r>
            <a:r>
              <a:rPr lang="en-US" sz="2200" b="0" dirty="0" err="1">
                <a:latin typeface="TH Sarabun New"/>
                <a:ea typeface="TH Sarabun New"/>
                <a:cs typeface="TH Sarabun New"/>
              </a:rPr>
              <a:t>Sidelap</a:t>
            </a:r>
            <a:r>
              <a:rPr lang="en-US" sz="2200" b="0" dirty="0">
                <a:latin typeface="TH Sarabun New"/>
                <a:ea typeface="TH Sarabun New"/>
                <a:cs typeface="TH Sarabun New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F5014-B186-6956-4046-A12C92DDA09A}"/>
              </a:ext>
            </a:extLst>
          </p:cNvPr>
          <p:cNvSpPr txBox="1"/>
          <p:nvPr/>
        </p:nvSpPr>
        <p:spPr>
          <a:xfrm>
            <a:off x="548640" y="2202947"/>
            <a:ext cx="467228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ส่วนซ้อนในแนวบิน (</a:t>
            </a:r>
            <a:r>
              <a:rPr lang="en-US" sz="2200" b="0" dirty="0">
                <a:latin typeface="TH Sarabun New"/>
                <a:ea typeface="TH Sarabun New"/>
                <a:cs typeface="TH Sarabun New"/>
              </a:rPr>
              <a:t>Forward Overlap): 70–80% (</a:t>
            </a:r>
            <a:r>
              <a:rPr lang="th-TH" sz="2200" b="0" dirty="0">
                <a:latin typeface="TH Sarabun New"/>
                <a:ea typeface="TH Sarabun New"/>
                <a:cs typeface="TH Sarabun New"/>
              </a:rPr>
              <a:t>โดยทั่วไปแนะนำไม่น้อยกว่า 75%) เพื่อให้ภาพที่อยู่ติดกันมีจุดเด่นร่วมกันเพียงพอสำหรับการปรับเกลี่ยบล็อกภาพถ่าย (</a:t>
            </a:r>
            <a:r>
              <a:rPr lang="en-US" sz="2200" b="0" dirty="0">
                <a:latin typeface="TH Sarabun New"/>
                <a:ea typeface="TH Sarabun New"/>
                <a:cs typeface="TH Sarabun New"/>
              </a:rPr>
              <a:t>Bundle Adjustment)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A9542-5E66-9979-560A-296D97A32434}"/>
              </a:ext>
            </a:extLst>
          </p:cNvPr>
          <p:cNvSpPr txBox="1"/>
          <p:nvPr/>
        </p:nvSpPr>
        <p:spPr>
          <a:xfrm>
            <a:off x="6146823" y="2209388"/>
            <a:ext cx="506195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ส่วนเกยระหว่างแนวบิน (</a:t>
            </a:r>
            <a:r>
              <a:rPr lang="en-US" sz="2200" b="0" dirty="0" err="1">
                <a:latin typeface="TH Sarabun New"/>
                <a:ea typeface="TH Sarabun New"/>
                <a:cs typeface="TH Sarabun New"/>
              </a:rPr>
              <a:t>Sidelap</a:t>
            </a:r>
            <a:r>
              <a:rPr lang="en-US" sz="2200" b="0" dirty="0">
                <a:latin typeface="TH Sarabun New"/>
                <a:ea typeface="TH Sarabun New"/>
                <a:cs typeface="TH Sarabun New"/>
              </a:rPr>
              <a:t>): 60–75% (</a:t>
            </a:r>
            <a:r>
              <a:rPr lang="th-TH" sz="2200" b="0" dirty="0">
                <a:latin typeface="TH Sarabun New"/>
                <a:ea typeface="TH Sarabun New"/>
                <a:cs typeface="TH Sarabun New"/>
              </a:rPr>
              <a:t>โดยทั่วไปแนะนำไม่น้อยกว่า 60%) เพื่อเชื่อมภาพระหว่างแนวบินข้างเคียงให้เป็นโครงข่ายเดียวกัน และลดความบิดเบี้ยวบริเวณขอบพื้นที่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4.2 การวางแผนแนวบินและการกำหนด GCP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28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ความสูงบิน (Flight Altitude): กำหนดขอบเขตพื้นที่ครอบคลุมและความละเอียดภาพ โดยสัมพันธ์กับทางยาวโฟกัส (Focal Length) และขนาดเซนเซอร์กล้อง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รูปแบบบล็อกการบิน: นิยมบินเป็นตารางสี่เหลี่ยมมุมฉาก (Grid Flight Line) เพื่อความแข็งแรงของโครงข่ายการประมวลผล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 dirty="0">
                <a:latin typeface="TH Sarabun New"/>
                <a:ea typeface="TH Sarabun New"/>
                <a:cs typeface="TH Sarabun New"/>
              </a:rPr>
              <a:t>Checkpoint (CP): หมุดที่รังวัดพิกัดจริงด้วย RTK แต่ไม่ถูกนำไปใช้ดึงโมเดล มีไว้สำหรับเปรียบเทียบค่าพิกัดกับโมเดล 3D เพื่อคำนวณค่า RMSE ในการประเมินความถูกต้องสัมบูรณ์อย่างเที่ยงตรง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4.3 การสร้าง Orthophoto และ Digital Surface Model (DSM)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DD9944E-2C0F-6798-C7A0-182E3D37A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64802"/>
              </p:ext>
            </p:extLst>
          </p:nvPr>
        </p:nvGraphicFramePr>
        <p:xfrm>
          <a:off x="548640" y="1681316"/>
          <a:ext cx="11091672" cy="47194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1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ผลิตภัณฑ์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คืออะไร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สร้างอย่างไร (หลักการ)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80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Digital Surface Model (DSM)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แบบจำลองความสูงเชิงพื้นผิว บันทึกความสูงของทุกวัตถุบนดิน (พื้นดิน อาคาร ต้นไม้)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เก็บเป็นตารางกริด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ได้ Dense Point Cloud จาก SfM + MVS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แบ่งพื้นที่เป็นเซลล์กริด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กำหนดความสูงแต่ละเซลล์จากค่าบนสุดของจุดในเซลล์ และประมาณค่าเซลล์ว่างจากจุดข้างเคียง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6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Orthophoto / Orthomosaic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แผนที่ภาพถ่ายทางอากาศที่ปรับแก้ความเอียงและมุมมอง (Orthorectification) มาตราส่วนสม่ำเสมอ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วัดระยะและพื้นที่ได้ตามจริง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(Orthomosaic = ต่อหลายภาพเป็นแผ่นเดียว)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ใช้ DSM หรือ DTM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เป็นพื้นผิวอ้างอิง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แต่ละพิกเซล อ่านความสูง Z จาก DSM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ฉายกลับไปยังภาพด้วยตำแหน่งและทิศทางกล้อง เพื่อดึงสี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ต่อภาพ ปรับสี และเกลี่ยรอยต่อ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True-Orthophoto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การประมวลผลขั้นสูงสำหรับพื้นที่เมืองหรืออาคารสูง ขจัดภาพอาคารล้มเอียง (Radial Displacement) ให้วัตถุทรงสูงตั้งตรง ไม่มีภาพซ้อนทับ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1) ใช้ DSM ความละเอียดสูง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2) วิเคราะห์การบดบัง (Self-occlusion)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3) เติมส่วนที่ถูกบังด้วยภาพจากกล้องตำแหน่งอื่น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4) ต่อภาพเป็นผืนเดียว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30718E-418E-4CC9-1854-044AE8C0552B}"/>
              </a:ext>
            </a:extLst>
          </p:cNvPr>
          <p:cNvSpPr txBox="1"/>
          <p:nvPr/>
        </p:nvSpPr>
        <p:spPr>
          <a:xfrm>
            <a:off x="548640" y="1202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4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.1</a:t>
            </a: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หลัก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การสร้าง Orthophoto และ Digital Surface Model (DSM)</a:t>
            </a:r>
            <a:endParaRPr lang="th-TH" b="0" dirty="0">
              <a:solidFill>
                <a:srgbClr val="839496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4.4 การประยุกต์ใช้ในพื้นที่ขนาดใหญ่และพื้นที่เข้าถึงยาก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2574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จุดเด่นเชิงปฏิบัติการ: โดรนสำรวจสามารถเก็บข้อมูลพื้นที่ขนาดใหญ่ได้อย่างรวดเร็ว มีความคล่องตัวสูง ช่วยลดเวลา กำลังคน และค่าใช้จ่ายเมื่อเทียบกับการสำรวจทางบกแบบดั้งเดิม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การทำงานในพื้นที่เสี่ยงภัย: เหมาะสำหรับพื้นที่อันตราย หน้าผาชัน พื้นที่พรุ/อับชื้น หรือพื้นที่ประสบภัยพิบัติทางธรรมชาติ ซึ่งผู้สำรวจไม่สามารถเดินเท้าเข้าถึงได้อย่างปลอดภัย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ขอบเขตการนำไปใช้งาน: งานวิศวกรรมโยธาและผังเมือง, งานคำนวณปริมาณดินตัด-ดินถม (Earthwork Volume), งานเกษตรกรรมแม่นยำ, งานรังวัดชายฝั่ง และงานบันทึกประเมินความเสียหายหลังภัยพิบัติ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เทคโนโลยี LiDAR สำหรับการสำรวจภูมิประเทศ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5.1 หลักการทำงานของ LiDAR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ECAB8-E942-3384-BF8A-3F1EB72F8F28}"/>
              </a:ext>
            </a:extLst>
          </p:cNvPr>
          <p:cNvSpPr txBox="1"/>
          <p:nvPr/>
        </p:nvSpPr>
        <p:spPr>
          <a:xfrm>
            <a:off x="224022" y="1883332"/>
            <a:ext cx="58718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ยิงพัลส์เลเซอร์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Laser Scanner ยิงพัลส์เลเซอร์ (เช่น อินฟราเรดความยาวคลื่น 1550 นาโนเมตร) ไปยังวัตถุหรือพื้นผิว พร้อมกระจายลำแสงผ่านกระจกสแกน (Scanning Mirror) ได้นับแสนถึงล้านพัลส์ต่อวินาที</a:t>
            </a:r>
          </a:p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 วัดระยะด้วยเวลาเดินทางของแสง (Time-of-Flight)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พัลส์ที่กระทบวัตถุจะสะท้อนกลับมายังตัวรับสัญญาณ เครื่องบันทึกเวลาเดินทางไป-กลับ แล้วคำนวณระยะจากความเร็วแสง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ระยะ = ความเร็วแสง × เวลาไป-กลับ ÷ 2</a:t>
            </a:r>
            <a:endParaRPr lang="th-TH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rtl="0">
              <a:buNone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 ระบุว่าเลเซอร์ยิงจากตำแหน่งและทิศทางใด</a:t>
            </a:r>
            <a:b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ระยะเพียงอย่างเดียวบอกไม่ได้ว่าจุดนั้นอยู่ที่ไหนบนโลก เพราะเซนเซอร์เคลื่อนที่ไปพร้อมโดรน เครื่องบิน หรือรถ จึงต้องมีอีก 2 เซนเซอร์ช่วย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GNSS (DGPS/RTK/PPK):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บอกพิกัด X, Y, Z ของเซนเซอร์ในขณะนั้น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IMU (Inertial Measurement Unit):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บอกการวางตัวของพาหนะ ได้แก่ Roll (เอียงข้าง) Pitch (ก้ม/เงย) และ Heading/Yaw (ทิศทาง)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9FA9A8-9E40-6ABE-5CA3-C20DF1B07117}"/>
              </a:ext>
            </a:extLst>
          </p:cNvPr>
          <p:cNvSpPr txBox="1"/>
          <p:nvPr/>
        </p:nvSpPr>
        <p:spPr>
          <a:xfrm>
            <a:off x="639096" y="885395"/>
            <a:ext cx="9920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LiDAR (Light Detection and Ranging) 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เป็นเทคโนโลยีสำรวจระยะไกลแบบ Active Sensing คือส่งสัญญาณออกไปเอง ไม่ต้องพึ่งแสงธรรมชาติเหมือนการถ่ายภาพ หลักการทำงานแบ่งเป็น 4 ขั้น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67811-2BB0-9379-7D39-D2858B9A2EF1}"/>
              </a:ext>
            </a:extLst>
          </p:cNvPr>
          <p:cNvSpPr txBox="1"/>
          <p:nvPr/>
        </p:nvSpPr>
        <p:spPr>
          <a:xfrm>
            <a:off x="6209449" y="1933216"/>
            <a:ext cx="55772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4. รวมข้อมูลเป็นพิกัด 3 มิติ (Sensor Fusion)</a:t>
            </a:r>
            <a:b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ระบบนำระยะจากเลเซอร์ รวมกับพิกัดจาก GNSS และมุมจาก IMU ได้พิกัดฉาก X, Y, Z ของทุกจุดที่เลเซอร์กระทบ พร้อมค่าความเข้มสัญญาณสะท้อน (Intensity) ผลลัพธ์คือ Point Cloud ที่ใช้สร้างแบบจำลองภูมิประเทศ</a:t>
            </a:r>
          </a:p>
          <a:p>
            <a:pPr rtl="0">
              <a:buNone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จุดเด่น: สะท้อนกลับได้หลายครั้ง (Multiple Returns)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พัลส์เลเซอร์ 1 พัลส์สามารถสะท้อนกลับได้หลายครั้ง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First return: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สะท้อนจากยอดไม้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Intermediate returns: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สะท้อนจากกิ่งก้าน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Last return:</a:t>
            </a: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สะท้อนจากพื้นดิน</a:t>
            </a:r>
          </a:p>
          <a:p>
            <a:pPr rtl="0">
              <a:buNone/>
            </a:pPr>
            <a:r>
              <a:rPr lang="th-TH" sz="1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LiDAR จึงเจาะผ่านช่องว่างของทรงพุ่มไม้ไปวัดระดับพื้นดินจริงใต้ต้นไม้ได้ ซึ่งเป็นสิ่งที่การถ่ายภาพทำไม่ได้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630076-6B6F-AB4B-8221-E5E6A85A7FA0}"/>
              </a:ext>
            </a:extLst>
          </p:cNvPr>
          <p:cNvSpPr txBox="1"/>
          <p:nvPr/>
        </p:nvSpPr>
        <p:spPr>
          <a:xfrm>
            <a:off x="548640" y="366748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5.2 </a:t>
            </a:r>
            <a:r>
              <a:rPr lang="en-US" sz="3400" b="1" dirty="0">
                <a:latin typeface="TH Sarabun New"/>
                <a:ea typeface="TH Sarabun New"/>
                <a:cs typeface="TH Sarabun New"/>
              </a:rPr>
              <a:t>UAV LiDAR </a:t>
            </a:r>
            <a:r>
              <a:rPr lang="th-TH" sz="3400" b="1" dirty="0"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sz="3400" b="1" dirty="0">
                <a:latin typeface="TH Sarabun New"/>
                <a:ea typeface="TH Sarabun New"/>
                <a:cs typeface="TH Sarabun New"/>
              </a:rPr>
              <a:t>Mobile/</a:t>
            </a:r>
            <a:r>
              <a:rPr lang="th-TH" sz="3400" b="1" dirty="0">
                <a:latin typeface="TH Sarabun New"/>
                <a:ea typeface="TH Sarabun New"/>
                <a:cs typeface="TH Sarabun New"/>
              </a:rPr>
              <a:t>อากาศยาน </a:t>
            </a:r>
            <a:r>
              <a:rPr lang="en-US" sz="3400" b="1" dirty="0">
                <a:latin typeface="TH Sarabun New"/>
                <a:ea typeface="TH Sarabun New"/>
                <a:cs typeface="TH Sarabun New"/>
              </a:rPr>
              <a:t>LiDAR</a:t>
            </a:r>
            <a:endParaRPr lang="th-TH" sz="3400" b="1" dirty="0">
              <a:latin typeface="TH Sarabun New"/>
              <a:ea typeface="TH Sarabun New"/>
              <a:cs typeface="TH Sarabun New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32DA231E-36CA-8479-087D-2FFF6EF39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212019"/>
              </p:ext>
            </p:extLst>
          </p:nvPr>
        </p:nvGraphicFramePr>
        <p:xfrm>
          <a:off x="462116" y="1710812"/>
          <a:ext cx="11180940" cy="42676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4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8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ชนิด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การติดตั้ง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เหมาะกับงาน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ความถูกต้อง / ข้อสังเกต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Airborne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(เครื่องบิน / เฮลิคอปเตอร์)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ติดตั้งบนเครื่องบินปีกตรึงหรือเฮลิคอปเตอร์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สแกนทำแผนที่ระดับภูมิภาค พื้นที่ขนาดใหญ่มาก หรือแนวระเบียงยาว (Corridor Mapping) เช่น ลุ่มน้ำ สายส่งไฟฟ้า ทางหลวง และงานป่าไม้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ความถูกต้องทางดิ่งราว 1–3 ซม. ถึง 15 ซม. ขึ้นกับความสูงบินและสเปกของเซนเซอร์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91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Mobile Terrestrial LiDAR (MLS)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(LiDAR เคลื่อนที่ทางบก)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ติดตั้งบนยานพาหนะทางบก (เช่น รถบรรทุกหรือรถ RTV) ทำงานร่วมกับ Laser Scanner, GNSS, IMU และ Wheel DMI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เด่นด้านมุมมองเฉียงและด้านข้างที่มีความหนาแน่นจุดสูงมาก เช่น หน้าผาชายฝั่ง ลานทราย คันดิน ผนังอาคาร และถนน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ต้องทำ Boresight Alignment เพื่อปรับแก้ความคลาดเคลื่อนเชิงมุมระหว่างเซนเซอร์ LiDAR กับ IMU ก่อนและหลังการสแกน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83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UAV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(LiDAR บนโดรน)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ติดตั้งเซนเซอร์ LiDAR ขนาดเบาบนอากาศยานไร้นักบิน (UAV)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พื้นที่ขนาดเล็กถึงปานกลาง พื้นที่เสี่ยงภัย หรือพื้นที่ป่าไม้ รวมข้อดีของการสแกนทางอากาศที่เจาะผ่านทรงพุ่มไม้ เข้ากับความคล่องตัว</a:t>
                      </a: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ความหนาแน่นจุดสูง (50–200+ จุด/ตร.ม.) ค่าใช้จ่ายดำเนินงานต่ำกว่าเครื่องบินขนาดใหญ่</a:t>
                      </a: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3D90A14-01B0-1363-283A-67BAFA056283}"/>
              </a:ext>
            </a:extLst>
          </p:cNvPr>
          <p:cNvSpPr txBox="1"/>
          <p:nvPr/>
        </p:nvSpPr>
        <p:spPr>
          <a:xfrm>
            <a:off x="462116" y="1212574"/>
            <a:ext cx="7551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h-TH" b="1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ตารางที่ 5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.1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ความเหมาะสมและความถูกต้องของ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UAV LiDAR 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และ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Mobile/</a:t>
            </a:r>
            <a:r>
              <a:rPr lang="th-TH" b="1" dirty="0">
                <a:latin typeface="TH Sarabun New"/>
                <a:ea typeface="TH Sarabun New"/>
                <a:cs typeface="TH Sarabun New"/>
              </a:rPr>
              <a:t>อากาศยาน </a:t>
            </a:r>
            <a:r>
              <a:rPr lang="en-US" b="1" dirty="0">
                <a:latin typeface="TH Sarabun New"/>
                <a:ea typeface="TH Sarabun New"/>
                <a:cs typeface="TH Sarabun New"/>
              </a:rPr>
              <a:t>LiDAR</a:t>
            </a:r>
            <a:endParaRPr lang="th-TH" b="0" dirty="0">
              <a:solidFill>
                <a:srgbClr val="839496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5.3 Point Cloud และการจำแนกข้อมูล Ground/Non-Ground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104160"/>
            <a:ext cx="11094415" cy="7325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200" b="0" dirty="0">
                <a:latin typeface="TH Sarabun New"/>
                <a:ea typeface="TH Sarabun New"/>
                <a:cs typeface="TH Sarabun New"/>
              </a:rPr>
              <a:t>Point Cloud (กลุ่มเมฆจุด 3 มิติ): กลุ่มข้อมูลพิกัด X, Y, Z มหาศาลที่สะท้อนจากวัตถุและภูมิประเทศ บันทึกคุณลักษณะเพิ่มเติม เช่น ค่าความเข้มสัญญาณ (Intensity), ลำดับการสะท้อน (Return Number) และค่าสี RGB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2FDF7-5A6F-2DA2-D1A0-4269B955DF06}"/>
              </a:ext>
            </a:extLst>
          </p:cNvPr>
          <p:cNvSpPr txBox="1"/>
          <p:nvPr/>
        </p:nvSpPr>
        <p:spPr>
          <a:xfrm>
            <a:off x="548640" y="219442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การจำแนกข้อมูล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Ground / Non-Ground (Ground Filtering)</a:t>
            </a:r>
            <a:endParaRPr lang="th-TH" sz="2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EBB72-0D12-E102-FA2B-A6DA7757F233}"/>
              </a:ext>
            </a:extLst>
          </p:cNvPr>
          <p:cNvSpPr txBox="1"/>
          <p:nvPr/>
        </p:nvSpPr>
        <p:spPr>
          <a:xfrm>
            <a:off x="646963" y="2625316"/>
            <a:ext cx="10404495" cy="237911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เป็นกระบวนการคัดแยกพอยต์คลาวด์ออกเป็นกลุ่ม Ground (พื้นดินเปล่า) และ Non-Ground (สิ่งก่อสร้าง อาคาร ต้นไม้ ยานพาหนะ และสัญญาณรบกวน/Noise)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หลักการทางกายภาพในการคัดแยก: อาศัยจุดระดับต่ำสุดในพื้นที่ (Lowest Elevation), เกณฑ์ความชัน (Slope Threshold), ความต่างระดับความสูง (Elevation Difference) และความราบเรียบของพื้นผิว (Smoothness)</a:t>
            </a:r>
          </a:p>
          <a:p>
            <a:pPr marL="320040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รูปแบบอัลกอริทึมในการจำแนก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Progressive TIN Densification (PTD): สร้างโครงข่ายสามเหลี่ยมระดับหยาบจากจุดต่ำสุด แล้วขยายการคำนวณปรับแก้หาจุดพื้นดินอย่างต่อเนื่อง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Cloth Simulation Filter (CSF): จำลองการพลิก Point Cloud กลับหัวแล้วทิ้งผ้าเสมือนลงมาคลุม จุดที่ผ้าสัมผัสจะถูกคัดแยกเป็นพื้นดิน</a:t>
            </a:r>
          </a:p>
          <a:p>
            <a:pPr marL="777240" lvl="1" indent="-274320" algn="thaiDist">
              <a:spcAft>
                <a:spcPts val="600"/>
              </a:spcAft>
              <a:buChar char="•"/>
            </a:pPr>
            <a:r>
              <a:rPr lang="en-US" b="0" dirty="0">
                <a:latin typeface="TH Sarabun New"/>
                <a:ea typeface="TH Sarabun New"/>
                <a:cs typeface="TH Sarabun New"/>
              </a:rPr>
              <a:t>Morphological Filter: </a:t>
            </a:r>
            <a:r>
              <a:rPr lang="th-TH" b="0" dirty="0">
                <a:latin typeface="TH Sarabun New"/>
                <a:ea typeface="TH Sarabun New"/>
                <a:cs typeface="TH Sarabun New"/>
              </a:rPr>
              <a:t>ใช้เกณฑ์ความชันและความสูงในการสกัดจุดออกด้วยโครงสร้างกริด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5.7 กระบวนการแปลงจุดพอยต์คลาวด์เป็น DTM (Rasterization / Interpolation)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139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คัดเลือกเฉพาะจุดพอยต์คลาวด์ที่ได้รับการจำแนกประเภทเป็น Ground (Class 2)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นำจุดพื้นดินมาประมาณค่าผ่านอัลกอริทึม เช่น Points2Grid (Local Binning) ที่คัดเลือกค่าความสูงต่ำสุดในแต่ละเซลล์กริด หรือใช้ Kriging, IDW และ Triangulation (TIN to Raster)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ผลลัพธ์ DTM แบบ Regular Grid หรือ TIN จะถูกนำไปใช้คำนวณปริมาณงานดินตัด-ดินถม (Cut &amp; Fill Volume), งานวิเคราะห์ทางอุทกวิทยา และการเขียนเส้นชั้นความสูง (Contour Lines) ในระบบ CADD/GIS ต่อไป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การสำรวจภูมิประเทศด้วยเทคโนโลยีภาพถ่ายและ Point Cloud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6.1 Photogrammetry กับ LiDAR (หลักการและการได้มาซึ่งข้อมูล)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7737"/>
            <a:ext cx="11094415" cy="7940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">
              <a:spcAft>
                <a:spcPts val="600"/>
              </a:spcAft>
            </a:pPr>
            <a:r>
              <a:rPr lang="th-TH" sz="2400" b="0" dirty="0">
                <a:latin typeface="TH Sarabun New"/>
                <a:ea typeface="TH Sarabun New"/>
                <a:cs typeface="TH Sarabun New"/>
              </a:rPr>
              <a:t>งานสำรวจสามารถใช้ LiDAR หรือโดรนถ่ายภาพ (Photogrammetry) สร้างกลุ่มเมฆจุด (Point Cloud) ได้ทั้งสองวิธี แต่หลักการได้มาซึ่งข้อมูลแตกต่างกัน ดังนี้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AA0FE-BA01-203B-9D30-D6953B6003D1}"/>
              </a:ext>
            </a:extLst>
          </p:cNvPr>
          <p:cNvSpPr txBox="1"/>
          <p:nvPr/>
        </p:nvSpPr>
        <p:spPr>
          <a:xfrm>
            <a:off x="293002" y="3213183"/>
            <a:ext cx="5547360" cy="2148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หลักการ: เป็นการสำรวจระยะไกลแบบ Passive Sensing ที่อาศัยแสงสว่างตามธรรมชาติบันทึกภาพถ่าย 2 มิติ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การประมวลผล: นำภาพเข้าอัลกอริทึม Structure from Motion (SfM) และ Multi-View Stereo (MVS) คำนวณตำแหน่งและทิศทางกล้อง แล้วประมาณพิกัดฉาก 3 มิติด้วยหลักการสามเหลี่ยม (Triangulation)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ผลลัพธ์หลัก: แผนที่ภาพถ่ายดัดแก้ (Orthophoto) แบบจำลอง 3D Textured Mesh และกลุ่มเมฆจุดที่มีค่าสี (RGB) ในตัว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EC073-8ADD-3436-2035-E134C8452F99}"/>
              </a:ext>
            </a:extLst>
          </p:cNvPr>
          <p:cNvSpPr txBox="1"/>
          <p:nvPr/>
        </p:nvSpPr>
        <p:spPr>
          <a:xfrm>
            <a:off x="6168174" y="3200893"/>
            <a:ext cx="5730824" cy="18712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หลักการ: เป็นการสำรวจระยะไกลแบบ Active Sensing ที่ส่งพัลส์เลเซอร์ไปกระทบวัตถุด้วยตัวเอง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ผลลัพธ์หลัก: กลุ่มเมฆจุด 3 มิติ (3D Point Cloud) ที่บันทึกพิกัด X, Y, Z และค่าความเข้มสัญญาณสะท้อน (Intensity)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b="0" dirty="0">
                <a:latin typeface="TH Sarabun New"/>
                <a:ea typeface="TH Sarabun New"/>
                <a:cs typeface="TH Sarabun New"/>
              </a:rPr>
              <a:t>คุณสมบัติเด่น: บันทึกสัญญาณสะท้อนได้หลายครั้ง (Multiple Returns) จึงเจาะผ่านช่องว่างของทรงพุ่มไม้ลงไปวัดระดับพื้นดินจริงใต้ต้นไม้ได้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12350-B3D8-1F99-9CF7-5A269AFF58E3}"/>
              </a:ext>
            </a:extLst>
          </p:cNvPr>
          <p:cNvSpPr txBox="1"/>
          <p:nvPr/>
        </p:nvSpPr>
        <p:spPr>
          <a:xfrm>
            <a:off x="293002" y="263248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Photogrammetry (การรังวัดด้วยภาพถ่าย)</a:t>
            </a:r>
            <a:endParaRPr lang="th-TH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B42D8-C292-B3E2-91CF-C1C4DCA73A22}"/>
              </a:ext>
            </a:extLst>
          </p:cNvPr>
          <p:cNvSpPr txBox="1"/>
          <p:nvPr/>
        </p:nvSpPr>
        <p:spPr>
          <a:xfrm>
            <a:off x="6095847" y="2632483"/>
            <a:ext cx="56574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600" b="1" dirty="0">
                <a:latin typeface="TH Sarabun New"/>
                <a:ea typeface="TH Sarabun New"/>
                <a:cs typeface="TH Sarabun New"/>
              </a:rPr>
              <a:t>LiDAR (Light Detection and Ranging)</a:t>
            </a:r>
            <a:endParaRPr lang="th-TH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6.2 ตารางเปรียบเทียบ LiDAR และ Photogrammetry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ตารางที่ 6.1 เปรียบเทียบ LiDAR และ Photogrammetry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978444"/>
              </p:ext>
            </p:extLst>
          </p:nvPr>
        </p:nvGraphicFramePr>
        <p:xfrm>
          <a:off x="548640" y="2049780"/>
          <a:ext cx="11094415" cy="3813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9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rgbClr val="000000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หัวข้อเปรียบเทียบ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solidFill>
                            <a:srgbClr val="000000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Photogrammetr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y</a:t>
                      </a:r>
                      <a:endParaRPr lang="th-TH" sz="2000" b="1" dirty="0">
                        <a:solidFill>
                          <a:srgbClr val="000000"/>
                        </a:solidFill>
                        <a:latin typeface="TH Sarabun New"/>
                        <a:ea typeface="TH Sarabun New"/>
                        <a:cs typeface="TH Sarabun New"/>
                      </a:endParaRP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rgbClr val="000000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LiDAR</a:t>
                      </a:r>
                    </a:p>
                  </a:txBody>
                  <a:tcPr marL="73152" marR="73152" marT="36576" marB="36576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716"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rgbClr val="000000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หลักการคร่าวๆ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rgbClr val="000000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Passive Sensing ถ่ายภาพ แล้วคำนวณ 3 มิติด้วย SfM + MVS และสามเหลี่ยม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rgbClr val="000000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Active Sensing ยิงเลเซอร์ วัดระยะด้วย Time-of-Flight ร่วมกับ GNSS และ IMU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416">
                <a:tc>
                  <a:txBody>
                    <a:bodyPr/>
                    <a:lstStyle/>
                    <a:p>
                      <a:r>
                        <a:rPr lang="th-TH" sz="2000" b="0">
                          <a:solidFill>
                            <a:srgbClr val="000000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ความทนทาน/สภาพแวดล้อม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rgbClr val="000000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ขึ้นกับแสงธรรมชาติ ทำงานกลางคืนไม่ได้ ถ่ายไม่ทะลุพืชพรรณ (ได้เฉพาะยอดทรงพุ่ม) พื้นผิวไร้ Texture หรือมันสะท้อนแสง (ผิวน้ำ หิมะ ทราย) จับคู่จุดภาพไม่ได้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rgbClr val="000000"/>
                          </a:solidFill>
                          <a:latin typeface="TH Sarabun New"/>
                          <a:ea typeface="TH Sarabun New"/>
                          <a:cs typeface="TH Sarabun New"/>
                        </a:rPr>
                        <a:t>เจาะช่องว่างทรงพุ่มถึงพื้นดินได้ด้วย Multiple Returns และใช้ในงานสแกนกลางคืนได้ (ตามหัวข้อเลือกใช้เทคโนโลยี)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 dirty="0">
                <a:latin typeface="TH Sarabun New"/>
                <a:ea typeface="TH Sarabun New"/>
                <a:cs typeface="TH Sarabun New"/>
              </a:rPr>
              <a:t>6.3 การเลือกใช้เทคโนโลยีให้เหมาะสมกับลักษณะพื้นที่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28B4DE9-1C3B-63E1-73E5-045FAE8A9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50404"/>
              </p:ext>
            </p:extLst>
          </p:nvPr>
        </p:nvGraphicFramePr>
        <p:xfrm>
          <a:off x="548640" y="1592826"/>
          <a:ext cx="11091672" cy="47622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1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0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ทางเลือก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เหมาะเมื่อ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2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ควรเลือกใช้ Photogrammetry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พื้นที่โครงการเป็นพื้นที่เปิดโล่ง ไร้สิ่งบดบัง เช่น งานก่อสร้างอาคาร งานเหมืองเปิด งานวางผังเมือง หรือแปลงเกษตรเปิด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ต้องการผลลัพธ์ที่เป็นภาพถ่ายจริง แผนที่ภาพถ่ายดัดแก้ (Orthophoto) หรือโมเดล 3D มีสีสัมผัสสมจริง เพื่อใช้สื่อสาร วางผัง หรือตรวจรอยร้าวอาคาร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ต้องการควบคุมงบประมาณอุปกรณ์เริ่มต้นให้ประหยัดที่สุด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17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ควรเลือกใช้ LiDAR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พื้นที่มีพืชพรรณ ต้นไม้ หรือป่าไม้ปกคลุมหนาแน่น ที่ต้องการสร้างแบบจำลองภูมิประเทศพื้นดินเปล่า (Bare-Earth DTM)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งานที่ต้องการความถูกต้องทางดิ่งสูงเป็นพิเศษ เช่น คำนวณปริมาณดินตัด-ดินถม (Cut &amp; Fill) ในภูมิประเทศซับซ้อน หรือวิเคราะห์ทางอุทกวิทยา/น้ำท่วม</a:t>
                      </a:r>
                    </a:p>
                    <a:p>
                      <a:pPr marL="342900" indent="-342900" algn="l">
                        <a:spcAft>
                          <a:spcPts val="400"/>
                        </a:spcAft>
                        <a:buSzPct val="10000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สำรวจพื้นที่แนวระเบียงยาว (Corridor Mapping) เช่น สายส่งไฟฟ้า ถนน ทางรถไฟ งานสแกนเวลากลางคืน หรือพื้นที่ที่มีความต่างระดับซับซ้อน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2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การใช้งานแบบผสมผสาน (Hybrid Workflow)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ในปัจจุบันนิยมใช้ข้อมูลร่วมกันทั้งสองระบบ โดยใช้ LiDAR สร้างโครงสร้างทางเรขาคณิตและระดับความสูงภูมิประเทศที่แม่นยำ แล้วนำภาพถ่ายจาก Photogrammetry มาทาบซ้อน (Overlay Texture) เพื่อสร้างโมเดลดิจิทัลทวิน (Digital Twin) หรือ BIM ที่มีความแม่นยำทั้งมิติเรขาคณิตและความสมจริงทางสายตา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marL="137160" marR="137160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36EA8A2-BDB1-1B75-88CF-663EC79CBFFF}"/>
              </a:ext>
            </a:extLst>
          </p:cNvPr>
          <p:cNvSpPr txBox="1"/>
          <p:nvPr/>
        </p:nvSpPr>
        <p:spPr>
          <a:xfrm>
            <a:off x="548640" y="1084028"/>
            <a:ext cx="11094415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th-TH" sz="2400" b="1" dirty="0">
                <a:latin typeface="TH Sarabun New"/>
                <a:ea typeface="TH Sarabun New"/>
                <a:cs typeface="TH Sarabun New"/>
              </a:rPr>
              <a:t>ตารางที่ 6.2 การเลือกใช้เทคโนโลยีให้เหมาะสมกับลักษณะพื้นที่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การสำรวจภูมิประเทศทางน้ำและใต้น้ำ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7.1 เครื่องหยั่งความลึกแบบคลื่นเสียงความถี่เดียว/ลำคลื่นเดียว (Single-Beam Echo Sounder - SBES)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2574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ความถี่และการใช้งาน: มีทั้งแบบคลื่นความถี่เดียวและคลื่นความถี่คู่ (Dual Frequency) ซึ่งความถี่สูงใช้หาผิวชั้นบนของท้องน้ำ ส่วนความถี่ต่ำสามารถทะลุทะลวงชั้นตะกอนนุ่มใต้น้ำได้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ข้อดีและจุดประสงค์: อุปกรณ์มีราคาถูก ติดตั้งง่าย เหมาะสำหรับพื้นที่น้ำตื้น ลำน้ำขนาดเล็ก คลอง ชลประทาน งานสำรวจตรวจสอบจุด (Spot checks) หรือพื้นที่จำกัดงบประมาณ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 dirty="0">
                <a:latin typeface="TH Sarabun New"/>
                <a:ea typeface="TH Sarabun New"/>
                <a:cs typeface="TH Sarabun New"/>
              </a:rPr>
              <a:t>การวัดสอบเครื่องมือ (Calibration): ต้องทำการวัดสอบ (Bar Check / Calibration) ที่ระดับความลึกต่างๆ และสภาวะน้ำใส/น้ำขุ่น เพื่อหาค่าวัดสอบนำไปปรับแก้ข้อมูลความลึกให้มีความถูกต้องสูงขึ้น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7.2 เครื่องหยั่งความลึกแบบหลายลำคลื่น (Multibeam Echo Sounder - MBES)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องค์ประกอบระบบและเซนเซอร์ประกอบ: ต้องทำงานร่วมกับเซนเซอร์ประกอบหลายชนิด ได้แก่ เครื่องรับสัญญาณ RTK GNSS (หาพิกัดราบ-สูง), เซนเซอร์ IMU/INS (วัดการโคลงของเรือ Pitch, Roll, Heave, Yaw) และอุปกรณ์วัดความเร็วเสียงในน้ำ (SVP/CTD)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การทดสอบความถูกต้องและการคาลิเบรต (Patch Test): ต้องทำ Patch Test ก่อนการสำรวจเพื่อแก้ความเบี่ยงเบนทางตำแหน่งและมุมของหัวส่งสัญญาณเทียบกับตัวเรือ ได้แก่ Roll Test (รังวัดบนพื้นท้องน้ำราบ), Pitch Test (รังวัดข้ามความลาดชัน/ภูมิประเทศขรุขระ) และ Yaw/Heading Test (รังวัดเส้นทางขนานเยื้องบนวัตถุเด่นใต้น้ำ)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7.3 การสำรวจหน้าตัดลำน้ำและท้องน้ำ (River Cross-Section and Bathymetric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50170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การตัดแบ่งกลุ่มจุดตามลักษณะสัณฐาน (Segmentation: Flat, Relief, Steep slope)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การใช้ตัวกรองสถิติ SOR (Statistical Outlier Removal) เพื่อขจัดจุดกระจัดกระจาย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การใช้แบบจำลอง CSF (Cloth Simulation Filter) เพื่อแยกจุดพื้นท้องน้ำจริงออกจากจุดที่ไม่ใช่พื้นดิน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การสร้างแบบจำลองภูมิประเทศใต้น้ำ (Digital Bathymetric Model - DBM): นำจุดความลึกที่กรองแล้วมาสร้างเป็นแผนที่เส้นชั้นความสูงใต้น้ำ (Bathymetric Contours), แบบจำลองโครงข่ายสามเหลี่ยม (TIN) หรือแบบจำลองความลึกแรสเตอร์ (Raster DBM)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7.4 การเขียนรูปตัดและการคำนวณปริมาตร (Cross-Sections &amp; Volume Calculations)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สกัดรูปตัดตามยาว (Longitudinal Profile) และรูปตัดตามขวาง (Cross-Section Profile) ตามแนวสเตชันเพื่อการวางแผนและออกแบบทางวิศวกรรม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คำนวณปริมาตรน้ำ ปริมาตรการความจุ หรือปริมาตรดินขุด-ดินถม (Cut/Fill Volume) ผ่านวิธีการทางคณิตศาสตร์ เช่น Composite Method (TIN Surface), Average End Area Method และ Prismoidal Method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7.5 การบูรณาการข้อมูลบนบกและใต้น้ำ (Integration of Topographic and Bathymetric Data)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2590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แนวคิดแบบจำลองความสูง-ความลึกแบบไร้รอยต่อ (Seamless Topo-Bathy Model): เป็นการรวมแบบจำลองความสูงภูมิประเทศบนบก (Topography/DEM) และแบบจำลองความลึกใต้น้ำ (Bathymetry/DBM) เข้าด้วยกันเป็นชุดข้อมูลเดียวกัน เพื่อให้เห็นลักษณะการเชื่อมต่อของชายฝั่ง ตลิ่ง และท้องน้ำอย่างไร้รอยต่อ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7.6 การผสานเทคโนโลยีสำรวจ (Multi-Technology Integration)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990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ข้อมูลบนบกและชายฝั่ง/น้ำตื้น: รวบรวมโดยเทคโนโลยีถ่ายภาพทางอากาศด้วยโดรน (UAV Photogrammetry), เทคโนโลยี LiDAR บนบก/อากาศ หรือการรังวัดด้วย RTK GNSS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ข้อมูลใต้น้ำ: รวบรวมโดยเครื่องหยั่งความลึก MBES, SBES หรือ Bathymetric LiDAR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7.7 การแปลงและอ้างอิงหมุดฐานพิกัด (Datums &amp; Georeferencing)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47141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การรวมข้อมูลต้องแปลงให้อยู่บนระบบพิกัดราบ (Horizontal Datum) เดียวกัน (เช่น WGS84, UTM, HTRS96/TM) และระดับอ้างอิงความสูง/ความลึก (Vertical Datum) เดียวกัน (เช่น ระดับน้ำทะเลปานกลาง - MSW/NAVD88)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แปลงข้อมูลกลุ่มจุดให้อยู่ในรูปแบบมาตรฐาน (เช่น .las) และรวมเข้าด้วยกันในระบบ GIS โดยใช้เทคนิคการกำหนดค่าเซลล์ (เช่น Binning approach หรือ Interpolation) เพื่อสร้างเป็น Seamless Raster DEM ความละเอียดสูง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การใช้เทคนิค Hydro-enforcement ปรับแก้แบบจำลองความสูงภูมิประเทศ เพื่อให้การจำลองการไหลของน้ำผ่านพื้นผิวในระบบ GIS ทำได้อย่างถูกต้องตามหลักอุทกวิทยา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7.8 การศึกษาน้ำทับตะกอนและการปรับปรุงโค้งความจุอ่างเก็บน้ำ (Reservoir Sedimentation &amp; AEC Curves)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สำรวจความลึกและสร้าง DEM ท้องอ่างเก็บน้ำ เพื่อนำมาปรับปรุง เส้นโค้งความสัมพันธ์ระหว่างระดับ-พื้นที่-ความจุ (Elevation-Area-Capacity Curves / AEC Curves) ให้เป็นปัจจุบัน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ประเมินอัตราการตกตะกอน (Siltation Rate), การสูญเสียความจุเก็บกักน้ำ และคาดการณ์อายุการใช้งานของอ่างเก็บน้ำ (Life Expectancy) เพื่อนำไปวางแผนอนุรักษ์ดินและน้ำในพื้นที่ลุ่มน้ำรับน้ำ (Catchment Area Treatment)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7.9 งานวางแผน ออกแบบ และขุดลอกในโครงการชลประทาน (Irrigation Canal &amp; River Engineering)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990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สำรวจหน้าตัดลำน้ำและคลองส่งน้ำ/คลองระบายน้ำ (เช่น การประยุกต์ใช้ในคลองบ้านนาลาว) เพื่อประเมินสภาพความกว้างและความลึก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คำนวณปริมาตรตะกอนทับถมและปริมาตรดินที่ต้องขุดลอก (Dredging Volume) สำหรับงานบำรุงรักษาคลองและทางน้ำชลประทาน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7.10 การจำลองทางอุทกวิทยาและการเตือนภัยน้ำท่วม (Hydrological &amp; Hydraulic Modeling)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นำแบบจำลองความสูง DEM/DBM ที่ได้จากการบูรณาการ ไปวิเคราะห์ทิศทางการไหลของน้ำ (Flow Direction), การสะสมตัวของน้ำท่า (Flow Accumulation), การกำหนดขอบเขตลุ่มน้ำย่อย (Watershed Delineation) และจุดออกของน้ำ (Pour-points)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ใช้เป็นข้อมูลนำเข้าในแบบจำลองไฮโดรลิกส์เพื่อจำลองการไหลของน้ำ พยากรณ์ระดับน้ำท่วมขัง (Flood Inundation Modeling) กำหนดเขตพื้นที่เสี่ยงภัยน้ำท่วม (Floodplains) และวางแผนบริหารจัดการน้ำในฤดูมรสุม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การประมวลผลและจัดการข้อมูลสำรวจ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การกรองสัญญาณรบกวน (Noise &amp; Outlier Filtering): ข้อมูล Point Cloud ดิบมักมีจุดคลาดเคลื่อน (Outliers) ทั้งจุดที่สูงเกินจริง (เกิดจากนก อากาศยาน หรือสัญญาณสะท้อน) และจุดที่ต่ำกว่าระดับพื้นดินจริง ซึ่งต้องถูกสแกนและกำจัดออกในขั้นตอน Preprocessing ก่อนประมวลผลต่อ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การคัดแยกจุดพื้นดินและไม่ใช่พื้นดิน (Ground Filtering / Point Cloud Classification): กระบวนการจำแนกจุดพอยต์คลาวด์เพื่อแยกออกจากกันระหว่างจุดบน พื้นดินเปล่า (Ground) และวัตถุเหนือดิน (Non-Ground) เช่น อาคาร สิ่งปลูกสร้าง ต้นไม้ พืชพรรณ และยานพาหนะ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445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Morphological Filter: อาศัยเกณฑ์ความชันและความสูงในการสกัดและตัดจุดที่ไม่ใช่พื้นดินออกผ่านโครงสร้างกริด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Progressive TIN Densification (PTD): สร้างโครงข่ายสามเหลี่ยมระดับหยาบจากจุดระดับต่ำสุด แล้วขยายการคำนวณคัดเลือกจุดพื้นดินเข้าสู่ TIN อย่างต่อเนื่องตามเกณฑ์มุมและความสูง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Cloth Simulation Filter (CSF): จำลองการพลิก Point Cloud กลับหัวแล้วทิ้งผ้าเสมือนลงมาคลุม จุดที่ผ้าสัมผัสจะถูกระบุและคัดแยกเป็นพื้นดิน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Surface / Interpolation-based Filters: ใช้สมการพื้นผิวหรือ Thin Plate Spline (TPS) ในการประมาณค่าเพื่อคัดเลือกจุดพื้นดิน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2590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มาตรฐานการจัดเก็บข้อมูล: ข้อมูล Point Cloud มักจัดเก็บและส่งออกในรูปแบบไฟล์มาตรฐานเปิดสากล คือ .las หรือไฟล์บีบอัด .laz ซึ่งบันทึกพิกัด X, Y, Z ร่วมกับค่าประเภทจุด (Class Code เช่น Class 2: Ground), ค่าความเข้มสัญญาณสะท้อน (Intensity) และสี RGB315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8.2 นิยามและประเภทของแบบจำลองความสูง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28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DSM (Digital Surface Model): แบบจำลองความสูงเชิงพื้นผิวที่รวมวัตถุและโครงสร้างทั้งหมดบนดิน (พื้นดิน + อาคาร + ต้นไม้)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DTM (Digital Terrain Model): แบบจำลองภูมิประเทศที่แสดงเฉพาะ พื้นดินเปล่า (Bare-Earth) โดยขจัดสิ่งปลูกสร้าง ต้นไม้ และพืชพรรณออกทั้งหมดหลังผ่าน Ground Filtering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DEM (Digital Elevation Model): นิยามกว้างๆ ของแบบจำลองความสูงเชิงตัวเลข ซึ่งใช้หมายถึง DTM หรือ DSM ขึ้นอยู่กับบริบทใช้งาน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8.3 กระบวนการแปลงจุดเป็นแบบจำลองความสูง (Gridding / Interpolation)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896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นำเฉพาะจุดที่จำแนกเป็น Ground (Class 2) มาประมาณค่าเชิงพื้นที่เพื่อสร้างเป็น Regular Grid (Raster)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อัลกอริทึมประมาณค่า: เช่น Points2Grid (Local Binning) ซึ่งคัดเลือกค่าความสูงต่ำสุดในแต่ละเซลล์กริด, Inverse Distance Weighting (IDW), Kriging, Spline หรือ Triangulation (TIN to Raster)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8.4 โครงสร้างการแสดงผลภูมิประเทศ (Terrain Structures)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Regular Grid / Raster: แบ่งพื้นที่เป็นเซลล์ตารางสี่เหลี่ยมขนาดเท่ากัน จัดเก็บค่าความสูงในแต่ละเซลล์ โครงสร้างเรียบง่ายและประมวลผลได้รวดเร็ว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TIN (Triangulated Irregular Network): เชื่อมโยงจุดความสูงสุ่มเข้าด้วยกันเป็นโครงข่ายสามเหลี่ยมที่ไม่ซ้อนทับกันตามหลัก Delaunay Triangulation โดยปรับความหนาแน่นตามความขรุขระของพื้นที่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8.5 การลากเส้นชั้นความสูง (Contour Generation)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896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ลากเส้นเชื่อมต่อจุดที่มีระดับความสูงเท่ากันจากการประมาณค่าบนโครงสร้าง TIN หรือ Grid/Raster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แนวเส้นบังคับ (Breaklines): ป้อนแนวเส้น Breaklines (เช่น ขอบถนน คันดิน สันเขา หรือลำน้ำ) เข้าไปเพื่อบังคับไม่ให้โครงข่ายสามเหลี่ยมหรือเส้นชั้นความสูงลากข้ามแนวโครงสร้างจริงตามธรรมชาติ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8.6 ความถูกต้องสัมพัทธ์และความถูกต้องสัมบูรณ์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917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Relative Accuracy: ความแม่นยำภายในโมเดลเอง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Absolute Accuracy: ความแม่นยำเมื่อเทียบกับระบบพิกัดอ้างอิงจริงบนโลก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8.7 การใช้จุดตรวจสอบอิสระ (Independent Checkpoints - CPs)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990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รังวัดพิกัดจุด CPs ภาคสนามด้วยเครื่องมือความถูกต้องสูง (เช่น GNSS RTK หรือ Total Station) โดยไม่นำจุด CPs เหล่านี้ไปใช้ในการปรับแก้โมเดล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นำพิกัดจากจุด CPs มาเปรียบเทียบกับค่าพิกัดที่อ่านได้จากโมเดล 3D / DEM เพื่อประเมินความคลาดเคลื่อนจริง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8.8 ตัวชี้วัดทางสถิติ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RMSE (Root Mean Square Error): ตัวชี้วัดหลักในการวัดค่ารากที่สองของความคลาดเคลื่อนเฉลี่ยกำลังสอง ทั้งทางราบ (RMSE_{xy}) และทางดิ่ง (RMSE_z)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การประเมินทางสถิติอื่นๆ: คำนวณค่าคลาดเคลื่อนเฉลี่ย (Mean Error), ค่าส่วนเบี่ยงเบนมาตรฐาน (S.D.) และประเมินสัดส่วนความผิดพลาดในการจำแนกประเภท (Type I Error คือจุดพื้นดินโดนจัดผิด และ Type II Error คือจุดไม่ใช่พื้นดินโดนจัดเป็นพื้นดิน)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GIS และการบูรณาการข้อมูลเชิงพื้นที่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9.1 การจัดการข้อมูลสำรวจในระบบ GIS (Management of Survey Data in GIS)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การรวบรวมข้อมูลภาคสนาม (Field Data Collection): ข้อมูลสำรวจรังวัดภูมิประเทศรวบรวมได้จากอุปกรณ์สำรวจภาคสนาม เช่น เครื่องรับสัญญาณ GPS/GNSS และการสำรวจรังวัดพิกัดความสูง โดยใช้งานร่วมกับแอปพลิเคชันจัดการข้อมูลสนามอย่าง ArcGIS Field Maps เพื่อจัดเก็บตำแหน่งจุดสำรวจ (Topographic Points)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การบันทึกตำแหน่งและค่าคุณลักษณะ (Positioning &amp; Attribute Recording): ข้อมูลตำแหน่งจุดสำรวจจะถูกบันทึกเป็นค่าพิกัดเชิงมิติ (x, y) ค่าความสูง (z) และรหัสจุดสำรวจ (Point IDs) ข้อมูลเหล่านี้จะนำเข้าสู่ GIS เพื่อสร้างเป็นฟีเจอร์เวกเตอร์ (Feature Classes) หรือประมวลผลเป็นแบบจำลองพื้นผิวต่อเนื่อง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9.1 การจัดการข้อมูลสำรวจในระบบ GIS (Management of Survey Data in GIS)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92582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เรขาคณิตสำรวจ (COGO - Coordinate Geometry): ใช้ในการคำนวณระยะทางและทิศทาง (Distance and Bearing) ระหว่างจุดพิกัดสำรวจ ซึ่งช่วยกำหนดขอบเขตพื้นที่เชิงกฎหมาย (Legal Boundaries) และสร้างคำอธิบายแนวเขต (Boundary Descriptions) ที่มีความถูกต้องสูงสำหรับงานสำรวจรังวัด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การนำข้อมูลสำรวจไปประยุกต์ใช้: การนำข้อมูลจุดสำรวจความแม่นยำสูง (Mass points) มาเชื่อมโยงกับฐานข้อมูล GIS ช่วยให้จัดเก็บ สืบค้น และคำนวณเรขาคณิตได้อย่างมีประสิทธิภาพ รองรับการนำไปใช้ในงานออกแบบทางวิศวกรรมโยธา การบริหารจัดการโครงสร้างพื้นฐาน และงานคูคลองหรือลุ่มน้ำ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9.2 แบบจำลองพื้นผิวภูมิประเทศ (Surface Models)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982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แบบจำลองความสูงเชิงเลข (DEM / Surface Raster): จัดเก็บค่าความสูงในรูปแบบตารางแรสเตอร์ (Grid cells) เหมาะสำหรับพื้นที่ขนาดใหญ่ มีโครงสร้างข้อมูลที่เรียบง่าย แต่ความถูกต้องจะขึ้นอยู่กับขนาดของเซลล์ (Resolution)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เครือข่ายสามเหลี่ยมไม่เป็นระเบียบ (TIN - Triangulated Irregular Network): โครงสร้างเวกเตอร์ที่ประกอบด้วยหมุดความสูง (Nodes / Mass points), เส้นขอบสามเหลี่ยม (Edges) และพื้นผิวสามเหลี่ยม (Faces) ตามหลัก Delaunay Triangulation โดยมีความหนาแน่นจุดผันแปรตามความขรุขระของพื้นที่ และสามารถแทรกเส้นขอบรอยหักงอ (Breaklines) เช่น สันเขา หรือลำน้ำ เพื่อคงความถูกต้องของภูมิประเทศได้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9.3 การคำนวณคุณลักษณะทางภูมิประเทศ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2574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การจำลองเงาแสง (Hillshade Analysis): คำนวณการส่องสว่างตามมุมสูงและทิศทางของดวงอาทิตย์ เพื่อสร้างภาพจำลองเงาภูมิประเทศ 3 มิติที่สมจริง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การวิเคราะห์การมองเห็น (Viewshed / Line-of-Sight Analysis): วิเคราะห์แนวสายตาจากจุดสังเกตไปยังทุกเซลล์บนพื้นผิว เพื่อระบุพื้นที่ที่มองเห็นและถูกบดบัง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การสร้างภาพตัดตามแนว (Vertical Profiles): สกัดค่าความสูงตามแนวเส้นทางเพื่อประเมินหน้าตัดภูมิประเทศสำหรับงานตัดถนนและระบบสาธารณูปโภค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9.4 การวิเคราะห์ทางอุทกวิทยาและการคำนวณปริมาตร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การวิเคราะห์ทางอุทกวิทยา (Hydrological Analysis): ใช้ข้อมูล DEM ในการจำลองทิศทางการไหลของน้ำ (Flow direction) การสะสมตัวของน้ำท่า (Flow accumulation) การขีดขอบเขตลุ่มน้ำ (Watershed delineation) และการกำหนดจุดออกของน้ำ (Pour-points) เพื่อคาดการณ์น้ำท่วมและบริหารจัดการน้ำ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การคำนวณปริมาตร (Volume Calculations): คำนวณปริมาตรงานดินขุด-ดินถม (Cut and fill) ในงานวิศวกรรม หรือประเมินความจุของอ่างเก็บน้ำ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9.5 การซ้อนทับข้อมูลหลายประเภท (Overlay Analysis of Multiple Data Types)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2590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แนวคิดการซ้อนทับชั้นข้อมูล (Multi-Layer Overlay): การนำชั้นข้อมูลเชิงพื้นที่หลายเรื่อง (Thematic Layers) เช่น ดิน, การใช้ประโยชน์ที่ดิน, ธรณีวิทยา, และความลาดชัน ที่อยู่ในระบบพิกัดเดียวกัน มาซ้อนทับกันเพื่อประเมินความสัมพันธ์เชิงพื้นที่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9.6 เปรียบเทียบเทคนิคการซ้อนทับ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407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Vector Overlay: ดำเนินการผ่านคำสั่งทางเรขาคณิต เช่น การรวมพื้นที่ (Union), การตัดเอาส่วนร่วม (Intersection) และการหาผลต่าง (Difference) มีความซับซ้อนในการประมวลผลสูง และอาจเกิดปัญหาโพลีกอนคลาดเคลื่อนขนาดเล็ก (Sliver polygons) จากความไม่ตรงกันของการดิจิไทซ์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Raster Overlay &amp; Map Algebra: ประมวลผลแบบ Cell-by-cell บนโครงสร้างตารางแรสเตอร์ โดยใช้พีชคณิตแผนที่ (Map Algebra) ร่วมกับตัวดำเนินการทางคณิตศาสตร์, ตัวดำเนินการตรรกศาสตร์ (Boolean Operators: AND, OR, NOT) และฟังก์ชันท้องถิ่น (Local Functions)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9.7 การตัดสินใจแบบหลายหลักเกณฑ์เชิงพื้นที่ (GIS-MCDA / AHP)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975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การซ้อนทับแบบถ่วงน้ำหนัก (Weighted Overlay / Weighted Linear Combination - WLC): แปลงชั้นข้อมูลเป็นแรสเตอร์ จัดลำดับคะแนนคุณลักษณะ (Feature Rank r_i) และคูณด้วยน้ำหนักของปัจจัย (W_i) แล้วซ้อนทับกัน ตัวอย่างเช่น การประเมินพื้นที่ศักยภาพน้ำใต้ดิน (Groundwater Potential Zones) โดยรวมปัจจัยน้ำฝน ธรณีสัณฐาน ธรณีวิทยา ดิน ความลาดชัน ความหนาแน่นลำน้ำ ความหนาแน่นรอยแตก และการใช้ประโยชน์ที่ดิน เข้าด้วยกันอย่างมีระบบ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9.8 การจัดทำแผนที่และการแปลงตำแหน่ง (Mapping &amp; Locators)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5574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การแสดงผลเชิงตาร์โตกราฟี: ใช้สัญลักษณ์เฉพาะเรื่อง (Thematic Symbols), การลำดับชั้นการวาด (Drawing order), ค่าความโปร่งแสง และการสร้างเส้นชั้นความสูง (Contours) เพื่อสื่อสารผลการวิเคราะห์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เครื่องมือระบุตำแหน่ง (Locators &amp; Geocoding): แปลงข้อมูลตำแหน่งที่ไม่ใช่แผนที่ ให้กลายเป็นฟีเจอร์เชิงพื้นที่ เช่น พิกัด (x,y), ที่อยู่ (Street addresses), รหัสไปรษณีย์ (Postal codes) และตำแหน่งตามระยะทางบนเส้นทาง (Route measures/Mileposts)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9.9 สถาปัตยกรรมฐานข้อมูลเชิงพื้นที่ (Spatial Database / Geodatabase)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9989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ข้อจำกัดของระบบแฟ้มข้อมูลดั้งเดิม (Flat Files / Coverages / Shapefiles): ไม่รองรับการแก้ไขข้อมูลพร้อมกันหลายผู้ใช้ (No Concurrent Multi-user Editing), ขาดการจัดการผ่าน SQL โดยตรง และมีข้อจำกัดด้านขนาดไฟล์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Spatial Data Types: เพิ่มประเภทข้อมูลรูปทรงทางภูมิศาสตร์ เช่น Point, Line, Polygon, Multi-points/polygons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Spatial Indexing: ใช้ดรรชนีเชิงพื้นที่แบบหลายมิติ เช่น R-Tree และ Quadtree ที่อาศัยกล่องขอบเขตล้อมรอบ (Bounding Box / MBR) ในการสืบค้นพื้นที่ทับซ้อน แทนที่ B-Tree แบบเดิมที่ไม่สามารถจัดลำดับข้อมูล 2 มิติได้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9.9 สถาปัตยกรรมฐานข้อมูลเชิงพื้นที่ (Spatial Database / Geodatabase)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164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Spatial Functions: มีฟังก์ชันเรขาคณิตตามมาตรฐาน OGC/SFSQL สำหรับประมวลผลด้วยภาษา SQL แบ่งเป็น ฟังก์ชันการแปลงข้อมูล (Conversion), การจัดการ (Management), การวัดค่าคุณลักษณะ (Retrieval), การเปรียบเทียบความสัมพันธ์ (Comparison เช่น ST_Intersects, ST_Contains) และการสร้างรูปทรงใหม่ (Generation เช่น ST_Buffer, ST_Union)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9.9 สถาปัตยกรรมฐานข้อมูลเชิงพื้นที่ (Spatial Database / Geodatabase)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0700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การบริหารจัดการฐานข้อมูลระดับองค์กร (Enterprise Geodatabase): ประยุกต์ใช้ฐานข้อมูลเชิงสัมพันธ์ (RDBMS) เช่น PostgreSQL/PostGIS, Oracle หรือ SQL Server ร่วมกับ ArcSDE รองรับระบบจัดการหลายเวอร์ชัน (Multi-user Versioning / Long Transactions) เพื่อให้ผู้ใช้หลายคนสามารถเข้าถึง จัดการโทโพโลยี (Topology) และแก้ไขข้อมูลเชิงพื้นที่พร้อมกันได้โดยข้อมูลไม่สูญหายหรือขัดแย้งกัน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การบูรณาการข้อมูลสำรวจในรูปแบบ 3D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10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10.1 โครงสร้างข้อมูลเชิงพื้นที่ (Data Structures)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2435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Regular Grid / Raster: โครงสร้างแบบตารางกริดสี่เหลี่ยมสม่ำเสมอ จัดเก็บค่าความสูง (Z) ในแต่ละเซลล์ (Pixel) มีข้อดีคือโครงสร้างข้อมูลเรียบง่าย ประมวลผลรวดเร็ว เหมาะสำหรับพื้นที่ขนาดใหญ่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10.2 การนำไปบูรณาการและประยุกต์ใช้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2435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ใช้เป็นพื้นผิวปรับแก้ทางเรขาคณิตในการสร้างแผนที่ภาพถ่ายดัดแก้จริง (True-Orthophoto) และใช้วางตำแหน่งโมเดลโครงสร้าง 3D บนสภาพแวดล้อมจริงในระบบ CADD, GIS และ Autodesk InfraWorks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10.3 เทคโนโลยี Reality Capture และการสร้างข้อมูล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0700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ข้อมูลพิกัดฉาก 3 มิติ (X, Y, Z) ความหนาแน่นสูงนับล้านถึงพันล้านจุด ได้จากการรังวัดด้วยเทคโนโลยี Reality Capture หลากหลายรูปแบบ ได้แก่ Terrestrial Laser Scanning (TLS) Airborne / UAV LiDAR SLAM Mobile Mapping (สแกนแบบเคลื่อนที่ทั้งแบบแบกเป้ ยานพาหนะ หรืออุปกรณ์มือถือ) และ UAV Photogrammetry ผ่านกระบวนการจับคู่จุดภาพหนาแน่น (Dense Image Matching / MVS)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10.4 คุณลักษณะและรูปแบบไฟล์มาตรฐาน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5330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ให้ความแม่นยำเชิงตำแหน่งสูงระดับมิลลิเมตรถึงเซนติเมตร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นอกเหนือจากค่าพิกัด X, Y, Z แล้ว Data Record ยังบันทึกคุณลักษณะเชิงอรรถประโยชน์ เช่น ค่าความเข้มสัญญาณสะท้อนเลเซอร์ (Intensity), ลำดับการสะท้อน (Return Number) และค่าสีภาพถ่ายสมจริง (RGB)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จัดเก็บในรูปแบบไฟล์มาตรฐานสากล เช่น .las, .laz, .e57 หรือ .pts.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10.5 บทบาทและหน้าที่ในงานบูรณาการ 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2590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Scan-to-BIM &amp; QA/QC: นำ Point Cloud ของสภาวะจริงหลังการก่อสร้าง (As-built / As-is Condition) มาเปรียบเทียบกับแบบจำลองการออกแบบ (As-designed BIM Model) เพื่อหาค่าเบี่ยงเบนทางเรขาคณิต (Deviation Identification) และตรวจสอบคุณภาพการก่อสร้าง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10.6 นิยามและโครงสร้างสถาปัตยกรรม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Digital Twin คือตัวแทนเสมือนจริงในโลกดิจิทัล (Virtual Entity) ของวัตถุ โครงสร้าง หรือระบบทางกายภาพจริง (Physical Entity) ในโลกจริง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หัวใจสำคัญ: ต้องมีกลไก การแลกเปลี่ยนข้อมูลแบบสองทาง (Bi-Directional Data Interaction) และการสะท้อนข้อมูลแบบ Real-Time หรือใกล้เคียง Real-Time ทำให้ฝาแฝดดิจิทัลสามารถปรับปรุงสถานะ (Real-time Updating) และสนับสนุนการตัดสินใจได้อย่างแม่นยำ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10.7 การบูรณาการข้อมูลสำรวจ 3D ร่วมกับเครือข่ายเซนเซอร์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2435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Analytics &amp; Visualization Stage: นำข้อมูลจากเซนเซอร์ไปประมวลผลร่วมกับแบบจำลองไฟไนเอลิเมนต์ (FEM/FEA) หรือปัญญาประดิษฐ์ (Deep Learning / CNN) เพื่อประเมินพฤติกรรมโครงสร้าง และแสดงผลผ่านแดชบอร์ด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10.8 ตัวอย่างการประยุกต์ใช้ในงานโครงสร้างพื้นฐาน (Case Studies)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5574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งานติดตามสุขภาพโครงสร้างสะพาน (Bridge Structural Health Monitoring): เช่น สะพาน IB5 ในสหราชอาณาจักร หรือสะพานแขวน Clifton ที่บูรณาการเซนเซอร์ FBG, สแกนเนอร์เลเซอร์ และกล้องถ่ายภาพ เพื่อตรวจจับน้ำหนักรถไฟ (BWIM), ตรวจสอบรอยร้าว และทำวิเคราะห์อายุการใช้งานโครงสร้าง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งานประเมินความเสียหายหลังภัยพิบัติ: การใช้โดรนสแกนสร้าง Point Cloud และ BIM ของอาคารหลังแผ่นดินไหว เพื่อวิเคราะห์รอยร้าวและการเปลี่ยนรูปของโครงสร้างเมื่อเทียบกับสภาวะก่อนเกิดภัย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10.9 กระบวนการ Scan-to-BIM (Point Cloud to BIM Reconstruction)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233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200" b="0">
                <a:latin typeface="TH Sarabun New"/>
                <a:ea typeface="TH Sarabun New"/>
                <a:cs typeface="TH Sarabun New"/>
              </a:rPr>
              <a:t>คือกระบวนการแปลงข้อมูล Point Cloud เข้าสู่โปรแกรมสร้างแบบจำลองสารสนเทศอาคาร (BIM Authoring Tools) เพื่อสร้างโมเดล 3D ที่พ่วงด้วยข้อมูลเชิงอรรถประโยชน์ (Semantic Information) และระดับความละเอียด (Level of Development - LOD)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200" b="0">
                <a:latin typeface="TH Sarabun New"/>
                <a:ea typeface="TH Sarabun New"/>
                <a:cs typeface="TH Sarabun New"/>
              </a:rPr>
              <a:t>กำหนดความต้องการข้อมูล (Information Requirements): กำหนดองค์ประกอบอาคารที่ต้องการและระดับ LOD.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200" b="0">
                <a:latin typeface="TH Sarabun New"/>
                <a:ea typeface="TH Sarabun New"/>
                <a:cs typeface="TH Sarabun New"/>
              </a:rPr>
              <a:t>การลงทะเบียนพอยต์คลาวด์ (Registration): ปรับตรึงพอยต์คลาวด์กับแบบด้วยเทคนิค PCA หรือ ICP.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200" b="0">
                <a:latin typeface="TH Sarabun New"/>
                <a:ea typeface="TH Sarabun New"/>
                <a:cs typeface="TH Sarabun New"/>
              </a:rPr>
              <a:t>การคัดแยกและสร้างโมเดล 3D: สกัดระนาบองค์ประกอบ (Plane Detection) ด้วยอัลกอริทึม RANSAC หรือวิธี Scan-vs-BIM เพื่อสร้างวัตถุพารามิเตอร์ (Parametric Building Elements)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10.10 มาตรฐาน Open BIM และ IFC 4.3 (ISO 19650)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ช่วยแก้ปัญหาข้อจำกัดของไฟล์โมเดลแบบปิด (Proprietary Formats) โดยมาตรฐาน Open BIM ผ่านข้อกำหนด IFC 4. (ISO 19650) ที่พัฒนาโดย buildingSMART ได้ขยายขอบเขตให้ครอบคลุมโครงสร้างพื้นฐานแนวยาว (Linear Infrastructure) เช่น ถนน ทางรถไฟ (IFC 4. Rail) สะพาน (Bridges) และทางน้ำ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ช่วยให้วัตถุในโมเดลถูกจัดโครงสร้างทางความหมาย (Semantic Structuring) ผ่าน Property Sets (Psets) และรหัสระบุเฉพาะ (Persistent IDs / GUID) ทำให้สามารถแลกเปลี่ยนข้อมูลข้ามแพลตฟอร์มซอฟต์แวร์ได้อย่างสมบูรณ์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10.11 การบูรณาการ BIM-GIS และ CIM (City Information Modelling)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982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การทำงานร่วมกันระหว่าง BIM และ GIS: BIM มีจุดเด่นในเรื่องรายละเอียดเชิงลึก เรขาคณิต และโครงสร้างภายในอาคาร/องค์ประกอบ (Indoor / Component Semantics) ขณะที่ GIS มีจุดเด่นด้านบริบทสภาพแวดล้อมเชิงพื้นที่ ภูมิประเทศ และเครือข่ายระดับเมือง/ภูมิภาค (Outdoor / Geospatial Context)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ความท้าทายและการแปลงมาตรฐาน (IFC &amp; CityGML): การเชื่อมโยงจำเป็นต้องมีการจับคู่ทางความหมาย (Semantic Mapping / Reference Ontology) ระหว่าง IFC (ฝั่ง BIM) และ CityGML (ฝั่ง GIS) หรือใช้โมเดลกลางสากล (Unified Building Model - UBM) เพื่อให้สามารถแปลงข้อมูลสองทาง (Bidirectional Conversion) ได้อย่างถูกต้อง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10.11 การบูรณาการ BIM-GIS และ CIM (City Information Modelling)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975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CIM และ 3D City Model: การนำ IFC 4. Models เข้าสู่แพลตฟอร์ม Geospatial Contextualisation เช่น Autodesk InfraWorks, Esri ArcGIS Enterprise หรือ WebGIS ช่วยสร้าง City Information Model (CIM) หรือ 3D City Twin สำหรับใช้วิเคราะห์ผังเมือง, จำลองภัยพิบัติระดับเมือง, วิเคราะห์การส่องสว่าง/พลังงาน, ตลอดจนการตรวจสอบการชนกันของแบบและระยะทำงาน (4D/5D Clash Detection &amp; Construction Simulation) ในระดับเมืองได้อย่างแม่นยำ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ตัวอย่างการประยุกต์ใช้เทคโนโลยีการสำรวจ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11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11.1 งานสำรวจถนนและโครงสร้างพื้นฐาน (Road &amp; Infrastructure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การใช้อากาศยานไร้คนขับ (UAV) ขนาดเล็ก (เช่น DJI MINI 2) ในการบินเก็บข้อมูลกิจกรรม ตรวจสอบความปลอดภัยของผู้ปฏิบัติงานและประชาชน การวางแผนจราจร และการติดป้ายสัญญาณในโครงการก่อสร้างทางหลวง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การใช้ UAV ประสิทธิภาพสูง (เช่น DJI Matrice 200 V2) ติดตั้งกล้องความละเอียดสูง เพื่อสำรวจระดับภูมิประเทศและคำนวณปริมาณดินถมเบื้องต้นก่อนการก่อสร้างด่านพรมแดนและสะพานมิตรภาพ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11.2 งานสำรวจแม่น้ำและพื้นที่ริมตลิ่ง (River &amp; Riparian Zone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การประยุกต์ใช้เครื่องหยั่งความลึกด้วยคลื่นเสียงแบบลำคลื่นเดียว (Single-Beam Echo Sounder - SBES) ร่วมกับ RTK GNSS ในลำน้ำและคลองชลประทาน (เช่น คลองบ้านนาลาว) เพื่อรวบรวมพิกัดและค่าความลึก นำไปประมวลผลสร้างแผนที่เส้นชั้นความลึก (Bathymetric Contours) และแบบจำลองความลึก (DBM)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การสกัดข้อมูลรูปตัดตามขวาง (Cross-Sections) และรูปตัดตามยาว (Longitudinal Profiles) จากแบบจำลองความสูงเชิงเลข (DEM/DBM) เพื่อใช้ในการออกแบบทางวิศวกรรมลำน้ำ การวิเคราะห์ทางอุทกวิทยา และการคำนวณความจุลำน้ำ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11.2 งานสำรวจแม่น้ำและพื้นที่ริมตลิ่ง (River &amp; Riparian Zone Surveying)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การใช้ UAV ร่วมกับงานสำรวจภาพถ่าย เพื่อติดตามการพังพลายของลาดไหล่ทางและตลิ่ง (เช่น บริเวณเขื่อนแควน้อยบำรุงแดน) รวมถึงการสำรวจหน้าตัดแม่น้ำ (เช่น แม่น้ำลำภาชี) เพื่อใช้ในแบบจำลองการไหล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การประยุกต์ข้อมูลทางอุทกวิทยาเพื่อติดตามประเมินการตกตะกอนและการกัดเซาะของลำน้ำ (Soil Erosion &amp; Deposition) ร่วมกับคู่มือการปฏิบัติงานด้านตะกอน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11.3 งานสำรวจพื้นที่ก่อสร้าง (Construction Site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28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การใช้ภาพถ่ายทางอากาศจาก UAV ร่วมกับเทคโนโลยี RTK / PPK GNSS ในการสร้างแบบจำลองพื้นผิวเชิงเลข (DSM/DTM) และประมวลผลคำนวณปริมาตรดินแบบ Surface-to-Surface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การผลิตภาพถ่ายออร์โธที่ถูกต้องเชิงพิกัด (Orthomosaic) และแบบจำลอง 3 มิติ เพื่อใช้ติดตามสภาพพื้นที่จริงเทียบกับแผนงาน Construction Schedule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การสำรวจภูมิประเทศในขั้นตอนถางป่าขุดตอ (Clearing and Grubbing) เพื่อใช้เป็นระดับดินเดิมที่แม่นยำในการตรวจรับงานงวดดินถม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11.4 งานสำรวจพื้นที่เสี่ยงต่อการกัดเซาะ (Erosion Risk Area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2590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การประยุกต์ใช้ภาพถ่ายดาวเทียม (เช่น Landsat, IKONOS, QuickBird, Worldview-2, Pleiades) ร่วมกับระบบประมวลผลคลาวด์ Google Earth Engine (GEE), ดัชนี AWEI, เทคนิค Otsu Thresholding และเครื่องมือ DSAS / CoastSat ในการจำกัดขอบเขตแนวชายฝั่งและคำนวณอัตราการเปลี่ยนแปลง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การนำข้อมูลสำรวจและภูมิสารสนเทศหลายชั้นข้อมูล (เช่น ฝน, ธรณีวิทยา, โครงสร้างรอยแตก, ดิน, ความลาดชัน, การใช้ประโยชน์ที่ดิน) มาซ้อนทับกันโดยกำหนดน้ำหนักความสำคัญผ่านกระบวนการ Analytic Hierarchy Process (AHP) เพื่อประเมินพื้นที่เหมาะสมสำหรับการวางแผน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ตัวอย่างการประยุกต์: การจัดทำแผนที่ประเมินพื้นที่ศักยภาพน้ำใต้ดิน (Groundwater Potential Zones) และการประเมินพื้นที่เปราะบางต่อภัยธรรมชาติต่างๆ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5574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การรวมข้อมูล GIS 3 มิติ, BIM และข้อมูลสำรวจ LiDAR เข้าด้วยกันเป็น living 3D model ช่วยให้ผู้ผังเมืองประเมินผลกระทบสิ่งแวดล้อม (Impact Assessment) และจำลองสถานการณ์ต่างๆ (Scenario Modeling) เช่น แบบจำลองน้ำท่วม การไหลเวียนความร้อน หรือการจราจร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Virtual Singapore: การสร้างดิจิทัลทวินระดับชาติโดยบูรณาการ aerial LiDAR, Street-mounted scanning และเซนเซอร์ IoT เพื่อการวางแผนคมนาคม ผังเมือง และสาธารณูปโภคร่วมกันระหว่างหน่วยงาน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2590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การส่งออกข้อมูลเส้นชั้นความสูง (Contours) และข้อมูล Profile / Cross-section ที่ได้จาก UAV Photogrammetry หรือ LiDAR เข้าสู่ซอฟต์แวร์ออกแบบทางวิศวกรรม (เช่น CAD / Civil 3D) เพื่อใช้ในงานออกแบบถนน ระบบระบายน้ำ และงานจัดรูปที่ดิน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th-TH" sz="4400" b="1">
                <a:latin typeface="TH Sarabun New"/>
                <a:ea typeface="TH Sarabun New"/>
                <a:cs typeface="TH Sarabun New"/>
              </a:rPr>
              <a:t>แนวโน้มเทคโนโลยีการสำรวจในอนาคต</a:t>
            </a:r>
          </a:p>
          <a:p>
            <a:pPr>
              <a:spcBef>
                <a:spcPts val="1400"/>
              </a:spcBef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บทที่ 12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12.1 ปัญญาประดิษฐ์และระบบเรียนรู้ของเครื่อง (AI &amp; Machine Learning)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164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โมเดลการประมวลผลกลุ่มจุด 3 มิติ (3D Point Cloud Processing Models): การสำรวจในยุคใหม่เปลี่ยนจากการใช้มนุษย์แปลความหมายมาเป็นการใช้สถาปัตยกรรมโครงข่ายประสาทเทียมขั้นสูง เช่น PointNet++, 3D CNNs, VoxelNet และ Transformers (เช่น Point Transformer, TransPCNet) ในการประมวลผลข้อมูล Point Cloud เชิงพื้นที่ 3 มิติโดยตรง.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12.1 ปัญญาประดิษฐ์และระบบเรียนรู้ของเครื่อง (AI &amp; Machine Learning)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164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การตรวจจับความผิดปกติและความเสียหายของโครงสร้าง (Defect &amp; Anomaly Detection): อัลกอริทึม Machine Learning ถูกนำมาใช้ประมวลผลภาพถ่าย (เช่น ภาพจากกล้องติดรถยนต์ Blyncsy) และข้อมูล LiDAR เพื่อตรวจจับรอยแตกร้าวบนผิวจราจร, ความเสียหายของแผงกั้นทาง (Guardrails), ขยะสิ่งกีดขวาง, ความชำรุดในท่อระบายน้ำ และการรั่วซึมในอุโมงค์ได้โดยอัตโนมัติ.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12.1 ปัญญาประดิษฐ์และระบบเรียนรู้ของเครื่อง (AI &amp; Machine Learning)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5574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การพยากรณ์และประเมินความเสี่ยงเชิงพื้นที่: AI ทำหน้าที่วิเคราะห์รูปแบบข้อมูลอนุกรมเวลา (Time-series Data) เพื่อพยากรณ์การเสื่อมสภาพของสินทรัพย์, คาดการณ์ภัยธรรมชาติ (เช่น น้ำท่วม ดินถล่ม), และวิเคราะห์ความเอียงของเสาไฟฟ้าผ่านภาพถ่าย UAV เพื่อประเมินความเสี่ยงก่อนเกิดภัยพิบัติ.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ข้อจำกัดและการตรวจสอบโดยมนุษย์: แม้ระบบอัตโนมัติจะประมวลผลได้รวดเร็ว แต่มนุษย์ยังคงจำเป็นในการควบคุมคุณภาพ (QA/QC), ตรวจสอบความถูกต้องทางกฎหมาย และตัดสินใจในเงื่อนไขสนามที่ซับซ้อน.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12.2 การสกัดคุณลักษณะอัตโนมัติ (Automated Feature Extraction)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0700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เครื่องมือสกัดจุดและเวกเตอร์อัตโนมัติ (Point Feature Extraction Tools): แพลตฟอร์มการสำรวจชั้นนำ (เช่น FlyPix AI, Pix4D, Skycatch, Propeller Aero, LiDAR360, DroneDeploy, Autodesk ReCap, Bentley iTwin) ใช้ AI และ Photogrammetry ในการตรวจจับและสกัดตำแหน่งวัตถุเดี่ยว เช่น รอยmarking บนถนน, ขอบอาคาร, เสาไฟฟ้า และทรงพุ่มต้นไม้ ออกมาจากชุดข้อมูลภาพถ่ายและ LiDAR.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12.3 การประมวลผลบนระบบคลาวด์ (Cloud Processing)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982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การจัดการและจัดเก็บข้อมูลขนาดใหญ่ (Scalable Cloud Infrastructure): ปริมาณข้อมูลการสำรวจในปัจจุบันมีขนาดใหญ่ระดับ Terabytes (เช่น กลุ่มจุด LiDAR และภาพถ่ายโดรนความละเอียดสูง) ระบบคลาวด์จึงเข้ามาแทนที่เครื่องประมวลผลท้องถิ่น เพื่อรองรับการจัดเก็บ การประมวลผล และการสำรองข้อมูลอย่างมีประสิทธิภาพ.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400" b="0">
                <a:latin typeface="TH Sarabun New"/>
                <a:ea typeface="TH Sarabun New"/>
                <a:cs typeface="TH Sarabun New"/>
              </a:rPr>
              <a:t>การเข้าถึงแบบหลายอุปกรณ์และการทำงานร่วมกัน (Cross-Device Collaboration): แพลตฟอร์มคลาวด์ช่วยให้ทีมงานวิศวกร, ผู้ดูแลโครงการ และช่างสำรวจภาคสนาม สามารถเข้าถึง มาร์กอัป (Annotate), วัดขนาด และแชร์โมเดล 3 มิติร่วมกันได้แบบเรียลไทม์ผ่านเว็บเบราว์เซอร์หรืออุปกรณ์เคลื่อนที่.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12.3 การประมวลผลบนระบบคลาวด์ (Cloud Processing)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5574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เวิร์กโฟลว์และ API อัตโนมัติ (Automated Workflows &amp; APIs): ระบบอย่าง Anvil Labs หรือ DroneDeploy นำเสนอ Cloud APIs สำหรับอัปโหลดข้อมูลดิบ เพื่อแปลงเป็นโมเดล 3 มิติ, สร้าง Orthomosaic, และตรวจจับความผิดปกติผ่านอัลกอริทึมบนคลาวด์โดยไม่ต้องลงซอฟต์แวร์ประมวลผลหนักๆ ในเครื่อง local.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800" b="0">
                <a:latin typeface="TH Sarabun New"/>
                <a:ea typeface="TH Sarabun New"/>
                <a:cs typeface="TH Sarabun New"/>
              </a:rPr>
              <a:t>การลดต้นทุนฮาร์ดแวร์และการบำรุงรักษา: องค์กรไม่จำเป็นต้องลงทุนในซูเปอร์คอมพิวเตอร์ราคาแพง และสามารถขยายขนาดการประมวลผล (Scalability) ได้ตามจริง ช่วยลดค่าใช้จ่ายดูแลรักษาระบบไอที.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12.4 การสำรวจแบบเรียลไทม์ (Real-time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เครื่องสแกน LiDAR มือถือและเทคโนโลยี SLAM: เครื่องสำรวจแบบถือเคลื่อนที่ (Handheld LiDAR Scanners เช่น TOKNAV TSR20) ประยุกต์ใช้อัลกอริทึม SLAM (Simultaneous Localization and Mapping) ในการสร้างโมเดล Point Cloud 3 มิติได้ทันทีขณะที่เจ้าหน้าที่เดินสำรวจในพื้นที่.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การสตรีมข้อมูลเซนเซอร์ภาคสนาม (Live IoT &amp; Crowdsourced Feeds): การเชื่อมต่อกล้องติดรถยนต์, เซนเซอร์ IoT บนโครงสร้าง และโดรนสตรีมมิง เข้ากับระบบ GIS/Digital Twin ช่วยให้ศูนย์ควบคุมมองเห็นสภาพพื้นที่และการเปลี่ยนแปลงเชิงตำแหน่งได้แบบเรียลไทม์.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12.5 ดิจิทัลทวินและโครงสร้างพื้นฐานอัจฉริยะ (Digital Twin &amp; Smart Infrastructure)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72897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แนวคิดและคุณลักษณะหลัก: ดิจิทัลทวิน (Digital Twin) คือแบบจำลองเสมือนจริง 3 มิติของโครงสร้างพื้นฐานกายภาพ ที่มีการเชื่อมโยงข้อมูลแบบสองทิศทาง (Bidirectional Data Exchange) และอัปเดตสถานะตามจริงผ่านเซนเซอร์ IoT, GIS, BIM และ LiDAR ตลอดวงจรชีวิตของสินทรัพย์.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แพลตฟอร์มและซอฟต์แวร์สนับสนุน: ขับเคลื่อนด้วยซอฟต์แวร์ระดับองค์กร เช่น Bentley iTwin Platform, Autodesk Tandem, Esri ArcGIS / GeoBIM, Siemens Xcelerator และ Hexagon Smart Digital Reality.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12.5 ดิจิทัลทวินและโครงสร้างพื้นฐานอัจฉริยะ (Digital Twin &amp; Smart Infrastructure) (ต่อ)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24353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3000" b="0">
                <a:latin typeface="TH Sarabun New"/>
                <a:ea typeface="TH Sarabun New"/>
                <a:cs typeface="TH Sarabun New"/>
              </a:rPr>
              <a:t>การบำรุงรักษาเชิงคาดการณ์ (Predictive Maintenance): ตรวจสอบความสมบูรณ์ของสะพาน, ถนน, ท่อส่งน้ำ และระบบสาธารณูปโภคอย่างต่อเนื่อง เพื่อตรวจจับความเค้นหรือการชำรุดก่อนจะเกิดความเสียหายร้ายแรง.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th-TH" sz="3400" b="1">
                <a:latin typeface="TH Sarabun New"/>
                <a:ea typeface="TH Sarabun New"/>
                <a:cs typeface="TH Sarabun New"/>
              </a:rPr>
              <a:t>12.6 การพัฒนาไปสู่ระบบสำรวจอัตโนมัติและอัจฉริยะ (Automated/Intelligent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กระบวนการทำงานอัตโนมัติแบบครบวงจร (End-to-End Autonomous Workflows): ยุคใหม่ของการสำรวจมุ่งเน้นการเชื่อมต่อตั้งแต่การบินโดรนเก็บข้อมูลอัตโนมัติ, การส่งข้อมูลเข้าประมวลผลบนคลาวด์, และการใช้ AI แยกแยะวัตถุออกมาเป็นข้อมูลวิศวกรรมพร้อมใช้งานโดยรบกวนการทำงานของมนุษย์น้อยที่สุด.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lang="th-TH" sz="2600" b="0">
                <a:latin typeface="TH Sarabun New"/>
                <a:ea typeface="TH Sarabun New"/>
                <a:cs typeface="TH Sarabun New"/>
              </a:rPr>
              <a:t>การปรับเปลี่ยนบทบาทและทักษะของนักสำรวจ: ช่างสำรวจจะเปลี่ยนบทบาทจากการเป็นผู้ถืออุปกรณ์รังวัดในสนาม มาเป็นผู้เชี่ยวชาญด้านการจัดการข้อมูลเชิงพื้นที่ (Spatial Data Managers), ผู้ตรวจสอบอัลกอริทึม AI (AI Auditors) และผู้วางกลยุทธ์ด้าน Digital Twin.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15352</Words>
  <Application>Microsoft Office PowerPoint</Application>
  <PresentationFormat>Widescreen</PresentationFormat>
  <Paragraphs>553</Paragraphs>
  <Slides>101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6" baseType="lpstr">
      <vt:lpstr>Aptos</vt:lpstr>
      <vt:lpstr>Arial</vt:lpstr>
      <vt:lpstr>Calibri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soravis amnuaysarn</cp:lastModifiedBy>
  <cp:revision>52</cp:revision>
  <dcterms:created xsi:type="dcterms:W3CDTF">2013-01-27T09:14:16Z</dcterms:created>
  <dcterms:modified xsi:type="dcterms:W3CDTF">2026-10-07T11:46:58Z</dcterms:modified>
  <cp:category/>
</cp:coreProperties>
</file>