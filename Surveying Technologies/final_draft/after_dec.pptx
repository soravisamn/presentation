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7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D_0.xml" ContentType="application/vnd.ms-powerpoint.comments+xml"/>
  <Override PartName="/ppt/notesSlides/notesSlide5.xml" ContentType="application/vnd.openxmlformats-officedocument.presentationml.notesSlide+xml"/>
  <Override PartName="/ppt/comments/modernComment_10E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0_0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1C_0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134_0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modernComment_177_CF66996E.xml" ContentType="application/vnd.ms-powerpoint.comments+xml"/>
  <Override PartName="/ppt/comments/modernComment_138_0.xml" ContentType="application/vnd.ms-powerpoint.comments+xml"/>
  <Override PartName="/ppt/comments/modernComment_13F_0.xml" ContentType="application/vnd.ms-powerpoint.comments+xml"/>
  <Override PartName="/ppt/comments/modernComment_144_0.xml" ContentType="application/vnd.ms-powerpoint.comment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59_0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modernComment_15E_0.xml" ContentType="application/vnd.ms-powerpoint.comment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omments/modernComment_169_0.xml" ContentType="application/vnd.ms-powerpoint.comments+xml"/>
  <Override PartName="/ppt/comments/modernComment_17C_C0E55CF8.xml" ContentType="application/vnd.ms-powerpoint.comments+xml"/>
  <Override PartName="/ppt/comments/modernComment_16A_0.xml" ContentType="application/vnd.ms-powerpoint.comment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397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382" r:id="rId21"/>
    <p:sldId id="281" r:id="rId22"/>
    <p:sldId id="282" r:id="rId23"/>
    <p:sldId id="383" r:id="rId24"/>
    <p:sldId id="284" r:id="rId25"/>
    <p:sldId id="285" r:id="rId26"/>
    <p:sldId id="384" r:id="rId27"/>
    <p:sldId id="286" r:id="rId28"/>
    <p:sldId id="385" r:id="rId29"/>
    <p:sldId id="288" r:id="rId30"/>
    <p:sldId id="289" r:id="rId31"/>
    <p:sldId id="290" r:id="rId32"/>
    <p:sldId id="386" r:id="rId33"/>
    <p:sldId id="292" r:id="rId34"/>
    <p:sldId id="295" r:id="rId35"/>
    <p:sldId id="387" r:id="rId36"/>
    <p:sldId id="298" r:id="rId37"/>
    <p:sldId id="299" r:id="rId38"/>
    <p:sldId id="300" r:id="rId39"/>
    <p:sldId id="388" r:id="rId40"/>
    <p:sldId id="303" r:id="rId41"/>
    <p:sldId id="304" r:id="rId42"/>
    <p:sldId id="307" r:id="rId43"/>
    <p:sldId id="308" r:id="rId44"/>
    <p:sldId id="389" r:id="rId45"/>
    <p:sldId id="309" r:id="rId46"/>
    <p:sldId id="390" r:id="rId47"/>
    <p:sldId id="310" r:id="rId48"/>
    <p:sldId id="391" r:id="rId49"/>
    <p:sldId id="375" r:id="rId50"/>
    <p:sldId id="312" r:id="rId51"/>
    <p:sldId id="315" r:id="rId52"/>
    <p:sldId id="318" r:id="rId53"/>
    <p:sldId id="319" r:id="rId54"/>
    <p:sldId id="320" r:id="rId55"/>
    <p:sldId id="322" r:id="rId56"/>
    <p:sldId id="323" r:id="rId57"/>
    <p:sldId id="394" r:id="rId58"/>
    <p:sldId id="324" r:id="rId59"/>
    <p:sldId id="329" r:id="rId60"/>
    <p:sldId id="330" r:id="rId61"/>
    <p:sldId id="332" r:id="rId62"/>
    <p:sldId id="376" r:id="rId63"/>
    <p:sldId id="335" r:id="rId64"/>
    <p:sldId id="337" r:id="rId65"/>
    <p:sldId id="338" r:id="rId66"/>
    <p:sldId id="377" r:id="rId67"/>
    <p:sldId id="378" r:id="rId68"/>
    <p:sldId id="342" r:id="rId69"/>
    <p:sldId id="344" r:id="rId70"/>
    <p:sldId id="345" r:id="rId71"/>
    <p:sldId id="347" r:id="rId72"/>
    <p:sldId id="348" r:id="rId73"/>
    <p:sldId id="349" r:id="rId74"/>
    <p:sldId id="350" r:id="rId75"/>
    <p:sldId id="351" r:id="rId76"/>
    <p:sldId id="379" r:id="rId77"/>
    <p:sldId id="355" r:id="rId78"/>
    <p:sldId id="356" r:id="rId79"/>
    <p:sldId id="357" r:id="rId80"/>
    <p:sldId id="358" r:id="rId81"/>
    <p:sldId id="359" r:id="rId82"/>
    <p:sldId id="360" r:id="rId83"/>
    <p:sldId id="361" r:id="rId84"/>
    <p:sldId id="380" r:id="rId85"/>
    <p:sldId id="362" r:id="rId86"/>
    <p:sldId id="364" r:id="rId87"/>
    <p:sldId id="365" r:id="rId88"/>
    <p:sldId id="368" r:id="rId89"/>
    <p:sldId id="369" r:id="rId90"/>
    <p:sldId id="371" r:id="rId91"/>
    <p:sldId id="372" r:id="rId92"/>
    <p:sldId id="374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9B0316-D830-F671-275E-34A370945443}" name="soravis amnuaysarn" initials="sa" userId="f5c98df1a6ae588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3" autoAdjust="0"/>
    <p:restoredTop sz="88136" autoAdjust="0"/>
  </p:normalViewPr>
  <p:slideViewPr>
    <p:cSldViewPr snapToGrid="0" snapToObjects="1">
      <p:cViewPr varScale="1">
        <p:scale>
          <a:sx n="97" d="100"/>
          <a:sy n="97" d="100"/>
        </p:scale>
        <p:origin x="8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1FB4A-C442-40D6-856C-7DB364AE451D}" authorId="{0A9B0316-D830-F671-275E-34A370945443}" created="2026-10-07T09:47:51.3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" creationId="{00000000-0000-0000-0000-000000000000}"/>
      <ac:txMk cp="0" len="25">
        <ac:context len="26" hash="2359142445"/>
      </ac:txMk>
    </ac:txMkLst>
    <p188:pos x="3571076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F3EB6-862C-4FD3-BB92-B92836238F65}" authorId="{0A9B0316-D830-F671-275E-34A370945443}" created="2026-10-07T09:55:3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2" creationId="{00000000-0000-0000-0000-000000000000}"/>
      <ac:txMk cp="0" len="39">
        <ac:context len="40" hash="2808953387"/>
      </ac:txMk>
    </ac:txMkLst>
    <p188:pos x="5517863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DE595B-C5F5-466B-ABAC-B61DA470B5EB}" authorId="{0A9B0316-D830-F671-275E-34A370945443}" created="2026-10-07T10:54:44.8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2" creationId="{00000000-0000-0000-0000-000000000000}"/>
      <ac:txMk cp="0" len="46">
        <ac:context len="47" hash="1692469333"/>
      </ac:txMk>
    </ac:txMkLst>
    <p188:pos x="6973037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F0B87C-F3E0-41F6-A21F-5DA03D4C5E9D}" authorId="{0A9B0316-D830-F671-275E-34A370945443}" created="2026-10-08T01:27:46.8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9"/>
      <ac:spMk id="3" creationId="{00000000-0000-0000-0000-000000000000}"/>
      <ac:txMk cp="0" len="46">
        <ac:context len="259" hash="1604949018"/>
      </ac:txMk>
    </ac:txMkLst>
    <p188:pos x="5173734" y="25563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5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134A7B-79DA-49DD-A18D-C54187E75D02}" authorId="{0A9B0316-D830-F671-275E-34A370945443}" created="2026-10-08T03:55:43.0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50"/>
      <ac:spMk id="2" creationId="{00000000-0000-0000-0000-000000000000}"/>
      <ac:txMk cp="0" len="58">
        <ac:context len="59" hash="1628064173"/>
      </ac:txMk>
    </ac:txMkLst>
    <p188:pos x="5940650" y="256622"/>
    <p188:txBody>
      <a:bodyPr/>
      <a:lstStyle/>
      <a:p>
        <a:r>
          <a:rPr lang="th-TH"/>
          <a:t>ใส่อ้างอิงอีกที</a:t>
        </a:r>
      </a:p>
    </p188:txBody>
  </p188:cm>
</p188:cmLst>
</file>

<file path=ppt/comments/modernComment_16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58F3C9-5644-4F3B-A5EC-DC5BF4D53F8A}" authorId="{0A9B0316-D830-F671-275E-34A370945443}" created="2026-10-08T04:27:52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2"/>
      <ac:spMk id="11" creationId="{6C74430F-F8B3-8139-DFAC-D005B06BF8CC}"/>
      <ac:txMk cp="0" len="42">
        <ac:context len="43" hash="994960370"/>
      </ac:txMk>
    </ac:txMkLst>
    <p188:pos x="4760779" y="273337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7C_C0E55C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68D507-E179-473E-A277-CBE02F05C477}" authorId="{0A9B0316-D830-F671-275E-34A370945443}" created="2026-10-08T04:27:40.1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36257016" sldId="380"/>
      <ac:spMk id="5" creationId="{D5571190-D5E6-A9FE-027F-E5F3FFC25890}"/>
      <ac:txMk cp="0" len="58">
        <ac:context len="59" hash="975706510"/>
      </ac:txMk>
    </ac:txMkLst>
    <p188:pos x="6058637" y="273159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0F159-22DC-4781-BE38-2D2DB9239751}" authorId="{0A9B0316-D830-F671-275E-34A370945443}" created="2026-10-07T09:31:20.2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" creationId="{00000000-0000-0000-0000-000000000000}"/>
      <ac:txMk cp="0" len="48">
        <ac:context len="49" hash="1954804131"/>
      </ac:txMk>
    </ac:txMkLst>
    <p188:pos x="6918960" y="249555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96FBB3-2923-43B6-9E03-1D1434B277B8}" authorId="{0A9B0316-D830-F671-275E-34A370945443}" created="2026-10-07T10:24:52.5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2" creationId="{00000000-0000-0000-0000-000000000000}"/>
      <ac:txMk cp="7" len="37">
        <ac:context len="45" hash="2509057227"/>
      </ac:txMk>
    </ac:txMkLst>
    <p188:pos x="6088134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3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DB7F4-31D0-4AFE-AEE6-0EEFF3083965}" authorId="{0A9B0316-D830-F671-275E-34A370945443}" created="2026-10-08T01:23:33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8"/>
      <ac:spMk id="17" creationId="{160EEC25-4972-908C-925E-BF58BC7057D6}"/>
    </ac:deMkLst>
    <p188:txBody>
      <a:bodyPr/>
      <a:lstStyle/>
      <a:p>
        <a:r>
          <a:rPr lang="th-TH"/>
          <a:t>ใส่อ้างอิงด้านล่าง</a:t>
        </a:r>
      </a:p>
    </p188:txBody>
  </p188:cm>
</p188:cmLst>
</file>

<file path=ppt/comments/modernComment_13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6AD249-C3DC-4176-A527-9C193DFEA909}" authorId="{0A9B0316-D830-F671-275E-34A370945443}" created="2026-10-08T01:14:10.85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2"/>
      <ac:spMk id="5" creationId="{8CCD2FE3-5FA4-6FCC-821C-CADAB59A065C}"/>
      <ac:txMk cp="0" len="27">
        <ac:context len="219" hash="1384333705"/>
      </ac:txMk>
    </ac:txMkLst>
    <p188:pos x="2332212" y="670068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4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2F846-BA5A-46E3-B3B7-08FF94D250EE}" authorId="{0A9B0316-D830-F671-275E-34A370945443}" created="2026-10-08T01:43:29.0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24"/>
      <ac:spMk id="2" creationId="{00000000-0000-0000-0000-000000000000}"/>
    </ac:deMkLst>
    <p188:txBody>
      <a:bodyPr/>
      <a:lstStyle/>
      <a:p>
        <a:r>
          <a:rPr lang="th-TH"/>
          <a:t>ควรเพิ่มเรื่องการสร้างไปน่าจะดี ตอนนี้มีแค่อธิบาย</a:t>
        </a:r>
      </a:p>
    </p188:txBody>
  </p188:cm>
</p188:cmLst>
</file>

<file path=ppt/comments/modernComment_1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DC757A-A058-41D7-AEB5-3EA627F3923E}" authorId="{0A9B0316-D830-F671-275E-34A370945443}" created="2026-10-08T03:43:41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45"/>
      <ac:spMk id="13" creationId="{73677E1E-47ED-2923-A644-BB04A876C50E}"/>
    </ac:deMkLst>
    <p188:txBody>
      <a:bodyPr/>
      <a:lstStyle/>
      <a:p>
        <a:r>
          <a:rPr lang="th-TH"/>
          <a:t>ใส่รูป</a:t>
        </a:r>
      </a:p>
    </p188:txBody>
  </p188:cm>
</p188:cmLst>
</file>

<file path=ppt/comments/modernComment_16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1036FB-97C7-4622-8198-88FF1EF02BCC}" authorId="{0A9B0316-D830-F671-275E-34A370945443}" created="2026-10-08T04:15:25.9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1"/>
      <ac:spMk id="2" creationId="{00000000-0000-0000-0000-000000000000}"/>
      <ac:txMk cp="0" len="70">
        <ac:context len="71" hash="3733760106"/>
      </ac:txMk>
    </ac:txMkLst>
    <p188:pos x="10237347" y="256622"/>
    <p188:txBody>
      <a:bodyPr/>
      <a:lstStyle/>
      <a:p>
        <a:r>
          <a:rPr lang="th-TH"/>
          <a:t>เป็นต้นไปใส่รูป</a:t>
        </a:r>
      </a:p>
    </p188:txBody>
  </p188:cm>
</p188:cmLst>
</file>

<file path=ppt/comments/modernComment_177_CF6699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C9DC39-9005-48C5-8618-AF2646315CD6}" authorId="{0A9B0316-D830-F671-275E-34A370945443}" created="2026-10-08T01:10:31.0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79607662" sldId="375"/>
      <ac:spMk id="4" creationId="{8EDB89EB-2EA3-83B7-0C1E-A4D74841EF45}"/>
      <ac:txMk cp="58" len="1">
        <ac:context len="89" hash="2585920713"/>
      </ac:txMk>
    </ac:txMkLst>
    <p188:pos x="8093915" y="257605"/>
    <p188:txBody>
      <a:bodyPr/>
      <a:lstStyle/>
      <a:p>
        <a:r>
          <a:rPr lang="th-TH"/>
          <a:t>ใส่รูป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29F7-3B8A-49A8-8D51-0B0B64BF80C0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EAAF-1AC6-4292-8FFD-E94BA42EBA0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9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DEAAF-1AC6-4292-8FFD-E94BA42EBA0A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5662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ข้อความบนสไลด์ 6 บรรทัดนี้เป็นความรู้ทั่วไปที่ยังไม่มีแหล่งอ้างอิง — เริ่มต้นด้วย: ขั้นวางแผน: ใช้ระดับความสูงและ… / ขั้นออกแบบ: วิศวกรใช้ระดับและค… / ขั้นก่อสร้าง: ผู้รับเหมาถ่ายทอ… / ผลต่อเนื่อง: ทุกขั้นอ้างอิงข้อ… / ที่มาที่ตรวจพบ งานสำรวจใช้ในกา… / หากการก่อสร้างมีความคลาดเคลื่อ…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ความคลาดเคลื่อนรวมกันทำให้ GNSS ที่ไม่ปรับแก้คลาดเคลื่อนราว 5–10 เมตร จึงต้องปรับแก้ก่อนนำไปใช้ในงานสำรวจ (ที่มา: swiftnav.com) ที่มาของข้อความที่เพิ่ม: cartrack.co.th/blog/gnss-khuue-aair, swiftnav.com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DGNSS (Differential GNSS): 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 ให้ความถูกต้องระดับต่ำกว่า 1 เมตรภายในระยะจำกัด (ที่มา: swiftnav.com) รอตรวจแหล่ง: SBAS (Satellite-Based Augmentation System): 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 ให้ความถูกต้องราว 1–3 เมตร (ที่มา: swiftnav.com) รอตรวจแหล่ง: RTK (Real-Time Kinematic): 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 ให้ความถูกต้องระดับ 1–2 เซนติเมตร ใช้เวลาเริ่มต้นราว 5 วินาที แต่ต้องอยู่ห่างสถานีฐานไม่เกินราว 20–30 กิโลเมตร (ที่มา: swiftnav.com) รอตรวจแหล่ง: PPP (Precise Point Positioning): ใช้ค่าแก้วงโคจร นาฬิกาดาวเทียม และบรรยากาศ จากสถานีอ้างอิงที่กระจายทั่วโลก ให้ความถูกต้องระดับเซนติเมตรทั่วโลก แต่ต้องรอให้ค่าลู่เข้าราว 10–30 นาที (ที่มา: swiftnav.com) รอตรวจแหล่ง: PPP-RTK: 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 ให้ความถูกต้องราว 3–7 เซนติเมตร เริ่มต้นราว 10–30 วินาที (ที่มา: swiftnav.com) ที่มาของข้อความที่เพิ่ม: swiftnav.com ที่มา: https://www.swiftnav.com/resource/blog/what-are-the-different-types-of-gnss-corrections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Static Survey (การรังวัดแบบสถิต):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 รอตรวจแหล่ง: ระดับความแม่นยำและการใช้งาน: ให้ความถูกต้องสูงที่สุดระดับมิลลิเมตรถึงซับเซนติเมตร (±3–10 มม.) จึงเป็นวิธีมาตรฐานสำหรับสร้างและขยายโครงข่าย หมุดควบคุมหลัก (Control Networks/Benchmarks) งานรังวัดทางธรณีวิทยา งานติดตามการเคลื่อนตัวของโครงสร้าง และการรังวัดเชื่อมโยงกับระบบพิกัดหลักของประเทศ รอตรวจแหล่ง: 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 (ที่มา: apeksgnss.com/blog/what-is-static-gnss-survey-explained) รอตรวจแหล่ง: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 (ที่มา: apeksgnss.com/blog/what-is-static-gnss-survey-explained) รอตรวจแหล่ง: ให้ความถูกต้องสูงกว่า RTK: Static ประมาณ ±3–10 มม. ทางราบ และ ±5–15 มม. ทางดิ่ง ส่วน RTK ประมาณ ±8–15 มม. ทางราบ เพราะสังเกตนานทำให้แก้ค่า Ambiguity ได้น่าเชื่อถือและเฉลี่ยความคลาดเคลื่อนจากบรรยากาศได้ดีกว่า (ที่มา: apeksgnss.com) รอตรวจแหล่ง: เหมาะกับงานสร้างโครงข่ายหมุดควบคุม งานควบคุมทางธรณีมาตรและที่ดิน และงานติดตามการทรุดตัวหรือการเคลื่อนตัวของโครงสร้าง ซึ่งความละเอียดระดับ ±3 มม. ตรวจจับการเคลื่อนที่ที่ RTK มองไม่เห็นได้ (ที่มา: apeksgnss.com) รอตรวจแหล่ง: ข้อแลกเปลี่ยน: ต้องประมวลผลภายหลัง ใช้เวลา 20 นาทีถึงหลายชั่วโมงต่อจุด ขณะที่ RTK ได้ผลทันทีและใช้เวลาราว 10–30 วินาทีต่อจุด จึงเหมาะกับงานปักหมุดและสำรวจรายละเอียด (ที่มา: apeksgnss.com) ที่มาของข้อความที่เพิ่ม: apeksgnss.com/blog/what-is-static-gnss-survey-explained</a:t>
            </a:r>
          </a:p>
          <a:p>
            <a:endParaRPr/>
          </a:p>
          <a:p>
            <a:r>
              <a:t>อ้างอิงต้นทาง: [29][30][31][32][33][34][35]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>
            <a:endParaRPr/>
          </a:p>
          <a:p>
            <a:r>
              <a:t>อ้างอิงต้นทาง: [37][39][40][41][42][43][36][28][38]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[1][2][4][6][14]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[3][1][4][5]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หมายเหตุ: ชุดมาตรฐาน ISO 17123 (เช่น ส่วนที่ 5 สำหรับ Total Station) เป็นขั้นตอนทดสอบความแม่นยำของตัวเครื่องมือ ไม่ใช่เกณฑ์ปิดวงรอบของ Traverse [รอตรวจสอบที่มาของอ้างอิง  เดิมที่ระบุ ISO 17123-3]</a:t>
            </a:r>
          </a:p>
          <a:p>
            <a:endParaRPr/>
          </a:p>
          <a:p>
            <a:r>
              <a:t>อ้างอิงต้นทาง: [5][7][6][9]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[11][12][4][14][13][6]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 ที่มาของข้อความที่เพิ่ม: Thammaboribal et al. 2026, Thammaboribal et al. 2026 (ไฟล์ 4861-Article Text… ในโฟลเดอร์ 6) และ Semantic Scholar PDF จาก links.txt บท 4</a:t>
            </a:r>
          </a:p>
          <a:p>
            <a:endParaRPr/>
          </a:p>
          <a:p>
            <a:r>
              <a:t>อ้างอิงต้นทาง: [1][3]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>
            <a:endParaRPr/>
          </a:p>
          <a:p>
            <a:r>
              <a:t>อ้างอิงต้นทาง: [10][8][14][24][12][15][5][20][21][22][23]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[5][3][30]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>
            <a:endParaRPr/>
          </a:p>
          <a:p>
            <a:r>
              <a:t>อ้างอิงต้นทาง: [33][34][39][40][7][37][38]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 (แถว ความถูกต้องเชิงตำแหน่ง (Positional Accuracy)): Photogrammetry (Drone): พื้นที่เปิดโล่งที่ใช้ RTK/PPK ร่วมกับ GCPs: ทางราบประมาณ 1–3 ซม. ทางดิ่งประมาณ 2–4 ซม. ลดลงมากในพื้นที่ป่าหรือพืชพรรณหนาแน่น; LiDAR: พื้นที่เปิดโล่งเงื่อนไขเดียวกัน: ทางราบประมาณ 2–5 ซม. ทางดิ่งประมาณ 1–3 ซม. (หรือ ±2–15 ซม. สำหรับระบบอากาศยาน) วัดระยะดิ่งโดยตรง จึงสม่ำเสมอกว่า รอตรวจแหล่ง (แถว ความละเอียดและคุณลักษณะข้อมูล (Resolution &amp; Attributes)): Photogrammetry (Drone): กำหนดโดย GSD (เช่น 1–3.5 ซม./พิกเซล) ภาพคมชัดสมจริงและมีสี RGB สูง; LiDAR: กำหนดโดย Point Density (เช่น 50–200+ จุด/ตร.ม. สำหรับโดรน) เรขาคณิตหนาแน่นแม่นยำ ข้อมูลดิบมีเฉพาะ Intensity ต้องติดกล้อง RGB เพิ่มหากต้องการสี ยังไม่มีข้อมูลในต้นฉบับ (แถว ระยะเวลาการสำรวจ): ต้นฉบับระบุเพียงว่าใช้เวลาประมวลผล SfM นานกว่า ยังไม่มีข้อมูลเวลาบินเก็บข้อมูลในต้นฉบับ | ยังไม่มีข้อมูลในต้นฉบับ (ต้นฉบับระบุว่าต้องใช้ทักษะกรองจุดพื้นดิน Ground Filtering) รอตรวจแหล่ง (แถว ต้นทุน): Photogrammetry (Drone): ชุดโดรนประมาณ $2,000–$30,000; LiDAR: ชุดโดรน LiDAR ประมาณ $15,000–$350,000+ เซนเซอร์และ GNSS/IMU ราคาสูงกว่ามาก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0FD27-8FF3-57F6-A606-8FCA4068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C630B-D7DB-1360-A65D-6B1BDE2C8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38662-7EDA-7FC3-CE4E-2C8AED4DD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A5E3-9BD0-DCAE-4938-434E80F1F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632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>
            <a:endParaRPr/>
          </a:p>
          <a:p>
            <a:r>
              <a:t>อ้างอิงต้นทาง: [8][1][2][3][4][5][6][7]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</a:t>
            </a:r>
          </a:p>
          <a:p>
            <a:endParaRPr/>
          </a:p>
          <a:p>
            <a:r>
              <a:t>อ้างอิงต้นทาง: [12][14][15][16][17][18][13]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</a:t>
            </a:r>
          </a:p>
          <a:p>
            <a:endParaRPr/>
          </a:p>
          <a:p>
            <a:r>
              <a:t>อ้างอิงต้นทาง: [14][15][26][27][19][8][22][23]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>
            <a:endParaRPr/>
          </a:p>
          <a:p>
            <a:r>
              <a:t>อ้างอิงต้นทาง: [28][33][32][34][35][36]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</a:t>
            </a:r>
          </a:p>
          <a:p>
            <a:endParaRPr/>
          </a:p>
          <a:p>
            <a:r>
              <a:t>อ้างอิงต้นทาง: [1][5][12][17][7]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>
            <a:endParaRPr/>
          </a:p>
          <a:p>
            <a:r>
              <a:t>อ้างอิงต้นทาง: [4][1][29]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>
            <a:endParaRPr/>
          </a:p>
          <a:p>
            <a:r>
              <a:t>อ้างอิงต้นทาง: [41][9][43]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>
            <a:endParaRPr/>
          </a:p>
          <a:p>
            <a:r>
              <a:t>อ้างอิงต้นทาง: [52][57][10][62][65][66][9]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>
            <a:endParaRPr/>
          </a:p>
          <a:p>
            <a:r>
              <a:t>อ้างอิงต้นทาง: [1][17]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BgC" Type="http://schemas.openxmlformats.org/officeDocument/2006/relationships/image" Target="../media/bg_content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C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1C_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7_CF66996E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8/10/relationships/comments" Target="../comments/modernComment_138_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5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F_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4_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9_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E_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9_0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7C_C0E55CF8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A_0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BgH" Type="http://schemas.openxmlformats.org/officeDocument/2006/relationships/image" Target="../media/bg_hero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140961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เทคโนโลยีการสำรวจภูมิประเทศในปัจจุบัน: จากการรังวัดภาคสนามสู่การสำรวจเชิงดิจิทัล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ข้อมูลภูมิประเทศเป็นข้อมูลพื้นฐานที่สุดของงานวางแผน, ออกแบบ, และก่อสร้าง ได้แก่ ระดับความสูง, ความลาดชัน, ขอบเขตพื้นที่, และตำแหน่งของสิ่งปลูกสร้าง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636F5-4E00-5845-3638-71892E9A2E46}"/>
              </a:ext>
            </a:extLst>
          </p:cNvPr>
          <p:cNvSpPr txBox="1"/>
          <p:nvPr/>
        </p:nvSpPr>
        <p:spPr>
          <a:xfrm>
            <a:off x="548639" y="569395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ผลต่อเนื่อง: ทุกขั้นอ้างอิงข้อมูลชุดเดียวกัน ความผิดพลาดตั้งแต่ต้นจึงส่งต่อไปถึงงบประมาณและความปลอดภัยของโครงสร้าง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F8BDB-A687-9199-4A1D-37CADF4D3F6C}"/>
              </a:ext>
            </a:extLst>
          </p:cNvPr>
          <p:cNvSpPr txBox="1"/>
          <p:nvPr/>
        </p:nvSpPr>
        <p:spPr>
          <a:xfrm>
            <a:off x="548638" y="2407989"/>
            <a:ext cx="11094415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ตัวอย่างความสำคัญของข้อมูลภูมิประเทศต่อการออกแบบและก่อสร้าง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ขั้นวางแผน: ใช้ระดับความสูงและขอบเขตพื้นที่เปรียบเทียบทางเลือกของแนวโครงการ ว่าแนวใดผ่านพื้นที่ลาดชัน พื้นที่ลุ่ม หรือพื้นที่ที่มีสิ่งปลูกสร้างเดิม เพื่อเลือกแนวที่ก่อสร้างได้จริงและกระทบน้อยที่สุดก่อนตัดสินใจลงทุน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ขั้นออกแบบ: วิศวกรใช้ระดับและความลาดชันของพื้นดินกำหนดระดับถนน ความลาดของคลอง ระดับพื้นอาคาร และตำแหน่งสิ่งปลูกสร้างให้ตรงกับพื้นที่จริง หากข้อมูลผิด แบบที่ได้ก็ผิดตามไปทั้งชุด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ขั้นก่อสร้าง: ผู้รับเหมาถ่ายทอดตำแหน่งและระดับจากแบบลงสู่พื้นที่จริง (ปักหมุดแนว) และเทียบปริมาณงานที่ทำจริงกับแบบ โดยใช้ข้อมูลภูมิประเทศชุดเดียวกัน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7285"/>
            <a:ext cx="11094415" cy="28715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ตัวอย่างการใช้ข้อมูลภูมิประเทศในงานออกแบบและก่อสร้าง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ใช้คำนวณปริมาณงานดิน: ได้ปริมาตรดินตัดและดินถม ใช้ประมาณราคา จำนวนเที่ยวขนดิน และตรวจรับงาน เช่น การถมปรับพื้นที่ก่อสร้างโรงงาน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ประเมินพื้นที่เสี่ยงน้ำท่วมและการกัดเซาะ: พื้นที่ใดมีระดับต่ำกว่าระดับน้ำที่คาดว่าจะท่วม และทางน้ำหรือพื้นที่ลาดชันตรงไหนน้ำไหลเร็วจนเสี่ยงถูกกัดเซาะ ใช้เลือกตำแหน่งตั้งอาคารและวางแนวคันป้องกัน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กำหนดแนวทางระบายน้ำ: ดูระดับพื้นดินเพื่อวางแนวคูหรือท่อให้มีความลาดต่อเนื่องไปสู่จุดปลายน้ำ เช่น ทางน้ำสาธารณะ โดยไม่มีจุดที่น้ำขังค้างระหว่างทาง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D8A0-36A1-FC8B-1EAF-40AB84923EFB}"/>
              </a:ext>
            </a:extLst>
          </p:cNvPr>
          <p:cNvSpPr txBox="1"/>
          <p:nvPr/>
        </p:nvSpPr>
        <p:spPr>
          <a:xfrm>
            <a:off x="548639" y="4754880"/>
            <a:ext cx="110944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หากการก่อสร้างมีความคลาดเคลื่อนมากกว่าเกณฑ์ที่ยอมรับได้ จะส่งผลให้ โครงสร้างตั้งผิดตำแหน่งหรือระดับ ต้องรื้อแก้ไขงาน ปริมาณวัสดุคลาดเคลื่อนจากแบบ และเกิดความเสี่ยงต่อความปลอดภัยของโครงสร้าง ดังนั้นจึงต้องเลือกใช้วิธีการสำรวจและเทคโนโลยีที่เหมาะสม เพื่อให้การก่อสร้างเป็นไปตามแบบที่กำหนด ทั้งในด้านตำแหน่งและระดับ ความปลอดภัย รวมถึงช่วยลดต้นทุนและเวลาในการก่อสร้าง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การเปลี่ยนแปลงของเทคโนโลยีงานสำรวจตามยุคสมัย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3657600"/>
            <a:ext cx="10927080" cy="0"/>
          </a:xfrm>
          <a:prstGeom prst="line">
            <a:avLst/>
          </a:prstGeom>
          <a:ln w="5080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399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ยุคดั้งเดิม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2743200" cy="1828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68879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6517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19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ใช้เทปวัดระยะ, กล้องระดับ, และกล้องวัดมุม ต้องอาศัยกำลังคนและเวลาในสนามมาก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ยุคอิเล็กทรอนิกส์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2743200" cy="18288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3093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177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005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ยุคปัจจุบัน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600200"/>
            <a:ext cx="2743200" cy="182880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9784080" y="3474720"/>
            <a:ext cx="365760" cy="3657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840480"/>
            <a:ext cx="0" cy="228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75320" y="41148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ที่มาภาพ: USGS (สาธารณสมบัติ); รัตนพันธ์ และคณะ (2568); Thammaboribal, Tripathi และ Lipiloet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 </a:t>
            </a:r>
            <a:r>
              <a:rPr lang="th-TH" sz="3000" dirty="0">
                <a:latin typeface="TH Sarabun New"/>
                <a:ea typeface="TH Sarabun New"/>
                <a:cs typeface="TH Sarabun New"/>
              </a:rPr>
              <a:t>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pPr marL="320040" indent="-274320">
              <a:spcAft>
                <a:spcPts val="600"/>
              </a:spcAft>
              <a:buChar char="•"/>
            </a:pPr>
            <a:endParaRPr lang="th-TH" sz="3000" b="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6118-CE9E-36BA-999F-CF1D03FA3926}"/>
              </a:ext>
            </a:extLst>
          </p:cNvPr>
          <p:cNvSpPr txBox="1"/>
          <p:nvPr/>
        </p:nvSpPr>
        <p:spPr>
          <a:xfrm>
            <a:off x="548639" y="2882360"/>
            <a:ext cx="11094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ผลลัพธ์ที่ได้คือช่วยลดระยะเวลาปฏิบัติงานภาคสนาม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2.1 เทคโนโลยีการกำหนดตำแหน่งด้วยดาวเทียม GNSS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3" y="1137880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GNSS (Global Navigation Satellite System) คือระบบดาวเทียมนำร่องที่ให้บริการระบุตำแหน่งครอบคลุมทั่วโลก ดาวเทียมส่งสัญญาณให้เครื่องรับนำไปคำนวณพิกัดบนผิวโลก การใช้หลายระบบร่วมกัน (เช่น GPS กับ GLONASS) ช่วยเพิ่มความแม่นยำและการครอบคลุม เช่น ถ้าสัญญาณ GPS ขาดในพื้นที่ที่ถูกบัง ระบบอื่นช่วยได้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3" y="1826103"/>
            <a:ext cx="213055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2.1 ตัวอย่างระบบ GNSS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85201"/>
              </p:ext>
            </p:extLst>
          </p:nvPr>
        </p:nvGraphicFramePr>
        <p:xfrm>
          <a:off x="552072" y="2179571"/>
          <a:ext cx="3886200" cy="2011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ผู้ดำเนินการ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GPS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สหรัฐฯ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GLONASS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รัสเซีย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Galileo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สหภาพยุโรป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BeiDou</a:t>
                      </a:r>
                      <a:endParaRPr lang="th-TH" sz="1600" b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จีน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529AB3-120C-393C-3A15-D8326F126485}"/>
              </a:ext>
            </a:extLst>
          </p:cNvPr>
          <p:cNvSpPr txBox="1"/>
          <p:nvPr/>
        </p:nvSpPr>
        <p:spPr>
          <a:xfrm>
            <a:off x="5077206" y="22806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ED953-9047-4317-0DE9-52B6D2D43C1D}"/>
              </a:ext>
            </a:extLst>
          </p:cNvPr>
          <p:cNvSpPr txBox="1"/>
          <p:nvPr/>
        </p:nvSpPr>
        <p:spPr>
          <a:xfrm>
            <a:off x="5559553" y="2809792"/>
            <a:ext cx="5875160" cy="16712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วงโคจรดาวเทียม: ดาวเทียมโคจรเบี่ยงจากเส้นทางที่คาดไว้เล็กน้อย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สัญญาณสะท้อน (Multipath): เครื่องรับได้สัญญาณเดียวกันหลายสำเนาเมื่อสะท้อนอาคารหรือต้นไม้</a:t>
            </a:r>
          </a:p>
        </p:txBody>
      </p:sp>
      <p:pic>
        <p:nvPicPr>
          <p:cNvPr id="6" name="Picture 5" descr="GNSS – Global Navigation Satellite System - พันธุ์ไทยอาร์ทีเค (Pantai RTK)">
            <a:extLst>
              <a:ext uri="{FF2B5EF4-FFF2-40B4-BE49-F238E27FC236}">
                <a16:creationId xmlns:a16="http://schemas.microsoft.com/office/drawing/2014/main" id="{C33BA6CB-C44B-5D31-DE05-AD59134A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4" y="4243098"/>
            <a:ext cx="3686175" cy="209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7A772-59F1-8B38-5B6D-3F9E42B777F0}"/>
              </a:ext>
            </a:extLst>
          </p:cNvPr>
          <p:cNvSpPr txBox="1"/>
          <p:nvPr/>
        </p:nvSpPr>
        <p:spPr>
          <a:xfrm>
            <a:off x="1341515" y="6399317"/>
            <a:ext cx="2816334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ภาพที่ 2.1 รูปแสดงตัวอย่างระบบ GNSS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47851"/>
            <a:ext cx="1060513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GNSS Correction คือ ข้อมูลแก้ค่าที่ส่งให้เครื่องรับ เพื่อหักล้างความคลาดเคลื่อนข้างต้นออกจากพิกัดที่คำนวณได้ ประกอบด้วยวิธี</a:t>
            </a:r>
            <a:r>
              <a:rPr lang="th-TH" sz="2400" dirty="0">
                <a:latin typeface="TH Sarabun New"/>
                <a:ea typeface="TH Sarabun New"/>
                <a:cs typeface="TH Sarabun New"/>
              </a:rPr>
              <a:t>ดังนี้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5" name="ตารางเปรียบเทียบวิธีแก้ค่า GNSS">
            <a:extLst>
              <a:ext uri="{FF2B5EF4-FFF2-40B4-BE49-F238E27FC236}">
                <a16:creationId xmlns:a16="http://schemas.microsoft.com/office/drawing/2014/main" id="{21A4E536-DD87-D630-6C17-BB1435BA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32751"/>
              </p:ext>
            </p:extLst>
          </p:nvPr>
        </p:nvGraphicFramePr>
        <p:xfrm>
          <a:off x="548639" y="2386584"/>
          <a:ext cx="10605136" cy="36472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6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Differential 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SBAS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Satellite-Based Augmentation System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Real-Time Kinematic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Precise Point Positioning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ใช้ค่าแก้วงโคจร นาฬิกาดาวเทียม และบรรยากาศ จากสถานีอ้างอิงที่กระจายทั่วโลก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PPP-RTK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D8BAD7-24AD-BC23-0D2A-36F83F34D985}"/>
              </a:ext>
            </a:extLst>
          </p:cNvPr>
          <p:cNvSpPr txBox="1"/>
          <p:nvPr/>
        </p:nvSpPr>
        <p:spPr>
          <a:xfrm>
            <a:off x="548640" y="1998095"/>
            <a:ext cx="680466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2.2 ตัวอย่าง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6B419C-EDDF-652F-EE67-A0086DA5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7" y="1076551"/>
            <a:ext cx="4043875" cy="2660176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A1E6DC91-35FC-F348-E85E-9C15620541B0}"/>
              </a:ext>
            </a:extLst>
          </p:cNvPr>
          <p:cNvSpPr/>
          <p:nvPr/>
        </p:nvSpPr>
        <p:spPr>
          <a:xfrm>
            <a:off x="6181949" y="4153887"/>
            <a:ext cx="54611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2.3 รูปแสดงเปรียบเทียบระหว่าง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ที่มา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https://tersus-gnss.com/tech_blog/-Differences-between-RTK-and-PPP</a:t>
            </a:r>
            <a:r>
              <a:rPr lang="th-TH" sz="1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1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715B7-5AE9-E084-2035-506F4EDE5C71}"/>
              </a:ext>
            </a:extLst>
          </p:cNvPr>
          <p:cNvSpPr txBox="1"/>
          <p:nvPr/>
        </p:nvSpPr>
        <p:spPr>
          <a:xfrm>
            <a:off x="665777" y="3952569"/>
            <a:ext cx="4899282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400" b="1" dirty="0">
                <a:latin typeface="TH Sarabun New"/>
                <a:ea typeface="TH Sarabun New"/>
                <a:cs typeface="TH Sarabun New"/>
              </a:rPr>
              <a:t>ภาพที่ 2.2 รูป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GNSS Correction 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โดย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RTK</a:t>
            </a:r>
            <a:r>
              <a:rPr lang="th-TH" sz="1400" b="1" dirty="0">
                <a:latin typeface="TH Sarabun New"/>
                <a:ea typeface="TH Sarabun New"/>
                <a:cs typeface="TH Sarabun New"/>
              </a:rPr>
              <a:t> ที่มา: </a:t>
            </a:r>
            <a:r>
              <a:rPr lang="en-US" sz="1400" b="1" dirty="0">
                <a:latin typeface="TH Sarabun New"/>
                <a:ea typeface="TH Sarabun New"/>
                <a:cs typeface="TH Sarabun New"/>
              </a:rPr>
              <a:t>https://www.swiftnav.com/resource/blog/what-are-the-different-types-of-gnss-corrections</a:t>
            </a:r>
            <a:endParaRPr lang="th-TH" sz="1400" b="1" dirty="0"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Differences between RTK and PPP">
            <a:extLst>
              <a:ext uri="{FF2B5EF4-FFF2-40B4-BE49-F238E27FC236}">
                <a16:creationId xmlns:a16="http://schemas.microsoft.com/office/drawing/2014/main" id="{E6CB5650-138B-283B-4FE3-322C3AFD7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226" y="1005930"/>
            <a:ext cx="5637842" cy="294663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4A447-9AB4-7EC5-308A-A93365A78C44}"/>
              </a:ext>
            </a:extLst>
          </p:cNvPr>
          <p:cNvSpPr txBox="1"/>
          <p:nvPr/>
        </p:nvSpPr>
        <p:spPr>
          <a:xfrm>
            <a:off x="548640" y="1006239"/>
            <a:ext cx="680466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2.3 ตารางสรุปวิธีการแก้ไขค่า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GNSS (Summary of GNSS Correction Methods)</a:t>
            </a:r>
          </a:p>
          <a:p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3DEA0-82C4-B556-F8EE-AACFF1A2D15F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7ABDE8-0C50-3E72-B7F5-933A96AEC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96122"/>
              </p:ext>
            </p:extLst>
          </p:nvPr>
        </p:nvGraphicFramePr>
        <p:xfrm>
          <a:off x="548640" y="1449705"/>
          <a:ext cx="1106424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วิธีการ</a:t>
                      </a:r>
                      <a:endParaRPr sz="18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ความถูกต้อง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เวลาได้ค่าพิกัดครั้งแรก (TTFF)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พื้นที่ให้บริการ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การใช้งานทั่วไป</a:t>
                      </a:r>
                    </a:p>
                  </a:txBody>
                  <a:tcPr anchor="ctr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GNSS มาตรฐาน (Standard GNSS)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5–10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3–10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การนำทางทั่วไป อุปกรณ์ติดตามการออกกำลังกาย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SBAS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1–3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ความปลอดภัยการบิน การบริหารพื้นที่เกษตรขนาดใหญ่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DGNSS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ต่ำกว่า 1 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5–20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เกษตรแม่นยำระดับเริ่มต้น การนำทางทางทะเลขั้นพื้นฐาน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 เซนติเมตร (แบบสถิต)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ทั่วโลก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พลังงานนอกชายฝั่ง การติดตามทรัพย์สินทั่วโลก การสำรวจในพื้นที่ห่างไกล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PPP-RTK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3–7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10–30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ระดับทวีป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ยานยนต์อัตโนมัติระดับประเทศ การตรวจสอบด้วยโดรน เกษตรอัจฉริยะ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RTK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1–2 เซนติเมตร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ประมาณ 5 วินาที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ระดับท้องถิ่นถึงภูมิภาค</a:t>
                      </a: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เกษตรความแม่นยำสูง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งานสำรวจ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หุ่นยนต์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ยานยนต์อัตโนมัติ</a:t>
                      </a:r>
                      <a:endParaRPr sz="1800" b="0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anchor="ctr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2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2.3 Static Survey และการสร้างหมุดควบคุม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069848"/>
            <a:ext cx="1109441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thaiDist"/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(การรังวัดแบบสถิต)</a:t>
            </a:r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F048-F4D1-0097-1362-E6A868BE95A1}"/>
              </a:ext>
            </a:extLst>
          </p:cNvPr>
          <p:cNvSpPr txBox="1"/>
          <p:nvPr/>
        </p:nvSpPr>
        <p:spPr>
          <a:xfrm>
            <a:off x="548641" y="1806852"/>
            <a:ext cx="11094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00000"/>
              </a:lnSpc>
              <a:buNone/>
            </a:pPr>
            <a:r>
              <a:rPr lang="th-TH" sz="1800" b="1" dirty="0">
                <a:solidFill>
                  <a:schemeClr val="tx1"/>
                </a:solidFill>
                <a:effectLst/>
                <a:latin typeface="+mn-lt"/>
              </a:rPr>
              <a:t>หลักการของ Static Survey</a:t>
            </a: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   </a:t>
            </a:r>
          </a:p>
          <a:p>
            <a:pPr algn="thaiDist">
              <a:lnSpc>
                <a:spcPct val="100000"/>
              </a:lnSpc>
              <a:buNone/>
            </a:pP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8FD39-8E16-8ECC-E9E2-28054D957652}"/>
              </a:ext>
            </a:extLst>
          </p:cNvPr>
          <p:cNvSpPr txBox="1"/>
          <p:nvPr/>
        </p:nvSpPr>
        <p:spPr>
          <a:xfrm>
            <a:off x="548639" y="464084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</a:t>
            </a:r>
            <a:endParaRPr lang="th-TH" b="0" dirty="0"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แปลงไฟล์ดิบเป็น RINEX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ประมวลผลเส้นฐาน (Baseline) ระหว่างจุดที่ตั้งเครื่อง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3D68-6710-87DB-8644-8F7F36E00DF3}"/>
              </a:ext>
            </a:extLst>
          </p:cNvPr>
          <p:cNvSpPr txBox="1"/>
          <p:nvPr/>
        </p:nvSpPr>
        <p:spPr>
          <a:xfrm>
            <a:off x="548639" y="6001357"/>
            <a:ext cx="10808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หมายเหตุ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</a:t>
            </a:r>
            <a:endParaRPr lang="th-TH" sz="18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Which is better among Static Survey, RTK or PPK? - Geo-matching">
            <a:extLst>
              <a:ext uri="{FF2B5EF4-FFF2-40B4-BE49-F238E27FC236}">
                <a16:creationId xmlns:a16="http://schemas.microsoft.com/office/drawing/2014/main" id="{9843F1C6-85B7-5938-E560-BE7748E5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73" y="2730182"/>
            <a:ext cx="4878002" cy="27438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D9F7FD4-CC37-DAD2-8D4E-427CF479C18A}"/>
              </a:ext>
            </a:extLst>
          </p:cNvPr>
          <p:cNvSpPr/>
          <p:nvPr/>
        </p:nvSpPr>
        <p:spPr>
          <a:xfrm>
            <a:off x="7321308" y="5554827"/>
            <a:ext cx="30780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2.4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https://geo-matching.com/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2.4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02" y="5744041"/>
            <a:ext cx="10921033" cy="8863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ระบบอ้างอิงพิกัด (Coordinate Reference Systems)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653AF-2C83-AD0B-9380-BA5BDDCE317C}"/>
              </a:ext>
            </a:extLst>
          </p:cNvPr>
          <p:cNvSpPr txBox="1"/>
          <p:nvPr/>
        </p:nvSpPr>
        <p:spPr>
          <a:xfrm>
            <a:off x="619433" y="938080"/>
            <a:ext cx="110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CORS (Continuously Operating Reference Station)</a:t>
            </a:r>
            <a:r>
              <a:rPr lang="th-TH" dirty="0"/>
              <a:t>คือสถานีรับสัญญาณ GNSS ที่ติดตั้งถาวรบนพิกัดที่รู้ค่าแน่นอน และรับสัญญาณดาวเทียมต่อเนื่องตลอด 24 ชั่วโมง เพื่อคำนวณค่าแก้ความคลาดเคลื่อนส่งให้ผู้ใช้ผ่านอินเทอร์เน็ต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6BA5-D414-9914-9834-A73958D9F2F9}"/>
              </a:ext>
            </a:extLst>
          </p:cNvPr>
          <p:cNvSpPr txBox="1"/>
          <p:nvPr/>
        </p:nvSpPr>
        <p:spPr>
          <a:xfrm>
            <a:off x="541276" y="2410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2.3 เครือข่าย CORS ในประเทศไทย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ตารางเครือข่าย CORS ในประเทศไทย">
            <a:extLst>
              <a:ext uri="{FF2B5EF4-FFF2-40B4-BE49-F238E27FC236}">
                <a16:creationId xmlns:a16="http://schemas.microsoft.com/office/drawing/2014/main" id="{6792DD9D-4366-5EB0-0C9B-85B5CF98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72643"/>
              </p:ext>
            </p:extLst>
          </p:nvPr>
        </p:nvGraphicFramePr>
        <p:xfrm>
          <a:off x="627102" y="2820194"/>
          <a:ext cx="7821572" cy="24001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จุดเด่น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เหมาะสำหรับ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LRTN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กรมที่ดิน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เครือข่ายสถานี</a:t>
                      </a: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มากทั่วประเทศ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WGS84 และแปลงเป็น Indian 1975 (UTM)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 ออกโฉนด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RTSD CORS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กรมแผนที่ทหาร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เน้นความแม่นยำระดับ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Geodetic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ระบบพิกัดสากล ITRF / WGS84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งานโครงสร้างพื้นฐาน แผนที่ระดับชาติ งานวิชาการ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และงานยุทธศาสตร์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5A3E3D-4E7B-B711-74D9-EB7D9993598C}"/>
              </a:ext>
            </a:extLst>
          </p:cNvPr>
          <p:cNvSpPr txBox="1"/>
          <p:nvPr/>
        </p:nvSpPr>
        <p:spPr>
          <a:xfrm>
            <a:off x="627102" y="1509507"/>
            <a:ext cx="11023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sz="1800" dirty="0"/>
              <a:t>ทำหน้าที่เป็นสถานีฐาน (Base Station) ถาวร ผู้ใช้งานจึงสามารถหาตำแหน่งที่มีความแม่นยำระดับเซนติเมตรแบบเวลาจริง (Real-time) ได้ทันที โดยไม่จำเป็นต้องจัดหาหมุดควบคุมเพื่อติดตั้งสถานีฐานของตนเองทุกครั้ง นอกจากนี้ พิกัดที่ได้จากงานทุกชิ้นยังอ้างอิงอยู่ในกรอบอ้างอิงเดียวกันของเครือข่าย และข้อมูลสังเกตการณ์ที่สถานีบันทึกสะสมไว้ยังสามารถนำไปประมวลผลภายหลัง เพื่อสร้างหมุดควบคุมได้อีกด้วย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kumimoji="0" lang="th-TH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เครือข่าย CORS ในประเทศไทย มีดังนี้</a:t>
            </a:r>
            <a:endParaRPr kumimoji="0" lang="th-TH" sz="18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</p:txBody>
      </p:sp>
      <p:pic>
        <p:nvPicPr>
          <p:cNvPr id="4" name="Picture 3" descr="ระบบนำทางด้วยดาวเทียม GNSS CORS | GISTDA  สำนักงานพัฒนาเทคโนโลยีอวกาศและภูมิสารสนเทศ (องค์การมหาชน)">
            <a:extLst>
              <a:ext uri="{FF2B5EF4-FFF2-40B4-BE49-F238E27FC236}">
                <a16:creationId xmlns:a16="http://schemas.microsoft.com/office/drawing/2014/main" id="{38BD5656-0354-4B67-9476-02F13C33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570" y="2281598"/>
            <a:ext cx="2180822" cy="293874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5B0CD64-0485-2151-9806-8757F784D844}"/>
              </a:ext>
            </a:extLst>
          </p:cNvPr>
          <p:cNvSpPr/>
          <p:nvPr/>
        </p:nvSpPr>
        <p:spPr>
          <a:xfrm>
            <a:off x="8957188" y="5334069"/>
            <a:ext cx="2915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2.4 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</a:t>
            </a: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https://gistda.or.th/th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2.5 การประยุกต์ใช้ GNSS ในงานสำรวจภูมิประเทศ</a:t>
            </a:r>
          </a:p>
        </p:txBody>
      </p:sp>
      <p:graphicFrame>
        <p:nvGraphicFramePr>
          <p:cNvPr id="5" name="ตารางงานสำรวจที่ใช้ GNSS">
            <a:extLst>
              <a:ext uri="{FF2B5EF4-FFF2-40B4-BE49-F238E27FC236}">
                <a16:creationId xmlns:a16="http://schemas.microsoft.com/office/drawing/2014/main" id="{05B4E1C5-F7C7-1005-4928-528FF33A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05005"/>
              </p:ext>
            </p:extLst>
          </p:nvPr>
        </p:nvGraphicFramePr>
        <p:xfrm>
          <a:off x="548640" y="1280160"/>
          <a:ext cx="6294612" cy="5201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งานรังวัดที่ดินและแบ่งแยกแปลง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รังวัดขอบเขตและออกโฉนดตามมาตรฐานกรมที่ดินด้วย Network RTK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งานก่อสร้างและปักหมุดแนว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Construction &amp; Stakeout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กำหนดแนวเส้นทาง วางผังโครงสร้าง และปักหมุดตำแหน่งอาคาร ถนน สะพาน ได้อย่างรวดเร็ว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งานสำรวจรายละเอียดและทำงานร่วมกับโดรน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Drone Survey - RTK/PPK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ใช้บันทึกตำแหน่งศูนย์กลางภาพถ่ายจากโดรน หรือใช้รังวัดตำแหน่งหมุดควบคุมภาพถ่าย (GCPs) และจุดตรวจสอบ (Checkpoints) ภาคสนามด้วยความแม่นยำระดับเซนติเมตร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งานทำระดับด้วย GNSS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GNSS Leveling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ใช้วิธี Static Survey ร่วมกับแบบจำลองยีออยด์ TGM2017 และสถานี CORS ในการคำนวณหาค่าความสูงออร์โทเมตริกสำหรับงานวิศวกรรมโยธาและงานน้ำ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30D221-BB6E-205F-FC44-19350364CDCC}"/>
              </a:ext>
            </a:extLst>
          </p:cNvPr>
          <p:cNvSpPr txBox="1"/>
          <p:nvPr/>
        </p:nvSpPr>
        <p:spPr>
          <a:xfrm>
            <a:off x="472450" y="937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2.4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การประยุกต์ใช้ GNSS ในงานสำรวจภูมิประเทศ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Picture 3" descr="สำนักงานที่ดินจังหวัดตราด">
            <a:extLst>
              <a:ext uri="{FF2B5EF4-FFF2-40B4-BE49-F238E27FC236}">
                <a16:creationId xmlns:a16="http://schemas.microsoft.com/office/drawing/2014/main" id="{902B0A28-9BEC-C55F-62C4-942C5E917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038" y="1036320"/>
            <a:ext cx="3479962" cy="18211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D209AF6-FCC7-980C-13ED-4FBB6878B575}"/>
              </a:ext>
            </a:extLst>
          </p:cNvPr>
          <p:cNvSpPr/>
          <p:nvPr/>
        </p:nvSpPr>
        <p:spPr>
          <a:xfrm>
            <a:off x="7188038" y="3021945"/>
            <a:ext cx="424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2.5 มาตรฐานงานรังวัดที่ดิน 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https://www.dol.go.th/trat/cate-1769393600/news-1774493637/</a:t>
            </a:r>
          </a:p>
        </p:txBody>
      </p:sp>
      <p:pic>
        <p:nvPicPr>
          <p:cNvPr id="9" name="Picture 8" descr="Ground Control Targets | 3Dsurvey">
            <a:extLst>
              <a:ext uri="{FF2B5EF4-FFF2-40B4-BE49-F238E27FC236}">
                <a16:creationId xmlns:a16="http://schemas.microsoft.com/office/drawing/2014/main" id="{88FDF9DE-044C-B851-CFCD-473454A4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652" y="3503142"/>
            <a:ext cx="2741177" cy="2059458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FF0DBB1-B614-72DD-7B1C-61DF0D70860A}"/>
              </a:ext>
            </a:extLst>
          </p:cNvPr>
          <p:cNvSpPr/>
          <p:nvPr/>
        </p:nvSpPr>
        <p:spPr>
          <a:xfrm>
            <a:off x="7344419" y="5813723"/>
            <a:ext cx="31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2.6 งานสำรวจรายละเอียดและทำงานร่วมกับโดรน </a:t>
            </a:r>
            <a:b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https://3dsurvey.si/products/ground-control-targets/</a:t>
            </a:r>
          </a:p>
          <a:p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Total Station (กล้องประมวลผลรวม)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3.1 เทคโนโลยีการสำรวจด้วยกล้อง Total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3225"/>
            <a:ext cx="11094415" cy="8556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หลักการคือ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7541C-994A-5816-084E-B54C5CD92EFB}"/>
              </a:ext>
            </a:extLst>
          </p:cNvPr>
          <p:cNvSpPr txBox="1"/>
          <p:nvPr/>
        </p:nvSpPr>
        <p:spPr>
          <a:xfrm>
            <a:off x="548640" y="2774915"/>
            <a:ext cx="9863721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วัตถุประสงค์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รังวัดมุม ระยะทาง และคำนวณตำแหน่ง 3 มิติของจุดต่าง ๆ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งานที่ต้องการความถูกต้องละเอียดประณีตระดับมิลลิเมตร เช่น งานก่อสร้างและงานโครงสร้าง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3.2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66" y="5538612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หมายเหตุ 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การหาความสูงวิธีนี้ไม่ใช่การถ่ายระดับด้วยกล้องระดับ (Differential Leveling) ความแม่นยำแนวดิ่งจะลดลงเมื่อระยะเล็งไกล จึงไม่ควรใช้ทดแทนการถ่ายระดับเพื่อกำหนดค่าระดับของหมุด BM</a:t>
            </a:r>
          </a:p>
        </p:txBody>
      </p:sp>
      <p:graphicFrame>
        <p:nvGraphicFramePr>
          <p:cNvPr id="5" name="ตารางการรังวัดด้วย Total Station">
            <a:extLst>
              <a:ext uri="{FF2B5EF4-FFF2-40B4-BE49-F238E27FC236}">
                <a16:creationId xmlns:a16="http://schemas.microsoft.com/office/drawing/2014/main" id="{B8BD721F-433E-1A45-4375-F41EB187E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20768"/>
              </p:ext>
            </p:extLst>
          </p:nvPr>
        </p:nvGraphicFramePr>
        <p:xfrm>
          <a:off x="701609" y="1580145"/>
          <a:ext cx="11091672" cy="3703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3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การรังวัดมุม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วัดค่ามุมราบ (Horizontal Angle) และมุมดิ่ง (Vertical Angle / Zenith Angle) โดยใช้จานองศาในแนวราบและแนวดิ่ง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การรังวัดระยะทาง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 EDM ยิงสัญญาณเลเซอร์ไปยังเป้าหมาย เช่น ปริซึมสะท้อนแสง (Reflector Prism) หรือวัดแบบไม่ใช้ปริซึม (Reflectorless) บนพื้นผิววัตถุ โดยคำนวณระยะทางด้วยหลักการ Time-of-Flight หรือ Phase Shift ในการปฏิบัติงานจริงต้องตั้งค่าปรับแก้สภาพบรรยากาศ (Atmospheric Correction - ppm) ตามอุณหภูมิและความดันอากาศ รวมถึงป้อนค่าคงที่ปริซึม (Prism Constant) ให้ถูกต้องตามผู้ผลิต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การหาความสูงและคำนวณตำแหน่ง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กล้องสามารถหาความสูงด้วยวิธีตรีโกณมิติ (Trigonometric Heighting) และคำนวณพิกัดฉาก 3 มิติ (X, Y, Z) ได้จากการประมวลผลมุมราบ มุมดิ่ง และระยะทางเอียงร่วมกัน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867248-1810-BE5C-3F91-13B7418FC944}"/>
              </a:ext>
            </a:extLst>
          </p:cNvPr>
          <p:cNvSpPr txBox="1"/>
          <p:nvPr/>
        </p:nvSpPr>
        <p:spPr>
          <a:xfrm>
            <a:off x="698866" y="1095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การรังวัดมุม ระยะทาง และระดับ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C13F-C4A2-C19D-9174-490E928AAF8D}"/>
              </a:ext>
            </a:extLst>
          </p:cNvPr>
          <p:cNvSpPr txBox="1"/>
          <p:nvPr/>
        </p:nvSpPr>
        <p:spPr>
          <a:xfrm>
            <a:off x="548640" y="5275308"/>
            <a:ext cx="10955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Station บันทึกพิกัดของแต่ละจุดพร้อมรหัสรายละเอียด (Feature Code) เช่น ขอบถนน เสาไฟ ต้นไม้ ลงในตัวเครื่องหรือตัวเก็บข้อมูลระหว่างรังวัด เมื่อส่งออกไฟล์ไปยังโปรแกรม CADD หรือ GIS ซอฟต์แวร์จะอ่านรหัสเหล่านี้เพื่อลากเส้นและใส่สัญลักษณ์ตามชนิดของจุดให้อัตโนมัติ จึงสร้างแผนที่ภูมิประเทศได้เลยโดยไม่ต้องพิมพ์พิกัดซ้ำและไม่ต้องจำว่าแต่ละจุดคืออะไร ลดทั้งเวลาและโอกาสคัดลอกผิดครับ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3019-6A28-D0B7-7ACB-1C20DE49CABC}"/>
              </a:ext>
            </a:extLst>
          </p:cNvPr>
          <p:cNvSpPr txBox="1"/>
          <p:nvPr/>
        </p:nvSpPr>
        <p:spPr>
          <a:xfrm>
            <a:off x="698866" y="1018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3.2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ตารางวิธีปฏิบัติงานภาคสนาม">
            <a:extLst>
              <a:ext uri="{FF2B5EF4-FFF2-40B4-BE49-F238E27FC236}">
                <a16:creationId xmlns:a16="http://schemas.microsoft.com/office/drawing/2014/main" id="{18FD469E-56D9-D34A-8744-8A572F44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63661"/>
              </p:ext>
            </p:extLst>
          </p:nvPr>
        </p:nvGraphicFramePr>
        <p:xfrm>
          <a:off x="548640" y="1441030"/>
          <a:ext cx="11091672" cy="3619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การตั้งกล้องและส่อง Backsight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เริ่มต้นโดยตั้งกล้องบนหมุดหลักฐานที่ทราบพิกัด (Occupied Station) ผ่านดิ่งกล้อง (Optical หรือ Laser Plummet) ปรับระดับฟองกลมหรือฟองอิเล็กทรอนิกส์ให้ประณีต จากนั้นตั้งค่า Backsight โดยป้อนพิกัดหมุดอ้างอิงหรือป้อนมุมแอซิมัท (Azimuth) ทราบค่า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การรังวัดย้อนหาตำแหน่งตั้งกล้อง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Resection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การเก็บรายละเอียดและการเดินวงรอบ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Traverse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ส่องรังวัดแบบรัศมีเพื่อเก็บพิกัดและรายละเอียดภูมิประเทศ หรือเดินวงรอบปิด (Closed Loop Traverse) เพื่อสร้างหมุดควบคุมย่อย ซึ่งสามารถตรวจสอบความถูกต้องภาคสนามได้จากค่าความคลาดเคลื่อนทางมุม (Angular Misclosure) และทางราบ (Linear Misclosure) เทียบกับเกณฑ์ชั้นความแม่นยำของงานสำรวจที่กำหนด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การประมวลผลแบบ Digital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ข้อมูลพิกัดและรหัสรายละเอียด (Feature Code) ที่บันทึกไว้สามารถส่งออกไปยังโปรแกรม CADD และ GIS เพื่อเขียนแบบและสร้างแผนที่ภูมิประเทศได้ทันที โดยไม่ต้องป้อนข้อมูลซ้ำ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9447"/>
            <a:ext cx="11094415" cy="547226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dirty="0">
                <a:latin typeface="TH Sarabun New"/>
                <a:ea typeface="TH Sarabun New"/>
                <a:cs typeface="TH Sarabun New"/>
              </a:rPr>
              <a:t>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dirty="0">
                <a:latin typeface="TH Sarabun New"/>
                <a:ea typeface="TH Sarabun New"/>
                <a:cs typeface="TH Sarabun New"/>
              </a:rPr>
              <a:t>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  <a:p>
            <a:pPr marL="45720">
              <a:spcAft>
                <a:spcPts val="600"/>
              </a:spcAft>
            </a:pPr>
            <a:endParaRPr lang="th-TH" sz="2600" b="0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-005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84" y="1554480"/>
            <a:ext cx="284607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3.2 เครื่องรับ GNSS (RTK) บนขาตั้ง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5-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565" y="1554480"/>
            <a:ext cx="2847669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3.3 กล้อง Total Station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6E649-6AE2-34BC-1C24-9D9B8A257FEB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 (ต่อ)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29895"/>
            <a:ext cx="11094415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65D5B-AA0E-1008-1970-8DBE0B8E17CC}"/>
              </a:ext>
            </a:extLst>
          </p:cNvPr>
          <p:cNvSpPr txBox="1"/>
          <p:nvPr/>
        </p:nvSpPr>
        <p:spPr>
          <a:xfrm>
            <a:off x="548640" y="2050175"/>
            <a:ext cx="1087644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กระบวนการประมวลผลภาพถ่าย แบ่งออกได้เป็น 2 แบบ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Structure from Motion (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):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ตรวจจับและจับคู่จุดลักษณะเด่น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Feature Matching)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ข้ามภาพถ่าย เพื่อประเมินตำแหน่ง ทิศทาง และค่าพารามิเตอร์ของกล้อง พร้อมสร้างกลุ่มเมฆจุดแบบโปร่ง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Sparse Point Cloud)[1] 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ตรวจหาจุดลักษณะเด่นด้วยตัวตรวจจับ เช่น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SIFT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หรือ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SURF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แล้วจับคู่ระหว่างคู่ภาพ และตัดจุดที่จับคู่ผิดพลาดออกด้วยการประมาณค่าที่ทนต่อค่าผิดปกติ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Robust Estimation)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ปรับเกลี่ยบล็อกภาพ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Bundle Adjustment)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เพื่อประมาณตำแหน่งและทิศทางของกล้องแต่ละภาพ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Exterior Orientation)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ร่วมกับพิกัด 3 มิติของจุดที่จับคู่ได้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เมื่อใส่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GCP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ซอฟต์แวร์จะนำพิกัดที่รังวัดมารวมในการปรับแก้ ช่วยเพิ่มความถูกต้องสัมบูรณ์และลดความบิดเบี้ยวทางเรขาคณิต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Multi-View Stereo (MVS):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คำนวณข้อมูลความลึก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Depth Map)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จากหลายภาพที่มองเห็นพื้นที่เดียวกัน เพื่อสร้างกลุ่มเมฆจุดความหนาแน่นสูง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Dense Point Cloud)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และพื้นผิว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Mesh[1] 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ดำเนินการต่อจากผลการจัดแนวภาพ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Image Alignment)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ของ 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endParaRPr lang="en-US" b="0" dirty="0">
              <a:latin typeface="TH Sarabun New"/>
              <a:ea typeface="TH Sarabun New"/>
              <a:cs typeface="TH Sarabun New"/>
            </a:endParaRP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จากกลุ่มเมฆจุดหนาแน่นนี้ สร้าง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DSM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และแบบจำลอง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ที่มีพื้นผิวได้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และการถ่ายภาพทางอากาศ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007" y="1554480"/>
            <a:ext cx="3948224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4.1 ความสัมพันธ์ของความสูงบิน ส่วนซ้อน และพื้นที่ภาพ (GSD)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  <p:pic>
        <p:nvPicPr>
          <p:cNvPr id="5" name="Picture 4" descr="i-007-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2433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015339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4.2 ลำดับการประมวลผลภาพถ่ายใน Agisoft Metashape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8046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4.1 Photogrammetry และการถ่ายภาพทางอากาศ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58240"/>
            <a:ext cx="10660134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สัดส่วนส่วนซ้อนและส่วนเกย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Overlap &amp; </a:t>
            </a:r>
            <a:r>
              <a:rPr lang="en-US" sz="2200" b="1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5014-B186-6956-4046-A12C92DDA09A}"/>
              </a:ext>
            </a:extLst>
          </p:cNvPr>
          <p:cNvSpPr txBox="1"/>
          <p:nvPr/>
        </p:nvSpPr>
        <p:spPr>
          <a:xfrm>
            <a:off x="548640" y="1870834"/>
            <a:ext cx="46722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ส่วนซ้อนในแนวบิน (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Forward Overlap): 70–80% (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โดยทั่วไปแนะนำไม่น้อยกว่า 75%) เพื่อให้ภาพที่อยู่ติดกันมีจุดเด่นร่วมกันเพียงพอสำหรับการปรับเกลี่ยบล็อกภาพถ่าย (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Bundle Adjustment)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9542-5E66-9979-560A-296D97A32434}"/>
              </a:ext>
            </a:extLst>
          </p:cNvPr>
          <p:cNvSpPr txBox="1"/>
          <p:nvPr/>
        </p:nvSpPr>
        <p:spPr>
          <a:xfrm>
            <a:off x="6095847" y="1889472"/>
            <a:ext cx="50619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ส่วนเกยระหว่างแนวบิน (</a:t>
            </a:r>
            <a:r>
              <a:rPr lang="en-US" sz="2200" b="0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): 60–75% (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โดยทั่วไปแนะนำไม่น้อยกว่า 60%) เพื่อเชื่อมภาพระหว่างแนวบินข้างเคียงให้เป็นโครงข่ายเดียวกัน และลดความบิดเบี้ยวบริเวณขอบพื้นที่</a:t>
            </a:r>
          </a:p>
        </p:txBody>
      </p:sp>
      <p:pic>
        <p:nvPicPr>
          <p:cNvPr id="6" name="Picture 5" descr="overlap.png">
            <a:extLst>
              <a:ext uri="{FF2B5EF4-FFF2-40B4-BE49-F238E27FC236}">
                <a16:creationId xmlns:a16="http://schemas.microsoft.com/office/drawing/2014/main" id="{2CFECD0F-4BC6-F0EA-DE07-1593E6B8E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3331094"/>
            <a:ext cx="8414998" cy="2368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6E3FD0-A438-1755-ED72-8AA6921A19AF}"/>
              </a:ext>
            </a:extLst>
          </p:cNvPr>
          <p:cNvSpPr txBox="1"/>
          <p:nvPr/>
        </p:nvSpPr>
        <p:spPr>
          <a:xfrm>
            <a:off x="513058" y="572719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4.3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แผนภาพแสดงส่วนซ้อนในแนวบิน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(Forward Overlap) 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และส่วนเกยระหว่างแนวบิน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Sidelap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  <a:p>
            <a:pPr algn="ctr"/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แผนภาพเชิงแนวคิด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sz="16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จัดทำขึ้นประกอบการบรรยาย</a:t>
            </a:r>
            <a:r>
              <a:rPr sz="16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การวางแผนแนวบินและการกำหนด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GCP / Checkpoint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3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505200" cy="2708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195" y="4289929"/>
            <a:ext cx="3699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4.3 </a:t>
            </a:r>
            <a:r>
              <a:rPr lang="th-TH"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ตัวอย่าง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ตำแหน่ง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GCP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Checkpoint (CP)</a:t>
            </a:r>
          </a:p>
          <a:p>
            <a:pPr algn="ctr"/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Thammaboribal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, Tripathi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18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</a:t>
            </a:r>
            <a:r>
              <a:rPr sz="18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Lipiloet</a:t>
            </a:r>
            <a:endParaRPr sz="18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</p:txBody>
      </p:sp>
      <p:pic>
        <p:nvPicPr>
          <p:cNvPr id="5" name="Picture 4" descr="i-004-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1554480"/>
            <a:ext cx="3505199" cy="1530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8160" y="3112484"/>
            <a:ext cx="350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4.4 เป้าหมาย GCP (Target)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  <p:pic>
        <p:nvPicPr>
          <p:cNvPr id="7" name="Picture 6" descr="i-003-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1554480"/>
            <a:ext cx="3505200" cy="2072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07680" y="3654468"/>
            <a:ext cx="350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4.5 อากาศยานไร้คนขับที่ใช้บิน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DD9944E-2C0F-6798-C7A0-182E3D37A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4802"/>
              </p:ext>
            </p:extLst>
          </p:nvPr>
        </p:nvGraphicFramePr>
        <p:xfrm>
          <a:off x="548640" y="1681316"/>
          <a:ext cx="11091672" cy="4719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ผลิตภัณฑ์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คืออะไร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สร้างอย่างไร (หลักการ)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Digital Surface Model (DSM)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 บันทึกความสูงของทุกวัตถุบนดิน (พื้นดิน อาคาร ต้นไม้)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เก็บเป็นตารางกริด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ได้ Dense Point Cloud จาก SfM + MVS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แบ่งพื้นที่เป็นเซลล์กริด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กำหนดความสูงแต่ละเซลล์จากค่าบนสุดของจุดในเซลล์ และประมาณค่าเซลล์ว่างจากจุดข้างเคียง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Orthophoto / Orthomosaic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แผนที่ภาพถ่ายทางอากาศที่ปรับแก้ความเอียงและมุมมอง (Orthorectification) มาตราส่วนสม่ำเสมอ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วัดระยะและพื้นที่ได้ตามจริง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(Orthomosaic = ต่อหลายภาพเป็นแผ่นเดียว)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หรือ DTM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เป็นพื้นผิวอ้างอิง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แต่ละพิกเซล อ่านความสูง Z จาก DSM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ฉายกลับไปยังภาพด้วยตำแหน่งและทิศทางกล้อง เพื่อดึงสี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 ปรับสี และเกลี่ยรอยต่อ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True-Orthophoto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การประมวลผลขั้นสูงสำหรับพื้นที่เมืองหรืออาคารสูง ขจัดภาพอาคารล้มเอียง (Radial Displacement) ให้วัตถุทรงสูงตั้งตรง ไม่มีภาพซ้อนทับ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ความละเอียดสูง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วิเคราะห์การบดบัง (Self-occlusion)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เติมส่วนที่ถูกบังด้วยภาพจากกล้องตำแหน่งอื่น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ต่อภาพเป็นผืนเดียว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0718E-418E-4CC9-1854-044AE8C0552B}"/>
              </a:ext>
            </a:extLst>
          </p:cNvPr>
          <p:cNvSpPr txBox="1"/>
          <p:nvPr/>
        </p:nvSpPr>
        <p:spPr>
          <a:xfrm>
            <a:off x="548640" y="120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4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การสร้าง Orthophoto และ Digital Surface Model (DSM)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4.3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การสร้าง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Orthophoto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Digital Surface Model (DSM)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9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77" y="1554480"/>
            <a:ext cx="1922484" cy="1783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364991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4.6 Orthophoto ไม่ใช้ GCP</a:t>
            </a:r>
          </a:p>
        </p:txBody>
      </p:sp>
      <p:pic>
        <p:nvPicPr>
          <p:cNvPr id="5" name="Picture 4" descr="i-009-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60" y="1554480"/>
            <a:ext cx="1915279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364991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4.7 Orthophoto ใช้ GCP</a:t>
            </a:r>
          </a:p>
        </p:txBody>
      </p:sp>
      <p:pic>
        <p:nvPicPr>
          <p:cNvPr id="7" name="Picture 6" descr="i-010-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51" y="3794760"/>
            <a:ext cx="230113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0527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4.8 DSM ไม่ใช้ GCP</a:t>
            </a:r>
          </a:p>
        </p:txBody>
      </p:sp>
      <p:pic>
        <p:nvPicPr>
          <p:cNvPr id="9" name="Picture 8" descr="i-010-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39" y="3794760"/>
            <a:ext cx="210312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19" y="560527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4.9 DSM ใช้ 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AB8-E942-3384-BF8A-3F1EB72F8F28}"/>
              </a:ext>
            </a:extLst>
          </p:cNvPr>
          <p:cNvSpPr txBox="1"/>
          <p:nvPr/>
        </p:nvSpPr>
        <p:spPr>
          <a:xfrm>
            <a:off x="224022" y="1883332"/>
            <a:ext cx="587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ยิงพัลส์เลเซอร์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Laser Scanner ยิงพัลส์เลเซอร์ (เช่น อินฟราเรดความยาวคลื่น 1550 นาโนเมตร) ไปยังวัตถุหรือพื้นผิว พร้อมกระจายลำแสงผ่านกระจกสแกน (Scanning Mirror) ได้นับแสนถึงล้านพัลส์ต่อวินาที</a:t>
            </a: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วัดระยะด้วยเวลาเดินทางของแสง (Time-of-Flight)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 = ความเร็วแสง × เวลาไป-กลับ ÷ 2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ระบุว่าเลเซอร์ยิงจากตำแหน่งและทิศทางใด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ระยะเพียงอย่างเดียวบอกไม่ได้ว่าจุดนั้นอยู่ที่ไหนบนโลก เพราะเซนเซอร์เคลื่อนที่ไปพร้อมโดรน เครื่องบิน หรือรถ จึงต้องมีอีก 2 เซนเซอร์ช่วย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GNSS (DGPS/RTK/PPK):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บอกพิกัด X, Y, Z ของเซนเซอร์ในขณะนั้น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IMU (Inertial Measurement Unit):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บอกการวางตัวของพาหนะ ได้แก่ Roll (เอียงข้าง) Pitch (ก้ม/เงย) และ Heading/Yaw (ทิศทาง)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FA9A8-9E40-6ABE-5CA3-C20DF1B07117}"/>
              </a:ext>
            </a:extLst>
          </p:cNvPr>
          <p:cNvSpPr txBox="1"/>
          <p:nvPr/>
        </p:nvSpPr>
        <p:spPr>
          <a:xfrm>
            <a:off x="639096" y="885395"/>
            <a:ext cx="9920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(Light Detection and Ranging)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เป็นเทคโนโลยีสำรวจระยะไกลแบบ Active Sensing คือส่งสัญญาณออกไปเอง ไม่ต้องพึ่งแสงธรรมชาติเหมือนการถ่ายภาพ หลักการทำงานแบ่งเป็น 4 ขั้น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7811-2BB0-9379-7D39-D2858B9A2EF1}"/>
              </a:ext>
            </a:extLst>
          </p:cNvPr>
          <p:cNvSpPr txBox="1"/>
          <p:nvPr/>
        </p:nvSpPr>
        <p:spPr>
          <a:xfrm>
            <a:off x="6209449" y="1933216"/>
            <a:ext cx="55772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4. รวมข้อมูลเป็นพิกัด 3 มิติ (Sensor Fusion)</a:t>
            </a:r>
            <a:b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ระบบนำระยะจากเลเซอร์ รวมกับพิกัดจาก GNSS และมุมจาก IMU ได้พิกัดฉาก X, Y, Z ของทุกจุดที่เลเซอร์กระทบ พร้อมค่าความเข้มสัญญาณสะท้อน (Intensity) ผลลัพธ์คือ Point Cloud ที่ใช้สร้างแบบจำลองภูมิประเทศ</a:t>
            </a:r>
          </a:p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จุดเด่น: สะท้อนกลับได้หลายครั้ง (Multiple Returns)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พัลส์เลเซอร์ 1 พัลส์สามารถสะท้อนกลับได้หลายครั้ง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First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สะท้อนจากยอดไม้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Intermediate returns: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สะท้อนจากกิ่งก้าน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สะท้อนจากพื้นดิน</a:t>
            </a:r>
          </a:p>
          <a:p>
            <a:pPr rtl="0">
              <a:buNone/>
            </a:pP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จึงเจาะผ่านช่องว่างของทรงพุ่มไม้ไปวัดระดับพื้นดินจริงใต้ต้นไม้ได้ ซึ่งเป็นสิ่งที่การถ่ายภาพทำไม่ได้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UAV LiDAR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Mobile/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LiDAR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4" y="1554480"/>
            <a:ext cx="335331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5.1 การเก็บข้อมูลด้วย LiDAR แบบถือ (Handheld SLAM)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4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364" y="1554480"/>
            <a:ext cx="284607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5.2 อุปกรณ์ LiDAR แบบถือและหน่วยควบคุม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30076-6B6F-AB4B-8221-E5E6A85A7FA0}"/>
              </a:ext>
            </a:extLst>
          </p:cNvPr>
          <p:cNvSpPr txBox="1"/>
          <p:nvPr/>
        </p:nvSpPr>
        <p:spPr>
          <a:xfrm>
            <a:off x="548640" y="366748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5.2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LiDAR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2DA231E-36CA-8479-087D-2FFF6EF39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12019"/>
              </p:ext>
            </p:extLst>
          </p:nvPr>
        </p:nvGraphicFramePr>
        <p:xfrm>
          <a:off x="462116" y="1710812"/>
          <a:ext cx="11180940" cy="42676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ชนิด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การติดตั้ง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เหมาะกับงาน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 / ข้อสังเกต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(เครื่องบิน / เฮลิคอปเตอร์)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ติดตั้งบนเครื่องบินปีกตรึงหรือเฮลิคอปเตอร์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สแกนทำแผนที่ระดับภูมิภาค พื้นที่ขนาดใหญ่มาก หรือแนวระเบียงยาว (Corridor Mapping) เช่น ลุ่มน้ำ สายส่งไฟฟ้า ทางหลวง และงานป่าไม้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ความถูกต้องทางดิ่งราว 1–3 ซม. ถึง 15 ซม. ขึ้นกับความสูงบินและสเปกของเซนเซอร์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Mobile Terrestrial LiDAR (MLS)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เคลื่อนที่ทางบก)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ติดตั้งบนยานพาหนะทางบก (เช่น รถบรรทุกหรือรถ RTV) ทำงานร่วมกับ Laser Scanner, GNSS, IMU และ Wheel DMI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เด่นด้านมุมมองเฉียงและด้านข้างที่มีความหนาแน่นจุดสูงมาก เช่น หน้าผาชายฝั่ง ลานทราย คันดิน ผนังอาคาร และถนน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Boresight Alignment เพื่อปรับแก้ความคลาดเคลื่อนเชิงมุมระหว่างเซนเซอร์ LiDAR กับ IMU ก่อนและหลังการสแกน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บนโดรน)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ติดตั้งเซนเซอร์ LiDAR ขนาดเบาบนอากาศยานไร้นักบิน (UAV)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พื้นที่ขนาดเล็กถึงปานกลาง พื้นที่เสี่ยงภัย หรือพื้นที่ป่าไม้ รวมข้อดีของการสแกนทางอากาศที่เจาะผ่านทรงพุ่มไม้ เข้ากับความคล่องตัว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ความหนาแน่นจุดสูง (50–200+ จุด/ตร.ม.) ค่าใช้จ่ายดำเนินงานต่ำกว่าเครื่องบินขนาดใหญ่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D90A14-01B0-1363-283A-67BAFA056283}"/>
              </a:ext>
            </a:extLst>
          </p:cNvPr>
          <p:cNvSpPr txBox="1"/>
          <p:nvPr/>
        </p:nvSpPr>
        <p:spPr>
          <a:xfrm>
            <a:off x="462116" y="1212574"/>
            <a:ext cx="755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5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ความเหมาะสมและความถูกต้องของ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416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FDF7-5A6F-2DA2-D1A0-4269B955DF06}"/>
              </a:ext>
            </a:extLst>
          </p:cNvPr>
          <p:cNvSpPr txBox="1"/>
          <p:nvPr/>
        </p:nvSpPr>
        <p:spPr>
          <a:xfrm>
            <a:off x="548640" y="219442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การจำแนกข้อมูล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Ground / Non-Ground (Ground Filtering)</a:t>
            </a:r>
            <a:endParaRPr lang="th-TH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EBB72-0D12-E102-FA2B-A6DA7757F233}"/>
              </a:ext>
            </a:extLst>
          </p:cNvPr>
          <p:cNvSpPr txBox="1"/>
          <p:nvPr/>
        </p:nvSpPr>
        <p:spPr>
          <a:xfrm>
            <a:off x="646963" y="2625316"/>
            <a:ext cx="10404495" cy="23791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รูปแบบอัลกอริทึมในการจำแนก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Morphological Filter: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ใช้เกณฑ์ความชันและความสูงในการสกัดจุดออกด้วยโครงสร้างกริด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 (ภาพประกอบ)</a:t>
            </a:r>
          </a:p>
        </p:txBody>
      </p:sp>
      <p:pic>
        <p:nvPicPr>
          <p:cNvPr id="3" name="Picture 2" descr="i-002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3088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9936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5.3 Point Cloud แสดงตามค่าความสูง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  <p:pic>
        <p:nvPicPr>
          <p:cNvPr id="5" name="Picture 4" descr="i-006-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2903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485714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5.4 การตรวจสอบ Point Cloud ในซอฟต์แวร์ประมวลผล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5.4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6.1 Photogrammetry กับ LiDAR (หลักการและการได้มาซึ่งข้อมูล)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773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งานสำรวจสามารถใช้ LiDAR หรือโดรนถ่ายภาพ (Photogrammetry) สร้างกลุ่มเมฆจุด (Point Cloud) ได้ทั้งสองวิธี แต่หลักการได้มาซึ่งข้อมูลแตกต่างกัน 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A0FE-BA01-203B-9D30-D6953B6003D1}"/>
              </a:ext>
            </a:extLst>
          </p:cNvPr>
          <p:cNvSpPr txBox="1"/>
          <p:nvPr/>
        </p:nvSpPr>
        <p:spPr>
          <a:xfrm>
            <a:off x="293002" y="3213183"/>
            <a:ext cx="5547360" cy="2148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เป็นการสำรวจระยะไกลแบบ Passive Sensing ที่อาศัยแสงสว่างตามธรรมชาติบันทึกภาพถ่าย 2 มิติ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การประมวลผล: นำภาพเข้าอัลกอริทึม Structure from Motion (SfM) และ Multi-View Stereo (MVS) คำนวณตำแหน่งและทิศทางกล้อง แล้วประมาณพิกัดฉาก 3 มิติด้วยหลักการสามเหลี่ยม (Triangulation)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แผนที่ภาพถ่ายดัดแก้ (Orthophoto) แบบจำลอง 3D Textured Mesh และกลุ่มเมฆจุดที่มีค่าสี (RGB) ในตัว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C073-8ADD-3436-2035-E134C8452F99}"/>
              </a:ext>
            </a:extLst>
          </p:cNvPr>
          <p:cNvSpPr txBox="1"/>
          <p:nvPr/>
        </p:nvSpPr>
        <p:spPr>
          <a:xfrm>
            <a:off x="6168174" y="3200893"/>
            <a:ext cx="5730824" cy="18712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เป็นการสำรวจระยะไกลแบบ Active Sensing ที่ส่งพัลส์เลเซอร์ไปกระทบวัตถุด้วยตัวเอง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กลุ่มเมฆจุด 3 มิติ (3D Point Cloud) ที่บันทึกพิกัด X, Y, Z และค่าความเข้มสัญญาณสะท้อน (Intensity)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คุณสมบัติเด่น: บันทึกสัญญาณสะท้อนได้หลายครั้ง (Multiple Returns) จึงเจาะผ่านช่องว่างของทรงพุ่มไม้ลงไปวัดระดับพื้นดินจริงใต้ต้นไม้ได้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12350-B3D8-1F99-9CF7-5A269AFF58E3}"/>
              </a:ext>
            </a:extLst>
          </p:cNvPr>
          <p:cNvSpPr txBox="1"/>
          <p:nvPr/>
        </p:nvSpPr>
        <p:spPr>
          <a:xfrm>
            <a:off x="293002" y="263248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Photogrammetry (การรังวัดด้วยภาพถ่าย)</a:t>
            </a:r>
            <a:endParaRPr lang="th-TH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B42D8-C292-B3E2-91CF-C1C4DCA73A22}"/>
              </a:ext>
            </a:extLst>
          </p:cNvPr>
          <p:cNvSpPr txBox="1"/>
          <p:nvPr/>
        </p:nvSpPr>
        <p:spPr>
          <a:xfrm>
            <a:off x="6095847" y="2632483"/>
            <a:ext cx="5657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LiDAR (Light Detection and Ranging)</a:t>
            </a:r>
            <a:endParaRPr lang="th-TH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5CA50-8385-9AA3-3D33-695E57DE9871}"/>
              </a:ext>
            </a:extLst>
          </p:cNvPr>
          <p:cNvSpPr txBox="1"/>
          <p:nvPr/>
        </p:nvSpPr>
        <p:spPr>
          <a:xfrm>
            <a:off x="1283110" y="5944602"/>
            <a:ext cx="9979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Point Cloud (กลุ่มเมฆจุด 3 มิติ)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คือชุดจุดจำนวนมากที่แต่ละจุดมีพิกัด X, Y, Z บอกตำแหน่งบนพื้นผิวของภูมิประเทศหรือวัตถุ เมื่อนำจุดทั้งหมดมาแสดงรวมกันจะเห็นเป็นรูปร่าง 3 มิติของพื้นที่นั้น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879FC-CEEA-D996-7FA3-72932B3267D9}"/>
              </a:ext>
            </a:extLst>
          </p:cNvPr>
          <p:cNvSpPr txBox="1"/>
          <p:nvPr/>
        </p:nvSpPr>
        <p:spPr>
          <a:xfrm>
            <a:off x="683341" y="5670263"/>
            <a:ext cx="9389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Note</a:t>
            </a:r>
            <a:endParaRPr lang="th-TH" sz="26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6.1 Photogrammetry กับ LiDAR (ภาพประกอบ)</a:t>
            </a:r>
          </a:p>
        </p:txBody>
      </p:sp>
      <p:pic>
        <p:nvPicPr>
          <p:cNvPr id="3" name="Picture 2" descr="i-003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3189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71847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6.1 อากาศยานไร้คนขับพร้อมกล้อง (Photogrammetry)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Thammaboribal, Tripathi และ Lipiloet</a:t>
            </a:r>
          </a:p>
        </p:txBody>
      </p:sp>
      <p:pic>
        <p:nvPicPr>
          <p:cNvPr id="5" name="Picture 4" descr="i-004-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364" y="1554480"/>
            <a:ext cx="284607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6.2 เครื่องสแกน LiDAR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วรารัตน์ รัตนพันธ์ และคณะ (2568)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6.2 ตารางเปรียบเทียบ LiDAR และ Photogrammetry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6.1 เปรียบเทียบ LiDAR และ Photogrammetry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78444"/>
              </p:ext>
            </p:extLst>
          </p:nvPr>
        </p:nvGraphicFramePr>
        <p:xfrm>
          <a:off x="548640" y="2049780"/>
          <a:ext cx="11094415" cy="3813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หัวข้อเปรียบเทียบ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Photogrammetr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y</a:t>
                      </a:r>
                      <a:endParaRPr lang="th-TH" sz="2000" b="1" dirty="0">
                        <a:solidFill>
                          <a:schemeClr val="tx1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344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หลักการคร่าวๆ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Passive Sensing ถ่ายภาพ แล้วคำนวณ 3 มิติด้วย SfM + MVS และสามเหลี่ยม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Active Sensing ยิงเลเซอร์ วัดระยะด้วย Time-of-Flight ร่วมกับ GNSS และ IMU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ความทนทาน/สภาพแวดล้อม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ขึ้นกับแสงธรรมชาติ ทำงานกลางคืนไม่ได้ ถ่ายไม่ทะลุพืชพรรณ (ได้เฉพาะยอดทรงพุ่ม) พื้นผิวไร้ Texture หรือมันสะท้อนแสง (ผิวน้ำ หิมะ ทราย) จับคู่จุดภาพไม่ได้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เจาะช่องว่างทรงพุ่มถึงพื้นดินได้ด้วย Multiple Returns และใช้ในงานสแกนกลางคืนได้ (ตามหัวข้อเลือกใช้เทคโนโลยี)</a:t>
                      </a:r>
                    </a:p>
                  </a:txBody>
                  <a:tcPr marL="73152" marR="73152" marT="36576" marB="36576">
                    <a:solidFill>
                      <a:srgbClr val="222D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6.3 การเลือกใช้เทคโนโลยีให้เหมาะสมกับลักษณะพื้นที่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8B4DE9-1C3B-63E1-73E5-045FAE8A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693498"/>
              </p:ext>
            </p:extLst>
          </p:nvPr>
        </p:nvGraphicFramePr>
        <p:xfrm>
          <a:off x="548640" y="1592826"/>
          <a:ext cx="11091672" cy="4762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ทางเลือก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เหมาะเมื่อ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พื้นที่โครงการเป็นพื้นที่เปิดโล่ง ไร้สิ่งบดบัง เช่น งานก่อสร้างอาคาร งานเหมืองเปิด งานวางผังเมือง หรือแปลงเกษตรเปิด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ต้องการผลลัพธ์ที่เป็นภาพถ่ายจริง แผนที่ภาพถ่ายดัดแก้ (Orthophoto) หรือโมเดล 3D มีสีสัมผัสสมจริง เพื่อใช้สื่อสาร วางผัง หรือตรวจรอยร้าวอาคาร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ต้องการควบคุมงบประมาณอุปกรณ์เริ่มต้นให้ประหยัดที่สุด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ควรเลือกใช้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พื้นที่มีพืชพรรณ ต้นไม้ หรือป่าไม้ปกคลุมหนาแน่น ที่ต้องการสร้างแบบจำลองภูมิประเทศพื้นดินเปล่า (Bare-Earth DTM)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งานที่ต้องการความถูกต้องทางดิ่งสูงเป็นพิเศษ เช่น คำนวณปริมาณดินตัด-ดินถม (Cut &amp; Fill) ในภูมิประเทศซับซ้อน หรือวิเคราะห์ทางอุทกวิทยา/น้ำท่วม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สำรวจพื้นที่แนวระเบียงยาว (Corridor Mapping) เช่น สายส่งไฟฟ้า ถนน ทางรถไฟ งานสแกนเวลากลางคืน หรือพื้นที่ที่มีความต่างระดับซับซ้อน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การใช้งานแบบผสมผสาน (Hybrid Workflow)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ในปัจจุบันนิยมใช้ข้อมูลร่วมกันทั้งสองระบบ โดยใช้ LiDAR สร้างโครงสร้างทางเรขาคณิตและระดับความสูงภูมิประเทศที่แม่นยำ แล้วนำภาพถ่ายจาก Photogrammetry มาทาบซ้อน (Overlay Texture) เพื่อสร้างโมเดลดิจิทัลทวิน (Digital Twin) หรือ BIM ที่มีความแม่นยำทั้งมิติเรขาคณิตและความสมจริงทางสายตา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6EA8A2-BDB1-1B75-88CF-663EC79CBFFF}"/>
              </a:ext>
            </a:extLst>
          </p:cNvPr>
          <p:cNvSpPr txBox="1"/>
          <p:nvPr/>
        </p:nvSpPr>
        <p:spPr>
          <a:xfrm>
            <a:off x="548640" y="108402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6.2 การเลือกใช้เทคโนโลยีให้เหมาะสมกับลักษณะพื้นที่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459" y="106975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หลักการ คือ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ส่งคลื่นเสียง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(Acoustic Pulse)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จากหัวส่งสัญญาณ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(Transducer)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ลงไปกระทบพื้นท้องน้ำ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แล้วรับสัญญาณสะท้อนกลับมา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คำนวณความลึกจากระยะเวลาเดินทางไป-กลับของคลื่นเสียง</a:t>
            </a:r>
            <a:r>
              <a:rPr lang="en-US" sz="2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ตามสูตร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6DBE94-45D8-C362-C0B6-00653DC219BF}"/>
              </a:ext>
            </a:extLst>
          </p:cNvPr>
          <p:cNvSpPr/>
          <p:nvPr/>
        </p:nvSpPr>
        <p:spPr>
          <a:xfrm>
            <a:off x="548640" y="2019068"/>
            <a:ext cx="4564134" cy="868680"/>
          </a:xfrm>
          <a:prstGeom prst="rect">
            <a:avLst/>
          </a:prstGeom>
          <a:solidFill>
            <a:srgbClr val="26313A"/>
          </a:solidFill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  =  ½ (v × t)  +  k  +  d r  +  r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4F80A08E-5CFC-00C4-CD48-05D610B8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305550"/>
              </p:ext>
            </p:extLst>
          </p:nvPr>
        </p:nvGraphicFramePr>
        <p:xfrm>
          <a:off x="548640" y="3397045"/>
          <a:ext cx="4357810" cy="25786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สัญลักษณ์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ความเร็วเสียงในน้ำ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เวลาเดินทางไป-กลับ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ค่าคงที่เครื่องมือ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 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ระยะกินน้ำลึก (Draft) ของหัวส่ง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ค่าปรับแก้ระดับอ้างอิง (Tide / Stage Correction)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71948B-9DA0-7BD8-F602-72B30DE0EF54}"/>
              </a:ext>
            </a:extLst>
          </p:cNvPr>
          <p:cNvSpPr txBox="1"/>
          <p:nvPr/>
        </p:nvSpPr>
        <p:spPr>
          <a:xfrm>
            <a:off x="6095847" y="2453408"/>
            <a:ext cx="5556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ความเร็วเสียงในน้ำ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(Sound Velocity Profile, SVP) </a:t>
            </a: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แปรผันตามอุณหภูมิ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ความเค็ม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และความดัน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ความลึก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7054A-B8B7-28C0-CBB7-FD936040187C}"/>
              </a:ext>
            </a:extLst>
          </p:cNvPr>
          <p:cNvSpPr txBox="1"/>
          <p:nvPr/>
        </p:nvSpPr>
        <p:spPr>
          <a:xfrm>
            <a:off x="5753379" y="2079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 (Sound Velocity Profile - SVP)</a:t>
            </a:r>
            <a:endParaRPr lang="th-TH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3EC21C-31D8-866B-5598-D4C0A3C27A49}"/>
              </a:ext>
            </a:extLst>
          </p:cNvPr>
          <p:cNvCxnSpPr/>
          <p:nvPr/>
        </p:nvCxnSpPr>
        <p:spPr>
          <a:xfrm>
            <a:off x="5427406" y="1802258"/>
            <a:ext cx="0" cy="4637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DF28906E-F900-2BE3-C850-F40F8BAA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05396"/>
              </p:ext>
            </p:extLst>
          </p:nvPr>
        </p:nvGraphicFramePr>
        <p:xfrm>
          <a:off x="6095847" y="3757869"/>
          <a:ext cx="5337835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ปัจจัย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การเปลี่ยนแปลง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ความเร็วเสียงเปลี่ยน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อุณหภูมิ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°C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4.0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ความเค็ม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 ppt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1.4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ความลึก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เปลี่ยน 100 ม.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 1.7 ม./วินาที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0EEC25-4972-908C-925E-BF58BC7057D6}"/>
              </a:ext>
            </a:extLst>
          </p:cNvPr>
          <p:cNvSpPr txBox="1"/>
          <p:nvPr/>
        </p:nvSpPr>
        <p:spPr>
          <a:xfrm>
            <a:off x="5820697" y="3397045"/>
            <a:ext cx="5556887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7.1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ปัจจัยที่มีผลต่อความเร็วเสียงในน้ำ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Echo Sounder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Multibeam Echo Sounder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58" y="1554480"/>
            <a:ext cx="3862122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7.1 โครงสร้างหัวส่งสัญญาณ (Transducer)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4-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331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489981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7.2 ชุดเครื่องหยั่งความลึกและอุปกรณ์ประกอบ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7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เครื่องหยั่งความลึกแบบหลายลำคลื่น (Multibeam Echo Sounder - MBES)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19EE-F543-C48A-82CB-F48F864D75F9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Echo Sounder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Multibeam Echo Sounder (SBES &amp; MBES)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85B4B-9B33-951D-B88B-97DEB94D7277}"/>
              </a:ext>
            </a:extLst>
          </p:cNvPr>
          <p:cNvSpPr txBox="1"/>
          <p:nvPr/>
        </p:nvSpPr>
        <p:spPr>
          <a:xfrm>
            <a:off x="440944" y="1069256"/>
            <a:ext cx="5340578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เครื่องหยั่งความลึกแบบคลื่นเสียงความถี่เดียว/ลำคลื่นเดียว (</a:t>
            </a:r>
            <a:r>
              <a:rPr lang="en-US" sz="2200" b="1" dirty="0">
                <a:latin typeface="TH Sarabun New"/>
                <a:ea typeface="TH Sarabun New"/>
                <a:cs typeface="TH Sarabun New"/>
              </a:rPr>
              <a:t>Single-Beam Echo Sounder - SBES)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7939C8-EFEC-60B7-86F5-34672C75362A}"/>
              </a:ext>
            </a:extLst>
          </p:cNvPr>
          <p:cNvCxnSpPr>
            <a:cxnSpLocks/>
          </p:cNvCxnSpPr>
          <p:nvPr/>
        </p:nvCxnSpPr>
        <p:spPr>
          <a:xfrm>
            <a:off x="5938684" y="1435510"/>
            <a:ext cx="0" cy="4945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0A2F418B-315F-62E9-8D08-364049E0C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74743"/>
              </p:ext>
            </p:extLst>
          </p:nvPr>
        </p:nvGraphicFramePr>
        <p:xfrm>
          <a:off x="440944" y="2018080"/>
          <a:ext cx="5239817" cy="37362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ส่งคลื่นเสียงลงไปตรง ๆ เป็นลำคลื่นแคบเพียงลำเดียว ได้ข้อมูลความลึกเป็นจุดเดี่ยวต่อการส่ง 1 ครั้ง (Single point per ping)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ความถี่และการใช้งาน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มีทั้งแบบความถี่เดียวและความถี่คู่ (Dual Frequency) ความถี่สูงใช้หาผิวชั้นบนของท้องน้ำ ส่วนความถี่ต่ำทะลุชั้นตะกอนนุ่มใต้น้ำได้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ข้อดีและจุดประสงค์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อุปกรณ์ราคาถูก ติดตั้งง่าย เหมาะกับพื้นที่น้ำตื้น ลำน้ำขนาดเล็ก คลองชลประทาน งานสำรวจตรวจสอบจุด (Spot Checks) หรือพื้นที่จำกัดงบประมาณ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การวัดสอบเครื่องมือ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Bar Check / Calibration ที่ระดับความลึกต่าง ๆ และสภาวะน้ำใส/น้ำขุ่น เพื่อนำค่าวัดสอบไปปรับแก้ข้อมูลความลึกให้ถูกต้องยิ่งขึ้น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A4A0112-284D-B553-55EE-1CA9214B2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529693"/>
              </p:ext>
            </p:extLst>
          </p:nvPr>
        </p:nvGraphicFramePr>
        <p:xfrm>
          <a:off x="6179286" y="1801764"/>
          <a:ext cx="5554448" cy="4892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ลักษณะข้อมูล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ส่งคลื่นเสียงเป็นแถบพัดกระจายหลายลำคลื่นพร้อมกัน (Wide Swath / Fan-shaped) ครอบคลุมพื้นท้องน้ำ 100% (100% Bottom Ensonification Coverage) ได้ Point Cloud 3 มิติความละเอียดสูงระดับเซนติเมตร และข้อมูลความเข้มการสะท้อนกลับ (Backscatter) เพื่อจำแนกประเภทวัสดุพื้นท้องน้ำ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ระบบและเซนเซอร์ประกอบ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เครื่องรับสัญญาณ RTK GNSS (หาพิกัดราบ-สูง)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เซนเซอร์ IMU/INS (วัดการโคลงของเรือ: Pitch, Roll, Heave, Yaw)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อุปกรณ์วัดความเร็วเสียงในน้ำ (SVP/CTD)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การทดสอบและคาลิเบรต (Patch Test)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ทำก่อนการสำรวจ เพื่อแก้ความเบี่ยงเบนทางตำแหน่งและมุมของหัวส่งเทียบกับตัวเรือ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Roll Test: รังวัดบนพื้นท้องน้ำราบ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Pitch Test: รังวัดข้ามความลาดชัน/ภูมิประเทศขรุขระ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Yaw/Heading Test: รังวัดเส้นทางขนานเยื้องบนวัตถุเด่นใต้น้ำ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7.1 SBES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MBES 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4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2717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99081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7.3 รูปแบบลำคลื่นของ Echo Sounder แบบต่าง ๆ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5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931" y="1554480"/>
            <a:ext cx="5286936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5376672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7.4 แนวกวาดสำรวจ (Swath) ของ Multibeam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25FC30C-9AC6-9314-692A-D9F0F1B7B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14871"/>
              </p:ext>
            </p:extLst>
          </p:nvPr>
        </p:nvGraphicFramePr>
        <p:xfrm>
          <a:off x="548640" y="1602658"/>
          <a:ext cx="11091672" cy="45695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การวางแนวรังวัดภาคสนาม (Survey Line Planning)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กำหนดแนวตัดขวางลำน้ำ (Cross-section Lines) และแนวตัดตามยาว (Longitudinal Profile Lines) วางระยะห่างให้เหมาะกับขนาดและความซับซ้อนของลำน้ำ (เช่น แนวตัดขวางทุก 5 ม. และแนวตัดตามยาวทุก 25 ม. ในงานสำรวจคลอง)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7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การประมวลผลและกรองข้อมูลจุด (Data Processing &amp; Point Filtering)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ข้อมูลดิบมักมีสัญญาณรบกวน (Noise/Outliers) จากสิ่งมีชีวิตในน้ำ ฟองอากาศ หรือการสะท้อนของคลื่นเสียง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กรองแบบกึ่งอัตโนมัติ (เช่น ใน CloudCompare): แบ่งกลุ่มจุดตามสัณฐาน (Segmentation: Flat, Relief, Steep slope) → ตัวกรองสถิติ SOR (Statistical Outlier Removal) ขจัดจุดกระจัดกระจาย → CSF (Cloth Simulation Filter) แยกจุดพื้นท้องน้ำจริงออกจากจุดที่ไม่ใช่พื้นดิน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8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แบบจำลองภูมิประเทศใต้น้ำ (Digital Bathymetric Model, DBM)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นำจุดความลึกที่กรองแล้วมาสร้างแผนที่เส้นชั้นความลึกใต้น้ำ (Bathymetric Contours) แบบจำลองโครงข่ายสามเหลี่ยม (TIN) หรือแบบจำลองความลึกแรสเตอร์ (Raster DBM)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การสำรวจหน้าตัดลำน้ำและท้องน้ำ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i-006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59" cy="18748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56756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7.5 แบบจำลอง TIN ของท้องน้ำ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  <p:pic>
        <p:nvPicPr>
          <p:cNvPr id="5" name="Picture 4" descr="i-006-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554480"/>
            <a:ext cx="5394959" cy="1918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19" y="3499950"/>
            <a:ext cx="5394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7.6 แผนที่ระดับความลึกท้องน้ำ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อณุชา บุญลือ และคณะ (2565)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F46-5B93-33EB-0F72-5F67482F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CD2D2-0C02-2118-54E6-C6601C1AC769}"/>
              </a:ext>
            </a:extLst>
          </p:cNvPr>
          <p:cNvSpPr txBox="1"/>
          <p:nvPr/>
        </p:nvSpPr>
        <p:spPr>
          <a:xfrm>
            <a:off x="548640" y="156380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การเขียนรูปตัดและการคำนวณปริมาตร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Cross-Sections &amp; Volume Calculations)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B89EB-2EA3-83B7-0C1E-A4D74841EF45}"/>
              </a:ext>
            </a:extLst>
          </p:cNvPr>
          <p:cNvSpPr txBox="1"/>
          <p:nvPr/>
        </p:nvSpPr>
        <p:spPr>
          <a:xfrm>
            <a:off x="548640" y="273337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7.2 การสำรวจหน้าตัดลำน้ำและท้องน้ำ (River Cross-Section and Bathymetric Surveying)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C4AD09C-F85D-025A-5163-63CE9C219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38239"/>
              </p:ext>
            </p:extLst>
          </p:nvPr>
        </p:nvGraphicFramePr>
        <p:xfrm>
          <a:off x="628205" y="2223306"/>
          <a:ext cx="5467796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การเขียนรูปตัด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สกัดรูปตัดตามยาว (Longitudinal Profile) และรูปตัดตามขวาง (Cross-Section Profile) ตามแนวสเตชัน เพื่อการวางแผนและออกแบบทางวิศวกรรม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คำนวณปริมาตรน้ำ ปริมาตรความจุ หรือปริมาตรดินขุด-ดินถม (Cut/Fill Volume) ด้วยวิธีทางคณิตศาสตร์ ได้แก่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Composite Method (TIN Surface)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Average End Area Method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Prismoidal Method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607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7.3 การบูรณาการข้อมูลบนบกและใต้น้ำ (</a:t>
            </a:r>
            <a:r>
              <a:rPr lang="en-US" sz="3400" b="1" dirty="0">
                <a:solidFill>
                  <a:schemeClr val="accent1"/>
                </a:solidFill>
                <a:latin typeface="TH Sarabun New" panose="020B0500040200020003" pitchFamily="34" charset="-34"/>
                <a:ea typeface="TH Sarabun New"/>
                <a:cs typeface="TH Sarabun New" panose="020B0500040200020003" pitchFamily="34" charset="-34"/>
              </a:rPr>
              <a:t>Topographic &amp; Bathymetric Data Integration)</a:t>
            </a:r>
            <a:endParaRPr lang="th-TH" sz="3400" b="1" dirty="0">
              <a:solidFill>
                <a:schemeClr val="accent1"/>
              </a:solidFill>
              <a:latin typeface="TH Sarabun New" panose="020B0500040200020003" pitchFamily="34" charset="-34"/>
              <a:ea typeface="TH Sarabun New"/>
              <a:cs typeface="TH Sarabun New" panose="020B0500040200020003" pitchFamily="34" charset="-3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CD2FE3-5FA4-6FCC-821C-CADAB59A065C}"/>
              </a:ext>
            </a:extLst>
          </p:cNvPr>
          <p:cNvSpPr/>
          <p:nvPr/>
        </p:nvSpPr>
        <p:spPr>
          <a:xfrm>
            <a:off x="551383" y="1087023"/>
            <a:ext cx="7516292" cy="1325880"/>
          </a:xfrm>
          <a:prstGeom prst="rect">
            <a:avLst/>
          </a:prstGeom>
          <a:noFill/>
          <a:ln/>
        </p:spPr>
        <p:txBody>
          <a:bodyPr wrap="square" lIns="101600" tIns="203200" rIns="203200" bIns="101600" rtlCol="0" anchor="ctr"/>
          <a:lstStyle/>
          <a:p>
            <a:pPr marL="0" indent="0">
              <a:buNone/>
            </a:pP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Seamless Topo-Bathy Model 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รวมแบบจำลองความสูงภูมิประเทศบนบก (Topography / DEM) และแบบจำลองความลึกใต้น้ำ (Bathymetry / DBM) เข้าด้วยกันเป็นชุดข้อมูลเดียว เพื่อให้เห็นการเชื่อมต่อของชายฝั่ง ตลิ่ง และท้องน้ำอย่างไร้รอยต่อ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FB61ABF-445E-E498-12E1-8A7FC41F14C4}"/>
              </a:ext>
            </a:extLst>
          </p:cNvPr>
          <p:cNvSpPr/>
          <p:nvPr/>
        </p:nvSpPr>
        <p:spPr>
          <a:xfrm>
            <a:off x="646962" y="2245686"/>
            <a:ext cx="5960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7.2 การผสานเทคโนโลยีสำรวจ (Multi-Technology Integration)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3862DEB-7DC3-7BBD-7405-DABE252C0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35011"/>
              </p:ext>
            </p:extLst>
          </p:nvPr>
        </p:nvGraphicFramePr>
        <p:xfrm>
          <a:off x="548641" y="2729557"/>
          <a:ext cx="4575809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เทคโนโลยีที่ใช้รวบรวม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ข้อมูลบนบกและชายฝั่ง/น้ำตื้น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Photogrammetry, LiDAR บนบก/อากาศ หรือการรังวัดด้วย RTK GNSS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ข้อมูลใต้น้ำ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เครื่องหยั่งความลึก MBES, SBES หรือ Bathymetric LiDAR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 descr="i-004-000.png">
            <a:extLst>
              <a:ext uri="{FF2B5EF4-FFF2-40B4-BE49-F238E27FC236}">
                <a16:creationId xmlns:a16="http://schemas.microsoft.com/office/drawing/2014/main" id="{3B821B91-D129-B9BC-76F0-CA4EC998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87" y="2911581"/>
            <a:ext cx="3927431" cy="24858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1BED85-7A55-B24A-86D7-FB2DA00002C3}"/>
              </a:ext>
            </a:extLst>
          </p:cNvPr>
          <p:cNvSpPr txBox="1"/>
          <p:nvPr/>
        </p:nvSpPr>
        <p:spPr>
          <a:xfrm>
            <a:off x="4819902" y="5619579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7.9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โครงข่ายกริดแบบซ้อนระดับ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(Nested Grid)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จากฝั่งสู่ทะเลลึก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  <p:pic>
        <p:nvPicPr>
          <p:cNvPr id="15" name="Picture 14" descr="i-005-001.png">
            <a:extLst>
              <a:ext uri="{FF2B5EF4-FFF2-40B4-BE49-F238E27FC236}">
                <a16:creationId xmlns:a16="http://schemas.microsoft.com/office/drawing/2014/main" id="{107A4909-D37C-51E8-5269-6B54BD085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75" y="891198"/>
            <a:ext cx="4002154" cy="1938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764C3-6B96-B4BC-E90B-6ABE891F2F79}"/>
              </a:ext>
            </a:extLst>
          </p:cNvPr>
          <p:cNvSpPr txBox="1"/>
          <p:nvPr/>
        </p:nvSpPr>
        <p:spPr>
          <a:xfrm>
            <a:off x="9039225" y="2987663"/>
            <a:ext cx="2802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7.10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แนวคิด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Telescoping DEMs</a:t>
            </a: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Eakins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(2015)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7.4 การประยุกต์ใช้กับงานแม่น้ำ อ่างเก็บน้ำ และโครงการชลประทาน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F93DFAE-8BEC-F26C-29BA-F4A7CC9D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77706"/>
              </p:ext>
            </p:extLst>
          </p:nvPr>
        </p:nvGraphicFramePr>
        <p:xfrm>
          <a:off x="548640" y="1494503"/>
          <a:ext cx="11091672" cy="4910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การตกตะกอนในอ่างเก็บน้ำและการปรับปรุงเส้นโค้งความจุ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(AEC Curves)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สำรวจความลึกและสร้าง DEM ท้องอ่างเก็บน้ำ เพื่อปรับปรุงเส้นโค้งระดับ-พื้นที่-ความจุ (Elevation-Area-Capacity Curves) ให้เป็นปัจจุบัน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ประเมินอัตราการตกตะกอน (Siltation Rate) การสูญเสียความจุเก็บกักน้ำ และอายุการใช้งานของอ่าง (Life Expectancy) เพื่อวางแผนอนุรักษ์ดินและน้ำในพื้นที่ลุ่มน้ำรับน้ำ (Catchment Area Treatment)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งานวางแผน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ออกแบบ และขุดลอกในโครงการชลประทาน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สำรวจหน้าตัดลำน้ำและคลองส่งน้ำ/ระบายน้ำ (เช่น คลองบ้านนาลาว) เพื่อประเมินความกว้างและความลึก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คำนวณปริมาตรตะกอนทับถมและปริมาตรดินที่ต้องขุดลอก (Dredging Volume) สำหรับงานบำรุงรักษาคลองและทางน้ำชลประทาน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การจำลองอุทกวิทยาและการเตือนภัยน้ำท่วม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 DEM/DBM ที่บูรณาการแล้วไปวิเคราะห์ทิศทางการไหล (Flow Direction) การสะสมน้ำท่า (Flow Accumulation) ขอบเขตลุ่มน้ำย่อย (Watershed Delineation) และจุดออกของน้ำ (Pour-points)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ใช้เป็นข้อมูลนำเข้าแบบจำลองไฮดรอลิก เพื่อจำลองน้ำท่วมขัง (Flood Inundation Modeling) กำหนดเขตเสี่ยงภัยน้ำท่วม (Floodplains) และวางแผนบริหารน้ำในฤดูมรสุม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474680-68AC-B567-C13D-9D2293D52878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7.3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ตารางแสดงตัวอย่างการ</a:t>
            </a:r>
            <a:r>
              <a:rPr lang="th-TH" sz="2200" b="1" dirty="0">
                <a:latin typeface="TH Sarabun New"/>
                <a:ea typeface="TH Sarabun New"/>
                <a:cs typeface="TH Sarabun New"/>
              </a:rPr>
              <a:t>ประยุกต์ใช้กับงานแม่น้ำ อ่างเก็บน้ำ และโครงการชลประทาน</a:t>
            </a: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0485" y="1288026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DDB02-7102-34E3-9454-803059837BD2}"/>
              </a:ext>
            </a:extLst>
          </p:cNvPr>
          <p:cNvSpPr txBox="1"/>
          <p:nvPr/>
        </p:nvSpPr>
        <p:spPr>
          <a:xfrm>
            <a:off x="440485" y="3665458"/>
            <a:ext cx="1034353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A58359A-2E7C-4F7B-A2C1-3292EC9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494506"/>
              </p:ext>
            </p:extLst>
          </p:nvPr>
        </p:nvGraphicFramePr>
        <p:xfrm>
          <a:off x="814110" y="1458076"/>
          <a:ext cx="9136134" cy="3631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Morphological Filter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อาศัยเกณฑ์ความชันและความสูง สกัดและตัดจุดที่ไม่ใช่พื้นดินออกผ่านโครงสร้างกริด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2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Progressive TIN Densification (PTD)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สร้างโครงข่ายสามเหลี่ยมระดับหยาบจากจุดระดับต่ำสุด แล้วขยายการคำนวณคัดเลือกจุดพื้นดินเข้าสู่ TIN อย่างต่อเนื่องตามเกณฑ์มุมและความสูง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Cloth Simulation Filter (CSF)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จำลองการพลิก Point Cloud กลับหัวแล้วทิ้งผ้าเสมือนลงมาคลุม จุดที่ผ้าสัมผัสจะถูกระบุและคัดแยกเป็นพื้นดิน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Surface / Interpolation-based Filters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ใช้สมการพื้นผิวหรือ Thin Plate Spline (TPS) ประมาณค่าเพื่อคัดเลือกจุดพื้นดิน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852A78-07B8-2342-62E9-01B4CA256757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8.1 ตารางแสดงตัวอย่างอัลกอริทึมที่ใช้กรองสัญญาณรบกวน 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37C5C-703F-2E55-419A-68815DBD6807}"/>
              </a:ext>
            </a:extLst>
          </p:cNvPr>
          <p:cNvSpPr txBox="1"/>
          <p:nvPr/>
        </p:nvSpPr>
        <p:spPr>
          <a:xfrm>
            <a:off x="668289" y="5400065"/>
            <a:ext cx="1097476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มาตรฐานการจัดเก็บข้อมูล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673A9AD-8C0D-C16B-E511-D1108C835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1349"/>
              </p:ext>
            </p:extLst>
          </p:nvPr>
        </p:nvGraphicFramePr>
        <p:xfrm>
          <a:off x="548640" y="2063299"/>
          <a:ext cx="699270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ความหมาย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DSM (Digital Surface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แบบจำลองความสูงเชิงพื้นผิวที่รวมวัตถุและโครงสร้างทั้งหมดบนดิน (พื้นดิน + อาคาร + ต้นไม้)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DTM (Digital Terrain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แบบจำลองภูมิประเทศที่แสดงเฉพาะพื้นดินเปล่า (Bare-Earth) โดยขจัดสิ่งปลูกสร้าง ต้นไม้ และพืชพรรณออกทั้งหมดหลังผ่าน Ground Filtering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DEM (Digital Elevation Model)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นิยามกว้าง ๆ ของแบบจำลองความสูงเชิงตัวเลข ใช้หมายถึง DTM หรือ DSM ขึ้นอยู่กับบริบทการใช้งาน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887DD3-6313-9E98-4C67-DEC6D1F3889F}"/>
              </a:ext>
            </a:extLst>
          </p:cNvPr>
          <p:cNvSpPr txBox="1"/>
          <p:nvPr/>
        </p:nvSpPr>
        <p:spPr>
          <a:xfrm>
            <a:off x="548640" y="1163297"/>
            <a:ext cx="10148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73541"/>
            <a:ext cx="11094415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200" b="1" dirty="0">
                <a:latin typeface="TH Sarabun New"/>
                <a:ea typeface="TH Sarabun New"/>
                <a:cs typeface="TH Sarabun New"/>
              </a:rPr>
              <a:t>ขั้นตอนกระบวนการแปลงจุดเป็นแบบจำลองความสูง (Gridding / Interpolation)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90B5F7D-EA39-4205-77F1-5FEC9A6EB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87050"/>
              </p:ext>
            </p:extLst>
          </p:nvPr>
        </p:nvGraphicFramePr>
        <p:xfrm>
          <a:off x="676459" y="2229478"/>
          <a:ext cx="9234458" cy="41447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คัดเลือกจุด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นำเฉพาะจุดที่จำแนกเป็น Ground (Class 2) มาประมาณค่าเชิงพื้นที่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9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สร้าง Regular Grid (Raster)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ประมาณค่าเชิงพื้นที่จากจุด Ground เพื่อสร้างเป็นแบบจำลองความสูงแบบกริด (Raster)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5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อัลกอริทึมประมาณค่า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Points2Grid (Local Binning): คัดเลือกค่าความสูงต่ำสุดในแต่ละเซลล์กริด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Inverse Distance Weighting (IDW)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Kriging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Spline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Triangulation (TIN to Raster)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AE0470-65E6-D5CB-D247-15AB807A3BE1}"/>
              </a:ext>
            </a:extLst>
          </p:cNvPr>
          <p:cNvSpPr txBox="1"/>
          <p:nvPr/>
        </p:nvSpPr>
        <p:spPr>
          <a:xfrm>
            <a:off x="548640" y="33889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 (ต่อ)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BE944-E778-24D3-49FC-46BCACD6BD76}"/>
              </a:ext>
            </a:extLst>
          </p:cNvPr>
          <p:cNvSpPr txBox="1"/>
          <p:nvPr/>
        </p:nvSpPr>
        <p:spPr>
          <a:xfrm>
            <a:off x="943896" y="1004575"/>
            <a:ext cx="10019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แบบจำลองความสูงเชิงตัวเลขที่ใช้ในงานสำรวจแบ่งเป็น 3 ประเภทหลัก คือ DSM, DTM และ DEM ซึ่งต่างกันที่ว่าแสดงเฉพาะพื้นดินหรือรวมวัตถุบนดินด้วย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8.2 </a:t>
            </a:r>
            <a:r>
              <a:rPr sz="3000" b="1" i="0" dirty="0" err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นิยามและประเภทของแบบจำลองความสูง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 (</a:t>
            </a:r>
            <a:r>
              <a:rPr lang="th-TH" sz="30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sz="3000" b="1" i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pic>
        <p:nvPicPr>
          <p:cNvPr id="3" name="Picture 2" descr="esri_d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029" y="1554480"/>
            <a:ext cx="6327461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766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 8.1 DSM เส้นชั้นความสูง และ DTM ที่สร้างจาก LiDAR และจากภาพถ่าย (ArcGIS Pro)</a:t>
            </a:r>
          </a:p>
          <a:p>
            <a:pPr algn="ctr"/>
            <a:r>
              <a:rPr sz="1800" b="0" i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ที่มา: Esri (2025)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8.3 การสร้าง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Contour 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Model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E47EF-F0C4-1E55-BC02-56CE119AB2CE}"/>
              </a:ext>
            </a:extLst>
          </p:cNvPr>
          <p:cNvSpPr txBox="1"/>
          <p:nvPr/>
        </p:nvSpPr>
        <p:spPr>
          <a:xfrm>
            <a:off x="351994" y="1230896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โครงสร้างการแสดงผลภูมิประเทศ (Terrain Structures)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A13ED-8013-1226-64AE-CC45D48ED96A}"/>
              </a:ext>
            </a:extLst>
          </p:cNvPr>
          <p:cNvSpPr txBox="1"/>
          <p:nvPr/>
        </p:nvSpPr>
        <p:spPr>
          <a:xfrm>
            <a:off x="6012427" y="1230895"/>
            <a:ext cx="5311388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การลากเส้นชั้นความสูง (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Contour Generation)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991089-3CFD-1316-64E7-7D2A20D78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67050"/>
              </p:ext>
            </p:extLst>
          </p:nvPr>
        </p:nvGraphicFramePr>
        <p:xfrm>
          <a:off x="232143" y="2060945"/>
          <a:ext cx="5116605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โครงสร้าง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Regular Grid / Raster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แบ่งพื้นที่เป็นเซลล์ตารางสี่เหลี่ยมขนาดเท่ากัน จัดเก็บค่าความสูงในแต่ละเซลล์ โครงสร้างเรียบง่ายและประมวลผลได้รวดเร็ว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TIN (Triangulated Irregular Network)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เชื่อมโยงจุดความสูงสุ่มเป็นโครงข่ายสามเหลี่ยมที่ไม่ซ้อนทับกันตามหลัก Delaunay Triangulation โดยปรับความหนาแน่นตามความขรุขระของพื้นที่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CA5EDD6-AEB0-94ED-3C83-8EC409C35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386136"/>
              </p:ext>
            </p:extLst>
          </p:nvPr>
        </p:nvGraphicFramePr>
        <p:xfrm>
          <a:off x="6095847" y="2044538"/>
          <a:ext cx="5471650" cy="2714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1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เส้นชั้นความสูง (Contour)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ลากเส้นเชื่อมต่อจุดที่มีระดับความสูงเท่ากัน จากการประมาณค่าบนโครงสร้าง TIN หรือ Grid/Raster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73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แนวเส้นบังคับ (Breaklines)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ป้อนแนวเส้น Breaklines (เช่น ขอบถนน คันดิน สันเขา หรือลำน้ำ) เพื่อบังคับไม่ให้โครงข่ายสามเหลี่ยมหรือเส้นชั้นความสูงลากข้ามแนวโครงสร้างจริงตามธรรมชาติ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438B14-A5E8-5677-7A59-63E50EB73415}"/>
              </a:ext>
            </a:extLst>
          </p:cNvPr>
          <p:cNvCxnSpPr>
            <a:cxnSpLocks/>
          </p:cNvCxnSpPr>
          <p:nvPr/>
        </p:nvCxnSpPr>
        <p:spPr>
          <a:xfrm>
            <a:off x="5781368" y="1101213"/>
            <a:ext cx="0" cy="534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D9C041A-6F44-6EFD-9901-ED4E2B536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8998"/>
              </p:ext>
            </p:extLst>
          </p:nvPr>
        </p:nvGraphicFramePr>
        <p:xfrm>
          <a:off x="548640" y="1703565"/>
          <a:ext cx="11091672" cy="4101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การรวบรวมข้อมูลภาคสนาม (Field Data Collection)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รวบรวมจากเครื่องรับสัญญาณ GPS/GNSS และการรังวัดพิกัดความสูง ใช้ร่วมกับแอปจัดการข้อมูลสนาม เช่น ArcGIS Field Maps เพื่อจัดเก็บตำแหน่งจุดสำรวจ (Topographic Points)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การบันทึกตำแหน่งและค่าคุณลักษณะ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บันทึกพิกัด (x, y) ความสูง (z) และรหัสจุดสำรวจ (Point IDs) นำเข้า GIS เป็นฟีเจอร์เวกเตอร์ (Feature Classes) หรือประมวลผลเป็นแบบจำลองพื้นผิวต่อเนื่อง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เรขาคณิตสำรวจ (COGO – Coordinate Geometry)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คำนวณระยะทางและทิศทาง (Distance and Bearing) ระหว่างจุดพิกัดสำรวจ ช่วยกำหนดขอบเขตทางกฎหมาย (Legal Boundaries) และสร้างคำอธิบายแนวเขตที่ถูกต้องสูง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การนำข้อมูลสำรวจไปประยุกต์ใช้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เชื่อมข้อมูลจุดสำรวจความแม่นยำสูง (Mass Points) กับฐานข้อมูล GIS เพื่อจัดเก็บ สืบค้น และคำนวณเรขาคณิตอย่างมีประสิทธิภาพ รองรับงานออกแบบโยธา การบริหารโครงสร้างพื้นฐาน และงานคูคลองหรือลุ่มน้ำ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C4545A-0142-295F-60FF-BB9E8464FE06}"/>
              </a:ext>
            </a:extLst>
          </p:cNvPr>
          <p:cNvSpPr txBox="1"/>
          <p:nvPr/>
        </p:nvSpPr>
        <p:spPr>
          <a:xfrm>
            <a:off x="548639" y="1053351"/>
            <a:ext cx="11091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ข้อมูลสำรวจภาคสนามจากเครื่องรับ GNSS และการรังวัดพิกัดความสูง ถูกนำเข้าสู่ระบบ GIS เพื่อจัดเก็บ ประมวลผล และต่อยอดสู่งานวิเคราะห์ โดยมี 4 ประเด็นหลักดังนี้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E349023-1CAE-AE8B-FB8D-67ED247E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16291"/>
              </p:ext>
            </p:extLst>
          </p:nvPr>
        </p:nvGraphicFramePr>
        <p:xfrm>
          <a:off x="551383" y="1532849"/>
          <a:ext cx="11091672" cy="4480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00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ความลาดชัน (Slope)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อัตราการเปลี่ยนแปลงความสูงต่อระยะทางราบ แสดงเป็นองศา (0–90) หรือเปอร์เซ็นต์ ใช้ประเมินความเสี่ยงและเลือกพื้นที่เหมาะสม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ทิศทางความลาดชัน (Aspect)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ทิศที่ความลาดหันไป (0–360 องศาตามเข็มนาฬิกาจากทิศเหนือ) สำคัญต่อการรับรังสีอาทิตย์ ลม ปริมาณฝน และสภาพจุลภาคทางภูมิอากาศ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การจำลองเงาแสง (Hillshade)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คำนวณการส่องสว่างตามมุมสูงและทิศทางของดวงอาทิตย์ เพื่อสร้างภาพจำลองเงาภูมิประเทศ 3 มิติที่สมจริง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การวิเคราะห์การมองเห็น (Viewshed / Line-of-Sight)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วิเคราะห์แนวสายตาจากจุดสังเกตไปยังทุกเซลล์บนพื้นผิว เพื่อระบุพื้นที่ที่มองเห็นและถูกบดบัง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ภาพตัดตามแนว (Vertical Profiles)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สกัดค่าความสูงตามแนวเส้นทาง เพื่อประเมินหน้าตัดภูมิประเทศสำหรับงานตัดถนนและระบบสาธารณูปโภค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196342-D814-846A-4B70-276FE4BC95D3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3D0D-6F6E-770B-28D8-A96520CE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5D6AD-59C7-CC07-B49C-DFA5B8698D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9.2 การวิเคราะห์ข้อมูลภูมิประเทศ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Terrain Data Analysis)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FADB2-3384-3E13-E592-3F05AD3157D9}"/>
              </a:ext>
            </a:extLst>
          </p:cNvPr>
          <p:cNvSpPr txBox="1"/>
          <p:nvPr/>
        </p:nvSpPr>
        <p:spPr>
          <a:xfrm>
            <a:off x="548640" y="1007766"/>
            <a:ext cx="9401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9.1 ตารางแสดงการวิเคราะห์ข้อมูลภูมิประเทศ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Terrain Data Analysis)</a:t>
            </a:r>
            <a:r>
              <a:rPr lang="en-US" sz="2200" b="1" dirty="0">
                <a:latin typeface="TH Sarabun New"/>
                <a:cs typeface="TH Sarabun New"/>
              </a:rPr>
              <a:t> (</a:t>
            </a:r>
            <a:r>
              <a:rPr lang="th-TH" sz="2200" b="1" dirty="0">
                <a:latin typeface="TH Sarabun New"/>
                <a:cs typeface="TH Sarabun New"/>
              </a:rPr>
              <a:t>ต่อ</a:t>
            </a:r>
            <a:r>
              <a:rPr lang="en-US" sz="2200" b="1" dirty="0">
                <a:latin typeface="TH Sarabun New"/>
                <a:cs typeface="TH Sarabun New"/>
              </a:rPr>
              <a:t>)</a:t>
            </a:r>
            <a:endParaRPr lang="th-TH" sz="2200" b="1" dirty="0">
              <a:latin typeface="TH Sarabun New"/>
              <a:ea typeface="TH Sarabun New"/>
              <a:cs typeface="TH Sarabun New"/>
            </a:endParaRPr>
          </a:p>
          <a:p>
            <a:pPr marL="0" indent="0">
              <a:buNone/>
            </a:pP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139ABA4-0DC5-453A-E086-286BFE73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986583"/>
              </p:ext>
            </p:extLst>
          </p:nvPr>
        </p:nvGraphicFramePr>
        <p:xfrm>
          <a:off x="551383" y="1582506"/>
          <a:ext cx="11091672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3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การวิเคราะห์ทางอุทกวิทยา (Hydrological Analysis)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 DEM จำลองทิศทางการไหลของน้ำ (Flow Direction) การสะสมตัวของน้ำท่า (Flow Accumulation) การขีดขอบเขตลุ่มน้ำ (Watershed Delineation) และจุดออกของน้ำ (Pour-points) เพื่อคาดการณ์น้ำท่วมและบริหารจัดการน้ำ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การคำนวณปริมาตร (Volume Calculations)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คำนวณปริมาตรงานดินขุด-ดินถม (Cut and Fill) ในงานวิศวกรรม หรือประเมินความจุของอ่างเก็บน้ำ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44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6786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1" dirty="0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BD7EA91-38A0-D261-AAC7-59EC4DFA4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54688"/>
              </p:ext>
            </p:extLst>
          </p:nvPr>
        </p:nvGraphicFramePr>
        <p:xfrm>
          <a:off x="460150" y="3167954"/>
          <a:ext cx="11091672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วิธีการ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ข้อสังเกต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Vector Overlay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ดำเนินการผ่านคำสั่งเรขาคณิต เช่น Union (รวมพื้นที่) Intersection (ตัดเอาส่วนร่วม) และ Difference (หาผลต่าง)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ประมวลผลซับซ้อนสูง อาจเกิดโพลีกอนคลาดเคลื่อนขนาดเล็ก (Sliver Polygons) จากความไม่ตรงกันของการดิจิไทซ์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Raster Overlay &amp; Map Algebra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ประมวลผลแบบ Cell-by-cell บนโครงสร้างแรสเตอร์ ด้วยตัวดำเนินการทางคณิตศาสตร์ ตรรกศาสตร์ (Boolean: AND, OR, NOT) และฟังก์ชันท้องถิ่น (Local Functions)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ประมวลผลเร็วบนโครงสร้างตาราง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750E52-A98C-AB2C-99E1-DAF74921B977}"/>
              </a:ext>
            </a:extLst>
          </p:cNvPr>
          <p:cNvSpPr txBox="1"/>
          <p:nvPr/>
        </p:nvSpPr>
        <p:spPr>
          <a:xfrm>
            <a:off x="460150" y="2073140"/>
            <a:ext cx="10807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การซ้อนทับข้อมูลทำได้ 2 แบบตามโครงสร้างข้อมูล คือ Vector Overlay ที่ทำงานกับขอบเขตของโพลีกอน และ Raster Overlay ที่คำนวณทีละเซลล์ ทั้งสองแบบให้ผลลัพธ์และข้อควรระวังต่างกัน ตารางด้านล่างนี้เปรียบเทียบวิธีการและข้อสังเกตของแต่ละแบบ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D4FF4-D759-18D6-2160-E34AB1479BD1}"/>
              </a:ext>
            </a:extLst>
          </p:cNvPr>
          <p:cNvSpPr txBox="1"/>
          <p:nvPr/>
        </p:nvSpPr>
        <p:spPr>
          <a:xfrm>
            <a:off x="460150" y="2756368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9.2 ตารางเปรียบเทียบวิธีการซ้อนทับข้อมูลทั้ง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Vector Overlay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กับ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Raster Overlay 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123" y="1024729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การตัดสินใจแบบหลายหลักเกณฑ์เชิงพื้นที่ (GIS-MCDA / AHP)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A59CA-2F08-759F-38EC-585E0B481476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9.3 การซ้อนทับข้อมูลหลายประเภท (Overlay Analysis of Multiple Data Types)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FD2B1-6CDD-4B8F-6F5D-7484F00B7B09}"/>
              </a:ext>
            </a:extLst>
          </p:cNvPr>
          <p:cNvSpPr txBox="1"/>
          <p:nvPr/>
        </p:nvSpPr>
        <p:spPr>
          <a:xfrm>
            <a:off x="696123" y="1480238"/>
            <a:ext cx="1075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ชั้นข้อมูลแต่ละชั้นมีความสำคัญต่อการตัดสินใจไม่เท่ากัน GIS-MCDA จึงใช้ AHP กำหนดน้ำหนักความสำคัญของแต่ละปัจจัย แล้วรวมผลด้วยวิธี Weighted Overlay หรือ WLC เพื่อประเมินความเหมาะสมของพื้นที่ ตารางด้านล่างนี้สรุปเทคนิคทั้งสองและตัวอย่างการประยุกต์ใช้ 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21E80F1C-0A5F-0E79-4CFD-97A3EE68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02755"/>
              </p:ext>
            </p:extLst>
          </p:nvPr>
        </p:nvGraphicFramePr>
        <p:xfrm>
          <a:off x="696123" y="2706090"/>
          <a:ext cx="10303430" cy="3447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5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เทคนิค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AHP (Analytic Hierarchy Process)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ใช้เทคนิคของ Saaty เปรียบเทียบความสำคัญทีละคู่ (Pairwise Comparison Matrix, PCM) บนสเกล 1–9 ร่วมกับความเห็นผู้เชี่ยวชาญ เพื่อกำหนดน้ำหนักความสำคัญ (Normalized Weights) ให้แต่ละชั้นปัจจัย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Weighted Overlay / Weighted Linear Combination (WLC)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แปลงชั้นข้อมูลเป็นแรสเตอร์ จัดลำดับคะแนนคุณลักษณะ (Feature Rank rᵢ) และคูณด้วยน้ำหนักของปัจจัย (Wᵢ) แล้วซ้อนทับกัน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ตัวอย่างการประยุกต์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ประเมินพื้นที่ศักยภาพน้ำใต้ดิน (Groundwater Potential Zones) โดยรวมปัจจัยน้ำฝน ธรณีสัณฐาน ธรณีวิทยา ดิน ความลาดชัน ความหนาแน่นลำน้ำ ความหนาแน่นรอยแตก และการใช้ประโยชน์ที่ดิน เข้าด้วยกันอย่างมีระบบ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3B7FBB-5FA5-9562-9A30-2E1AC5CDEFB0}"/>
              </a:ext>
            </a:extLst>
          </p:cNvPr>
          <p:cNvSpPr txBox="1"/>
          <p:nvPr/>
        </p:nvSpPr>
        <p:spPr>
          <a:xfrm>
            <a:off x="548640" y="2325481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9.3 ตารางแสดงรายละเอียดการตัดสินใจแบบหลายหลักเกณฑ์เชิงพื้นที่ 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(GIS-MCDA / AHP)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BEFE-B3D3-A085-2B37-470AE93583BF}"/>
              </a:ext>
            </a:extLst>
          </p:cNvPr>
          <p:cNvSpPr txBox="1"/>
          <p:nvPr/>
        </p:nvSpPr>
        <p:spPr>
          <a:xfrm>
            <a:off x="902602" y="1342459"/>
            <a:ext cx="9488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หลังวิเคราะห์ข้อมูลเชิงพื้นที่แล้ว ต่อไปคือการนำเสนอผลเป็นแผนที่ และการจัดเก็บข้อมูลให้เป็นระบบเพื่อใช้งานต่อได้ หัวข้อนี้แบ่งเป็น 2 ส่วน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ว่าด้วยการแสดงผลเชิงแผนที่ และการระบุตำแหน่งจากที่อยู่หรือรหัสไปรษณีย์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ว่าด้วยการจัดเก็บและบริหารข้อมูลเชิงพื้นที่ รวมถึงการใช้งานร่วมกันของผู้ใช้หลายคน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E784-1920-EF81-70D3-55C87B30BF25}"/>
              </a:ext>
            </a:extLst>
          </p:cNvPr>
          <p:cNvSpPr txBox="1"/>
          <p:nvPr/>
        </p:nvSpPr>
        <p:spPr>
          <a:xfrm>
            <a:off x="548640" y="23747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การจัดทำแผนที่และการแปลงตำแหน่ง (Mapping &amp; Locators)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F0603-4408-F000-7DCC-EB190BF2B410}"/>
              </a:ext>
            </a:extLst>
          </p:cNvPr>
          <p:cNvSpPr txBox="1"/>
          <p:nvPr/>
        </p:nvSpPr>
        <p:spPr>
          <a:xfrm>
            <a:off x="618547" y="2778178"/>
            <a:ext cx="10431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เมื่อวิเคราะห์ข้อมูลเสร็จแล้ว ต้องนำเสนอผลเป็นแผนที่ที่อ่านง่าย และต้องระบุตำแหน่งจากที่อยู่หรือรหัสไปรษณีย์ให้เป็นพิกัดได้ ตารางนี้อธิบายการแสดงผลเชิงแผนที่ (Cartography) และเครื่องมือระบุตำแหน่ง (Locators &amp; Geocoding)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241AE706-553B-A249-2A76-12D4373D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62613"/>
              </p:ext>
            </p:extLst>
          </p:nvPr>
        </p:nvGraphicFramePr>
        <p:xfrm>
          <a:off x="618547" y="3552078"/>
          <a:ext cx="11091672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การแสดงผลเชิงการทำแผนที่ (Cartography)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ใช้สัญลักษณ์เฉพาะเรื่อง (Thematic Symbols) ลำดับชั้นการวาด (Drawing Order) ค่าความโปร่งแสง และการสร้างเส้นชั้นความสูง (Contours) เพื่อสื่อสารผลการวิเคราะห์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เครื่องมือระบุตำแหน่ง (Locators &amp; Geocoding)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แปลงข้อมูลตำแหน่งที่ไม่ใช่แผนที่ให้เป็นฟีเจอร์เชิงพื้นที่ เช่น พิกัด (x, y) ที่อยู่ (Street Addresses) รหัสไปรษณีย์ (Postal Codes) และตำแหน่งตามระยะทางบนเส้นทาง (Route Measures / Mileposts)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C7113-D965-684F-B963-1DA42C50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307F-7909-213A-7014-14AD7675BA50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06C6A-A664-06A9-D906-CB465E70213E}"/>
              </a:ext>
            </a:extLst>
          </p:cNvPr>
          <p:cNvSpPr txBox="1"/>
          <p:nvPr/>
        </p:nvSpPr>
        <p:spPr>
          <a:xfrm>
            <a:off x="548640" y="139147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endParaRPr lang="th-TH" sz="22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C9E22-BEFA-A0B7-4246-C27542DC2785}"/>
              </a:ext>
            </a:extLst>
          </p:cNvPr>
          <p:cNvSpPr txBox="1"/>
          <p:nvPr/>
        </p:nvSpPr>
        <p:spPr>
          <a:xfrm>
            <a:off x="618547" y="1813851"/>
            <a:ext cx="10431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	เมื่อข้อมูลเชิงพื้นที่มีปริมาณมากขึ้นและมีผู้ใช้หลายคน การเก็บเป็นไฟล์ธรรมดาอย่าง Shapefile จะมีข้อจำกัด จึงต้องใช้ฐานข้อมูลเชิงพื้นที่ ตารางนี้เริ่มจากข้อจำกัดของระบบไฟล์เดิม ต่อด้วยความสามารถของฐานข้อมูลเชิงพื้นที่ ได้แก่ ชนิดข้อมูล การทำดัชนี และฟังก์ชัน ส่วนสไลด์ถัดไปว่าด้วย Enterprise Geodatabase ที่รองรับผู้ใช้หลายคนพร้อมกัน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11F5EE2-F082-715F-217E-E42ED6C37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83291"/>
              </p:ext>
            </p:extLst>
          </p:nvPr>
        </p:nvGraphicFramePr>
        <p:xfrm>
          <a:off x="618547" y="3335103"/>
          <a:ext cx="11091672" cy="324857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6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ข้อจำกัดของระบบแฟ้มข้อมูลดั้งเดิม (Flat Files / Coverages / Shapefiles)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ไม่รองรับการแก้ไขพร้อมกันหลายผู้ใช้ (No Concurrent Multi-user Editing) ขาดการจัดการผ่าน SQL โดยตรง และมีข้อจำกัดด้านขนาดไฟล์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Data Types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เพิ่มประเภทข้อมูลรูปทรงทางภูมิศาสตร์ เช่น Point, Line, Polygon, Multi-points/polygons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Indexing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ดรรชนีเชิงพื้นที่หลายมิติ เช่น R-Tree และ Quadtree ที่ใช้กล่องขอบเขตล้อมรอบ (Bounding Box / MBR) สืบค้นพื้นที่ทับซ้อน แทน B-Tree แบบเดิมที่จัดลำดับข้อมูล 2 มิติไม่ได้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Spatial Functions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ฟังก์ชันเรขาคณิตตามมาตรฐาน OGC/SFSQL ประมวลผลด้วย SQL แบ่งเป็น Conversion, Management, Retrieval, Comparison (เช่น ST_Intersects, ST_Contains) และ Generation (เช่น ST_Buffer, ST_Union)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AADD3B-02E3-1377-C383-DE708DA30648}"/>
              </a:ext>
            </a:extLst>
          </p:cNvPr>
          <p:cNvSpPr txBox="1"/>
          <p:nvPr/>
        </p:nvSpPr>
        <p:spPr>
          <a:xfrm>
            <a:off x="548640" y="2897719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00761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BA7A-8F44-554C-E2B5-A4108C12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31002B-940C-C15A-C812-168D2E55410D}"/>
              </a:ext>
            </a:extLst>
          </p:cNvPr>
          <p:cNvSpPr txBox="1"/>
          <p:nvPr/>
        </p:nvSpPr>
        <p:spPr>
          <a:xfrm>
            <a:off x="548640" y="274320"/>
            <a:ext cx="11161579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9.4 การจัดทำแผนที่และฐานข้อมูลเชิงพื้นที่ (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Mapping and Spatial Database Management)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F0C32-BB83-891D-1EA0-9A0863859DDC}"/>
              </a:ext>
            </a:extLst>
          </p:cNvPr>
          <p:cNvSpPr txBox="1"/>
          <p:nvPr/>
        </p:nvSpPr>
        <p:spPr>
          <a:xfrm>
            <a:off x="450317" y="1531036"/>
            <a:ext cx="94016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9.4 ตารางแสดงรายละเอียดสถาปัตยกรรมฐานข้อมูลเชิงพื้นที่ (</a:t>
            </a:r>
            <a:r>
              <a:rPr lang="en-US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Spatial Database / Geodatabase)</a:t>
            </a:r>
            <a:r>
              <a:rPr lang="th-TH" sz="2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(ต่อ)</a:t>
            </a:r>
            <a:endParaRPr lang="en-US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5905BF-1652-E051-6D79-48F7829A5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47855"/>
              </p:ext>
            </p:extLst>
          </p:nvPr>
        </p:nvGraphicFramePr>
        <p:xfrm>
          <a:off x="450317" y="1967227"/>
          <a:ext cx="11091672" cy="22722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1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ฐานข้อมูลที่ใช้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ประยุกต์ใช้ฐานข้อมูลเชิงสัมพันธ์ (RDBMS) เช่น PostgreSQL/PostGIS, Oracle หรือ SQL Server ร่วมกับ ArcSDE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การจัดการหลายผู้ใช้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รองรับระบบจัดการหลายเวอร์ชัน (Multi-user Versioning / Long Transactions) ให้ผู้ใช้หลายคนเข้าถึง จัดการโทโพโลยี (Topology) และแก้ไขข้อมูลเชิงพื้นที่พร้อมกันได้ โดยข้อมูลไม่สูญหายหรือขัดแย้งกัน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317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10.1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3D Terrain Model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แบบจำลองภูมิประเทศ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36898"/>
            <a:ext cx="11094415" cy="12557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en-US" sz="2600" b="0" dirty="0">
                <a:latin typeface="TH Sarabun New"/>
                <a:ea typeface="TH Sarabun New"/>
                <a:cs typeface="TH Sarabun New"/>
              </a:rPr>
              <a:t>3D Terrain Model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คือการแสดงภูมิประเทศเป็นภาพสามมิติ โดยสร้างจากแบบจำลองความสูง (ได้แก่ </a:t>
            </a:r>
            <a:r>
              <a:rPr lang="en-US" sz="2600" b="0" dirty="0">
                <a:latin typeface="TH Sarabun New"/>
                <a:ea typeface="TH Sarabun New"/>
                <a:cs typeface="TH Sarabun New"/>
              </a:rPr>
              <a:t>DSM, DTM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2600" b="0" dirty="0">
                <a:latin typeface="TH Sarabun New"/>
                <a:ea typeface="TH Sarabun New"/>
                <a:cs typeface="TH Sarabun New"/>
              </a:rPr>
              <a:t>DEM)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ซึ่งเก็บค่าความสูงในโครงสร้างข้อมูลแบบ </a:t>
            </a:r>
            <a:r>
              <a:rPr lang="en-US" sz="2600" b="0" dirty="0">
                <a:latin typeface="TH Sarabun New"/>
                <a:ea typeface="TH Sarabun New"/>
                <a:cs typeface="TH Sarabun New"/>
              </a:rPr>
              <a:t>Raster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หรือ </a:t>
            </a:r>
            <a:r>
              <a:rPr lang="en-US" sz="2600" b="0" dirty="0">
                <a:latin typeface="TH Sarabun New"/>
                <a:ea typeface="TH Sarabun New"/>
                <a:cs typeface="TH Sarabun New"/>
              </a:rPr>
              <a:t>TIN </a:t>
            </a:r>
            <a:r>
              <a:rPr lang="th-TH" sz="2600" b="0" dirty="0">
                <a:latin typeface="TH Sarabun New"/>
                <a:ea typeface="TH Sarabun New"/>
                <a:cs typeface="TH Sarabun New"/>
              </a:rPr>
              <a:t>ทำให้เห็นรูปร่างของพื้นที่ทั้งความสูง ความลาดชัน และลักษณะผิวได้ใกล้เคียงสภาพจริงมากกว่าแผนที่สองมิติ แบบจำลองนี้จึงใช้นำไปประยุกต์ได้หลายงานดังนี้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7A6F2-AC69-448C-F166-7E38C30C7B4A}"/>
              </a:ext>
            </a:extLst>
          </p:cNvPr>
          <p:cNvSpPr txBox="1"/>
          <p:nvPr/>
        </p:nvSpPr>
        <p:spPr>
          <a:xfrm>
            <a:off x="869016" y="2580271"/>
            <a:ext cx="1065438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</a:t>
            </a:r>
          </a:p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81AD3-71BD-A38F-F27C-9BDA7E02B05B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53F7B-1D90-E2E8-01CE-DC8404C33DF6}"/>
              </a:ext>
            </a:extLst>
          </p:cNvPr>
          <p:cNvSpPr txBox="1"/>
          <p:nvPr/>
        </p:nvSpPr>
        <p:spPr>
          <a:xfrm>
            <a:off x="662540" y="1174530"/>
            <a:ext cx="106937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กลุ่มจุดสามมิติ (3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 Point Cloud)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คือชุดข้อมูลที่ประกอบด้วยจุดจำนวนหลักล้านถึงพันล้านจุด แต่ละจุดบันทึกพิกัด (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X, Y, Z)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ของพื้นผิววัตถุหรือภูมิประเทศ พร้อมค่าความเข้มสัญญาณสะท้อน (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Intensity)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และค่าสี (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RGB)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ได้จากเทคโนโลยี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ทั้งการสแกนด้วยเลเซอร์และการประมวลผลภาพถ่าย จึงใช้เป็นข้อมูลอ้างอิงเชิงเมตริกสำหรับตรวจสอบคุณภาพงานก่อสร้าง สร้างแบบจำลอง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Scan-to-BIM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และตรวจวัดการเปลี่ยนรูปของโครงสร้าง ข้อมูลเหล่านี้ได้จากกลุ่มเทคโนโลยี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ซึ่งเก็บข้อมูลสภาพจริงเป็นดิจิทัล โดยมีเทคโนโลยีหลักดังนี้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09A71759-D08A-0F97-34E6-809AC642D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38270"/>
              </p:ext>
            </p:extLst>
          </p:nvPr>
        </p:nvGraphicFramePr>
        <p:xfrm>
          <a:off x="551382" y="3308894"/>
          <a:ext cx="5013676" cy="3090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9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เทคโนโลยี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ลักษณะ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Terrestrial Laser Scanning (TLS)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สแกนเลเซอร์จากภาคพื้นดิน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/ 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สแกนเลเซอร์จากอากาศยานหรือโดรน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SLAM Mobile Mapping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สแกนแบบเคลื่อนที่ ทั้งแบบแบกเป้ ยานพาหนะ หรืออุปกรณ์มือถือ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ผ่านกระบวนการจับคู่จุดภาพหนาแน่น (Dense Image Matching / MVS)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677E1E-47ED-2923-A644-BB04A876C50E}"/>
              </a:ext>
            </a:extLst>
          </p:cNvPr>
          <p:cNvSpPr txBox="1"/>
          <p:nvPr/>
        </p:nvSpPr>
        <p:spPr>
          <a:xfrm>
            <a:off x="384234" y="2804140"/>
            <a:ext cx="5544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10.1 ตารางแสดงเทคโนโลยี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และการสร้างข้อมูล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4FD50-E3C3-C5C0-9EBB-DAC2B2A1B691}"/>
              </a:ext>
            </a:extLst>
          </p:cNvPr>
          <p:cNvSpPr txBox="1"/>
          <p:nvPr/>
        </p:nvSpPr>
        <p:spPr>
          <a:xfrm>
            <a:off x="6263150" y="2804140"/>
            <a:ext cx="5544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10.2 ตารางแสดงคุณลักษณะและรูปแบบไฟล์มาตรฐานจากเทคโนโลยี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Reality Capture 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5E2B7A0D-80C0-2535-B993-B70343DD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81105"/>
              </p:ext>
            </p:extLst>
          </p:nvPr>
        </p:nvGraphicFramePr>
        <p:xfrm>
          <a:off x="6342581" y="3665876"/>
          <a:ext cx="5013677" cy="2706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ประเด็น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ความแม่นยำเชิงตำแหน่ง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ระดับมิลลิเมตรถึงเซนติเมตร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ข้อมูลที่บันทึกเพิ่มเติม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นอกเหนือจากพิกัด X, Y, Z ยังบันทึกค่าความเข้มสัญญาณสะท้อนเลเซอร์ (Intensity) ลำดับการสะท้อน (Return Number) และค่าสีภาพถ่ายสมจริง (RGB)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รูปแบบไฟล์มาตรฐานสากล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เช่น .las, .laz, .e57 หรือ .pts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39" y="1354256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บทบาทและหน้าที่ในงานบูรณาการ 3D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ED7A1-D3BB-9719-9B2A-B6F1D4432B7A}"/>
              </a:ext>
            </a:extLst>
          </p:cNvPr>
          <p:cNvSpPr txBox="1"/>
          <p:nvPr/>
        </p:nvSpPr>
        <p:spPr>
          <a:xfrm>
            <a:off x="548639" y="476103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10.2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3D Point Cloud (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กลุ่มเมฆจุด 3 มิติ) (ต่อ)</a:t>
            </a: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CC15E98-C4C7-4CF0-A661-3D107015B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5641"/>
              </p:ext>
            </p:extLst>
          </p:nvPr>
        </p:nvGraphicFramePr>
        <p:xfrm>
          <a:off x="551382" y="1920986"/>
          <a:ext cx="6921134" cy="3191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บทบาท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Metric Reference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เป็นฐานอ้างอิงมิติทางกายภาพจริงที่แม่นยำ สำหรับสร้าง ควบคุม และตรวจสอบแบบจำลอง 3 มิติ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Scan-to-BIM &amp; QA/QC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 Point Cloud ของสภาวะจริงหลังการก่อสร้าง (As-built / As-is) มาเปรียบเทียบกับแบบจำลองการออกแบบ (As-designed BIM) เพื่อหาค่าเบี่ยงเบนทางเรขาคณิต (Deviation Identification) และตรวจสอบคุณภาพการก่อสร้าง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Deformation &amp; Structural Monitoring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ตรวจสอบและวัดการเคลื่อนตัว การทรุดตัว (Settlement) การเอียง (Tilt) รอยแตกร้าว ระยะปลอดภัยขอบเขตโครงสร้างรถไฟ (Structure-Gauge / Clearance Inspection) และหน้าตัดคันหินคันทาง (Ballast Profile) ด้วยความแม่นยำระดับมิลลิเมตร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i-013-013.png">
            <a:extLst>
              <a:ext uri="{FF2B5EF4-FFF2-40B4-BE49-F238E27FC236}">
                <a16:creationId xmlns:a16="http://schemas.microsoft.com/office/drawing/2014/main" id="{F8936466-0320-95FF-D656-49DB7C092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930" y="476103"/>
            <a:ext cx="3420351" cy="2564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8F0F26-2597-748F-5400-117547281C44}"/>
              </a:ext>
            </a:extLst>
          </p:cNvPr>
          <p:cNvSpPr txBox="1"/>
          <p:nvPr/>
        </p:nvSpPr>
        <p:spPr>
          <a:xfrm>
            <a:off x="8110689" y="3136772"/>
            <a:ext cx="3565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10.1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ห้องที่ใช้ทดลองสแกน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  <p:pic>
        <p:nvPicPr>
          <p:cNvPr id="10" name="Picture 9" descr="i-014-015.png">
            <a:extLst>
              <a:ext uri="{FF2B5EF4-FFF2-40B4-BE49-F238E27FC236}">
                <a16:creationId xmlns:a16="http://schemas.microsoft.com/office/drawing/2014/main" id="{96AD08CF-3CB8-18A6-CA1B-F71A38D4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346" y="3756138"/>
            <a:ext cx="3406272" cy="1914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FDCF99-071A-7C47-F8B4-6F7D65D59593}"/>
              </a:ext>
            </a:extLst>
          </p:cNvPr>
          <p:cNvSpPr txBox="1"/>
          <p:nvPr/>
        </p:nvSpPr>
        <p:spPr>
          <a:xfrm>
            <a:off x="8369427" y="5797795"/>
            <a:ext cx="3271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ภาพที่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10.2 Point Cloud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ภายในห้อง</a:t>
            </a:r>
            <a:endParaRPr sz="1400" b="0" i="0" dirty="0">
              <a:solidFill>
                <a:schemeClr val="tx1"/>
              </a:solidFill>
              <a:latin typeface="TH Sarabun New"/>
              <a:ea typeface="TH Sarabun New"/>
              <a:cs typeface="TH Sarabun New"/>
            </a:endParaRPr>
          </a:p>
          <a:p>
            <a:pPr algn="ctr"/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ที่มา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: Wang </a:t>
            </a:r>
            <a:r>
              <a:rPr sz="1400" b="0" i="0" dirty="0" err="1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และคณะ</a:t>
            </a:r>
            <a:r>
              <a:rPr sz="1400" b="0" i="0" dirty="0">
                <a:solidFill>
                  <a:schemeClr val="tx1"/>
                </a:solidFill>
                <a:latin typeface="TH Sarabun New"/>
                <a:ea typeface="TH Sarabun New"/>
                <a:cs typeface="TH Sarabun New"/>
              </a:rPr>
              <a:t> (2019)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124" y="1738343"/>
            <a:ext cx="11094415" cy="390260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1" dirty="0">
                <a:latin typeface="TH Sarabun New"/>
                <a:ea typeface="TH Sarabun New"/>
                <a:cs typeface="TH Sarabun New"/>
              </a:rPr>
              <a:t>Digital Twin คือ 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1" dirty="0">
                <a:latin typeface="TH Sarabun New"/>
                <a:ea typeface="TH Sarabun New"/>
                <a:cs typeface="TH Sarabun New"/>
              </a:rPr>
              <a:t>หัวใจสำคัญ: 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1" dirty="0">
                <a:latin typeface="TH Sarabun New"/>
                <a:ea typeface="TH Sarabun New"/>
                <a:cs typeface="TH Sarabun New"/>
              </a:rPr>
              <a:t>ระดับความก้าวหน้าทางดิจิทัล: 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แยกความแตกต่างชัดเจนระหว่าง </a:t>
            </a:r>
            <a:r>
              <a:rPr lang="en-US" sz="3000" b="0" dirty="0">
                <a:latin typeface="TH Sarabun New"/>
                <a:ea typeface="TH Sarabun New"/>
                <a:cs typeface="TH Sarabun New"/>
              </a:rPr>
              <a:t>Digital Model (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มีเฉพาะโมเดลเรขาคณิต 3</a:t>
            </a:r>
            <a:r>
              <a:rPr lang="en-US" sz="3000" b="0" dirty="0">
                <a:latin typeface="TH Sarabun New"/>
                <a:ea typeface="TH Sarabun New"/>
                <a:cs typeface="TH Sarabun New"/>
              </a:rPr>
              <a:t>D), Digital Shadow (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มีข้อมูลไหลทางเดียวจากกายภาพไปดิจิทัล) และ </a:t>
            </a:r>
            <a:r>
              <a:rPr lang="en-US" sz="3000" b="0" dirty="0"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000" b="0" dirty="0">
                <a:latin typeface="TH Sarabun New"/>
                <a:ea typeface="TH Sarabun New"/>
                <a:cs typeface="TH Sarabun New"/>
              </a:rPr>
              <a:t>มีข้อมูลไหลและตอบกลับสองทางแบบอัตโนมัติ)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533C9-0CC2-8D27-4469-56C9DC629D59}"/>
              </a:ext>
            </a:extLst>
          </p:cNvPr>
          <p:cNvSpPr txBox="1"/>
          <p:nvPr/>
        </p:nvSpPr>
        <p:spPr>
          <a:xfrm>
            <a:off x="548639" y="1214454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นิยามและโครงสร้างสถาปัตยกรรม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7E28F-DB2D-7E3C-B894-5A3CDA181D4D}"/>
              </a:ext>
            </a:extLst>
          </p:cNvPr>
          <p:cNvSpPr txBox="1"/>
          <p:nvPr/>
        </p:nvSpPr>
        <p:spPr>
          <a:xfrm>
            <a:off x="548640" y="123459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การบูรณาการข้อมูลสำรวจ 3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D </a:t>
            </a:r>
            <a:r>
              <a:rPr lang="th-TH" sz="2400" b="1" dirty="0">
                <a:latin typeface="TH Sarabun New"/>
                <a:ea typeface="TH Sarabun New"/>
                <a:cs typeface="TH Sarabun New"/>
              </a:rPr>
              <a:t>ร่วมกับเครือข่ายเซนเซอร์ </a:t>
            </a:r>
            <a:r>
              <a:rPr lang="en-US" sz="2400" b="1" dirty="0">
                <a:latin typeface="TH Sarabun New"/>
                <a:ea typeface="TH Sarabun New"/>
                <a:cs typeface="TH Sarabun New"/>
              </a:rPr>
              <a:t>IoT</a:t>
            </a:r>
            <a:endParaRPr lang="th-TH" sz="24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31D70-1296-6FAC-10BE-45D734691A98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6226650-2D89-36AF-F9A3-46A785BF7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98045"/>
              </p:ext>
            </p:extLst>
          </p:nvPr>
        </p:nvGraphicFramePr>
        <p:xfrm>
          <a:off x="548640" y="2040988"/>
          <a:ext cx="11091672" cy="30495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Input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นำข้อมูลเรขาคณิตความละเอียดสูงจาก Point Cloud (TLS, SLAM, UAV) และโมเดล Scan-to-BIM มาสร้างเป็นฐานเรขาคณิตเสมือน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8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Sensing &amp; Integration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เชื่อมโยงโมเดล 3D กับเครือข่ายเซนเซอร์ตรวจวัดสด (IoT) ผ่านสัญญาณไร้สาย (เช่น 4G, LoRaWAN, REST APIs) เซนเซอร์ที่นิยมใช้ ได้แก่ Fiber Optic / Strain Gauges, Vibrometers, Tilt Sensors, Stage Gauges / Piezometers, Rain Gauges และ ADCP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Analytics &amp; Visualization Stage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ประมวลผลข้อมูลเซนเซอร์ร่วมกับแบบจำลองไฟไนต์เอลิเมนต์ (FEM/FEA) หรือ Deep Learning (CNN) เพื่อประเมินพฤติกรรมโครงสร้าง และแสดงผลผ่านแดชบอร์ด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956" y="1030662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9997" y="1663893"/>
            <a:ext cx="11094415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งานเฝ้าระวังภัยพิบัติน้ำท่วมและลุ่มน้ำเมือง (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Hydro-</a:t>
            </a:r>
            <a:r>
              <a:rPr lang="en-US" sz="2800" b="0" dirty="0" err="1">
                <a:latin typeface="TH Sarabun New"/>
                <a:ea typeface="TH Sarabun New"/>
                <a:cs typeface="TH Sarabun New"/>
              </a:rPr>
              <a:t>Pluviometric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 Monitoring): </a:t>
            </a:r>
            <a:r>
              <a:rPr lang="th-TH" sz="2800" b="0" dirty="0">
                <a:latin typeface="TH Sarabun New"/>
                <a:ea typeface="TH Sarabun New"/>
                <a:cs typeface="TH Sarabun New"/>
              </a:rPr>
              <a:t>โครงการแม่น้ำไทเบอร์ (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Tiber River) </a:t>
            </a:r>
            <a:r>
              <a:rPr lang="th-TH" sz="2800" b="0" dirty="0">
                <a:latin typeface="TH Sarabun New"/>
                <a:ea typeface="TH Sarabun New"/>
                <a:cs typeface="TH Sarabun New"/>
              </a:rPr>
              <a:t>ในกรุงโรม ซึ่งสร้าง 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Point Cloud </a:t>
            </a:r>
            <a:r>
              <a:rPr lang="th-TH" sz="2800" b="0" dirty="0">
                <a:latin typeface="TH Sarabun New"/>
                <a:ea typeface="TH Sarabun New"/>
                <a:cs typeface="TH Sarabun New"/>
              </a:rPr>
              <a:t>และโมเดล 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Scan-to-BIM </a:t>
            </a:r>
            <a:r>
              <a:rPr lang="th-TH" sz="2800" b="0" dirty="0">
                <a:latin typeface="TH Sarabun New"/>
                <a:ea typeface="TH Sarabun New"/>
                <a:cs typeface="TH Sarabun New"/>
              </a:rPr>
              <a:t>ของสะพาน 16 แห่งและตลิ่ง บูรณาการเข้ากับระบบ </a:t>
            </a:r>
            <a:r>
              <a:rPr lang="en-US" sz="2800" b="0" dirty="0" err="1">
                <a:latin typeface="TH Sarabun New"/>
                <a:ea typeface="TH Sarabun New"/>
                <a:cs typeface="TH Sarabun New"/>
              </a:rPr>
              <a:t>WebGIS</a:t>
            </a:r>
            <a:r>
              <a:rPr lang="en-US" sz="2800" b="0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sz="2800" b="0" dirty="0">
                <a:latin typeface="TH Sarabun New"/>
                <a:ea typeface="TH Sarabun New"/>
                <a:cs typeface="TH Sarabun New"/>
              </a:rPr>
              <a:t>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4022A-C404-2A47-2055-21B4C3927D83}"/>
              </a:ext>
            </a:extLst>
          </p:cNvPr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10.3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Digital Twin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980" y="1369631"/>
            <a:ext cx="650926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กระบวนการ Scan-to-BIM (Point Cloud to BIM Reconstruction)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BE8FE-7559-94FB-B936-79BC0B4D1F28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B7A36-F99A-F65F-CC49-BE8BCD84CC81}"/>
              </a:ext>
            </a:extLst>
          </p:cNvPr>
          <p:cNvSpPr txBox="1"/>
          <p:nvPr/>
        </p:nvSpPr>
        <p:spPr>
          <a:xfrm>
            <a:off x="451980" y="1769931"/>
            <a:ext cx="6509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3DCAD-672C-655A-3398-329D1BCD77BD}"/>
              </a:ext>
            </a:extLst>
          </p:cNvPr>
          <p:cNvSpPr txBox="1"/>
          <p:nvPr/>
        </p:nvSpPr>
        <p:spPr>
          <a:xfrm>
            <a:off x="7193585" y="1517471"/>
            <a:ext cx="4998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มาตรฐาน Open BIM และ IFC 4.3 (ISO 19650)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6E05E-DF2F-B661-98EE-89FE2A6E28D9}"/>
              </a:ext>
            </a:extLst>
          </p:cNvPr>
          <p:cNvSpPr txBox="1"/>
          <p:nvPr/>
        </p:nvSpPr>
        <p:spPr>
          <a:xfrm>
            <a:off x="7193585" y="2019405"/>
            <a:ext cx="4650963" cy="290233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57107-7349-02EC-B761-B978A7BC19C8}"/>
              </a:ext>
            </a:extLst>
          </p:cNvPr>
          <p:cNvCxnSpPr/>
          <p:nvPr/>
        </p:nvCxnSpPr>
        <p:spPr>
          <a:xfrm>
            <a:off x="6961240" y="1516489"/>
            <a:ext cx="0" cy="49531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E6C61E11-2059-D87F-2EE6-7184A4B2F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63092"/>
              </p:ext>
            </p:extLst>
          </p:nvPr>
        </p:nvGraphicFramePr>
        <p:xfrm>
          <a:off x="548641" y="2810594"/>
          <a:ext cx="6029140" cy="38770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ขั้นตอน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กำหนดความต้องการข้อมูล (Information Requirements)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กำหนดองค์ประกอบอาคารที่ต้องการและระดับ LOD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กำหนดคุณภาพ Point Cloud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ควบคุมค่า Accuracy, Resolution และ Coverage ให้สอดคล้องกับวัตถุประสงค์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การลงทะเบียน Point Cloud (Registration)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ปรับตรึง Point Cloud กับแบบด้วยเทคนิค PCA หรือ ICP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การคัดแยกและสร้างโมเดล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สกัดระนาบองค์ประกอบ (Plane Detection) ด้วยอัลกอริทึม RANSAC หรือวิธี Scan-vs-BIM เพื่อสร้างวัตถุพารามิเตอร์ (Parametric Building Elements)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6110-6544-D4F9-CED3-EF713D3516B1}"/>
              </a:ext>
            </a:extLst>
          </p:cNvPr>
          <p:cNvSpPr txBox="1"/>
          <p:nvPr/>
        </p:nvSpPr>
        <p:spPr>
          <a:xfrm>
            <a:off x="548640" y="274320"/>
            <a:ext cx="11094415" cy="110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10.4 การเชื่อมโยงข้อมูลสำรวจกับ 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BIM/CIM (Scan-to-BIM, Open BIM &amp; BIM-GIS Integration) (</a:t>
            </a:r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ต่อ</a:t>
            </a:r>
            <a:r>
              <a:rPr lang="en-US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)</a:t>
            </a:r>
            <a:endParaRPr lang="th-TH" sz="3400" b="1" dirty="0">
              <a:solidFill>
                <a:schemeClr val="accent1"/>
              </a:solidFill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9C968-827F-6A31-9D81-8553D0C5B10F}"/>
              </a:ext>
            </a:extLst>
          </p:cNvPr>
          <p:cNvSpPr txBox="1"/>
          <p:nvPr/>
        </p:nvSpPr>
        <p:spPr>
          <a:xfrm>
            <a:off x="548640" y="1652557"/>
            <a:ext cx="11094415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การบูรณาการ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BIM-GIS </a:t>
            </a:r>
            <a:r>
              <a:rPr lang="th-TH" sz="2600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2600" b="1" dirty="0">
                <a:latin typeface="TH Sarabun New"/>
                <a:ea typeface="TH Sarabun New"/>
                <a:cs typeface="TH Sarabun New"/>
              </a:rPr>
              <a:t>CIM (City Information Modelling)</a:t>
            </a:r>
            <a:endParaRPr lang="th-TH" sz="2600" b="1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F346-1285-1A18-A852-E5505418D89A}"/>
              </a:ext>
            </a:extLst>
          </p:cNvPr>
          <p:cNvSpPr txBox="1"/>
          <p:nvPr/>
        </p:nvSpPr>
        <p:spPr>
          <a:xfrm>
            <a:off x="548639" y="2266476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</p:spTree>
    <p:extLst>
      <p:ext uri="{BB962C8B-B14F-4D97-AF65-F5344CB8AC3E}">
        <p14:creationId xmlns:p14="http://schemas.microsoft.com/office/powerpoint/2010/main" val="30011218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9247"/>
            <a:ext cx="10936626" cy="24406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463040"/>
            <a:ext cx="7435154" cy="36563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</p:txBody>
      </p:sp>
      <p:pic>
        <p:nvPicPr>
          <p:cNvPr id="13" name="Image 0" descr="/tmp/claude-0/-home-claude/599103d1-15bb-5194-a34a-22e73cff613e/scratchpad/i11/s6-014.png">
            <a:extLst>
              <a:ext uri="{FF2B5EF4-FFF2-40B4-BE49-F238E27FC236}">
                <a16:creationId xmlns:a16="http://schemas.microsoft.com/office/drawing/2014/main" id="{A4E3679B-254F-EBB7-EEFE-216D8D6A3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280160"/>
            <a:ext cx="3566160" cy="191109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0FF31F9-CC24-8C54-F5BE-B6C15F4931D4}"/>
              </a:ext>
            </a:extLst>
          </p:cNvPr>
          <p:cNvSpPr/>
          <p:nvPr/>
        </p:nvSpPr>
        <p:spPr>
          <a:xfrm>
            <a:off x="8076895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11.1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พื้นที่ก่อสร้างจากมุมมอง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ที่มา: ดนัย เรืองสอน และคณะ (2565)</a:t>
            </a:r>
          </a:p>
        </p:txBody>
      </p:sp>
      <p:pic>
        <p:nvPicPr>
          <p:cNvPr id="17" name="Image 1" descr="/tmp/claude-0/-home-claude/599103d1-15bb-5194-a34a-22e73cff613e/scratchpad/i11/s1-048.png">
            <a:extLst>
              <a:ext uri="{FF2B5EF4-FFF2-40B4-BE49-F238E27FC236}">
                <a16:creationId xmlns:a16="http://schemas.microsoft.com/office/drawing/2014/main" id="{3360CC85-8F88-752F-6D69-ED000D755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895" y="3694176"/>
            <a:ext cx="2834640" cy="216712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EAC15481-D20A-6019-D5F5-D8DE72C50A29}"/>
              </a:ext>
            </a:extLst>
          </p:cNvPr>
          <p:cNvSpPr/>
          <p:nvPr/>
        </p:nvSpPr>
        <p:spPr>
          <a:xfrm>
            <a:off x="8076895" y="5888736"/>
            <a:ext cx="379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แผนที่ความสูงจาก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UAV LiDAR พื้นที่เขาใหญ่ ที่มา: ภุชงค์ วงศ์เกิด และคณะ (2567)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107106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</p:txBody>
      </p:sp>
      <p:pic>
        <p:nvPicPr>
          <p:cNvPr id="5" name="Image 0" descr="/tmp/claude-0/-home-claude/599103d1-15bb-5194-a34a-22e73cff613e/scratchpad/i11/s2-061.png">
            <a:extLst>
              <a:ext uri="{FF2B5EF4-FFF2-40B4-BE49-F238E27FC236}">
                <a16:creationId xmlns:a16="http://schemas.microsoft.com/office/drawing/2014/main" id="{687DD946-B378-9427-688A-0B6331319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654" y="2478604"/>
            <a:ext cx="3649734" cy="273372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E138D33-FF36-9306-DF1D-267BB7FE924B}"/>
              </a:ext>
            </a:extLst>
          </p:cNvPr>
          <p:cNvSpPr/>
          <p:nvPr/>
        </p:nvSpPr>
        <p:spPr>
          <a:xfrm>
            <a:off x="715788" y="5421753"/>
            <a:ext cx="56456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แนวชายฝั่ง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ค.ศ. 1990–2025 จ.นครศรีธรรมราช ที่มา: Yuhang &amp; Wutjanam, Int. J. Geoinformatics</a:t>
            </a:r>
          </a:p>
        </p:txBody>
      </p:sp>
      <p:pic>
        <p:nvPicPr>
          <p:cNvPr id="9" name="Image 1" descr="/tmp/claude-0/-home-claude/599103d1-15bb-5194-a34a-22e73cff613e/scratchpad/i11/s5-005.png">
            <a:extLst>
              <a:ext uri="{FF2B5EF4-FFF2-40B4-BE49-F238E27FC236}">
                <a16:creationId xmlns:a16="http://schemas.microsoft.com/office/drawing/2014/main" id="{46D95C1B-6676-7013-B074-79D20B923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929" y="2351222"/>
            <a:ext cx="2498279" cy="3455067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5EA8161-6191-C4E7-E9D3-2B230BD4B012}"/>
              </a:ext>
            </a:extLst>
          </p:cNvPr>
          <p:cNvSpPr/>
          <p:nvPr/>
        </p:nvSpPr>
        <p:spPr>
          <a:xfrm>
            <a:off x="8150944" y="5947779"/>
            <a:ext cx="2939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11.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การกัดเซาะเกาะคอเขา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พ.ศ. 2545–2559 ที่มา: Pantanahiran (2019), ISPRS Archives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944" y="1798447"/>
            <a:ext cx="11094415" cy="148656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5BC6F-5DDB-556B-9292-C33DE59170DB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การวิเคราะห์การตัดสินใจแบบหลายหลักเกณฑ์เชิงพื้นที่ (GIS-MCDA / AHP)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BF574-2481-17F8-252A-F81958AD1216}"/>
              </a:ext>
            </a:extLst>
          </p:cNvPr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1190-D5E6-A9FE-027F-E5F3FFC25890}"/>
              </a:ext>
            </a:extLst>
          </p:cNvPr>
          <p:cNvSpPr txBox="1"/>
          <p:nvPr/>
        </p:nvSpPr>
        <p:spPr>
          <a:xfrm>
            <a:off x="627298" y="1123022"/>
            <a:ext cx="98932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การบริหารสินทรัพย์ทางหลวงระดับรัฐและเมืองด้วย </a:t>
            </a:r>
            <a:r>
              <a:rPr lang="en-US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Digital Twin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05FF1-CF45-ABEE-2CCE-3F2C6FD8B172}"/>
              </a:ext>
            </a:extLst>
          </p:cNvPr>
          <p:cNvSpPr txBox="1"/>
          <p:nvPr/>
        </p:nvSpPr>
        <p:spPr>
          <a:xfrm>
            <a:off x="701870" y="1750497"/>
            <a:ext cx="107879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การประยุกต์ใช้ Mobile LiDAR ร่วมกับ Photogrammetry เพื่อสร้างดิจิทัลทวิน (Digital Twin) สำหรับบริหารโครงสร้างพื้นฐาน ตัวอย่างคือโครงการของ Georgia Department of Transportation (GDOT) ที่สกัดข้อมูลสินทรัพย์ทางหลวงความยาวกว่า 80,000 ไมล์ ทำให้ข้อมูลที่ไม่เคยถูกนำมาใช้ประโยชน์ ("Dark Data") กลายเป็นฐานข้อมูลเชิงพื้นที่ สำหรับสนับสนุนการวางแผนและการจัดสรรงบประมาณ</a:t>
            </a:r>
          </a:p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กรณีศึกษาเมือง Perry รัฐ Iowa ใช้ Mobile LiDAR สำรวจพื้นที่ทั้งเมือง (ปริมาณข้อมูล 4.1 Terabytes) เพื่อสร้างแบบจำลอง 3D Reality Mesh ใช้บริหารจัดการโครงสร้างพื้นฐานสีเทา (Grey Infrastructure) ได้แก่ ถนน ทางเท้า และขอบถนน ควบคู่กับโครงสร้างพื้นฐานสีเขียว (Green Infrastructure) ได้แก่ ต้นไม้และพื้นที่ธรรมชาติ</a:t>
            </a:r>
          </a:p>
        </p:txBody>
      </p:sp>
    </p:spTree>
    <p:extLst>
      <p:ext uri="{BB962C8B-B14F-4D97-AF65-F5344CB8AC3E}">
        <p14:creationId xmlns:p14="http://schemas.microsoft.com/office/powerpoint/2010/main" val="32362570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82" y="1950523"/>
            <a:ext cx="1086827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การส่งออกข้อมูลเส้นชั้นความสูง (</a:t>
            </a:r>
            <a:r>
              <a:rPr lang="en-US" sz="2000" b="0" dirty="0">
                <a:latin typeface="TH Sarabun New"/>
                <a:ea typeface="TH Sarabun New"/>
                <a:cs typeface="TH Sarabun New"/>
              </a:rPr>
              <a:t>Contours) </a:t>
            </a:r>
            <a:r>
              <a:rPr lang="th-TH" sz="2000" b="0" dirty="0">
                <a:latin typeface="TH Sarabun New"/>
                <a:ea typeface="TH Sarabun New"/>
                <a:cs typeface="TH Sarabun New"/>
              </a:rPr>
              <a:t>และข้อมูล </a:t>
            </a:r>
            <a:r>
              <a:rPr lang="en-US" sz="2000" b="0" dirty="0">
                <a:latin typeface="TH Sarabun New"/>
                <a:ea typeface="TH Sarabun New"/>
                <a:cs typeface="TH Sarabun New"/>
              </a:rPr>
              <a:t>Profile / Cross-section </a:t>
            </a:r>
            <a:r>
              <a:rPr lang="th-TH" sz="2000" b="0" dirty="0">
                <a:latin typeface="TH Sarabun New"/>
                <a:ea typeface="TH Sarabun New"/>
                <a:cs typeface="TH Sarabun New"/>
              </a:rPr>
              <a:t>ที่ได้จาก </a:t>
            </a:r>
            <a:r>
              <a:rPr lang="en-US" sz="2000" b="0" dirty="0">
                <a:latin typeface="TH Sarabun New"/>
                <a:ea typeface="TH Sarabun New"/>
                <a:cs typeface="TH Sarabun New"/>
              </a:rPr>
              <a:t>UAV Photogrammetry </a:t>
            </a: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หรือ </a:t>
            </a:r>
            <a:r>
              <a:rPr lang="en-US" sz="2000" b="0" dirty="0">
                <a:latin typeface="TH Sarabun New"/>
                <a:ea typeface="TH Sarabun New"/>
                <a:cs typeface="TH Sarabun New"/>
              </a:rPr>
              <a:t>LiDAR </a:t>
            </a:r>
            <a:r>
              <a:rPr lang="th-TH" sz="2000" b="0" dirty="0">
                <a:latin typeface="TH Sarabun New"/>
                <a:ea typeface="TH Sarabun New"/>
                <a:cs typeface="TH Sarabun New"/>
              </a:rPr>
              <a:t>เข้าสู่ซอฟต์แวร์ออกแบบทางวิศวกรรม (เช่น </a:t>
            </a:r>
            <a:r>
              <a:rPr lang="en-US" sz="2000" b="0" dirty="0">
                <a:latin typeface="TH Sarabun New"/>
                <a:ea typeface="TH Sarabun New"/>
                <a:cs typeface="TH Sarabun New"/>
              </a:rPr>
              <a:t>CAD / Civil 3D) </a:t>
            </a:r>
            <a:r>
              <a:rPr lang="th-TH" sz="2000" b="0" dirty="0">
                <a:latin typeface="TH Sarabun New"/>
                <a:ea typeface="TH Sarabun New"/>
                <a:cs typeface="TH Sarabun New"/>
              </a:rPr>
              <a:t>เพื่อใช้ในงานออกแบบถนน ระบบระบายน้ำ และงานจัดรูปที่ดิน</a:t>
            </a:r>
            <a:endParaRPr lang="th-TH" sz="200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430F-F8B3-8139-DFAC-D005B06BF8CC}"/>
              </a:ext>
            </a:extLst>
          </p:cNvPr>
          <p:cNvSpPr txBox="1"/>
          <p:nvPr/>
        </p:nvSpPr>
        <p:spPr>
          <a:xfrm>
            <a:off x="548640" y="128016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sz="2600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การสนับสนุนงานออกแบบวิศวกรรมขั้นรายละเอียด</a:t>
            </a:r>
            <a:endParaRPr lang="th-TH" sz="2600" b="0" dirty="0">
              <a:solidFill>
                <a:schemeClr val="tx2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gH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 dirty="0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lang="th-TH" sz="2600" b="0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CFE0983-0E92-903E-CC93-55173AF2AC51}"/>
              </a:ext>
            </a:extLst>
          </p:cNvPr>
          <p:cNvSpPr/>
          <p:nvPr/>
        </p:nvSpPr>
        <p:spPr>
          <a:xfrm>
            <a:off x="548640" y="1086465"/>
            <a:ext cx="6678070" cy="4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การประมวลผล Point Cloud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ใช้โครงข่ายประสาทเทียม เช่น PointNet++, 3D CNNs, VoxelNet และ Transformers ประมวลผลข้อมูล 3 มิติโดยตรง แทนการแปลความหมายด้วยมนุษย์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Semantic Segmentation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จำแนกพื้นถนน เสาไฟฟ้า ยานพาหนะ ต้นไม้ อาคาร และสายไฟ เช่น PointNet++ กับข้อมูล Mobile LiDAR บนถนนเมืองเบงกาลูรู แยกวัตถุ 5 ประเภท ความแม่นยำรวม 92.4% และ mIoU 0.846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การตรวจจับความเสียหาย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ตรวจพบรอยแตกร้าวบนผิวจราจร ความเสียหายของแผงกั้นทาง ความชำรุดในท่อระบายน้ำ และการรั่วซึมในอุโมงค์โดยอัตโนมัติ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การพยากรณ์ความเสี่ยง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วิเคราะห์ข้อมูลอนุกรมเวลาเพื่อพยากรณ์การเสื่อมสภาพของสินทรัพย์ ภัยธรรมชาติ และความเอียงของเสาไฟฟ้า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ข้อจำกัด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ยังต้องอาศัยมนุษย์ในการควบคุมคุณภาพ (QA/QC) ตรวจสอบความถูกต้องทางกฎหมาย และตัดสินใจในเงื่อนไขสนามที่ซับซ้อน</a:t>
            </a:r>
          </a:p>
        </p:txBody>
      </p:sp>
      <p:pic>
        <p:nvPicPr>
          <p:cNvPr id="4" name="Image 0" descr="/tmp/claude-0/-home-claude/599103d1-15bb-5194-a34a-22e73cff613e/scratchpad/img/isx-012.png">
            <a:extLst>
              <a:ext uri="{FF2B5EF4-FFF2-40B4-BE49-F238E27FC236}">
                <a16:creationId xmlns:a16="http://schemas.microsoft.com/office/drawing/2014/main" id="{5B20FAA8-0CF6-B444-4027-4E0F49161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263" y="1052052"/>
            <a:ext cx="4050792" cy="348386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EEFA65E-4E2B-EE5D-FE49-00878BC2264D}"/>
              </a:ext>
            </a:extLst>
          </p:cNvPr>
          <p:cNvSpPr/>
          <p:nvPr/>
        </p:nvSpPr>
        <p:spPr>
          <a:xfrm>
            <a:off x="7592263" y="4563348"/>
            <a:ext cx="4050792" cy="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en-US" sz="1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ผลการจำแนก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ด้วย PointNet++ (เขียว=ต้นไม้ น้ำตาล=ถนน ขาว=ยานพาหนะ น้ำเงิน=อาคาร แดง=เสา)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92D1ECB-CD28-CC21-98F9-A65087DD1A08}"/>
              </a:ext>
            </a:extLst>
          </p:cNvPr>
          <p:cNvSpPr/>
          <p:nvPr/>
        </p:nvSpPr>
        <p:spPr>
          <a:xfrm>
            <a:off x="548640" y="1115962"/>
            <a:ext cx="688454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เครื่องมือสกัดวัตถุ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แพลตฟอร์มอย่าง Pix4D, DroneDeploy, Propeller Aero, LiDAR360 และ Autodesk ReCap ใช้ AI และ Photogrammetry สกัดตำแหน่งวัตถุจากภาพถ่ายและ LiDAR เช่น เครื่องหมายบนถนน ขอบอาคาร เสาไฟฟ้า และทรงพุ่มต้นไม้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เรขาคณิตถนนและบัญชีสินทรัพย์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Mobile LiDAR ร่วมกับ AI วัดความกว้างช่องจราจร ความยาวเส้นทาง ทางข้ามถนน และความสูงเสาไฟฟ้าได้อัตโนมัติ ค่า RMSE เฉลี่ย 0.64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การลดเวลาและต้นทุน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ลดเวลาทำงานด้วยมือลง 85% (จาก 40 ชั่วโมง เหลือ 6 ชั่วโมงต่อกิโลเมตร) และลดค่าแรงในสัดส่วนเท่ากัน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การกู้คืนข้อมูลซ่อนเร้น (Dark Data)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Generative AI และ Feature Recognition อ่านแบบ CAD เดิม เลเยอร์ GIS และบันทึกประวัติศาสตร์ เพื่อสร้างฐานข้อมูลเชิงพื้นที่ เช่น โครงการ Georgia DOT ที่สกัดข้อมูลถนนกว่า 80,000 ไมล์</a:t>
            </a:r>
          </a:p>
        </p:txBody>
      </p:sp>
      <p:pic>
        <p:nvPicPr>
          <p:cNvPr id="4" name="Image 0" descr="/tmp/claude-0/-home-claude/599103d1-15bb-5194-a34a-22e73cff613e/scratchpad/img/isx-006.png">
            <a:extLst>
              <a:ext uri="{FF2B5EF4-FFF2-40B4-BE49-F238E27FC236}">
                <a16:creationId xmlns:a16="http://schemas.microsoft.com/office/drawing/2014/main" id="{42BF501D-E8B0-C3A6-1D23-F1A7844E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11046"/>
            <a:ext cx="3749040" cy="22860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BDD376-82C1-9E9D-33D5-E02E3BE2AA40}"/>
              </a:ext>
            </a:extLst>
          </p:cNvPr>
          <p:cNvSpPr/>
          <p:nvPr/>
        </p:nvSpPr>
        <p:spPr>
          <a:xfrm>
            <a:off x="7863840" y="342447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การวัดความกว้างถนนจาก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Point Cloud (8.099 ม.)</a:t>
            </a:r>
          </a:p>
        </p:txBody>
      </p:sp>
      <p:pic>
        <p:nvPicPr>
          <p:cNvPr id="9" name="Image 1" descr="/tmp/claude-0/-home-claude/599103d1-15bb-5194-a34a-22e73cff613e/scratchpad/img/isx-010.png">
            <a:extLst>
              <a:ext uri="{FF2B5EF4-FFF2-40B4-BE49-F238E27FC236}">
                <a16:creationId xmlns:a16="http://schemas.microsoft.com/office/drawing/2014/main" id="{BE44E0C6-EF6D-E1F6-9299-2ABB7C02E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899966"/>
            <a:ext cx="3749040" cy="225856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40800FE-3684-9F0B-602C-FC53E1DC40B0}"/>
              </a:ext>
            </a:extLst>
          </p:cNvPr>
          <p:cNvSpPr/>
          <p:nvPr/>
        </p:nvSpPr>
        <p:spPr>
          <a:xfrm>
            <a:off x="7863840" y="618596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en-US" sz="14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การสกัดความกว้างทางม้าลาย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(7.336 ม.) ที่มา: Balasubramani et al. (2026), ISPRS Archives, CC BY 4.0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461D357-6406-856C-2EFE-320212A6834E}"/>
              </a:ext>
            </a:extLst>
          </p:cNvPr>
          <p:cNvSpPr/>
          <p:nvPr/>
        </p:nvSpPr>
        <p:spPr>
          <a:xfrm>
            <a:off x="687171" y="1005840"/>
            <a:ext cx="10305294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โครงสร้างพื้นฐานที่ขยายขนาดได้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ข้อมูลสำรวจมีขนาดระดับ Terabytes คลาวด์จึงมาแทนเครื่องประมวลผลท้องถิ่น ทั้งการจัดเก็บ ประมวลผล และสำรองข้อมูล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การทำงานร่วมกันข้ามอุปกรณ์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ทีมวิศวกร ผู้ดูแลโครงการ และช่างสำรวจภาคสนามเข้าถึง ทำมาร์กอัป วัดขนาด และแชร์โมเดล 3 มิติได้แบบเรียลไทม์ผ่านเว็บเบราว์เซอร์หรืออุปกรณ์เคลื่อนที่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เวิร์กโฟลว์และ API อัตโนมัติ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ระบบอย่าง Anvil Labs และ DroneDeploy เปิด Cloud APIs ให้อัปโหลดข้อมูลดิบ แปลงเป็นโมเดล 3 มิติและ Orthomosaic รวมถึงตรวจจับความผิดปกติโดยไม่ต้องติดตั้งซอฟต์แวร์หนักในเครื่อง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การลดต้นทุน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ไม่ต้องลงทุนซูเปอร์คอมพิวเตอร์ ขยายกำลังประมวลผลตามการใช้งานจริง และลดค่าบำรุงรักษาระบบ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BC6DDB-3667-ABDC-B86D-663CC49E280F}"/>
              </a:ext>
            </a:extLst>
          </p:cNvPr>
          <p:cNvSpPr/>
          <p:nvPr/>
        </p:nvSpPr>
        <p:spPr>
          <a:xfrm>
            <a:off x="687171" y="1125794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Handheld LiDAR และ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เครื่องสแกนแบบถือ เช่น TOKNAV TSR20 ใช้อัลกอริทึม SLAM (Simultaneous Localization and Mapping) สร้าง Point Cloud 3 มิติได้ทันทีขณะเดินสำรวจ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RTK GNSS ร่วมกับ SLAM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SLAM ล้วนเกิด Drift สะสม (50 ซม. ถึงมากกว่า 1 ม. ทุก 500 ม.) การดึงปรับด้วย RTK GNSS ใน Factor Graph Optimization ช่วยขจัด Drift แบบเรียลไทม์ ได้ความแม่นยำพิกัดสัมบูรณ์กลางแจ้ง ≤ 2 ซม.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การผสานเซนเซอร์หลายรูปแบบ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IMU (200 Hz) กล้อง RGB เครื่องรับ RTK GNSS และ LiDAR ทำงานร่วมกัน ให้การสำรวจต่อเนื่องแม้เคลื่อนที่ระหว่างพื้นที่กลางแจ้งและพื้นที่อับสัญญาณดาวเทียม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การสตรีมข้อมูลภาคสนาม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เชื่อมกล้องติดรถยนต์ เซนเซอร์ IoT และโดรนเข้ากับ GIS / Digital Twin ให้ศูนย์ควบคุมเห็นการเปลี่ยนแปลงของพื้นที่แบบเรียลไทม์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E2A51C-B6F1-6E92-1A10-ABA2811CDEF5}"/>
              </a:ext>
            </a:extLst>
          </p:cNvPr>
          <p:cNvSpPr/>
          <p:nvPr/>
        </p:nvSpPr>
        <p:spPr>
          <a:xfrm>
            <a:off x="734470" y="1194619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แนวคิด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แบบจำลองเสมือน 3 มิติของโครงสร้างพื้นฐานกายภาพ แลกเปลี่ยนข้อมูลสองทิศทาง และอัปเดตสถานะผ่านเซนเซอร์ IoT, GIS, BIM และ LiDAR ตลอดวงจรชีวิตของสินทรัพย์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แพลตฟอร์มสนับสนุน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Bentley iTwin Platform, Autodesk Tandem, Esri ArcGIS / GeoBIM, Siemens Xcelerator และ Hexagon Smart Digital Reality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การบำรุงรักษาเชิงคาดการณ์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ตรวจสอบสะพาน ถนน ท่อส่งน้ำ และสาธารณูปโภคต่อเนื่อง เพื่อตรวจพบความเค้นหรือการชำรุดก่อนเกิดความเสียหายร้ายแรง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แบบจำลองระดับเมืองและระดับชาติ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Virtual Singapore บูรณาการข้อมูล GIS 3 มิติ LiDAR และเซนเซอร์ IoT จากกว่า 100 หน่วยงาน ส่วน Perry รัฐ Iowa สร้างดิจิทัลทวินทั้งเมือง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ความยั่งยืน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ลดการลงพื้นที่ซ้ำและการปล่อยก๊าซเรือนกระจก ประหยัดงบบำรุงรักษา (กรมขนส่งฮาวายประหยัดได้ 940,000 ดอลลาร์สหรัฐต่อปี) และเพิ่มความปลอดภัยของเจ้าหน้าที่</a:t>
            </a:r>
          </a:p>
        </p:txBody>
      </p:sp>
      <p:pic>
        <p:nvPicPr>
          <p:cNvPr id="6" name="Image 0" descr="/tmp/claude-0/-home-claude/599103d1-15bb-5194-a34a-22e73cff613e/scratchpad/img/isi33-000.png">
            <a:extLst>
              <a:ext uri="{FF2B5EF4-FFF2-40B4-BE49-F238E27FC236}">
                <a16:creationId xmlns:a16="http://schemas.microsoft.com/office/drawing/2014/main" id="{5AC2EEE7-34BE-9793-1E23-A1636E54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30" y="1194619"/>
            <a:ext cx="4050792" cy="128016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580A8DB-5B8C-68F6-8F68-05A02136DA71}"/>
              </a:ext>
            </a:extLst>
          </p:cNvPr>
          <p:cNvSpPr/>
          <p:nvPr/>
        </p:nvSpPr>
        <p:spPr>
          <a:xfrm>
            <a:off x="7501030" y="250221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Virtual Singapore: ดิจิทัลทวินระดับประเทศ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1" name="Image 1" descr="/tmp/claude-0/-home-claude/599103d1-15bb-5194-a34a-22e73cff613e/scratchpad/img/isi41-000.png">
            <a:extLst>
              <a:ext uri="{FF2B5EF4-FFF2-40B4-BE49-F238E27FC236}">
                <a16:creationId xmlns:a16="http://schemas.microsoft.com/office/drawing/2014/main" id="{3B0FAFEA-995F-A850-CA58-24265C4FE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030" y="2966485"/>
            <a:ext cx="4050792" cy="1280160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A620EF2A-AF47-9A49-B413-3BC952256157}"/>
              </a:ext>
            </a:extLst>
          </p:cNvPr>
          <p:cNvSpPr/>
          <p:nvPr/>
        </p:nvSpPr>
        <p:spPr>
          <a:xfrm>
            <a:off x="7501030" y="4285291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ภาพที่ 12.</a:t>
            </a:r>
            <a:r>
              <a:rPr lang="en-US" sz="1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5 </a:t>
            </a:r>
            <a:r>
              <a:rPr lang="en-US" sz="14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เมือง</a:t>
            </a:r>
            <a:r>
              <a:rPr lang="en-US" sz="14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Perry รัฐ Iowa: ดิจิทัลทวินระดับเมือง ที่มา: ISI (2025), Advancing Infrastructure Sustainability Through Digital Twins</a:t>
            </a:r>
            <a:endParaRPr lang="en-US" sz="1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solidFill>
                  <a:schemeClr val="accent1"/>
                </a:solidFill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85F198-EE1D-C99C-79E1-240A5127F877}"/>
              </a:ext>
            </a:extLst>
          </p:cNvPr>
          <p:cNvSpPr/>
          <p:nvPr/>
        </p:nvSpPr>
        <p:spPr>
          <a:xfrm>
            <a:off x="548640" y="1440426"/>
            <a:ext cx="108173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กระบวนการอัตโนมัติแบบครบวงจร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เชื่อมต่อการบินโดรนเก็บข้อมูล การประมวลผลบนคลาวด์ และการแยกวัตถุด้วย AI เป็นข้อมูลวิศวกรรมพร้อมใช้งาน โดยอาศัยการแทรกแซงจากมนุษย์น้อยที่สุด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การเปลี่ยนบทบาทของนักสำรวจ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จากผู้ถืออุปกรณ์รังวัดในสนาม เป็นผู้เชี่ยวชาญด้านการจัดการข้อมูลเชิงพื้นที่ (Spatial Data Managers) ผู้ตรวจสอบอัลกอริทึม AI (AI Auditors) และผู้วางกลยุทธ์ด้าน Digital Twin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จุดสมดุลของการสำรวจ (Surveying Sweet Spot)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: LiDAR, RTK GNSS, AI และ Cloud Processing ทำให้งานสำรวจบรรลุ 4 ด้านพร้อมกัน ได้แก่ ความถูกต้องสูง ความรวดเร็ว ความคุ้มค่าด้านต้นทุน และความปลอดภัยของเจ้าหน้าที่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rvey Slate">
      <a:dk1>
        <a:srgbClr val="1B242C"/>
      </a:dk1>
      <a:lt1>
        <a:srgbClr val="E4E7EA"/>
      </a:lt1>
      <a:dk2>
        <a:srgbClr val="26313A"/>
      </a:dk2>
      <a:lt2>
        <a:srgbClr val="A9B4BC"/>
      </a:lt2>
      <a:accent1>
        <a:srgbClr val="D4AC57"/>
      </a:accent1>
      <a:accent2>
        <a:srgbClr val="4FB8CF"/>
      </a:accent2>
      <a:accent3>
        <a:srgbClr val="53959C"/>
      </a:accent3>
      <a:accent4>
        <a:srgbClr val="B08A68"/>
      </a:accent4>
      <a:accent5>
        <a:srgbClr val="8F9CA4"/>
      </a:accent5>
      <a:accent6>
        <a:srgbClr val="3D4750"/>
      </a:accent6>
      <a:hlink>
        <a:srgbClr val="6CCBE0"/>
      </a:hlink>
      <a:folHlink>
        <a:srgbClr val="B9A2D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17154</Words>
  <Application>Microsoft Office PowerPoint</Application>
  <PresentationFormat>Widescreen</PresentationFormat>
  <Paragraphs>867</Paragraphs>
  <Slides>92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Aptos</vt:lpstr>
      <vt:lpstr>Arial</vt:lpstr>
      <vt:lpstr>Calibri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soravis amnuaysarn</cp:lastModifiedBy>
  <cp:revision>208</cp:revision>
  <dcterms:created xsi:type="dcterms:W3CDTF">2013-01-27T09:14:16Z</dcterms:created>
  <dcterms:modified xsi:type="dcterms:W3CDTF">2026-10-08T07:12:01Z</dcterms:modified>
  <cp:category/>
</cp:coreProperties>
</file>