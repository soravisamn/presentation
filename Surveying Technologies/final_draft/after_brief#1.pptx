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7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0D_0.xml" ContentType="application/vnd.ms-powerpoint.comments+xml"/>
  <Override PartName="/ppt/notesSlides/notesSlide8.xml" ContentType="application/vnd.openxmlformats-officedocument.presentationml.notesSlide+xml"/>
  <Override PartName="/ppt/comments/modernComment_10E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10_0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1C_0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modernComment_134_0.xml" ContentType="application/vnd.ms-powerpoint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77_CF66996E.xml" ContentType="application/vnd.ms-powerpoint.comments+xml"/>
  <Override PartName="/ppt/notesSlides/notesSlide31.xml" ContentType="application/vnd.openxmlformats-officedocument.presentationml.notesSlide+xml"/>
  <Override PartName="/ppt/comments/modernComment_138_0.xml" ContentType="application/vnd.ms-powerpoint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modernComment_13F_0.xml" ContentType="application/vnd.ms-powerpoint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omments/modernComment_144_0.xml" ContentType="application/vnd.ms-powerpoint.comment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omments/modernComment_159_0.xml" ContentType="application/vnd.ms-powerpoint.comment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omments/modernComment_15E_0.xml" ContentType="application/vnd.ms-powerpoint.comment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omments/modernComment_169_0.xml" ContentType="application/vnd.ms-powerpoint.comments+xml"/>
  <Override PartName="/ppt/notesSlides/notesSlide60.xml" ContentType="application/vnd.openxmlformats-officedocument.presentationml.notesSlide+xml"/>
  <Override PartName="/ppt/comments/modernComment_17C_C0E55CF8.xml" ContentType="application/vnd.ms-powerpoint.comments+xml"/>
  <Override PartName="/ppt/notesSlides/notesSlide61.xml" ContentType="application/vnd.openxmlformats-officedocument.presentationml.notesSlide+xml"/>
  <Override PartName="/ppt/comments/modernComment_16A_0.xml" ContentType="application/vnd.ms-powerpoint.comment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68" r:id="rId10"/>
    <p:sldId id="269" r:id="rId11"/>
    <p:sldId id="397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9" r:id="rId20"/>
    <p:sldId id="281" r:id="rId21"/>
    <p:sldId id="282" r:id="rId22"/>
    <p:sldId id="383" r:id="rId23"/>
    <p:sldId id="284" r:id="rId24"/>
    <p:sldId id="285" r:id="rId25"/>
    <p:sldId id="286" r:id="rId26"/>
    <p:sldId id="385" r:id="rId27"/>
    <p:sldId id="288" r:id="rId28"/>
    <p:sldId id="289" r:id="rId29"/>
    <p:sldId id="290" r:id="rId30"/>
    <p:sldId id="386" r:id="rId31"/>
    <p:sldId id="292" r:id="rId32"/>
    <p:sldId id="295" r:id="rId33"/>
    <p:sldId id="298" r:id="rId34"/>
    <p:sldId id="299" r:id="rId35"/>
    <p:sldId id="300" r:id="rId36"/>
    <p:sldId id="303" r:id="rId37"/>
    <p:sldId id="304" r:id="rId38"/>
    <p:sldId id="307" r:id="rId39"/>
    <p:sldId id="308" r:id="rId40"/>
    <p:sldId id="389" r:id="rId41"/>
    <p:sldId id="309" r:id="rId42"/>
    <p:sldId id="390" r:id="rId43"/>
    <p:sldId id="310" r:id="rId44"/>
    <p:sldId id="391" r:id="rId45"/>
    <p:sldId id="375" r:id="rId46"/>
    <p:sldId id="312" r:id="rId47"/>
    <p:sldId id="315" r:id="rId48"/>
    <p:sldId id="318" r:id="rId49"/>
    <p:sldId id="319" r:id="rId50"/>
    <p:sldId id="320" r:id="rId51"/>
    <p:sldId id="322" r:id="rId52"/>
    <p:sldId id="323" r:id="rId53"/>
    <p:sldId id="394" r:id="rId54"/>
    <p:sldId id="324" r:id="rId55"/>
    <p:sldId id="329" r:id="rId56"/>
    <p:sldId id="330" r:id="rId57"/>
    <p:sldId id="332" r:id="rId58"/>
    <p:sldId id="376" r:id="rId59"/>
    <p:sldId id="335" r:id="rId60"/>
    <p:sldId id="337" r:id="rId61"/>
    <p:sldId id="338" r:id="rId62"/>
    <p:sldId id="377" r:id="rId63"/>
    <p:sldId id="378" r:id="rId64"/>
    <p:sldId id="342" r:id="rId65"/>
    <p:sldId id="344" r:id="rId66"/>
    <p:sldId id="345" r:id="rId67"/>
    <p:sldId id="347" r:id="rId68"/>
    <p:sldId id="348" r:id="rId69"/>
    <p:sldId id="349" r:id="rId70"/>
    <p:sldId id="350" r:id="rId71"/>
    <p:sldId id="351" r:id="rId72"/>
    <p:sldId id="379" r:id="rId73"/>
    <p:sldId id="355" r:id="rId74"/>
    <p:sldId id="356" r:id="rId75"/>
    <p:sldId id="357" r:id="rId76"/>
    <p:sldId id="358" r:id="rId77"/>
    <p:sldId id="359" r:id="rId78"/>
    <p:sldId id="360" r:id="rId79"/>
    <p:sldId id="361" r:id="rId80"/>
    <p:sldId id="380" r:id="rId81"/>
    <p:sldId id="362" r:id="rId82"/>
    <p:sldId id="364" r:id="rId83"/>
    <p:sldId id="365" r:id="rId84"/>
    <p:sldId id="368" r:id="rId85"/>
    <p:sldId id="369" r:id="rId86"/>
    <p:sldId id="371" r:id="rId87"/>
    <p:sldId id="372" r:id="rId88"/>
    <p:sldId id="374" r:id="rId8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9B0316-D830-F671-275E-34A370945443}" name="soravis amnuaysarn" initials="sa" userId="f5c98df1a6ae588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3" autoAdjust="0"/>
    <p:restoredTop sz="88136" autoAdjust="0"/>
  </p:normalViewPr>
  <p:slideViewPr>
    <p:cSldViewPr snapToGrid="0" snapToObjects="1">
      <p:cViewPr varScale="1">
        <p:scale>
          <a:sx n="97" d="100"/>
          <a:sy n="97" d="100"/>
        </p:scale>
        <p:origin x="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microsoft.com/office/2018/10/relationships/authors" Target="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F1FB4A-C442-40D6-856C-7DB364AE451D}" authorId="{0A9B0316-D830-F671-275E-34A370945443}" created="2026-10-07T09:47:51.3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2" creationId="{00000000-0000-0000-0000-000000000000}"/>
      <ac:txMk cp="0" len="25">
        <ac:context len="26" hash="2359142445"/>
      </ac:txMk>
    </ac:txMkLst>
    <p188:pos x="3571076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F3EB6-862C-4FD3-BB92-B92836238F65}" authorId="{0A9B0316-D830-F671-275E-34A370945443}" created="2026-10-07T09:55:38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2" creationId="{00000000-0000-0000-0000-000000000000}"/>
      <ac:txMk cp="0" len="39">
        <ac:context len="40" hash="2808953387"/>
      </ac:txMk>
    </ac:txMkLst>
    <p188:pos x="5517863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DE595B-C5F5-466B-ABAC-B61DA470B5EB}" authorId="{0A9B0316-D830-F671-275E-34A370945443}" created="2026-10-07T10:54:44.8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spMk id="2" creationId="{00000000-0000-0000-0000-000000000000}"/>
      <ac:txMk cp="0" len="46">
        <ac:context len="47" hash="1692469333"/>
      </ac:txMk>
    </ac:txMkLst>
    <p188:pos x="6973037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F0B87C-F3E0-41F6-A21F-5DA03D4C5E9D}" authorId="{0A9B0316-D830-F671-275E-34A370945443}" created="2026-10-08T01:27:46.8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9"/>
      <ac:spMk id="3" creationId="{00000000-0000-0000-0000-000000000000}"/>
      <ac:txMk cp="0" len="46">
        <ac:context len="259" hash="1604949018"/>
      </ac:txMk>
    </ac:txMkLst>
    <p188:pos x="5173734" y="25563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5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134A7B-79DA-49DD-A18D-C54187E75D02}" authorId="{0A9B0316-D830-F671-275E-34A370945443}" created="2026-10-08T03:55:43.0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0"/>
      <ac:spMk id="2" creationId="{00000000-0000-0000-0000-000000000000}"/>
      <ac:txMk cp="0" len="58">
        <ac:context len="59" hash="1628064173"/>
      </ac:txMk>
    </ac:txMkLst>
    <p188:pos x="5940650" y="256622"/>
    <p188:txBody>
      <a:bodyPr/>
      <a:lstStyle/>
      <a:p>
        <a:r>
          <a:rPr lang="th-TH"/>
          <a:t>ใส่อ้างอิงอีกที</a:t>
        </a:r>
      </a:p>
    </p188:txBody>
  </p188:cm>
</p188:cmLst>
</file>

<file path=ppt/comments/modernComment_16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58F3C9-5644-4F3B-A5EC-DC5BF4D53F8A}" authorId="{0A9B0316-D830-F671-275E-34A370945443}" created="2026-10-08T04:27:52.8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2"/>
      <ac:spMk id="11" creationId="{6C74430F-F8B3-8139-DFAC-D005B06BF8CC}"/>
      <ac:txMk cp="0" len="42">
        <ac:context len="43" hash="994960370"/>
      </ac:txMk>
    </ac:txMkLst>
    <p188:pos x="4760779" y="273337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7C_C0E55C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68D507-E179-473E-A277-CBE02F05C477}" authorId="{0A9B0316-D830-F671-275E-34A370945443}" created="2026-10-08T04:27:40.1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36257016" sldId="380"/>
      <ac:spMk id="5" creationId="{D5571190-D5E6-A9FE-027F-E5F3FFC25890}"/>
      <ac:txMk cp="0" len="58">
        <ac:context len="59" hash="975706510"/>
      </ac:txMk>
    </ac:txMkLst>
    <p188:pos x="6058637" y="27315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0F159-22DC-4781-BE38-2D2DB9239751}" authorId="{0A9B0316-D830-F671-275E-34A370945443}" created="2026-10-07T09:31:20.2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2" creationId="{00000000-0000-0000-0000-000000000000}"/>
      <ac:txMk cp="0" len="48">
        <ac:context len="49" hash="1954804131"/>
      </ac:txMk>
    </ac:txMkLst>
    <p188:pos x="6918960" y="249555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96FBB3-2923-43B6-9E03-1D1434B277B8}" authorId="{0A9B0316-D830-F671-275E-34A370945443}" created="2026-10-07T10:24:52.5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spMk id="2" creationId="{00000000-0000-0000-0000-000000000000}"/>
      <ac:txMk cp="7" len="37">
        <ac:context len="45" hash="2509057227"/>
      </ac:txMk>
    </ac:txMkLst>
    <p188:pos x="6088134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ADB7F4-31D0-4AFE-AEE6-0EEFF3083965}" authorId="{0A9B0316-D830-F671-275E-34A370945443}" created="2026-10-08T01:23:33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8"/>
      <ac:spMk id="17" creationId="{160EEC25-4972-908C-925E-BF58BC7057D6}"/>
    </ac:deMkLst>
    <p188:txBody>
      <a:bodyPr/>
      <a:lstStyle/>
      <a:p>
        <a:r>
          <a:rPr lang="th-TH"/>
          <a:t>ใส่อ้างอิงด้านล่าง</a:t>
        </a:r>
      </a:p>
    </p188:txBody>
  </p188:cm>
</p188:cmLst>
</file>

<file path=ppt/comments/modernComment_13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6AD249-C3DC-4176-A527-9C193DFEA909}" authorId="{0A9B0316-D830-F671-275E-34A370945443}" created="2026-10-08T01:14:10.8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2"/>
      <ac:spMk id="5" creationId="{8CCD2FE3-5FA4-6FCC-821C-CADAB59A065C}"/>
      <ac:txMk cp="0" len="27">
        <ac:context len="219" hash="1384333705"/>
      </ac:txMk>
    </ac:txMkLst>
    <p188:pos x="2332212" y="670068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4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2F846-BA5A-46E3-B3B7-08FF94D250EE}" authorId="{0A9B0316-D830-F671-275E-34A370945443}" created="2026-10-08T01:43:29.0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24"/>
      <ac:spMk id="2" creationId="{00000000-0000-0000-0000-000000000000}"/>
    </ac:deMkLst>
    <p188:txBody>
      <a:bodyPr/>
      <a:lstStyle/>
      <a:p>
        <a:r>
          <a:rPr lang="th-TH"/>
          <a:t>ควรเพิ่มเรื่องการสร้างไปน่าจะดี ตอนนี้มีแค่อธิบาย</a:t>
        </a:r>
      </a:p>
    </p188:txBody>
  </p188:cm>
</p188:cmLst>
</file>

<file path=ppt/comments/modernComment_15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DC757A-A058-41D7-AEB5-3EA627F3923E}" authorId="{0A9B0316-D830-F671-275E-34A370945443}" created="2026-10-08T03:43:41.1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45"/>
      <ac:spMk id="13" creationId="{73677E1E-47ED-2923-A644-BB04A876C50E}"/>
    </ac:deMkLst>
    <p188:txBody>
      <a:bodyPr/>
      <a:lstStyle/>
      <a:p>
        <a:r>
          <a:rPr lang="th-TH"/>
          <a:t>ใส่รูป</a:t>
        </a:r>
      </a:p>
    </p188:txBody>
  </p188:cm>
</p188:cmLst>
</file>

<file path=ppt/comments/modernComment_16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1036FB-97C7-4622-8198-88FF1EF02BCC}" authorId="{0A9B0316-D830-F671-275E-34A370945443}" created="2026-10-08T04:15:25.9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1"/>
      <ac:spMk id="2" creationId="{00000000-0000-0000-0000-000000000000}"/>
      <ac:txMk cp="0" len="70">
        <ac:context len="71" hash="3733760106"/>
      </ac:txMk>
    </ac:txMkLst>
    <p188:pos x="10237347" y="256622"/>
    <p188:txBody>
      <a:bodyPr/>
      <a:lstStyle/>
      <a:p>
        <a:r>
          <a:rPr lang="th-TH"/>
          <a:t>เป็นต้นไปใส่รูป</a:t>
        </a:r>
      </a:p>
    </p188:txBody>
  </p188:cm>
</p188:cmLst>
</file>

<file path=ppt/comments/modernComment_177_CF6699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C9DC39-9005-48C5-8618-AF2646315CD6}" authorId="{0A9B0316-D830-F671-275E-34A370945443}" created="2026-10-08T01:10:31.0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79607662" sldId="375"/>
      <ac:spMk id="4" creationId="{8EDB89EB-2EA3-83B7-0C1E-A4D74841EF45}"/>
      <ac:txMk cp="58" len="1">
        <ac:context len="89" hash="2585920713"/>
      </ac:txMk>
    </ac:txMkLst>
    <p188:pos x="8093915" y="257605"/>
    <p188:txBody>
      <a:bodyPr/>
      <a:lstStyle/>
      <a:p>
        <a:r>
          <a:rPr lang="th-TH"/>
          <a:t>ใส่รูป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29F7-3B8A-49A8-8D51-0B0B64BF80C0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DEAAF-1AC6-4292-8FFD-E94BA42EBA0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593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DEAAF-1AC6-4292-8FFD-E94BA42EBA0A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5662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ข้อความบนสไลด์ 6 บรรทัดนี้เป็นความรู้ทั่วไปที่ยังไม่มีแหล่งอ้างอิง — เริ่มต้นด้วย: ขั้นวางแผน: ใช้ระดับความสูงและ… / ขั้นออกแบบ: วิศวกรใช้ระดับและค… / ขั้นก่อสร้าง: ผู้รับเหมาถ่ายทอ… / ผลต่อเนื่อง: ทุกขั้นอ้างอิงข้อ… / ที่มาที่ตรวจพบ งานสำรวจใช้ในกา… / หากการก่อสร้างมีความคลาดเคลื่อ…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ข้อมูลภูมิประเทศเป็นข้อมูลพื้นฐานที่สุดของงานวางแผน, ออกแบบ, และก่อสร้าง ได้แก่ ระดับความสูง, ความลาดชัน, ขอบเขตพื้นที่, และตำแหน่งของสิ่งปลูกสร้าง</a:t>
            </a:r>
          </a:p>
          <a:p>
            <a:r>
              <a:t>ผลต่อเนื่อง: ทุกขั้นอ้างอิงข้อมูลชุดเดียวกัน ความผิดพลาดตั้งแต่ต้นจึงส่งต่อไปถึงงบประมาณและความปลอดภัยของโครงสร้าง</a:t>
            </a:r>
          </a:p>
          <a:p>
            <a:r>
              <a:t>ตัวอย่างความสำคัญของข้อมูลภูมิประเทศต่อการออกแบบและก่อสร้าง</a:t>
            </a:r>
          </a:p>
          <a:p>
            <a:r>
              <a:t>ขั้นวางแผน: ใช้ระดับความสูงและขอบเขตพื้นที่เปรียบเทียบทางเลือกของแนวโครงการ ว่าแนวใดผ่านพื้นที่ลาดชัน พื้นที่ลุ่ม หรือพื้นที่ที่มีสิ่งปลูกสร้างเดิม เพื่อเลือกแนวที่ก่อสร้างได้จริงและกระทบน้อยที่สุดก่อนตัดสินใจลงทุน</a:t>
            </a:r>
          </a:p>
          <a:p>
            <a:r>
              <a:t>ขั้นออกแบบ: วิศวกรใช้ระดับและความลาดชันของพื้นดินกำหนดระดับถนน ความลาดของคลอง ระดับพื้นอาคาร และตำแหน่งสิ่งปลูกสร้างให้ตรงกับพื้นที่จริง หากข้อมูลผิด แบบที่ได้ก็ผิดตามไปทั้งชุด</a:t>
            </a:r>
          </a:p>
          <a:p>
            <a:r>
              <a:t>ขั้นก่อสร้าง: ผู้รับเหมาถ่ายทอดตำแหน่งและระดับจากแบบลงสู่พื้นที่จริง (ปักหมุดแนว) และเทียบปริมาณงานที่ทำจริงกับแบบ โดยใช้ข้อมูลภูมิประเทศชุดเดียวกัน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ตัวอย่างการใช้ข้อมูลภูมิประเทศในงานออกแบบและก่อสร้าง</a:t>
            </a:r>
          </a:p>
          <a:p>
            <a:r>
              <a:t>ใช้คำนวณปริมาณงานดิน: ได้ปริมาตรดินตัดและดินถม ใช้ประมาณราคา จำนวนเที่ยวขนดิน และตรวจรับงาน เช่น การถมปรับพื้นที่ก่อสร้างโรงงาน</a:t>
            </a:r>
          </a:p>
          <a:p>
            <a:r>
              <a:t>ประเมินพื้นที่เสี่ยงน้ำท่วมและการกัดเซาะ: พื้นที่ใดมีระดับต่ำกว่าระดับน้ำที่คาดว่าจะท่วม และทางน้ำหรือพื้นที่ลาดชันตรงไหนน้ำไหลเร็วจนเสี่ยงถูกกัดเซาะ ใช้เลือกตำแหน่งตั้งอาคารและวางแนวคันป้องกัน</a:t>
            </a:r>
          </a:p>
          <a:p>
            <a:r>
              <a:t>กำหนดแนวทางระบายน้ำ: ดูระดับพื้นดินเพื่อวางแนวคูหรือท่อให้มีความลาดต่อเนื่องไปสู่จุดปลายน้ำ เช่น ทางน้ำสาธารณะ โดยไม่มีจุดที่น้ำขังค้างระหว่างทาง</a:t>
            </a:r>
          </a:p>
          <a:p>
            <a:r>
              <a:t>หากการก่อสร้างมีความคลาดเคลื่อนมากกว่าเกณฑ์ที่ยอมรับได้ จะส่งผลให้ โครงสร้างตั้งผิดตำแหน่งหรือระดับ ต้องรื้อแก้ไขงาน ปริมาณวัสดุคลาดเคลื่อนจากแบบ และเกิดความเสี่ยงต่อความปลอดภัยของโครงสร้าง ดังนั้นจึงต้องเลือกใช้วิธีการสำรวจและเทคโนโลยีที่เหมาะสม เพื่อให้การก่อสร้างเป็นไปตามแบบที่กำหนด ทั้งในด้านตำแหน่งและระดับ ความปลอดภัย รวมถึงช่วยลดต้นทุนและเวลาในการก่อสร้าง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ยุคดั้งเดิม</a:t>
            </a:r>
          </a:p>
          <a:p>
            <a:r>
              <a:t>ใช้เทปวัดระยะ, กล้องระดับ, และกล้องวัดมุม ต้องอาศัยกำลังคนและเวลาในสนามมาก</a:t>
            </a:r>
          </a:p>
          <a:p>
            <a:r>
              <a:t>ยุคอิเล็กทรอนิกส์</a:t>
            </a:r>
          </a:p>
          <a:p>
            <a:r>
              <a:t>กล้อง Total Station และเครื่องรับสัญญาณดาวเทียม GNSS ช่วยให้วัดได้เร็วและบันทึกข้อมูลเป็นดิจิทัล</a:t>
            </a:r>
          </a:p>
          <a:p>
            <a:r>
              <a:t>ยุคปัจจุบัน</a:t>
            </a:r>
          </a:p>
          <a:p>
            <a:r>
              <a:t>UAV/Drone และ LiDAR เก็บข้อมูลได้ครอบคลุมพื้นที่กว้างในเวลาสั้น ผลลัพธ์เปลี่ยนจากข้อมูลเป็นจุดไม่กี่จุด เป็นข้อมูลพื้นผิวที่ประกอบด้วยจุดจำนวนมาก</a:t>
            </a:r>
          </a:p>
          <a:p>
            <a:r>
              <a:t>ที่มาภาพ: USGS (สาธารณสมบัติ); รัตนพันธ์ และคณะ (2568); Thammaboribal, Tripathi และ Lipiloet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Digital Survey คือการสำรวจที่ข้อมูลเป็นดิจิทัลตลอดกระบวนการ ตั้งแต่การเก็บข้อมูล การประมวลผล จนถึงการส่งมอบ ข้อมูลที่ได้นำไปใช้ต่อในระบบ CAD, GIS และ BIM ได้โดยตรง ลดการคัดลอกและแปลงข้อมูลซ้ำ</a:t>
            </a:r>
          </a:p>
          <a:p>
            <a:r>
              <a:t>ผลลัพธ์ที่ได้คือช่วยลดระยะเวลาปฏิบัติงานภาคสนาม ลดความเสี่ยงของผู้ปฏิบัติงานในพื้นที่อันตราย และตรวจสอบย้อนกลับได้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ความคลาดเคลื่อนรวมกันทำให้ GNSS ที่ไม่ปรับแก้คลาดเคลื่อนราว 5–10 เมตร จึงต้องปรับแก้ก่อนนำไปใช้ในงานสำรวจ (ที่มา: swiftnav.com) ที่มาของข้อความที่เพิ่ม: cartrack.co.th/blog/gnss-khuue-aair, swiftnav.com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GNSS (Global Navigation Satellite System) คือระบบดาวเทียมนำร่องที่ให้บริการระบุตำแหน่งครอบคลุมทั่วโลก ดาวเทียมส่งสัญญาณให้เครื่องรับนำไปคำนวณพิกัดบนผิวโลก การใช้หลายระบบร่วมกัน (เช่น GPS กับ GLONASS) ช่วยเพิ่มความแม่นยำและการครอบคลุม เช่น ถ้าสัญญาณ GPS ขาดในพื้นที่ที่ถูกบัง ระบบอื่นช่วยได้</a:t>
            </a:r>
          </a:p>
          <a:p>
            <a:r>
              <a:t>ตารางที่ 2.1 ตัวอย่างระบบ GNSS</a:t>
            </a:r>
          </a:p>
          <a:p>
            <a: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  <a:p>
            <a: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r>
              <a:t>วงโคจรดาวเทียม: ดาวเทียมโคจรเบี่ยงจากเส้นทางที่คาดไว้เล็กน้อย</a:t>
            </a:r>
          </a:p>
          <a:p>
            <a:r>
              <a:t>สัญญาณสะท้อน (Multipath): เครื่องรับได้สัญญาณเดียวกันหลายสำเนาเมื่อสะท้อนอาคารหรือต้นไม้</a:t>
            </a:r>
          </a:p>
          <a:p>
            <a:r>
              <a:t>ภาพที่ 2.1 รูปแสดงตัวอย่างระบบ GNSS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DGNSS (Differential GNSS): เทียบการวัดของเครื่อง Rover กับสถานีอ้างอิงที่ทราบพิกัด แล้วส่งค่าแก้ระยะ (Pseudorange Correction) ของดาวเทียมแต่ละดวง เพื่อกำจัดความคลาดเคลื่อนที่ทั้งสองเครื่องได้รับร่วมกัน ให้ความถูกต้องระดับต่ำกว่า 1 เมตรภายในระยะจำกัด (ที่มา: swiftnav.com) รอตรวจแหล่ง: SBAS (Satellite-Based Augmentation System): สถานีอ้างอิงภาคพื้นดินคำนวณค่าแก้ แล้วส่งผ่านดาวเทียมค้างฟ้า ครอบคลุมพื้นที่กว้างโดยไม่ต้องมีโครงสร้างพื้นฐานในพื้นที่ ให้ความถูกต้องราว 1–3 เมตร (ที่มา: swiftnav.com) รอตรวจแหล่ง: RTK (Real-Time Kinematic): ใช้การวัดเฟสคลื่นพาห์ (Carrier Phase) ร่วมกับข้อมูลรหัส แล้วแก้ค่าจำนวนเต็มไม่ทราบค่า (Integer Ambiguity) ด้วยการหาผลต่างสองชั้น (Double Differencing) ให้ความถูกต้องระดับ 1–2 เซนติเมตร ใช้เวลาเริ่มต้นราว 5 วินาที แต่ต้องอยู่ห่างสถานีฐานไม่เกินราว 20–30 กิโลเมตร (ที่มา: swiftnav.com) รอตรวจแหล่ง: PPP (Precise Point Positioning): ใช้ค่าแก้วงโคจร นาฬิกาดาวเทียม และบรรยากาศ จากสถานีอ้างอิงที่กระจายทั่วโลก ให้ความถูกต้องระดับเซนติเมตรทั่วโลก แต่ต้องรอให้ค่าลู่เข้าราว 10–30 นาที (ที่มา: swiftnav.com) รอตรวจแหล่ง: PPP-RTK: รวมการครอบคลุมทั่วโลกของ PPP เข้ากับการลู่เข้าเร็วของ RTK โดยส่งค่าแก้แยกเป็นองค์ประกอบ (State Space Representation, SSR) ที่ใช้ได้ทั้งภูมิภาค ให้ความถูกต้องราว 3–7 เซนติเมตร เริ่มต้นราว 10–30 วินาที (ที่มา: swiftnav.com) ที่มาของข้อความที่เพิ่ม: swiftnav.com ที่มา: https://www.swiftnav.com/resource/blog/what-are-the-different-types-of-gnss-corrections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GNSS Correction คือ ข้อมูลแก้ค่าที่ส่งให้เครื่องรับ เพื่อหักล้างความคลาดเคลื่อนข้างต้นออกจากพิกัดที่คำนวณได้ ประกอบด้วยวิธีดังนี้</a:t>
            </a:r>
          </a:p>
          <a:p>
            <a:r>
              <a:t>ตารางที่ 2.2 ตัวอย่าง GNSS 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Static Survey (การรังวัดแบบสถิต):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 รอตรวจแหล่ง: ระดับความแม่นยำและการใช้งาน: ให้ความถูกต้องสูงที่สุดระดับมิลลิเมตรถึงซับเซนติเมตร (±3–10 มม.) จึงเป็นวิธีมาตรฐานสำหรับสร้างและขยายโครงข่าย หมุดควบคุมหลัก (Control Networks/Benchmarks) งานรังวัดทางธรณีวิทยา งานติดตามการเคลื่อนตัวของโครงสร้าง และการรังวัดเชื่อมโยงกับระบบพิกัดหลักของประเทศ รอตรวจแหล่ง: 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 (ที่มา: apeksgnss.com/blog/what-is-static-gnss-survey-explained) รอตรวจแหล่ง: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 (ที่มา: apeksgnss.com/blog/what-is-static-gnss-survey-explained) รอตรวจแหล่ง: ให้ความถูกต้องสูงกว่า RTK: Static ประมาณ ±3–10 มม. ทางราบ และ ±5–15 มม. ทางดิ่ง ส่วน RTK ประมาณ ±8–15 มม. ทางราบ เพราะสังเกตนานทำให้แก้ค่า Ambiguity ได้น่าเชื่อถือและเฉลี่ยความคลาดเคลื่อนจากบรรยากาศได้ดีกว่า (ที่มา: apeksgnss.com) รอตรวจแหล่ง: เหมาะกับงานสร้างโครงข่ายหมุดควบคุม งานควบคุมทางธรณีมาตรและที่ดิน และงานติดตามการทรุดตัวหรือการเคลื่อนตัวของโครงสร้าง ซึ่งความละเอียดระดับ ±3 มม. ตรวจจับการเคลื่อนที่ที่ RTK มองไม่เห็นได้ (ที่มา: apeksgnss.com) รอตรวจแหล่ง: ข้อแลกเปลี่ยน: ต้องประมวลผลภายหลัง ใช้เวลา 20 นาทีถึงหลายชั่วโมงต่อจุด ขณะที่ RTK ได้ผลทันทีและใช้เวลาราว 10–30 วินาทีต่อจุด จึงเหมาะกับงานปักหมุดและสำรวจรายละเอียด (ที่มา: apeksgnss.com) ที่มาของข้อความที่เพิ่ม: apeksgnss.com/blog/what-is-static-gnss-survey-explained</a:t>
            </a:r>
          </a:p>
          <a:p>
            <a:endParaRPr/>
          </a:p>
          <a:p>
            <a:r>
              <a:t>อ้างอิงต้นทาง: [29][30][31][32][33][34][35]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Static Survey (การรังวัดแบบสถิต)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</a:t>
            </a:r>
          </a:p>
          <a:p>
            <a:r>
              <a:t>หลักการของ Static Survey   </a:t>
            </a:r>
          </a:p>
          <a:p>
            <a:r>
              <a:t>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</a:t>
            </a:r>
          </a:p>
          <a:p>
            <a:r>
              <a:t>ขั้นตอน</a:t>
            </a:r>
          </a:p>
          <a:p>
            <a:r>
              <a:t>แปลงไฟล์ดิบเป็น RINEX</a:t>
            </a:r>
          </a:p>
          <a:p>
            <a:r>
              <a:t>ประมวลผลเส้นฐาน (Baseline) ระหว่างจุดที่ตั้งเครื่อง </a:t>
            </a:r>
          </a:p>
          <a:p>
            <a: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  <a:p>
            <a:r>
              <a:t>หมายเหตุ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</a:t>
            </a:r>
          </a:p>
          <a:p>
            <a:r>
              <a:t>ภาพที่ 2.4 Static Survey ที่มา: https://geo-matching.com/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CORS (Continuously Operating Reference Station): สถานีรับสัญญาณ GNSS ถาวรที่บันทึกข้อมูลตลอด 24 ชั่วโมง รอตรวจแหล่ง: LRTN (กรมที่ดิน): เครือข่ายสถานีมากกว่า 600 สถานีทั่วประเทศ ออกแบบรองรับงานรังวัดที่ดิน ออกโฉนด อ้างอิงระบบพิกัด WGS84 และแปลงเป็น Indian 1975 (UTM)</a:t>
            </a:r>
          </a:p>
          <a:p>
            <a:endParaRPr/>
          </a:p>
          <a:p>
            <a:r>
              <a:t>อ้างอิงต้นทาง: [37][39][40][41][42][43][36][28][38]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ระบบอ้างอิงพิกัด (Coordinate Reference Systems) การรังวัดด้วย GNSS ได้ค่าพิกัดบนทรงรีสากล (เช่น WGS84 หรือ ITRF) จึงต้องนำมาผ่านกระบวนการแปลงพิกัด (On-site Calibration / Localization) เพื่อให้อยู่ในระบบพิกัดฉากราบท้องถิ่น (เช่น UTM หรือ Indian 1975) และใช้แบบจำลองยีออยด์ (เช่น TGM2017) ในการแปลงความสูงเหนือทรงรี (Ellipsoidal Height) เป็นความสูงออร์โทเมตริกเหนือระดับทะเลปานกลาง (Orthometric Height)</a:t>
            </a:r>
          </a:p>
          <a:p>
            <a:r>
              <a:t>CORS (Continuously Operating Reference Station)คือสถานีรับสัญญาณ GNSS ที่ติดตั้งถาวรบนพิกัดที่รู้ค่าแน่นอน และรับสัญญาณดาวเทียมต่อเนื่องตลอด 24 ชั่วโมง เพื่อคำนวณค่าแก้ความคลาดเคลื่อนส่งให้ผู้ใช้ผ่านอินเทอร์เน็ต</a:t>
            </a:r>
          </a:p>
          <a:p>
            <a:r>
              <a:t>ตารางที่ 2.3 เครือข่าย CORS ในประเทศไทย</a:t>
            </a:r>
          </a:p>
          <a:p>
            <a:r>
              <a:t>ทำหน้าที่เป็นสถานีฐาน (Base Station) ถาวร ผู้ใช้งานจึงสามารถหาตำแหน่งที่มีความแม่นยำระดับเซนติเมตรแบบเวลาจริง (Real-time) ได้ทันที โดยไม่จำเป็นต้องจัดหาหมุดควบคุมเพื่อติดตั้งสถานีฐานของตนเองทุกครั้ง นอกจากนี้ พิกัดที่ได้จากงานทุกชิ้นยังอ้างอิงอยู่ในกรอบอ้างอิงเดียวกันของเครือข่าย และข้อมูลสังเกตการณ์ที่สถานีบันทึกสะสมไว้ยังสามารถนำไปประมวลผลภายหลัง เพื่อสร้างหมุดควบคุมได้อีกด้วย เครือข่าย CORS ในประเทศไทย มีดังนี้</a:t>
            </a:r>
          </a:p>
          <a:p>
            <a:r>
              <a:t>ภาพที่ 2.4 Static Survey ที่มา: https://gistda.or.th/th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[28][46][32][48]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2.4 การประยุกต์ใช้ GNSS ในงานสำรวจภูมิประเทศ</a:t>
            </a:r>
          </a:p>
          <a:p>
            <a:r>
              <a:t>ภาพที่ 2.5 มาตรฐานงานรังวัดที่ดิน ที่มา: https://www.dol.go.th/trat/cate-1769393600/news-1774493637/</a:t>
            </a:r>
          </a:p>
          <a:p>
            <a:r>
              <a:t>ภาพที่ 2.6 งานสำรวจรายละเอียดและทำงานร่วมกับโดรน </a:t>
            </a:r>
            <a:br/>
            <a:r>
              <a:t>ที่มา: https://3dsurvey.si/products/ground-control-targets/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[1][2][4][6][14]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หลักการคือ กล้อง Total Station เป็นการพัฒนาเครื่องมือวัดสำรวจโดยรวมกล้องวัดมุมดิจิทัล (Digital Theodolite) เข้ากับเครื่องวัดระยะทางด้วยคลื่นอิเล็กทรอนิกส์ (EDM) และไมโครโพรเซสเซอร์บันทึกประมวลผลไว้ในเครื่องเดียวกัน</a:t>
            </a:r>
          </a:p>
          <a:p>
            <a:r>
              <a:t>วัตถุประสงค์</a:t>
            </a:r>
          </a:p>
          <a:p>
            <a:r>
              <a:t>รังวัดมุม ระยะทาง และคำนวณตำแหน่ง 3 มิติของจุดต่าง ๆ</a:t>
            </a:r>
          </a:p>
          <a:p>
            <a: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r>
              <a:t>งานที่ต้องการความถูกต้องละเอียดประณีตระดับมิลลิเมตร เช่น งานก่อสร้างและงานโครงสร้าง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[3][1][4][5]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หมายเหตุ การหาความสูงวิธีนี้ไม่ใช่การถ่ายระดับด้วยกล้องระดับ (Differential Leveling) ความแม่นยำแนวดิ่งจะลดลงเมื่อระยะเล็งไกล จึงไม่ควรใช้ทดแทนการถ่ายระดับเพื่อกำหนดค่าระดับของหมุด BM</a:t>
            </a:r>
          </a:p>
          <a:p>
            <a:r>
              <a:t>ตารางที่ 3.1 รายละเอียดการรังวัดมุม ระยะทาง และระดับ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การรังวัดย้อนหาตำแหน่งตั้งกล้อง (Resection): 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 รอตรวจแหล่ง: หมายเหตุ: ชุดมาตรฐาน ISO 17123 (เช่น ส่วนที่ 5 สำหรับ Total Station) เป็นขั้นตอนทดสอบความแม่นยำของตัวเครื่องมือ ไม่ใช่เกณฑ์ปิดวงรอบของ Traverse [รอตรวจสอบที่มาของอ้างอิง  เดิมที่ระบุ ISO 17123-3]</a:t>
            </a:r>
          </a:p>
          <a:p>
            <a:endParaRPr/>
          </a:p>
          <a:p>
            <a:r>
              <a:t>อ้างอิงต้นทาง: [5][7][6][9]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Total Station บันทึกพิกัดของแต่ละจุดพร้อมรหัสรายละเอียด (Feature Code) เช่น ขอบถนน เสาไฟ ต้นไม้ ลงในตัวเครื่องหรือตัวเก็บข้อมูลระหว่างรังวัด เมื่อส่งออกไฟล์ไปยังโปรแกรม CADD หรือ GIS ซอฟต์แวร์จะอ่านรหัสเหล่านี้เพื่อลากเส้นและใส่สัญลักษณ์ตามชนิดของจุดให้อัตโนมัติ จึงสร้างแผนที่ภูมิประเทศได้เลยโดยไม่ต้องพิมพ์พิกัดซ้ำและไม่ต้องจำว่าแต่ละจุดคืออะไร ลดทั้งเวลาและโอกาสคัดลอกผิดครับ</a:t>
            </a:r>
          </a:p>
          <a:p>
            <a:r>
              <a:t>ตารางที่ 3.2 รายละเอียดสำรวจรายละเอียดภูมิประเทศ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[11][12][4][14][13][6]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จุดเด่นที่เสริมซึ่งกันและกัน: GNSS มีประสิทธิภาพสูงในพื้นที่เปิดโล่งและครอบคลุมระยะทางไกล ส่วน Total Station เหมาะอย่างยิ่งสำหรับพื้นที่อับสัญญาณดาวเทียม เช่น ภายในอาคาร ตรอกซอกซอย หรือใต้เรือนยอดไม้หนาแน่น รวมถึงงานที่ต้องการความถูกต้องละเอียดประณีตระดับมิลลิเมตร</a:t>
            </a:r>
          </a:p>
          <a:p>
            <a:r>
              <a:t>การสร้างและส่งต่อหมุดควบคุม: ใช้ GNSS (เช่น NRTK หรือ Radio RTK) รังวัดกำหนดหมุดควบคุมหลักภายนอกอาคาร (เช่น BM1, BM2) แล้วใช้ Total Station ส่องอ้างอิง Backsight เดินวงรอบต่อเข้าไปเก็บรายละเอียดในพื้นที่อับสัญญาณหรือภายในอาคาร (เช่น BM3, BM4)</a:t>
            </a:r>
          </a:p>
          <a:p>
            <a:r>
              <a:t>งานก่อสร้างและงานโครงสร้าง: ใช้ GNSS วางผังภาพรวมโครงการ แล้วใช้ Total Station ตรวจสอบแนวดิ่ง (Plumbness) ตั้งแนวเสา ฐานราก และติดตามการเคลื่อนตัวของโครงสร้าง</a:t>
            </a:r>
          </a:p>
          <a:p>
            <a:r>
              <a:t>การยึดโยงระบบพิกัด: การรังวัดด้วย Total Station โดยอ้างอิงจากหมุดควบคุม GNSS ช่วยให้ข้อมูลรายละเอียดทั้งหมดถูกยึดโยงเข้ากับระบบพิกัดอ้างอิงของประเทศ (เช่น UTM, Indian 1975, WGS84 หรือ ITRF) อย่างถูกต้องและเป็นมาตรฐานเดียวกัน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ส่วนซ้อนในแนวบิน (Forward Overlap): กำหนดให้อยู่ที่ 70–80% (เกณฑ์มาตรฐานทั่วไปแนะนำไม่น้อยกว่า 75%) เพื่อให้รูปภาพประชิดมีจุดเด่นร่วมกันเพียงพอสำหรับการประมวลผลปรับเกลี่ยบล็อกภาพถ่าย (Bundle Adjustment) รอตรวจแหล่ง: ส่วนเกยระหว่างแนวบิน (Sidelap): กำหนดให้อยู่ที่ 60–75% (เกณฑ์มาตรฐานทั่วไปแนะนำไม่น้อยกว่า 60%) เพื่อเชื่อมโยงโครงข่ายภาพถ่ายทางข้าง ลดความบิดเบี้ยวบริเวณขอบพื้นที่ ที่มาของข้อความที่เพิ่ม: Thammaboribal et al. 2026, Thammaboribal et al. 2026 (ไฟล์ 4861-Article Text… ในโฟลเดอร์ 6) และ Semantic Scholar PDF จาก links.txt บท 4</a:t>
            </a:r>
          </a:p>
          <a:p>
            <a:endParaRPr/>
          </a:p>
          <a:p>
            <a:r>
              <a:t>อ้างอิงต้นทาง: [1][3]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หลักการทำงานแบบ Passive Sensing: UAV Photogrammetry เป็นการสำรวจระยะไกลแบบไม่ยิงลำแสงสะท้อน (Passive) โดยถ่ายภาพทางอากาศ 2 มิติหลายๆ ภาพจากมุมมองที่ต่างกันและมีส่วนทับซ้อนกัน แล้วนำมาคำนวณสร้างเรขาคณิต 3 มิติด้วยหลักการทางคณิตศาสตร์แบบสามเหลี่ยม (Triangulation)</a:t>
            </a:r>
          </a:p>
          <a:p>
            <a:r>
              <a:t>กระบวนการประมวลผลภาพถ่าย แบ่งออกได้เป็น 2 แบบ</a:t>
            </a:r>
          </a:p>
          <a:p>
            <a:r>
              <a:t>Structure from Motion (SfM): ตรวจจับและจับคู่จุดลักษณะเด่น (Feature Matching) ข้ามภาพถ่าย เพื่อประเมินตำแหน่ง ทิศทาง และค่าพารามิเตอร์ของกล้อง พร้อมสร้างกลุ่มเมฆจุดแบบโปร่ง (Sparse Point Cloud)[1] </a:t>
            </a:r>
          </a:p>
          <a:p>
            <a:r>
              <a:t>ตรวจหาจุดลักษณะเด่นด้วยตัวตรวจจับ เช่น SIFT หรือ SURF แล้วจับคู่ระหว่างคู่ภาพ และตัดจุดที่จับคู่ผิดพลาดออกด้วยการประมาณค่าที่ทนต่อค่าผิดปกติ (Robust Estimation)</a:t>
            </a:r>
          </a:p>
          <a:p>
            <a:r>
              <a:t>ปรับเกลี่ยบล็อกภาพ (Bundle Adjustment) เพื่อประมาณตำแหน่งและทิศทางของกล้องแต่ละภาพ (Exterior Orientation) ร่วมกับพิกัด 3 มิติของจุดที่จับคู่ได้</a:t>
            </a:r>
          </a:p>
          <a:p>
            <a:r>
              <a:t>เมื่อใส่ GCP ซอฟต์แวร์จะนำพิกัดที่รังวัดมารวมในการปรับแก้ ช่วยเพิ่มความถูกต้องสัมบูรณ์และลดความบิดเบี้ยวทางเรขาคณิต</a:t>
            </a:r>
          </a:p>
          <a:p>
            <a:r>
              <a:t>Multi-View Stereo (MVS): คำนวณข้อมูลความลึก (Depth Map) จากหลายภาพที่มองเห็นพื้นที่เดียวกัน เพื่อสร้างกลุ่มเมฆจุดความหนาแน่นสูง (Dense Point Cloud) และพื้นผิว 3D Mesh[1] </a:t>
            </a:r>
          </a:p>
          <a:p>
            <a:r>
              <a:t>ดำเนินการต่อจากผลการจัดแนวภาพ (Image Alignment) ของ SfM</a:t>
            </a:r>
          </a:p>
          <a:p>
            <a:r>
              <a:t>จากกลุ่มเมฆจุดหนาแน่นนี้ สร้าง DSM และแบบจำลอง 3D Mesh ที่มีพื้นผิวได้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สัดส่วนส่วนซ้อนและส่วนเกย (Overlap &amp; Sidelap)</a:t>
            </a:r>
          </a:p>
          <a:p>
            <a:r>
              <a:t>ส่วนซ้อนในแนวบิน (Forward Overlap): 70–80% (โดยทั่วไปแนะนำไม่น้อยกว่า 75%) เพื่อให้ภาพที่อยู่ติดกันมีจุดเด่นร่วมกันเพียงพอสำหรับการปรับเกลี่ยบล็อกภาพถ่าย (Bundle Adjustment)</a:t>
            </a:r>
          </a:p>
          <a:p>
            <a:r>
              <a:t>ส่วนเกยระหว่างแนวบิน (Sidelap): 60–75% (โดยทั่วไปแนะนำไม่น้อยกว่า 60%) เพื่อเชื่อมภาพระหว่างแนวบินข้างเคียงให้เป็นโครงข่ายเดียวกัน และลดความบิดเบี้ยวบริเวณขอบพื้นที่</a:t>
            </a:r>
          </a:p>
          <a:p>
            <a:r>
              <a:t>ภาพที่ 4.3 แผนภาพแสดงส่วนซ้อนในแนวบิน (Forward Overlap) และส่วนเกยระหว่างแนวบิน (Sidelap)</a:t>
            </a:r>
          </a:p>
          <a:p>
            <a:r>
              <a:t>แผนภาพเชิงแนวคิด (จัดทำขึ้นประกอบการบรรยาย)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ระยะพื้นต่อพิกเซล (Ground Sampling Distance - GSD): ระยะทางจริงบนดินที่ครอบคลุมโดย 1 พิกเซลในภาพถ่าย (เช่น 1–3. ซม./พิกเซล) ค่า GSD ยิ่งเล็ก ภาพจะยิ่งมีความละเอียดและให้ความถูกต้องเชิงตำแหน่งสูงขึ้น รอตรวจแหล่ง: GCP (Ground Control Point): เป้าบนพื้นดินรูปกากบาทหรือตารางหมากรุกที่มีสีตัดกับพื้นผิว (ขนาดกว้าง/ยาวไม่น้อยกว่า 25 เท่าของค่า GSD) ซึ่งผ่านการรังวัดพิกัดจริงด้วย GNSS RTK ใช้ดึงและยึดโยงโมเดลเข้ากับระบบพิกัดจริงบนดิน ขจัดความคลาดเคลื่อนทางเรขาคณิต (เช่น ปัญหารูปทรงแอ่นโค้งแบบ Doming Effect) รอตรวจแหล่ง: *Consumer Grade (โดรนทั่วไป)*: ใช้ GCP อย่างน้อย 9 จุด ต่อบล็อกการบิน กระจายสม่ำเสมอห่างกันไม่เกิน 200 เมตร รอตรวจแหล่ง: *Professional Grade*: ใช้ GCP อย่างน้อย 5 จุด ระยะห่างไม่เกิน 500 เมตร รอตรวจแหล่ง: *Survey Grade (โดรน RTK/PPK)*: ใช้ GCP เพียง 2 จุดขึ้นไป ต่อเที่ยวบิน เพื่อควบคุมและดึงระดับพิกัด</a:t>
            </a:r>
          </a:p>
          <a:p>
            <a:endParaRPr/>
          </a:p>
          <a:p>
            <a:r>
              <a:t>อ้างอิงต้นทาง: [10][8][14][24][12][15][5][20][21][22][23]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ความสูงบิน (Flight Altitude): กำหนดขอบเขตพื้นที่ครอบคลุมและความละเอียดภาพ โดยสัมพันธ์กับทางยาวโฟกัส (Focal Length) และขนาดเซนเซอร์กล้อง</a:t>
            </a:r>
          </a:p>
          <a:p>
            <a:r>
              <a:t>รูปแบบบล็อกการบิน: นิยมบินเป็นตารางสี่เหลี่ยมมุมฉาก (Grid Flight Line) เพื่อความแข็งแรงของโครงข่ายการประมวลผล</a:t>
            </a:r>
          </a:p>
          <a:p>
            <a:r>
              <a:t>Checkpoint (CP): หมุดที่รังวัดพิกัดจริงด้วย RTK แต่ไม่ถูกนำไปใช้ดึงโมเดล มีไว้สำหรับเปรียบเทียบค่าพิกัดกับโมเดล 3D เพื่อคำนวณค่า RMSE ในการประเมินความถูกต้องสัมบูรณ์อย่างเที่ยงตรง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[5][3][30]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4.1 หลักการสร้าง Orthophoto และ Digital Surface Model (DSM)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Multirotor (โดรนหลายใบพัด): ขึ้น-ลงทางดิ่งได้สะดวก เหมาะสำหรับพื้นที่ขนาดเล็กถึงปานกลาง (ประมาณ 1–5 ตร.กม.) และงานเก็บรายละเอียดอาคาร/โครงสร้าง รอตรวจแหล่ง: Fixed-Wing / VTOL (โดรนปีกไฟว์ / โดรนปีกไฟว์ขึ้นลงทางดิ่ง): บินได้ไกลและนาน ครอบคลุมพื้นที่ได้หลายตารางกิโลเมตรต่อ 1 เที่ยวบิน เหมาะสำหรับงานแนวระเบียงยาว (Corridor Mapping) ถนน ทางรถไฟ และผังเมืองขนาดใหญ่</a:t>
            </a:r>
          </a:p>
          <a:p>
            <a:endParaRPr/>
          </a:p>
          <a:p>
            <a:r>
              <a:t>อ้างอิงต้นทาง: [33][34][39][40][7][37][38]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จุดเด่นเชิงปฏิบัติการ: โดรนสำรวจสามารถเก็บข้อมูลพื้นที่ขนาดใหญ่ได้อย่างรวดเร็ว มีความคล่องตัวสูง ช่วยลดเวลา กำลังคน และค่าใช้จ่ายเมื่อเทียบกับการสำรวจทางบกแบบดั้งเดิม</a:t>
            </a:r>
          </a:p>
          <a:p>
            <a:r>
              <a:t>การทำงานในพื้นที่เสี่ยงภัย: เหมาะสำหรับพื้นที่อันตราย หน้าผาชัน พื้นที่พรุ/อับชื้น หรือพื้นที่ประสบภัยพิบัติทางธรรมชาติ ซึ่งผู้สำรวจไม่สามารถเดินเท้าเข้าถึงได้อย่างปลอดภัย</a:t>
            </a:r>
          </a:p>
          <a:p>
            <a:r>
              <a:t>ขอบเขตการนำไปใช้งาน: งานวิศวกรรมโยธาและผังเมือง, งานคำนวณปริมาณดินตัด-ดินถม (Earthwork Volume), งานเกษตรกรรมแม่นยำ, งานรังวัดชายฝั่ง และงานบันทึกประเมินความเสียหายหลังภัยพิบัติ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ระบบวัดระยะทางแบบ Active Sensing: LiDAR (Light Detection and Ranging) เป็นระบบสำรวจระยะไกลแบบส่งสัญญาณเอง (Active) โดยยิงพัลส์เลเซอร์ (เช่น คลื่นอินฟราเรดใกล้ / Near Infrared ความยาวคลื่น 1550 นาโนเมตร) ออกไปกระทบวัตถุหรือพื้นผิว แล้วรับสัญญาณสะท้อนกลับมา รอตรวจแหล่ง: คุณสมบัติสะท้อนกลับหลายครั้ง (Multiple Returns): พัลส์เลเซอร์ 1 พัลส์ สามารถสะท้อนกลับได้หลายครั้ง (เช่น First return สะท้อนจากยอดไม้, Intermediate returns สะท้อนจากกิ่งก้าน, และ Last return สะท้อนจากพื้นดิน) ทำให้ LiDAR มีศักยภาพสูงในการเจาะผ่านช่องว่างทรงพุ่มไม้ลงไปวัดระดับพื้นดินจริงใต้ต้นไม้ได้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1. ยิงพัลส์เลเซอร์</a:t>
            </a:r>
            <a:br/>
            <a:r>
              <a:t>Laser Scanner ยิงพัลส์เลเซอร์ (เช่น อินฟราเรดความยาวคลื่น 1550 นาโนเมตร) ไปยังวัตถุหรือพื้นผิว พร้อมกระจายลำแสงผ่านกระจกสแกน (Scanning Mirror) ได้นับแสนถึงล้านพัลส์ต่อวินาที</a:t>
            </a:r>
          </a:p>
          <a:p>
            <a:r>
              <a:t>2. วัดระยะด้วยเวลาเดินทางของแสง (Time-of-Flight)</a:t>
            </a:r>
            <a:br/>
            <a: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/>
            <a:r>
              <a:t>ระยะ = ความเร็วแสง × เวลาไป-กลับ ÷ 2</a:t>
            </a:r>
          </a:p>
          <a:p>
            <a:r>
              <a:t>3. ระบุว่าเลเซอร์ยิงจากตำแหน่งและทิศทางใด</a:t>
            </a:r>
            <a:br/>
            <a:r>
              <a:t>ระยะเพียงอย่างเดียวบอกไม่ได้ว่าจุดนั้นอยู่ที่ไหนบนโลก เพราะเซนเซอร์เคลื่อนที่ไปพร้อมโดรน เครื่องบิน หรือรถ จึงต้องมีอีก 2 เซนเซอร์ช่วย</a:t>
            </a:r>
          </a:p>
          <a:p>
            <a:r>
              <a:t>GNSS (DGPS/RTK/PPK): บอกพิกัด X, Y, Z ของเซนเซอร์ในขณะนั้น</a:t>
            </a:r>
          </a:p>
          <a:p>
            <a:r>
              <a:t>IMU (Inertial Measurement Unit): บอกการวางตัวของพาหนะ ได้แก่ Roll (เอียงข้าง) Pitch (ก้ม/เงย) และ Heading/Yaw (ทิศทาง)</a:t>
            </a:r>
          </a:p>
          <a:p>
            <a:r>
              <a:t>LiDAR (Light Detection and Ranging) เป็นเทคโนโลยีสำรวจระยะไกลแบบ Active Sensing คือส่งสัญญาณออกไปเอง ไม่ต้องพึ่งแสงธรรมชาติเหมือนการถ่ายภาพ หลักการทำงานแบ่งเป็น 4 ขั้น</a:t>
            </a:r>
          </a:p>
          <a:p>
            <a:r>
              <a:t>4. รวมข้อมูลเป็นพิกัด 3 มิติ (Sensor Fusion)</a:t>
            </a:r>
            <a:br/>
            <a:r>
              <a:t>ระบบนำระยะจากเลเซอร์ รวมกับพิกัดจาก GNSS และมุมจาก IMU ได้พิกัดฉาก X, Y, Z ของทุกจุดที่เลเซอร์กระทบ พร้อมค่าความเข้มสัญญาณสะท้อน (Intensity) ผลลัพธ์คือ Point Cloud ที่ใช้สร้างแบบจำลองภูมิประเทศ</a:t>
            </a:r>
          </a:p>
          <a:p>
            <a:r>
              <a:t>จุดเด่น: สะท้อนกลับได้หลายครั้ง (Multiple Returns) พัลส์เลเซอร์ 1 พัลส์สามารถสะท้อนกลับได้หลายครั้ง</a:t>
            </a:r>
          </a:p>
          <a:p>
            <a:r>
              <a:t>First return: สะท้อนจากยอดไม้</a:t>
            </a:r>
          </a:p>
          <a:p>
            <a:r>
              <a:t>Intermediate returns: สะท้อนจากกิ่งก้าน</a:t>
            </a:r>
          </a:p>
          <a:p>
            <a:r>
              <a:t>Last return: สะท้อนจากพื้นดิน</a:t>
            </a:r>
          </a:p>
          <a:p>
            <a:r>
              <a:t>LiDAR จึงเจาะผ่านช่องว่างของทรงพุ่มไม้ไปวัดระดับพื้นดินจริงใต้ต้นไม้ได้ ซึ่งเป็นสิ่งที่การถ่ายภาพทำไม่ได้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ให้ความถูกต้องทางดิ่งสูงระดับ 1–3 เซนติเมตร ถึง 15 เซนติเมตร ขึ้นอยู่กับระดับความสูงบินและสเปกของเซนเซอร์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5.1 ความเหมาะสมและความถูกต้องของ UAV LiDAR และ Mobile/อากาศยาน LiDAR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มีการกำหนดรหัสประเภทจุดมาตรฐาน (ASPRS Standard Point Classes) เช่น Class 1: Unclassified, Class 2: Ground, Class 3–5: Low/Medium/High Vegetation, Class 6: Building, Class 7: Low Point (Noise), Class 9: Water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Point Cloud (กลุ่มเมฆจุด 3 มิติ): กลุ่มข้อมูลพิกัด X, Y, Z มหาศาลที่สะท้อนจากวัตถุและภูมิประเทศ บันทึกคุณลักษณะเพิ่มเติม เช่น ค่าความเข้มสัญญาณ (Intensity), ลำดับการสะท้อน (Return Number) และค่าสี RGB</a:t>
            </a:r>
          </a:p>
          <a:p>
            <a:r>
              <a:t>การจำแนกข้อมูล Ground / Non-Ground (Ground Filtering)</a:t>
            </a:r>
          </a:p>
          <a:p>
            <a:r>
              <a:t>เป็นกระบวนการคัดแยกพอยต์คลาวด์ออกเป็นกลุ่ม Ground (พื้นดินเปล่า) และ Non-Ground (สิ่งก่อสร้าง อาคาร ต้นไม้ ยานพาหนะ และสัญญาณรบกวน/Noise)</a:t>
            </a:r>
          </a:p>
          <a:p>
            <a:r>
              <a:t>หลักการทางกายภาพในการคัดแยก: อาศัยจุดระดับต่ำสุดในพื้นที่ (Lowest Elevation), เกณฑ์ความชัน (Slope Threshold), ความต่างระดับความสูง (Elevation Difference) และความราบเรียบของพื้นผิว (Smoothness)</a:t>
            </a:r>
          </a:p>
          <a:p>
            <a:r>
              <a:t>รูปแบบอัลกอริทึมในการจำแนก</a:t>
            </a:r>
          </a:p>
          <a:p>
            <a:r>
              <a:t>Progressive TIN Densification (PTD): สร้างโครงข่ายสามเหลี่ยมระดับหยาบจากจุดต่ำสุด แล้วขยายการคำนวณปรับแก้หาจุดพื้นดินอย่างต่อเนื่อง</a:t>
            </a:r>
          </a:p>
          <a:p>
            <a:r>
              <a:t>Cloth Simulation Filter (CSF): จำลองการพลิก Point Cloud กลับหัวแล้วทิ้งผ้าเสมือนลงมาคลุม จุดที่ผ้าสัมผัสจะถูกคัดแยกเป็นพื้นดิน</a:t>
            </a:r>
          </a:p>
          <a:p>
            <a:r>
              <a:t>Morphological Filter: ใช้เกณฑ์ความชันและความสูงในการสกัดจุดออกด้วยโครงสร้างกริด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กำหนดขนาดเซลล์กริด (เช่น 0. เมตร) และใช้ Search Radius ในการประมาณค่าเชิงพื้นที่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คัดเลือกเฉพาะจุดพอยต์คลาวด์ที่ได้รับการจำแนกประเภทเป็น Ground (Class 2)</a:t>
            </a:r>
          </a:p>
          <a:p>
            <a:r>
              <a:t>นำจุดพื้นดินมาประมาณค่าผ่านอัลกอริทึม เช่น Points2Grid (Local Binning) ที่คัดเลือกค่าความสูงต่ำสุดในแต่ละเซลล์กริด หรือใช้ Kriging, IDW และ Triangulation (TIN to Raster)</a:t>
            </a:r>
          </a:p>
          <a:p>
            <a:r>
              <a:t>ผลลัพธ์ DTM แบบ Regular Grid หรือ TIN จะถูกนำไปใช้คำนวณปริมาณงานดินตัด-ดินถม (Cut &amp; Fill Volume), งานวิเคราะห์ทางอุทกวิทยา และการเขียนเส้นชั้นความสูง (Contour Lines) ในระบบ CADD/GIS ต่อไป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งานสำรวจสามารถใช้ LiDAR หรือโดรนถ่ายภาพ (Photogrammetry) สร้างกลุ่มเมฆจุด (Point Cloud) ได้ทั้งสองวิธี แต่หลักการได้มาซึ่งข้อมูลแตกต่างกัน ดังนี้</a:t>
            </a:r>
          </a:p>
          <a:p>
            <a:r>
              <a:t>หลักการ: เป็นการสำรวจระยะไกลแบบ Passive Sensing ที่อาศัยแสงสว่างตามธรรมชาติบันทึกภาพถ่าย 2 มิติ</a:t>
            </a:r>
          </a:p>
          <a:p>
            <a:r>
              <a:t>การประมวลผล: นำภาพเข้าอัลกอริทึม Structure from Motion (SfM) และ Multi-View Stereo (MVS) คำนวณตำแหน่งและทิศทางกล้อง แล้วประมาณพิกัดฉาก 3 มิติด้วยหลักการสามเหลี่ยม (Triangulation)</a:t>
            </a:r>
          </a:p>
          <a:p>
            <a:r>
              <a:t>ผลลัพธ์หลัก: แผนที่ภาพถ่ายดัดแก้ (Orthophoto) แบบจำลอง 3D Textured Mesh และกลุ่มเมฆจุดที่มีค่าสี (RGB) ในตัว</a:t>
            </a:r>
          </a:p>
          <a:p>
            <a:r>
              <a:t>หลักการ: เป็นการสำรวจระยะไกลแบบ Active Sensing ที่ส่งพัลส์เลเซอร์ไปกระทบวัตถุด้วยตัวเอง</a:t>
            </a:r>
          </a:p>
          <a:p>
            <a:r>
              <a:t>ผลลัพธ์หลัก: กลุ่มเมฆจุด 3 มิติ (3D Point Cloud) ที่บันทึกพิกัด X, Y, Z และค่าความเข้มสัญญาณสะท้อน (Intensity)</a:t>
            </a:r>
          </a:p>
          <a:p>
            <a:r>
              <a:t>คุณสมบัติเด่น: บันทึกสัญญาณสะท้อนได้หลายครั้ง (Multiple Returns) จึงเจาะผ่านช่องว่างของทรงพุ่มไม้ลงไปวัดระดับพื้นดินจริงใต้ต้นไม้ได้</a:t>
            </a:r>
          </a:p>
          <a:p>
            <a:r>
              <a:t>Photogrammetry (การรังวัดด้วยภาพถ่าย)</a:t>
            </a:r>
          </a:p>
          <a:p>
            <a:r>
              <a:t>LiDAR (Light Detection and Ranging)</a:t>
            </a:r>
          </a:p>
          <a:p>
            <a:r>
              <a:t>Point Cloud (กลุ่มเมฆจุด 3 มิติ) คือชุดจุดจำนวนมากที่แต่ละจุดมีพิกัด X, Y, Z บอกตำแหน่งบนพื้นผิวของภูมิประเทศหรือวัตถุ เมื่อนำจุดทั้งหมดมาแสดงรวมกันจะเห็นเป็นรูปร่าง 3 มิติของพื้นที่นั้น</a:t>
            </a:r>
          </a:p>
          <a:p>
            <a:r>
              <a:t>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 (แถว ความถูกต้องเชิงตำแหน่ง (Positional Accuracy)): Photogrammetry (Drone): พื้นที่เปิดโล่งที่ใช้ RTK/PPK ร่วมกับ GCPs: ทางราบประมาณ 1–3 ซม. ทางดิ่งประมาณ 2–4 ซม. ลดลงมากในพื้นที่ป่าหรือพืชพรรณหนาแน่น; LiDAR: พื้นที่เปิดโล่งเงื่อนไขเดียวกัน: ทางราบประมาณ 2–5 ซม. ทางดิ่งประมาณ 1–3 ซม. (หรือ ±2–15 ซม. สำหรับระบบอากาศยาน) วัดระยะดิ่งโดยตรง จึงสม่ำเสมอกว่า รอตรวจแหล่ง (แถว ความละเอียดและคุณลักษณะข้อมูล (Resolution &amp; Attributes)): Photogrammetry (Drone): กำหนดโดย GSD (เช่น 1–3.5 ซม./พิกเซล) ภาพคมชัดสมจริงและมีสี RGB สูง; LiDAR: กำหนดโดย Point Density (เช่น 50–200+ จุด/ตร.ม. สำหรับโดรน) เรขาคณิตหนาแน่นแม่นยำ ข้อมูลดิบมีเฉพาะ Intensity ต้องติดกล้อง RGB เพิ่มหากต้องการสี ยังไม่มีข้อมูลในต้นฉบับ (แถว ระยะเวลาการสำรวจ): ต้นฉบับระบุเพียงว่าใช้เวลาประมวลผล SfM นานกว่า ยังไม่มีข้อมูลเวลาบินเก็บข้อมูลในต้นฉบับ | ยังไม่มีข้อมูลในต้นฉบับ (ต้นฉบับระบุว่าต้องใช้ทักษะกรองจุดพื้นดิน Ground Filtering) รอตรวจแหล่ง (แถว ต้นทุน): Photogrammetry (Drone): ชุดโดรนประมาณ $2,000–$30,000; LiDAR: ชุดโดรน LiDAR ประมาณ $15,000–$350,000+ เซนเซอร์และ GNSS/IMU ราคาสูงกว่ามาก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ตารางที่ 6.1 เปรียบเทียบ LiDAR และ Photogrammetry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6.2 การเลือกใช้เทคโนโลยีให้เหมาะสมกับลักษณะพื้นที่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ส่งคลื่นเสียงลงไปตรงๆ เป็นลำคลื่นแคบเพียงลำเดียว ได้ข้อมูลความลึกเป็นจุดเดี่ยวต่อการส่ง 1 ครั้ง (Single point per ping)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หลักการ คือ ส่งคลื่นเสียง (Acoustic Pulse) จากหัวส่งสัญญาณ (Transducer) ลงไปกระทบพื้นท้องน้ำ แล้วรับสัญญาณสะท้อนกลับมา คำนวณความลึกจากระยะเวลาเดินทางไป-กลับของคลื่นเสียง ตามสูตร</a:t>
            </a:r>
          </a:p>
          <a:p>
            <a:r>
              <a:t>D  =  ½ (v × t)  +  k  +  d r  +  r</a:t>
            </a:r>
          </a:p>
          <a:p>
            <a:r>
              <a:t>ความเร็วเสียงในน้ำ (Sound Velocity Profile, SVP) แปรผันตามอุณหภูมิ ความเค็ม และความดัน/ความลึก</a:t>
            </a:r>
          </a:p>
          <a:p>
            <a:r>
              <a:t>ปัจจัยที่มีผลต่อความเร็วเสียงในน้ำ (Sound Velocity Profile - SVP)</a:t>
            </a:r>
          </a:p>
          <a:p>
            <a:r>
              <a:t>ตารางที่ 7.1 ปัจจัยที่มีผลต่อความเร็วเสียงในน้ำ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ส่งคลื่นเสียงออกเป็นแถบพัดกระจายหลายลำคลื่นพร้อมกัน (Wide Swath / Fan-shaped) ทำให้ได้ข้อมูลครอบคลุมพื้นที่พื้นท้องน้ำ 100% (100% Bottom Ensonification Coverage) ได้ผลลัพธ์เป็นกลุ่มจุด 3 มิติ (3D Point Cloud) ความละเอียดสูงระดับเซนติเมตร ตลอดจนข้อมูลความเข้มการสะท้อนกลับ (Backscatter) เพื่อจำแนกประเภทวัสดุพื้นท้องน้ำ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7.1 Echo Sounder และ Multibeam Echo Sounder (SBES &amp; MBES)</a:t>
            </a:r>
          </a:p>
          <a:p>
            <a:r>
              <a:t>เครื่องหยั่งความลึกแบบคลื่นเสียงความถี่เดียว/ลำคลื่นเดียว (Single-Beam Echo Sounder - SBES)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0FD27-8FF3-57F6-A606-8FCA4068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C630B-D7DB-1360-A65D-6B1BDE2C8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38662-7EDA-7FC3-CE4E-2C8AED4DD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7.2 การสำรวจหน้าตัดลำน้ำและท้องน้ำ (River Cross-Section and Bathymetric Surveying) (ต่อ)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A5E3-9BD0-DCAE-4938-434E80F1F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116328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Seamless Topo-Bathy Model  รวมแบบจำลองความสูงภูมิประเทศบนบก (Topography / DEM) และแบบจำลองความลึกใต้น้ำ (Bathymetry / DBM) เข้าด้วยกันเป็นชุดข้อมูลเดียว เพื่อให้เห็นการเชื่อมต่อของชายฝั่ง ตลิ่ง และท้องน้ำอย่างไร้รอยต่อ</a:t>
            </a:r>
          </a:p>
          <a:p>
            <a:r>
              <a:t>ตารางที่ 7.2 การผสานเทคโนโลยีสำรวจ (Multi-Technology Integration)</a:t>
            </a:r>
          </a:p>
          <a:p>
            <a:r>
              <a:t>ภาพที่ 7.9 โครงข่ายกริดแบบซ้อนระดับ (Nested Grid) จากฝั่งสู่ทะเลลึก</a:t>
            </a:r>
          </a:p>
          <a:p>
            <a:r>
              <a:t>ที่มา: Eakins และคณะ (2015)</a:t>
            </a:r>
          </a:p>
          <a:p>
            <a:r>
              <a:t>ภาพที่ 7.10 แนวคิด Telescoping DEMs</a:t>
            </a:r>
          </a:p>
          <a:p>
            <a:r>
              <a:t>ที่มา: Eakins และคณะ (2015)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7.3 ตารางแสดงตัวอย่างการประยุกต์ใช้กับงานแม่น้ำ อ่างเก็บน้ำ และโครงการชลประทาน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การกรองสัญญาณรบกวน (Noise &amp; Outlier Filtering) ข้อมูล Point Cloud ดิบมักมีจุดคลาดเคลื่อน (Outliers) ทั้งจุดที่สูงเกินจริง (เกิดจากนก อากาศยาน หรือสัญญาณสะท้อน) และจุดที่ต่ำกว่าระดับพื้นดินจริง ซึ่งต้องถูกสแกนและกำจัดออกในขั้นตอน Preprocessing ก่อนประมวลผลต่อ</a:t>
            </a:r>
          </a:p>
          <a:p>
            <a:r>
              <a:t>การคัดแยกจุดพื้นดินและไม่ใช่พื้นดิน (Ground Filtering / Point Cloud Classification) กระบวนการจำแนกจุดพอยต์คลาวด์เพื่อแยกออกจากกันระหว่างจุดบน พื้นดินเปล่า (Ground) และวัตถุเหนือดิน (Non-Ground) เช่น อาคาร สิ่งปลูกสร้าง ต้นไม้ พืชพรรณ และยานพาหนะ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8.1 ตารางแสดงตัวอย่างอัลกอริทึมที่ใช้กรองสัญญาณรบกวน</a:t>
            </a:r>
          </a:p>
          <a:p>
            <a:r>
              <a:t>มาตรฐานการจัดเก็บข้อมูล ข้อมูล Point Cloud มักจัดเก็บและส่งออกในรูปแบบไฟล์มาตรฐานเปิดสากล คือ .las หรือไฟล์บีบอัด .laz ซึ่งบันทึกพิกัด X, Y, Z ร่วมกับค่าประเภทจุด (Class Code เช่น Class 2: Ground), ค่าความเข้มสัญญาณสะท้อน (Intensity) และสี RGB315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8.2 นิยามและประเภทของแบบจำลองความสูง (ต่อ)</a:t>
            </a:r>
          </a:p>
          <a:p>
            <a: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โครงสร้างการแสดงผลภูมิประเทศ (Terrain Structures)</a:t>
            </a:r>
          </a:p>
          <a:p>
            <a:r>
              <a:t>การลากเส้นชั้นความสูง (Contour Generation)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ข้อมูลสำรวจภาคสนามจากเครื่องรับ GNSS และการรังวัดพิกัดความสูง ถูกนำเข้าสู่ระบบ GIS เพื่อจัดเก็บ ประมวลผล และต่อยอดสู่งานวิเคราะห์ โดยมี 4 ประเด็นหลักดังนี้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9.1 ตารางแสดงการวิเคราะห์ข้อมูลภูมิประเทศ (Terrain Data Analysis)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9.1 ตารางแสดงการวิเคราะห์ข้อมูลภูมิประเทศ (Terrain Data Analysis)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แนวคิดการซ้อนทับชั้นข้อมูล (Multi-Layer Overlay): การนำชั้นข้อมูลเชิงพื้นที่หลายเรื่อง (Thematic Layers) เช่น ดิน, การใช้ประโยชน์ที่ดิน, ธรณีวิทยา, และความลาดชัน ที่อยู่ในระบบพิกัดเดียวกัน มาซ้อนทับกันเพื่อประเมินความสัมพันธ์เชิงพื้นที่</a:t>
            </a:r>
          </a:p>
          <a:p>
            <a:r>
              <a:t>การซ้อนทับข้อมูลทำได้ 2 แบบตามโครงสร้างข้อมูล คือ Vector Overlay ที่ทำงานกับขอบเขตของโพลีกอน และ Raster Overlay ที่คำนวณทีละเซลล์ ทั้งสองแบบให้ผลลัพธ์และข้อควรระวังต่างกัน ตารางด้านล่างนี้เปรียบเทียบวิธีการและข้อสังเกตของแต่ละแบบ</a:t>
            </a:r>
          </a:p>
          <a:p>
            <a:r>
              <a:t>ตารางที่ 9.2 ตารางเปรียบเทียบวิธีการซ้อนทับข้อมูลทั้ง Vector Overlay กับ Raster Overlay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กระบวนการลำดับชั้นเชิงวิเคราะห์ (AHP - Analytic Hierarchy Process): ประยุกต์ใช้เทคนิคของ Saaty โดยคำนวณเปรียบเทียบความสำคัญทีละคู่ (Pairwise Comparison Matrix - PCM) บนสเกล 1–9 ร่วมกับความคิดเห็นของผู้เชี่ยวชาญ เพื่อกำหนดน้ำหนักความสำคัญถ่วงน้ำหนัก (Normalized Weights) ให้แก่แต่ละชั้นปัจจัย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9.3 การซ้อนทับข้อมูลหลายประเภท (Overlay Analysis of Multiple Data Types)</a:t>
            </a:r>
          </a:p>
          <a:p>
            <a:r>
              <a:t>ชั้นข้อมูลแต่ละชั้นมีความสำคัญต่อการตัดสินใจไม่เท่ากัน GIS-MCDA จึงใช้ AHP กำหนดน้ำหนักความสำคัญของแต่ละปัจจัย แล้วรวมผลด้วยวิธี Weighted Overlay หรือ WLC เพื่อประเมินความเหมาะสมของพื้นที่ ตารางด้านล่างนี้สรุปเทคนิคทั้งสองและตัวอย่างการประยุกต์ใช้</a:t>
            </a:r>
          </a:p>
          <a:p>
            <a:r>
              <a:t>ตารางที่ 9.3 ตารางแสดงรายละเอียดการตัดสินใจแบบหลายหลักเกณฑ์เชิงพื้นที่ (GIS-MCDA / AHP)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หลังวิเคราะห์ข้อมูลเชิงพื้นที่แล้ว ต่อไปคือการนำเสนอผลเป็นแผนที่ และการจัดเก็บข้อมูลให้เป็นระบบเพื่อใช้งานต่อได้ หัวข้อนี้แบ่งเป็น 2 ส่วน</a:t>
            </a:r>
          </a:p>
          <a:p>
            <a:r>
              <a:t>การจัดทำแผนที่และการแปลงตำแหน่ง: ว่าด้วยการแสดงผลเชิงแผนที่ และการระบุตำแหน่งจากที่อยู่หรือรหัสไปรษณีย์</a:t>
            </a:r>
          </a:p>
          <a:p>
            <a:r>
              <a:t>สถาปัตยกรรมฐานข้อมูลเชิงพื้นที่: ว่าด้วยการจัดเก็บและบริหารข้อมูลเชิงพื้นที่ รวมถึงการใช้งานร่วมกันของผู้ใช้หลายคน</a:t>
            </a:r>
          </a:p>
          <a:p>
            <a:r>
              <a:t>การจัดทำแผนที่และการแปลงตำแหน่ง (Mapping &amp; Locators)</a:t>
            </a:r>
          </a:p>
          <a:p>
            <a:r>
              <a:t>เมื่อวิเคราะห์ข้อมูลเสร็จแล้ว ต้องนำเสนอผลเป็นแผนที่ที่อ่านง่าย และต้องระบุตำแหน่งจากที่อยู่หรือรหัสไปรษณีย์ให้เป็นพิกัดได้ ตารางนี้อธิบายการแสดงผลเชิงแผนที่ (Cartography) และเครื่องมือระบุตำแหน่ง (Locators &amp; Geocoding)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สถาปัตยกรรมฐานข้อมูลเชิงพื้นที่ (Spatial Database / Geodatabase)</a:t>
            </a:r>
          </a:p>
          <a:p>
            <a:r>
              <a:t>เมื่อข้อมูลเชิงพื้นที่มีปริมาณมากขึ้นและมีผู้ใช้หลายคน การเก็บเป็นไฟล์ธรรมดาอย่าง Shapefile จะมีข้อจำกัด จึงต้องใช้ฐานข้อมูลเชิงพื้นที่ ตารางนี้เริ่มจากข้อจำกัดของระบบไฟล์เดิม ต่อด้วยความสามารถของฐานข้อมูลเชิงพื้นที่ ได้แก่ ชนิดข้อมูล การทำดัชนี และฟังก์ชัน ส่วนสไลด์ถัดไปว่าด้วย Enterprise Geodatabase ที่รองรับผู้ใช้หลายคนพร้อมกัน</a:t>
            </a:r>
          </a:p>
          <a:p>
            <a:r>
              <a:t>ตารางที่ 9.4 ตารางแสดงรายละเอียดสถาปัตยกรรมฐานข้อมูลเชิงพื้นที่ (Spatial Database / Geodatabase)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ตารางที่ 9.4 ตารางแสดงรายละเอียดสถาปัตยกรรมฐานข้อมูลเชิงพื้นที่ (Spatial Database / Geodatabase)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(Viewshed)4.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3D Terrain Model คือการแสดงภูมิประเทศเป็นภาพสามมิติ โดยสร้างจากแบบจำลองความสูง (ได้แก่ DSM, DTM และ DEM) ซึ่งเก็บค่าความสูงในโครงสร้างข้อมูลแบบ Raster หรือ TIN ทำให้เห็นรูปร่างของพื้นที่ทั้งความสูง ความลาดชัน และลักษณะผิวได้ใกล้เคียงสภาพจริงมากกว่าแผนที่สองมิติ แบบจำลองนี้จึงใช้นำไปประยุกต์ได้หลายงานดังนี้</a:t>
            </a:r>
          </a:p>
          <a:p>
            <a:r>
              <a:t>-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</a:t>
            </a:r>
          </a:p>
          <a:p>
            <a:r>
              <a:t>- ใช้เป็นพื้นผิวปรับแก้ทางเรขาคณิตในการสร้างแผนที่ภาพถ่ายดัดแก้จริง (True-Orthophoto) และใช้วางตำแหน่งโมเดลโครงสร้าง 3D บนสภาพแวดล้อมจริงในระบบ CADD, GIS และ Autodesk InfraWorks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กลุ่มจุดสามมิติ (3D Point Cloud) คือชุดข้อมูลที่ประกอบด้วยจุดจำนวนหลักล้านถึงพันล้านจุด แต่ละจุดบันทึกพิกัด (X, Y, Z) ของพื้นผิววัตถุหรือภูมิประเทศ พร้อมค่าความเข้มสัญญาณสะท้อน (Intensity) และค่าสี (RGB) ได้จากเทคโนโลยี Reality Capture ทั้งการสแกนด้วยเลเซอร์และการประมวลผลภาพถ่าย จึงใช้เป็นข้อมูลอ้างอิงเชิงเมตริกสำหรับตรวจสอบคุณภาพงานก่อสร้าง สร้างแบบจำลอง Scan-to-BIM และตรวจวัดการเปลี่ยนรูปของโครงสร้าง ข้อมูลเหล่านี้ได้จากกลุ่มเทคโนโลยี Reality Capture ซึ่งเก็บข้อมูลสภาพจริงเป็นดิจิทัล โดยมีเทคโนโลยีหลักดังนี้</a:t>
            </a:r>
          </a:p>
          <a:p>
            <a:r>
              <a:t>ตารางที่ 10.1 ตารางแสดงเทคโนโลยี Reality Capture และการสร้างข้อมูล</a:t>
            </a:r>
          </a:p>
          <a:p>
            <a:r>
              <a:t>ตารางที่ 10.2 ตารางแสดงคุณลักษณะและรูปแบบไฟล์มาตรฐานจากเทคโนโลยี Reality Capture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Metric Reference (ข้อมูลอ้างอิงมิติทางกายภาพจริง): ใช้เป็นฐานอ้างอิงมิติที่แม่นยำสำหรับการสร้าง ควบคุม และตรวจสอบแบบจำลอง 3 มิติ1618. รอตรวจแหล่ง: Deformation &amp; Structural Monitoring: ใช้ตรวจสอบและวัดการเคลื่อนตัว การทรุดตัว (Settlement), การเอียง (Tilt), รอยแตกร้าว (Cracking), ตรวจสอบระยะปลอดภัยขอบเขตโครงสร้างรถไฟ (Structure-Gauge / Clearance Inspection) และตรวจสอบหน้าตัดคันหินคันทาง (Ballast Profile) ด้วยความแม่นยำระดับมิลลิเมตร8.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10.2 3D Point Cloud (กลุ่มเมฆจุด 3 มิติ) (ต่อ)</a:t>
            </a:r>
          </a:p>
          <a:p>
            <a:r>
              <a:t>ภาพที่ 10.1 ห้องที่ใช้ทดลองสแกน</a:t>
            </a:r>
          </a:p>
          <a:p>
            <a:r>
              <a:t>ที่มา: Wang และคณะ (2019)</a:t>
            </a:r>
          </a:p>
          <a:p>
            <a:r>
              <a:t>ภาพที่ 10.2 Point Cloud ภายในห้อง</a:t>
            </a:r>
          </a:p>
          <a:p>
            <a:r>
              <a:t>ที่มา: Wang และคณะ (2019)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(มีข้อมูลไหลและตอบกลับสองทางแบบอัตโนมัติ)3132.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Digital Twin คือ ตัวแทนเสมือนจริงในโลกดิจิทัล (Virtual Entity) ของวัตถุ โครงสร้าง หรือระบบทางกายภาพจริง (Physical Entity) ในโลกจริง</a:t>
            </a:r>
          </a:p>
          <a:p>
            <a:r>
              <a:t>หัวใจสำคัญ: ต้องมีกลไก การแลกเปลี่ยนข้อมูลแบบสองทาง (Bi-Directional Data Interaction) และการสะท้อนข้อมูลแบบ Real-Time หรือใกล้เคียง Real-Time ทำให้ฝาแฝดดิจิทัลสามารถปรับปรุงสถานะ (Real-time Updating) และสนับสนุนการตัดสินใจได้อย่างแม่นยำ</a:t>
            </a:r>
          </a:p>
          <a:p>
            <a:r>
              <a:t>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</a:t>
            </a:r>
          </a:p>
          <a:p>
            <a:r>
              <a:t>นิยามและโครงสร้างสถาปัตยกรรม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Input Stage: นำข้อมูลเรขาคณิตความละเอียดสูงจาก Point Cloud (TLS, SLAM, UAV) และโมเดล Scan-to-BIM มาสร้างเป็นฐานเรขาคณิตเสมือน1233. รอตรวจแหล่ง: Sensing &amp; Integration Stage: เชื่อมโยงโมเดล 3D เข้ากับเครือข่ายเซนเซอร์ตรวจวัดสด (IoT / Physical Sensors) ผ่านสัญญาณไร้สาย (เช่น 4G, LoRaWAN, REST APIs) เซนเซอร์ที่นิยมใช้ ได้แก่ เซนเซอร์วัดความเค้น/การยืดหด (Fiber Optic / Strain Gauges), เครื่องวัดการสั่นสะเทือน (Vibrometers), เซนเซอร์วัดการเอียง (Tilt Sensors), เครื่องวัดระดับน้ำ (Stage Gauges / Piezometers), เครื่องวัดปริมาณฝน (Rain Gauges) และเครื่องวัดกระแสน้ำ (ADCP)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10.3 Digital Twin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งานติดตามสุขภาพโครงสร้างสะพาน (Bridge Structural Health Monitoring): เช่น สะพาน IB5 ในสหราชอาณาจักร หรือสะพานแขวน Clifton ที่บูรณาการเซนเซอร์ FBG, สแกนเนอร์เลเซอร์ และกล้องถ่ายภาพ เพื่อตรวจจับน้ำหนักรถไฟ (BWIM), ตรวจสอบรอยร้าว และทำวิเคราะห์อายุการใช้งานโครงสร้าง</a:t>
            </a:r>
          </a:p>
          <a:p>
            <a:r>
              <a:t>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  <a:p>
            <a:r>
              <a:t>งานประเมินความเสียหายหลังภัยพิบัติ: การใช้โดรนสแกนสร้าง Point Cloud และ BIM ของอาคารหลังแผ่นดินไหว เพื่อวิเคราะห์รอยร้าวและการเปลี่ยนรูปของโครงสร้างเมื่อเทียบกับสภาวะก่อนเกิดภัย</a:t>
            </a:r>
          </a:p>
          <a:p>
            <a:r>
              <a:t>10.3 Digital Twin (ต่อ)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กำหนดคุณภาพ Point Cloud: ควบคุมค่า Accuracy, Resolution และ Coverage ให้สอดคล้องกับวัตถุประสงค์4952. รอตรวจแหล่ง: ประโยชน์และการใช้งาน: ใช้จัดทำแบบจำลองสภาวะจริง (As-is / As-built BIM) สำหรับอาคารเดิมที่ไม่มีแบบแปลนดิจิทัล, งานบูรณะอนุรักษ์โบราณสถานและมรดกทางวัฒนธรรม, การวิเคราะห์แบบจำลองพลังงานและภัยอพยพ, และการจำลองมิติเวลาและความปลอดภัยไซต์งาน (4D Construction Safety Simulation)5758.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10.4 การเชื่อมโยงข้อมูลสำรวจกับ BIM/CIM (Scan-to-BIM, Open BIM &amp; BIM-GIS Integration)</a:t>
            </a:r>
          </a:p>
          <a:p>
            <a:r>
              <a:t>คือกระบวนการแปลงข้อมูล Point Cloud เข้าสู่โปรแกรมสร้างแบบจำลองสารสนเทศอาคาร (BIM Authoring Tools) เพื่อสร้างโมเดล 3D ที่พ่วงด้วยข้อมูลเชิงอรรถประโยชน์ (Semantic Information) และระดับความละเอียด (Level of Development - LOD)</a:t>
            </a:r>
          </a:p>
          <a:p>
            <a:r>
              <a:t>มาตรฐาน Open BIM และ IFC 4.3 (ISO 19650)</a:t>
            </a:r>
          </a:p>
          <a:p>
            <a: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การบูรณาการ BIM-GIS และ CIM (City Information Modelling)</a:t>
            </a:r>
          </a:p>
          <a:p>
            <a: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การประยุกต์ใช้ Mobile LiDAR ร่วมกับปัญญาประดิษฐ์โครงข่ายประสาทเทียม (Deep Learning เช่น PointNet++) เพื่อสกัดองค์ประกอบของถนนแบบ 3 มิติ ระบบสามารถจำแนกประเภทวัตถุ (Semantic Segmentation) ได้แก่ พื้นถนน, เสาไฟฟ้า, ยานพาหนะ, ต้นไม้ และอาคาร โดยได้ค่าความแม่นยำรวมสูงถึง 92.4% และค่า mIoU 0.846 รอตรวจแหล่ง: สามารถวัดค่าพารามิเตอร์ทางวิศวกรรมได้อย่างแม่นยำระดับซับเซนติเมตร (RMSE เฉลี่ย 0. ซม.) เช่น ความกว้างช่องจราจร, ความยาวเส้นทาง, ขนาดทางข้ามหมากลาย และความสูงเสาไฟฟ้า รอตรวจแหล่ง: ช่วยลดระยะเวลาประมวลผลข้อมูลภาคสนามด้วยมือลงได้ถึง 85% (จากเดิม 40 ชั่วโมง เหลือเพียง 6 ชั่วโมงต่อกิโลเมตร) รอตรวจแหล่ง: การนำ Mobile LiDAR และ Photogrammetry มาสร้างดิจิทัลทวิน (Digital Twin) สำหรับบริหารโครงสร้างพื้นฐาน เช่น โครงการของ Georgia Department of Transportation (GDOT) ที่ดึงข้อมูลสินทรัพย์ทางหลวงกว่า 80,000 ไมล์ เปลี่ยน "Dark Data" หรือข้อมูลซ่อนเร้น ให้กลายเป็นฐานข้อมูลเชิงพื้นที่เพื่อการวางแผนและตั้งงบประมาณ รอตรวจแหล่ง: กรณีศึกษา เมือง Perry, Iowa ใช้ Mobile LiDAR สแกนเมืองทั้งเมือง (ปริมาณข้อมูล 4. Terabytes) เพื่อสร้าง 3D Reality Mesh ในการบริหารจัดการสินทรัพย์โครงสร้างพื้นฐานสีเทา (ถนน, ทางเท้า, ขอบถนน) ร่วมกับโครงสร้างพื้นฐานสีเขียว (ต้นไม้, พื้นที่ธรรมชาติ)</a:t>
            </a:r>
          </a:p>
          <a:p>
            <a:endParaRPr/>
          </a:p>
          <a:p>
            <a:r>
              <a:t>อ้างอิงต้นทาง: [8][1][2][3][4][5][6][7]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การใช้อากาศยานไร้คนขับ (UAV) ขนาดเล็ก (เช่น DJI MINI 2) ในการบินเก็บข้อมูลกิจกรรม ตรวจสอบความปลอดภัยของผู้ปฏิบัติงานและประชาชน การวางแผนจราจร และการติดป้ายสัญญาณในโครงการก่อสร้างทางหลวง</a:t>
            </a:r>
          </a:p>
          <a:p>
            <a:r>
              <a:t>การใช้ UAV ประสิทธิภาพสูง (เช่น DJI Matrice 200 V2) ติดตั้งกล้องความละเอียดสูง เพื่อสำรวจระดับภูมิประเทศและคำนวณปริมาณดินถมเบื้องต้นก่อนการก่อสร้างด่านพรมแดนและสะพานมิตรภาพ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การใช้เครื่องหยั่งความลึกแบบหลายลำคลื่น (Multibeam Echo Sounder - MBES) ในการสแกนพื้นผิวใต้น้ำแบบครอบคลุม 100% เพื่อสร้างแบบจำลอง 3 มิติความละเอียดสูงสำหรับทางน้ำ โครงสร้างใต้น้ำ และการศึกษาสัณฐานธารน้ำ</a:t>
            </a:r>
          </a:p>
          <a:p>
            <a:endParaRPr/>
          </a:p>
          <a:p>
            <a:r>
              <a:t>อ้างอิงต้นทาง: [12][14][15][16][17][18][13]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การประยุกต์ใช้เครื่องหยั่งความลึกด้วยคลื่นเสียงแบบลำคลื่นเดียว (Single-Beam Echo Sounder - SBES) ร่วมกับ RTK GNSS ในลำน้ำและคลองชลประทาน (เช่น คลองบ้านนาลาว) เพื่อรวบรวมพิกัดและค่าความลึก นำไปประมวลผลสร้างแผนที่เส้นชั้นความลึก (Bathymetric Contours) และแบบจำลองความลึก (DBM)</a:t>
            </a:r>
          </a:p>
          <a:p>
            <a:r>
              <a:t>การสกัดข้อมูลรูปตัดตามขวาง (Cross-Sections) และรูปตัดตามยาว (Longitudinal Profiles) จากแบบจำลองความสูงเชิงเลข (DEM/DBM) เพื่อใช้ในการออกแบบทางวิศวกรรมลำน้ำ การวิเคราะห์ทางอุทกวิทยา และการคำนวณความจุลำน้ำ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การใช้ UAV ร่วมกับงานสำรวจภาพถ่าย เพื่อติดตามการพังพลายของลาดไหล่ทางและตลิ่ง (เช่น บริเวณเขื่อนแควน้อยบำรุงแดน) รวมถึงการสำรวจหน้าตัดแม่น้ำ (เช่น แม่น้ำลำภาชี) เพื่อใช้ในแบบจำลองการไหล</a:t>
            </a:r>
          </a:p>
          <a:p>
            <a:r>
              <a:t>การประยุกต์ข้อมูลทางอุทกวิทยาเพื่อติดตามประเมินการตกตะกอนและการกัดเซาะของลำน้ำ (Soil Erosion &amp; Deposition) ร่วมกับคู่มือการปฏิบัติงานด้านตะกอน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งานวิจัยสำรวจคันทางถนนในจังหวัดลำปาง พบว่าการคำนวณปริมาตรดินจาก UAV มีค่าต่างจากการสำรวจด้วยกล้องสถานีรวม (Total Station) เพียง 8% (UAV คำนวณได้ 570. ลบ.ม. vs Total Station 620. ลบ.ม.) รอตรวจแหล่ง: โครงการสำรวจปริมาณดินถมก่อนก่อสร้างอาคารด่านพรมแดนสระแก้ว พบว่าปริมาณดินถมที่คำนวณจาก UAV ต่างจากรายการวัสดุและค่าใช้จ่าย (BOQ) อยู่ 9.79% รอตรวจแหล่ง: การสำรวจด้วย LiDAR บน UAV (เช่น YellowScan Mapper บน DJI Matrice 300 RTK) ในพื้นที่เขาใหญ่ 3,000 ไร่ สามารถเก็บข้อมูลภูมิประเทศได้อย่างรวดเร็ว โดยมีค่าความคลาดเคลื่อนทางดิ่งเฉลี่ยไม่เกิน 5 เซนติเมตร</a:t>
            </a:r>
          </a:p>
          <a:p>
            <a:endParaRPr/>
          </a:p>
          <a:p>
            <a:r>
              <a:t>อ้างอิงต้นทาง: [14][15][26][27][19][8][22][23]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การใช้ภาพถ่ายทางอากาศจาก UAV ร่วมกับเทคโนโลยี RTK / PPK GNSS ในการสร้างแบบจำลองพื้นผิวเชิงเลข (DSM/DTM) และประมวลผลคำนวณปริมาตรดินแบบ Surface-to-Surface</a:t>
            </a:r>
          </a:p>
          <a:p>
            <a:r>
              <a:t>การผลิตภาพถ่ายออร์โธที่ถูกต้องเชิงพิกัด (Orthomosaic) และแบบจำลอง 3 มิติ เพื่อใช้ติดตามสภาพพื้นที่จริงเทียบกับแผนงาน Construction Schedule</a:t>
            </a:r>
          </a:p>
          <a:p>
            <a:r>
              <a:t>การสำรวจภูมิประเทศในขั้นตอนถางป่าขุดตอ (Clearing and Grubbing) เพื่อใช้เป็นระดับดินเดิมที่แม่นยำในการตรวจรับงานงวดดินถม</a:t>
            </a:r>
          </a:p>
          <a:p>
            <a:r>
              <a:t>ภาพที่ 11.1 พื้นที่ก่อสร้างจากมุมมอง UAV ที่มา: ดนัย เรืองสอน และคณะ (2565)</a:t>
            </a:r>
          </a:p>
          <a:p>
            <a:r>
              <a:t>ภาพที่ 11.2 แผนที่ความสูงจาก UAV LiDAR พื้นที่เขาใหญ่ ที่มา: ภุชงค์ วงศ์เกิด และคณะ (2567)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จังหวัดนครศรีธรรมราช (1990–2025): พบการกัดเซาะรุนแรงบริเวณอ่าวปากพนังและบ้านเกาะทัง (อัตราการถอยร่น -3 ถึง -5 ม./ปี และบางจุดวิกฤตเกิน -30 ม./ปี) ในขณะที่บริเวณแหลมตะลุมพุกเกิดการทับถมของตะกอนงอกออกไป (+32. ม./ปี) รอตรวจแหล่ง: เกาะคอเขา และบ้านน้ำเค็ม จ.พังงา: การคำนวณอัตราการกัดเซาะจำแนกเป็นระดับรุนแรง (&gt; -5 ม./ปี) และปานกลาง (-1 ถึง -5 ม./ปี) ซึ่งพบว่าการสร้างกำแพงกันคลื่น (Seawall) หลังเกิดสึนามิกลายเป็นปัจจัยเร่งการกัดเซาะในพื้นที่ข้างเคียง รอตรวจแหล่ง: หาดนาใต้-หาดเขาปิหลาย จ.พังงา: การใช้ UAV DSM เปรียบเทียบสัณฐานชายหาดช่วงมรสุมและหลังมรสุม พบความแม่นยำสูงเมื่อเทียบกับ RTK ภาคสนาม (RMSE ความสูง 0. - 0. เมตร) ช่วยแสดงการเปลี่ยนแปลงความลาดชันและปริมาณเนินทรายได้อย่างชัดเจน</a:t>
            </a:r>
          </a:p>
          <a:p>
            <a:endParaRPr/>
          </a:p>
          <a:p>
            <a:r>
              <a:t>อ้างอิงต้นทาง: [28][33][32][34][35][36]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การประยุกต์ใช้ภาพถ่ายดาวเทียม (เช่น Landsat, IKONOS, QuickBird, Worldview-2, Pleiades) ร่วมกับระบบประมวลผลคลาวด์ Google Earth Engine (GEE), ดัชนี AWEI, เทคนิค Otsu Thresholding และเครื่องมือ DSAS / CoastSat ในการจำกัดขอบเขตแนวชายฝั่งและคำนวณอัตราการเปลี่ยนแปลง</a:t>
            </a:r>
          </a:p>
          <a:p>
            <a:r>
              <a:t>ภาพที่ 11.3 แนวชายฝั่ง ค.ศ. 1990–2025 จ.นครศรีธรรมราช ที่มา: Yuhang &amp; Wutjanam, Int. J. Geoinformatics</a:t>
            </a:r>
          </a:p>
          <a:p>
            <a:r>
              <a:t>ภาพที่ 11.4 การกัดเซาะเกาะคอเขา พ.ศ. 2545–2559 ที่มา: Pantanahiran (2019), ISPRS Archives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[37][38][39][40][41][42][43]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การนำข้อมูลสำรวจและภูมิสารสนเทศหลายชั้นข้อมูล (เช่น ฝน, ธรณีวิทยา, โครงสร้างรอยแตก, ดิน, ความลาดชัน, การใช้ประโยชน์ที่ดิน) มาซ้อนทับกันโดยกำหนดน้ำหนักความสำคัญผ่านกระบวนการ Analytic Hierarchy Process (AHP) เพื่อประเมินพื้นที่เหมาะสมสำหรับการวางแผน</a:t>
            </a:r>
          </a:p>
          <a:p>
            <a:r>
              <a:t>ตัวอย่างการประยุกต์: การจัดทำแผนที่ประเมินพื้นที่ศักยภาพน้ำใต้ดิน (Groundwater Potential Zones) และการประเมินพื้นที่เปราะบางต่อภัยธรรมชาติต่างๆ</a:t>
            </a:r>
          </a:p>
          <a:p>
            <a:r>
              <a:t>การวิเคราะห์การตัดสินใจแบบหลายหลักเกณฑ์เชิงพื้นที่ (GIS-MCDA / AHP)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การบริหารสินทรัพย์ทางหลวงระดับรัฐและเมืองด้วย Digital Twin</a:t>
            </a:r>
          </a:p>
          <a:p>
            <a:r>
              <a:t>การประยุกต์ใช้ Mobile LiDAR ร่วมกับ Photogrammetry เพื่อสร้างดิจิทัลทวิน (Digital Twin) สำหรับบริหารโครงสร้างพื้นฐาน ตัวอย่างคือโครงการของ Georgia Department of Transportation (GDOT) ที่สกัดข้อมูลสินทรัพย์ทางหลวงความยาวกว่า 80,000 ไมล์ ทำให้ข้อมูลที่ไม่เคยถูกนำมาใช้ประโยชน์ ("Dark Data") กลายเป็นฐานข้อมูลเชิงพื้นที่ สำหรับสนับสนุนการวางแผนและการจัดสรรงบประมาณ</a:t>
            </a:r>
          </a:p>
          <a:p>
            <a:r>
              <a:t>กรณีศึกษาเมือง Perry รัฐ Iowa ใช้ Mobile LiDAR สำรวจพื้นที่ทั้งเมือง (ปริมาณข้อมูล 4.1 Terabytes) เพื่อสร้างแบบจำลอง 3D Reality Mesh ใช้บริหารจัดการโครงสร้างพื้นฐานสีเทา (Grey Infrastructure) ได้แก่ ถนน ทางเท้า และขอบถนน ควบคู่กับโครงสร้างพื้นฐานสีเขียว (Green Infrastructure) ได้แก่ ต้นไม้และพื้นที่ธรรมชาติ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ข้อความเต็มจากฉบับก่อนย่อ:</a:t>
            </a:r>
          </a:p>
          <a:p>
            <a:r>
              <a:t>การส่งออกข้อมูลเส้นชั้นความสูง (Contours) และข้อมูล Profile / Cross-section ที่ได้จาก UAV Photogrammetry หรือ LiDAR เข้าสู่ซอฟต์แวร์ออกแบบทางวิศวกรรม (เช่น CAD / Civil 3D) เพื่อใช้ในงานออกแบบถนน ระบบระบายน้ำ และงานจัดรูปที่ดิน</a:t>
            </a:r>
          </a:p>
          <a:p>
            <a:r>
              <a:t>การสนับสนุนงานออกแบบวิศวกรรมขั้นรายละเอียด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การจัดหมวดหมู่และการแบ่งแยกพื้นที่เชิงความหมาย (Semantic Segmentation): AI สามารถจำแนกวัตถุและคุณลักษณะของพื้นที่ออกจากกันได้อย่างแม่นยำสูง เช่น แยกพื้นถนน, เสาไฟฟ้า, ยานพาหนะ, ต้นไม้, อาคาร, สายไฟ และท่อใต้ดิน. ตัวอย่างเช่น การใช้โมเดล PointNet++ ประมวลผลข้อมูล Mobile LiDAR บนถนนเมืองเบงกาลูรู สามารถแยกแยะวัตถุหลัก 5 ประเภท ได้ความแม่นยำรวมสูงถึง 92.4% และค่า mIoU 0.846.</a:t>
            </a:r>
          </a:p>
          <a:p>
            <a:endParaRPr/>
          </a:p>
          <a:p>
            <a:r>
              <a:t>อ้างอิงต้นทาง: [1][5][12][17][7]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การประมวลผล Point Cloud : ใช้โครงข่ายประสาทเทียม เช่น PointNet++, 3D CNNs, VoxelNet และ Transformers ประมวลผลข้อมูล 3 มิติโดยตรง แทนการแปลความหมายด้วยมนุษย์</a:t>
            </a:r>
          </a:p>
          <a:p>
            <a:r>
              <a:t>Semantic Segmentation : จำแนกพื้นถนน เสาไฟฟ้า ยานพาหนะ ต้นไม้ อาคาร และสายไฟ เช่น PointNet++ กับข้อมูล Mobile LiDAR บนถนนเมืองเบงกาลูรู แยกวัตถุ 5 ประเภท ความแม่นยำรวม 92.4% และ mIoU 0.846</a:t>
            </a:r>
          </a:p>
          <a:p>
            <a:r>
              <a:t>การตรวจจับความเสียหาย : ตรวจพบรอยแตกร้าวบนผิวจราจร ความเสียหายของแผงกั้นทาง ความชำรุดในท่อระบายน้ำ และการรั่วซึมในอุโมงค์โดยอัตโนมัติ</a:t>
            </a:r>
          </a:p>
          <a:p>
            <a:r>
              <a:t>การพยากรณ์ความเสี่ยง : วิเคราะห์ข้อมูลอนุกรมเวลาเพื่อพยากรณ์การเสื่อมสภาพของสินทรัพย์ ภัยธรรมชาติ และความเอียงของเสาไฟฟ้า</a:t>
            </a:r>
          </a:p>
          <a:p>
            <a:r>
              <a:t>ข้อจำกัด : ยังต้องอาศัยมนุษย์ในการควบคุมคุณภาพ (QA/QC) ตรวจสอบความถูกต้องทางกฎหมาย และตัดสินใจในเงื่อนไขสนามที่ซับซ้อน</a:t>
            </a:r>
          </a:p>
          <a:p>
            <a:r>
              <a:t>ภาพที่ 12.1 ผลการจำแนก Point Cloud ด้วย PointNet++ (เขียว=ต้นไม้ น้ำตาล=ถนน ขาว=ยานพาหนะ น้ำเงิน=อาคาร แดง=เสา) ที่มา: Balasubramani et al. (2026), ISPRS Archives,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การสกัดเรขาคณิตถนนและบัญชีสินทรัพย์ (Road Geometry &amp; Asset Inventory): เทคโนโลยี Mobile LiDAR ร่วมกับ AI สามารถวัดขนาดองค์ประกอบทางวิศวกรรมได้อัตโนมัติ เช่น ความกว้างช่องจราจร (Lane width), ความยาวเส้นทาง, ขนาดทางข้ามหมากลาย (Zebra crossing) และความสูงเสาไฟฟ้า โดยมีความคลาดเคลื่อนต่ำในระดับซับเซนติเมตร (RMSE เฉลี่ยเพียง 0. ซม.). รอตรวจแหล่ง: การลดเวลาและต้นทุนอย่างมหาศาล: กระบวนการสกัดข้อมูลอัตโนมัติช่วยลดเวลาการทำงานด้วยมือ (Manual processing) ลงได้ถึง 85% (ลดเวลาจาก 40 ชั่วโมง เหลือเพียง 6 ชั่วโมงต่อกิโลเมตร) และลดค่าใช้จ่ายด้านแรงงานในสัดส่วนเท่ากัน. รอตรวจแหล่ง: การกู้คืนข้อมูลซ่อนเร้น (Unlocking "Dark Data"): ระบบ Generative AI และ Feature Recognition สามารถอ่านแบบ CAD ดั้งเดิม, เลเยอร์ GIS และบันทึกประวัติศาสตร์ เพื่อดึงคุณลักษณะของสินทรัพย์ที่ไม่เคยถูกจัดหมวดหมู่มาก่อน มาแปลงเป็นฐานข้อมูลเชิงพื้นที่ที่ใช้งานได้จริง (เช่น โครงการ Georgia DOT ที่สกัดข้อมูลถนนกว่า 80,000 ไมล์).</a:t>
            </a:r>
          </a:p>
          <a:p>
            <a:endParaRPr/>
          </a:p>
          <a:p>
            <a:r>
              <a:t>อ้างอิงต้นทาง: [4][1][29]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เครื่องมือสกัดวัตถุ : แพลตฟอร์มอย่าง Pix4D, DroneDeploy, Propeller Aero, LiDAR360 และ Autodesk ReCap ใช้ AI และ Photogrammetry สกัดตำแหน่งวัตถุจากภาพถ่ายและ LiDAR เช่น เครื่องหมายบนถนน ขอบอาคาร เสาไฟฟ้า และทรงพุ่มต้นไม้</a:t>
            </a:r>
          </a:p>
          <a:p>
            <a:r>
              <a:t>เรขาคณิตถนนและบัญชีสินทรัพย์ : Mobile LiDAR ร่วมกับ AI วัดความกว้างช่องจราจร ความยาวเส้นทาง ทางข้ามถนน และความสูงเสาไฟฟ้าได้อัตโนมัติ ค่า RMSE เฉลี่ย 0.64 ซม.</a:t>
            </a:r>
          </a:p>
          <a:p>
            <a:r>
              <a:t>การลดเวลาและต้นทุน : ลดเวลาทำงานด้วยมือลง 85% (จาก 40 ชั่วโมง เหลือ 6 ชั่วโมงต่อกิโลเมตร) และลดค่าแรงในสัดส่วนเท่ากัน</a:t>
            </a:r>
          </a:p>
          <a:p>
            <a:r>
              <a:t>การกู้คืนข้อมูลซ่อนเร้น (Dark Data) : Generative AI และ Feature Recognition อ่านแบบ CAD เดิม เลเยอร์ GIS และบันทึกประวัติศาสตร์ เพื่อสร้างฐานข้อมูลเชิงพื้นที่ เช่น โครงการ Georgia DOT ที่สกัดข้อมูลถนนกว่า 80,000 ไมล์</a:t>
            </a:r>
          </a:p>
          <a:p>
            <a:r>
              <a:t>ภาพที่ 12.2 การวัดความกว้างถนนจาก Point Cloud (8.099 ม.)</a:t>
            </a:r>
          </a:p>
          <a:p>
            <a:r>
              <a:t>ภาพที่ 12.3 การสกัดความกว้างทางม้าลาย (7.336 ม.) ที่มา: Balasubramani et al. (2026), ISPRS Archives, CC BY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[32][35]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โครงสร้างพื้นฐานที่ขยายขนาดได้ : ข้อมูลสำรวจมีขนาดระดับ Terabytes คลาวด์จึงมาแทนเครื่องประมวลผลท้องถิ่น ทั้งการจัดเก็บ ประมวลผล และสำรองข้อมูล</a:t>
            </a:r>
          </a:p>
          <a:p>
            <a:r>
              <a:t>การทำงานร่วมกันข้ามอุปกรณ์ : ทีมวิศวกร ผู้ดูแลโครงการ และช่างสำรวจภาคสนามเข้าถึง ทำมาร์กอัป วัดขนาด และแชร์โมเดล 3 มิติได้แบบเรียลไทม์ผ่านเว็บเบราว์เซอร์หรืออุปกรณ์เคลื่อนที่</a:t>
            </a:r>
          </a:p>
          <a:p>
            <a:r>
              <a:t>เวิร์กโฟลว์และ API อัตโนมัติ : ระบบอย่าง Anvil Labs และ DroneDeploy เปิด Cloud APIs ให้อัปโหลดข้อมูลดิบ แปลงเป็นโมเดล 3 มิติและ Orthomosaic รวมถึงตรวจจับความผิดปกติโดยไม่ต้องติดตั้งซอฟต์แวร์หนักในเครื่อง</a:t>
            </a:r>
          </a:p>
          <a:p>
            <a:r>
              <a:t>การลดต้นทุน : ไม่ต้องลงทุนซูเปอร์คอมพิวเตอร์ ขยายกำลังประมวลผลตามการใช้งานจริง และลดค่าบำรุงรักษาระบบ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การบูรณาการ RTK GNSS ร่วมกับ SLAM (Drift Elimination): ระบบ SLAM แบบบริสุทธิ์มักเกิดปัญหา SLAM Drift (ความคลาดเคลื่อนสะสมตามระยะทางเดิน ซึ่งอาจเบี่ยงเบนได้ 50 ซม. ถึงมากกว่า 1 เมตร ทุกๆ ระยะ 500 เมตร) การนำ RTK GNSS ที่มีความแม่นยำระดับเซนติเมตรเข้ามาดึงปรับใน Factor Graph Optimization ช่วยขจัด Drift ได้แบบเรียลไทม์ ทำให้ค่าพิกัดสัมบูรณ์กลางแจ้งมีความแม่นยำสูงถึง ≤ 2 ซม.. รอตรวจแหล่ง: การผสานเซนเซอร์หลายรูปแบบ (Multi-Sensor Fusion): การทำงานร่วมกันระหว่างเซนเซอร์วัดการเคลื่อนที่ IMU ความถี่สูง (200Hz), กล้องบันทึกภาพถ่าย RGB, เครื่องรับสัญญาณ RTK GNSS และ LiDAR ช่วยให้การสำรวจดำเนินไปอย่างต่อเนื่องและไม่มี Drift แม้จะเดินเข้า-ออกระหว่างพื้นที่กลางแจ้งและพื้นที่ร่ม/อาคารที่อับสัญญาณดาวเทียม.</a:t>
            </a:r>
          </a:p>
          <a:p>
            <a:endParaRPr/>
          </a:p>
          <a:p>
            <a:r>
              <a:t>อ้างอิงต้นทาง: [41][9][43]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Handheld LiDAR และ SLAM : เครื่องสแกนแบบถือ เช่น TOKNAV TSR20 ใช้อัลกอริทึม SLAM (Simultaneous Localization and Mapping) สร้าง Point Cloud 3 มิติได้ทันทีขณะเดินสำรวจ</a:t>
            </a:r>
          </a:p>
          <a:p>
            <a:r>
              <a:t>RTK GNSS ร่วมกับ SLAM : SLAM ล้วนเกิด Drift สะสม (50 ซม. ถึงมากกว่า 1 ม. ทุก 500 ม.) การดึงปรับด้วย RTK GNSS ใน Factor Graph Optimization ช่วยขจัด Drift แบบเรียลไทม์ ได้ความแม่นยำพิกัดสัมบูรณ์กลางแจ้ง ≤ 2 ซม.</a:t>
            </a:r>
          </a:p>
          <a:p>
            <a:r>
              <a:t>การผสานเซนเซอร์หลายรูปแบบ : IMU (200 Hz) กล้อง RGB เครื่องรับ RTK GNSS และ LiDAR ทำงานร่วมกัน ให้การสำรวจต่อเนื่องแม้เคลื่อนที่ระหว่างพื้นที่กลางแจ้งและพื้นที่อับสัญญาณดาวเทียม</a:t>
            </a:r>
          </a:p>
          <a:p>
            <a:r>
              <a:t>การสตรีมข้อมูลภาคสนาม : เชื่อมกล้องติดรถยนต์ เซนเซอร์ IoT และโดรนเข้ากับ GIS / Digital Twin ให้ศูนย์ควบคุมเห็นการเปลี่ยนแปลงของพื้นที่แบบเรียลไทม์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แบบจำลองระดับเมืองและระดับชาติ (City &amp; National Scale Twins): ตัวอย่างเช่น Virtual Singapore ที่บูรณาการข้อมูล GIS 3 มิติ, LiDAR และเซนเซอร์ IoT จากกว่า 100 หน่วยงาน เพื่อจำลองการจราจร, การไหลเวียนความร้อน และการวางผังเมือง หรือ Perry, Iowa ที่สร้างดิจิทัลทวินครอบคลุมทั้งเมืองเพื่อบริหารจัดการโครงสร้างพื้นฐานสีเทา (ถนน, ทางเท้า) และสีเขียว (พื้นที่ป่าไม้). รอตรวจแหล่ง: ความยั่งยืนและการลดผลกระทบสิ่งแวดล้อม: ช่วยลดการเดินทางลงพื้นที่สำรวจซ้ำซ้อน (ลดการปล่อยก๊าซเรือนกระจก), ประหยัดงบประมาณบำรุงรักษา (เช่น กรมขนส่งฮาวายประหยัดได้ 940,000 ต่อปี) และเพิ่มความปลอดภัยให้กับเจ้าหน้าที่.</a:t>
            </a:r>
          </a:p>
          <a:p>
            <a:endParaRPr/>
          </a:p>
          <a:p>
            <a:r>
              <a:t>อ้างอิงต้นทาง: [52][57][10][62][65][66][9]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แนวคิด : แบบจำลองเสมือน 3 มิติของโครงสร้างพื้นฐานกายภาพ แลกเปลี่ยนข้อมูลสองทิศทาง และอัปเดตสถานะผ่านเซนเซอร์ IoT, GIS, BIM และ LiDAR ตลอดวงจรชีวิตของสินทรัพย์</a:t>
            </a:r>
          </a:p>
          <a:p>
            <a:r>
              <a:t>แพลตฟอร์มสนับสนุน : Bentley iTwin Platform, Autodesk Tandem, Esri ArcGIS / GeoBIM, Siemens Xcelerator และ Hexagon Smart Digital Reality</a:t>
            </a:r>
          </a:p>
          <a:p>
            <a:r>
              <a:t>การบำรุงรักษาเชิงคาดการณ์ : ตรวจสอบสะพาน ถนน ท่อส่งน้ำ และสาธารณูปโภคต่อเนื่อง เพื่อตรวจพบความเค้นหรือการชำรุดก่อนเกิดความเสียหายร้ายแรง</a:t>
            </a:r>
          </a:p>
          <a:p>
            <a:r>
              <a:t>แบบจำลองระดับเมืองและระดับชาติ : Virtual Singapore บูรณาการข้อมูล GIS 3 มิติ LiDAR และเซนเซอร์ IoT จากกว่า 100 หน่วยงาน ส่วน Perry รัฐ Iowa สร้างดิจิทัลทวินทั้งเมือง</a:t>
            </a:r>
          </a:p>
          <a:p>
            <a:r>
              <a:t>ความยั่งยืน : ลดการลงพื้นที่ซ้ำและการปล่อยก๊าซเรือนกระจก ประหยัดงบบำรุงรักษา (กรมขนส่งฮาวายประหยัดได้ 940,000 ดอลลาร์สหรัฐต่อปี) และเพิ่มความปลอดภัยของเจ้าหน้าที่</a:t>
            </a:r>
          </a:p>
          <a:p>
            <a:r>
              <a:t>ภาพที่ 12.4 Virtual Singapore: ดิจิทัลทวินระดับประเทศ</a:t>
            </a:r>
          </a:p>
          <a:p>
            <a:r>
              <a:t>ภาพที่ 12.5 เมือง Perry รัฐ Iowa: ดิจิทัลทวินระดับเมือง ที่มา: ISI (2025), Advancing Infrastructure Sustainability Through Digital Twins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การบรรลุจุดสมดุลของการสำรวจ (The Surveying Sweet Spot): การหลอมรวมระหว่าง LiDAR, RTK GNSS, AI และ Cloud Processing ทำให้งานสำรวจบรรลุความสมบูรณ์แบบทั้ง 4 ด้านพร้อมกัน คือ ความถูกต้องสูง (High Accuracy), ความรวดเร็ว (Speed), ความคุ้มค่าด้านต้นทุน (Cost Efficiency) และ ความปลอดภัยของเจ้าหน้าที่ (Safety).</a:t>
            </a:r>
          </a:p>
          <a:p>
            <a:endParaRPr/>
          </a:p>
          <a:p>
            <a:r>
              <a:t>อ้างอิงต้นทาง: [1][17]</a:t>
            </a:r>
          </a:p>
          <a:p>
            <a:endParaRPr/>
          </a:p>
          <a:p>
            <a:r>
              <a:t>ข้อความเต็มจากฉบับก่อนย่อ:</a:t>
            </a:r>
          </a:p>
          <a:p>
            <a:r>
              <a:t>กระบวนการอัตโนมัติแบบครบวงจร : เชื่อมต่อการบินโดรนเก็บข้อมูล การประมวลผลบนคลาวด์ และการแยกวัตถุด้วย AI เป็นข้อมูลวิศวกรรมพร้อมใช้งาน โดยอาศัยการแทรกแซงจากมนุษย์น้อยที่สุด</a:t>
            </a:r>
          </a:p>
          <a:p>
            <a:r>
              <a:t>การเปลี่ยนบทบาทของนักสำรวจ : จากผู้ถืออุปกรณ์รังวัดในสนาม เป็นผู้เชี่ยวชาญด้านการจัดการข้อมูลเชิงพื้นที่ (Spatial Data Managers) ผู้ตรวจสอบอัลกอริทึม AI (AI Auditors) และผู้วางกลยุทธ์ด้าน Digital Twin</a:t>
            </a:r>
          </a:p>
          <a:p>
            <a:r>
              <a:t>จุดสมดุลของการสำรวจ (Surveying Sweet Spot) : LiDAR, RTK GNSS, AI และ Cloud Processing ทำให้งานสำรวจบรรลุ 4 ด้านพร้อมกัน ได้แก่ ความถูกต้องสูง ความรวดเร็ว ความคุ้มค่าด้านต้นทุน และความปลอดภัยของเจ้าหน้าที่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4_0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7_CF66996E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_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F_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4_0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9_0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E_0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9_0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C_C0E55CF8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A_0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140961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เทคโนโลยีการสำรวจภูมิประเทศในปัจจุบัน: จากการรังวัดภาคสนามสู่การสำรวจเชิงดิจิทัล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บทนำและความสำคัญของงานสำรวจภูมิประเทศ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7" y="102815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ข้อมูลภูมิประเทศคือข้อมูลพื้นฐานของการวางแผน ออกแบบ และก่อสร้าง: ระดับ ความลาดชัน ขอบเขต และสิ่งปลูกสร้าง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636F5-4E00-5845-3638-71892E9A2E46}"/>
              </a:ext>
            </a:extLst>
          </p:cNvPr>
          <p:cNvSpPr txBox="1"/>
          <p:nvPr/>
        </p:nvSpPr>
        <p:spPr>
          <a:xfrm>
            <a:off x="548639" y="569395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ผลต่อเนื่อง: ทุกขั้นใช้ข้อมูลชุดเดียวกัน ข้อมูลผิดตั้งแต่ต้นจะกระทบงบประมาณและความปลอดภัย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F8BDB-A687-9199-4A1D-37CADF4D3F6C}"/>
              </a:ext>
            </a:extLst>
          </p:cNvPr>
          <p:cNvSpPr txBox="1"/>
          <p:nvPr/>
        </p:nvSpPr>
        <p:spPr>
          <a:xfrm>
            <a:off x="548634" y="1761780"/>
            <a:ext cx="11094415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ตัวอย่างความสำคัญของข้อมูลภูมิประเทศต่อการออกแบบและก่อสร้าง</a:t>
            </a:r>
            <a:endParaRPr lang="th-TH" sz="2400" b="0" dirty="0">
              <a:latin typeface="TH Sarabun New"/>
              <a:ea typeface="TH Sarabun New"/>
              <a:cs typeface="TH Sarabun New"/>
            </a:endParaRP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ขั้นวางแผน: เทียบทางเลือกแนวโครงการ เลือกแนวที่สร้างได้จริงและกระทบน้อยที่สุด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ขั้นออกแบบ: กำหนดระดับถนน ความลาดคลอง และระดับพื้นอาคาร ข้อมูลผิด แบบก็ผิดทั้งชุด</a:t>
            </a:r>
          </a:p>
          <a:p>
            <a:pPr marL="320040" indent="-274320">
              <a:spcAft>
                <a:spcPts val="600"/>
              </a:spcAft>
              <a:buFontTx/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ขั้นก่อสร้าง: ปักหมุดตำแหน่งและระดับจากแบบลงพื้นที่ และตรวจปริมาณงานจริงเทียบแบบ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7285"/>
            <a:ext cx="11094415" cy="28715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ตัวอย่างการใช้ข้อมูลภูมิประเทศในงานออกแบบและก่อสร้าง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ใช้คำนวณปริมาณงานดิน: ปริมาตรดินตัด-ถม ใช้ประมาณราคาและตรวจรับงาน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ประเมินพื้นที่เสี่ยงน้ำท่วมและการกัดเซาะ: ใช้เลือกตำแหน่งอาคารและวางแนวคันป้องกัน</a:t>
            </a:r>
          </a:p>
          <a:p>
            <a:pPr marL="320040" indent="-274320">
              <a:spcAft>
                <a:spcPts val="600"/>
              </a:spcAft>
              <a:buFontTx/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กำหนดแนวทางระบายน้ำ: วางแนวคูหรือท่อให้ลาดต่อเนื่อง ไม่มีจุดน้ำขัง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CD8A0-36A1-FC8B-1EAF-40AB84923EFB}"/>
              </a:ext>
            </a:extLst>
          </p:cNvPr>
          <p:cNvSpPr txBox="1"/>
          <p:nvPr/>
        </p:nvSpPr>
        <p:spPr>
          <a:xfrm>
            <a:off x="548639" y="4754880"/>
            <a:ext cx="1109441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ความคลาดเคลื่อนเกินเกณฑ์ทำให้โครงสร้างผิดตำแหน่ง ต้องรื้อแก้ และเสี่ยงต่อความปลอดภัย จึงต้องเลือกวิธีสำรวจให้เหมาะสม เพื่อให้งานตรงแบบ ประหยัดเวลาและต้นทุน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1.2 การเปลี่ยนแปลงของเทคโนโลยีงานสำรวจตามยุคสมัย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657600"/>
            <a:ext cx="10927080" cy="0"/>
          </a:xfrm>
          <a:prstGeom prst="line">
            <a:avLst/>
          </a:prstGeom>
          <a:ln w="508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399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ยุคดั้งเดิม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600200"/>
            <a:ext cx="2743200" cy="18288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468879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6517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19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ใช้เทปวัดระยะ, กล้องระดับ, และกล้องวัดมุม ต้องอาศัยกำลังคนและเวลาในสนามมาก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ยุคอิเล็กทรอนิกส์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00200"/>
            <a:ext cx="2743200" cy="18288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1264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3093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177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Total Station และ GNSS วัดได้เร็วขึ้นและบันทึกเป็นดิจิทัล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ยุคปัจจุบัน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600200"/>
            <a:ext cx="2743200" cy="182880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97840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99669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3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UAV/Drone และ LiDAR เก็บข้อมูลพื้นที่กว้างในเวลาสั้น ได้พื้นผิวจากจุดจำนวนมาก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ที่มาภาพ: USGS (สาธารณสมบัติ); รัตนพันธ์ และคณะ (2568); Thammaboribal, Tripathi และ Lipiloet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1.3 จากการสำรวจแบบดั้งเดิมสู่ Digital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51733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Digital Survey คือการสำรวจที่ข้อมูลเป็นดิจิทัลตลอดกระบวนการ ตั้งแต่เก็บ ประมวลผล จนส่งมอบ ใช้ต่อใน CAD, GIS และ BIM ได้ทันที</a:t>
            </a:r>
          </a:p>
          <a:p>
            <a:pPr marL="320040" indent="-274320">
              <a:spcAft>
                <a:spcPts val="600"/>
              </a:spcAft>
              <a:buChar char="•"/>
            </a:pPr>
            <a:endParaRPr lang="th-TH" sz="3000" b="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A6118-CE9E-36BA-999F-CF1D03FA3926}"/>
              </a:ext>
            </a:extLst>
          </p:cNvPr>
          <p:cNvSpPr txBox="1"/>
          <p:nvPr/>
        </p:nvSpPr>
        <p:spPr>
          <a:xfrm>
            <a:off x="548639" y="2882360"/>
            <a:ext cx="110944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ผลลัพธ์: ลดเวลาภาคสนาม ลดความเสี่ยงในพื้นที่อันตราย และตรวจสอบย้อนกลับได้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เทคโนโลยีการกำหนดตำแหน่งด้วยดาวเทียม GNSS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2.1 เทคโนโลยีการกำหนดตำแหน่งด้วยดาวเทียม GNSS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3" y="1137880"/>
            <a:ext cx="11094415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GNSS (Global Navigation Satellite System) คือระบบดาวเทียมระบุตำแหน่งทั่วโลก การใช้หลายระบบร่วมกันช่วยเพิ่มความแม่นยำและลดปัญหาสัญญาณถูกบัง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3" y="1826103"/>
            <a:ext cx="2130552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2.1 ตัวอย่างระบบ GNSS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85201"/>
              </p:ext>
            </p:extLst>
          </p:nvPr>
        </p:nvGraphicFramePr>
        <p:xfrm>
          <a:off x="552072" y="2179571"/>
          <a:ext cx="3886200" cy="20116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ผู้ดำเนินการ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GPS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สหรัฐฯ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GLONASS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รัสเซีย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Galileo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สหภาพยุโรป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BeiDou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จีน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529AB3-120C-393C-3A15-D8326F126485}"/>
              </a:ext>
            </a:extLst>
          </p:cNvPr>
          <p:cNvSpPr txBox="1"/>
          <p:nvPr/>
        </p:nvSpPr>
        <p:spPr>
          <a:xfrm>
            <a:off x="5077206" y="182610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ED953-9047-4317-0DE9-52B6D2D43C1D}"/>
              </a:ext>
            </a:extLst>
          </p:cNvPr>
          <p:cNvSpPr txBox="1"/>
          <p:nvPr/>
        </p:nvSpPr>
        <p:spPr>
          <a:xfrm>
            <a:off x="5559553" y="2274260"/>
            <a:ext cx="5875160" cy="16712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วงโคจรดาวเทียม: ดาวเทียมโคจรเบี่ยงจากเส้นทางที่คาดไว้เล็กน้อย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สัญญาณสะท้อน (Multipath): สัญญาณสะท้อนอาคารหรือต้นไม้ก่อนถึงเครื่องรับ</a:t>
            </a:r>
          </a:p>
        </p:txBody>
      </p:sp>
      <p:pic>
        <p:nvPicPr>
          <p:cNvPr id="6" name="Picture 5" descr="GNSS – Global Navigation Satellite System - พันธุ์ไทยอาร์ทีเค (Pantai RTK)">
            <a:extLst>
              <a:ext uri="{FF2B5EF4-FFF2-40B4-BE49-F238E27FC236}">
                <a16:creationId xmlns:a16="http://schemas.microsoft.com/office/drawing/2014/main" id="{C33BA6CB-C44B-5D31-DE05-AD59134A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4" y="4243098"/>
            <a:ext cx="3686175" cy="209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D7A772-59F1-8B38-5B6D-3F9E42B777F0}"/>
              </a:ext>
            </a:extLst>
          </p:cNvPr>
          <p:cNvSpPr txBox="1"/>
          <p:nvPr/>
        </p:nvSpPr>
        <p:spPr>
          <a:xfrm>
            <a:off x="1341515" y="6399317"/>
            <a:ext cx="2816334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2.1 รูปแสดงตัวอย่างระบบ GNSS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BA82A-D27E-3291-5120-F50354D177D9}"/>
              </a:ext>
            </a:extLst>
          </p:cNvPr>
          <p:cNvSpPr txBox="1"/>
          <p:nvPr/>
        </p:nvSpPr>
        <p:spPr>
          <a:xfrm>
            <a:off x="5977423" y="6115878"/>
            <a:ext cx="443493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2.2 แสดงปัจจัยต่างๆที่มีผลต่อ</a:t>
            </a:r>
            <a:r>
              <a:rPr lang="th-TH" sz="1600" dirty="0">
                <a:latin typeface="TH Sarabun New"/>
                <a:ea typeface="TH Sarabun New"/>
                <a:cs typeface="TH Sarabun New"/>
              </a:rPr>
              <a:t>ความคลาดเคลื่อนสะสม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47851"/>
            <a:ext cx="1060513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GNSS Correction คือข้อมูลแก้ค่าที่ส่งให้เครื่องรับ เพื่อลดความคลาดเคลื่อนของพิกัด มีวิธีดังนี้</a:t>
            </a:r>
          </a:p>
        </p:txBody>
      </p:sp>
      <p:graphicFrame>
        <p:nvGraphicFramePr>
          <p:cNvPr id="5" name="ตารางเปรียบเทียบวิธีแก้ค่า GNSS">
            <a:extLst>
              <a:ext uri="{FF2B5EF4-FFF2-40B4-BE49-F238E27FC236}">
                <a16:creationId xmlns:a16="http://schemas.microsoft.com/office/drawing/2014/main" id="{21A4E536-DD87-D630-6C17-BB1435BA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134153"/>
              </p:ext>
            </p:extLst>
          </p:nvPr>
        </p:nvGraphicFramePr>
        <p:xfrm>
          <a:off x="316660" y="2386584"/>
          <a:ext cx="5848166" cy="40430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Differential 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เทียบกับสถานีอ้างอิงที่ทราบพิกัด แล้วส่งค่าแก้ระยะ (Pseudorange Correction) ให้ Rover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SBAS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Satellite-Based Augmentation System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สถานีภาคพื้นดินคำนวณค่าแก้ แล้วส่งผ่านดาวเทียมค้างฟ้า ครอบคลุมพื้นที่กว้าง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Real-Time Kinematic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ใช้เฟสคลื่นพาห์ (Carrier Phase) และแก้ Integer Ambiguity ได้ความแม่นยำระดับเซนติเมตร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Precise Point Positioning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ใช้ค่าแก้วงโคจร นาฬิกาดาวเทียม และบรรยากาศ จากสถานีอ้างอิงที่กระจายทั่วโลก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PPP-RTK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รวมจุดเด่นของ PPP (ครอบคลุมกว้าง) และ RTK (ลู่เข้าเร็ว) ด้วยค่าแก้แบบ SSR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D8BAD7-24AD-BC23-0D2A-36F83F34D985}"/>
              </a:ext>
            </a:extLst>
          </p:cNvPr>
          <p:cNvSpPr txBox="1"/>
          <p:nvPr/>
        </p:nvSpPr>
        <p:spPr>
          <a:xfrm>
            <a:off x="268606" y="1928783"/>
            <a:ext cx="680466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2.2 ตัวอย่าง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A0220-EDEE-2D8A-2973-A982AFF22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82" y="2037309"/>
            <a:ext cx="4850129" cy="23397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ADDFDC-68E2-8F01-E9C0-7AEE8D4492D8}"/>
              </a:ext>
            </a:extLst>
          </p:cNvPr>
          <p:cNvSpPr txBox="1"/>
          <p:nvPr/>
        </p:nvSpPr>
        <p:spPr>
          <a:xfrm>
            <a:off x="7073266" y="4680368"/>
            <a:ext cx="443493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2.3 กราฟแสดงผลความแม่นยำของ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r>
              <a:rPr lang="th-TH" sz="1600" b="1" dirty="0">
                <a:latin typeface="TH Sarabun New"/>
                <a:ea typeface="TH Sarabun New"/>
                <a:cs typeface="TH Sarabun New"/>
              </a:rPr>
              <a:t> แต่ละระบบ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6B419C-EDDF-652F-EE67-A0086DA5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7" y="1076551"/>
            <a:ext cx="4043875" cy="2660176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A1E6DC91-35FC-F348-E85E-9C15620541B0}"/>
              </a:ext>
            </a:extLst>
          </p:cNvPr>
          <p:cNvSpPr/>
          <p:nvPr/>
        </p:nvSpPr>
        <p:spPr>
          <a:xfrm>
            <a:off x="6181949" y="4153887"/>
            <a:ext cx="54611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2.5 รูปแสดงเปรียบเทียบระหว่าง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ที่มา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https://tersus-gnss.com/tech_blog/-Differences-between-RTK-and-PPP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1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715B7-5AE9-E084-2035-506F4EDE5C71}"/>
              </a:ext>
            </a:extLst>
          </p:cNvPr>
          <p:cNvSpPr txBox="1"/>
          <p:nvPr/>
        </p:nvSpPr>
        <p:spPr>
          <a:xfrm>
            <a:off x="665777" y="3952569"/>
            <a:ext cx="4899282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400" b="1" dirty="0">
                <a:latin typeface="TH Sarabun New"/>
                <a:ea typeface="TH Sarabun New"/>
                <a:cs typeface="TH Sarabun New"/>
              </a:rPr>
              <a:t>ภาพที่ 2.4 รูป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GNSS Correction 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โดย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RTK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 ที่มา: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https://www.swiftnav.com/resource/blog/what-are-the-different-types-of-gnss-corrections</a:t>
            </a:r>
            <a:endParaRPr lang="th-TH" sz="14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Differences between RTK and PPP">
            <a:extLst>
              <a:ext uri="{FF2B5EF4-FFF2-40B4-BE49-F238E27FC236}">
                <a16:creationId xmlns:a16="http://schemas.microsoft.com/office/drawing/2014/main" id="{E6CB5650-138B-283B-4FE3-322C3AFD7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226" y="1005930"/>
            <a:ext cx="5637842" cy="294663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4A447-9AB4-7EC5-308A-A93365A78C44}"/>
              </a:ext>
            </a:extLst>
          </p:cNvPr>
          <p:cNvSpPr txBox="1"/>
          <p:nvPr/>
        </p:nvSpPr>
        <p:spPr>
          <a:xfrm>
            <a:off x="548640" y="1006239"/>
            <a:ext cx="680466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2.3 ตารางสรุปวิธีการแก้ไขค่า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GNSS (Summary of GNSS Correction Methods)</a:t>
            </a:r>
          </a:p>
          <a:p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3DEA0-82C4-B556-F8EE-AACFF1A2D15F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7ABDE8-0C50-3E72-B7F5-933A96AEC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96122"/>
              </p:ext>
            </p:extLst>
          </p:nvPr>
        </p:nvGraphicFramePr>
        <p:xfrm>
          <a:off x="548640" y="1449705"/>
          <a:ext cx="1106424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วิธีการ</a:t>
                      </a:r>
                      <a:endParaRPr sz="18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ความถูกต้อง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เวลาได้ค่าพิกัดครั้งแรก (TTFF)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พื้นที่ให้บริการ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การใช้งานทั่วไป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GNSS มาตรฐาน (Standard GNSS)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5–10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3–10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การนำทางทั่วไป อุปกรณ์ติดตามการออกกำลังกาย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SBAS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1–3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ความปลอดภัยการบิน การบริหารพื้นที่เกษตรขนาดใหญ่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DGNSS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ต่ำกว่า 1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5–20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เกษตรแม่นยำระดับเริ่มต้น การนำทางทางทะเลขั้นพื้นฐาน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 เซนติเมตร (แบบสถิต)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พลังงานนอกชายฝั่ง การติดตามทรัพย์สินทั่วโลก การสำรวจในพื้นที่ห่างไกล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PPP-RTK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3–7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ยานยนต์อัตโนมัติระดับประเทศ การตรวจสอบด้วยโดรน เกษตรอัจฉริยะ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1–2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ระดับท้องถิ่นถึงภูมิภาค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เกษตรความแม่นยำสูง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งานสำรวจ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หุ่นยนต์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</a:t>
                      </a:r>
                      <a:endParaRPr sz="1800" b="0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12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2.3 Static Survey และการสร้างหมุดควบคุม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069848"/>
            <a:ext cx="1109441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thaiDist"/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(การรังวัดแบบสถิต)</a:t>
            </a:r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ตั้งเครื่องรับ GNSS นิ่งบนหมุด 20 นาที–หลายชั่วโมง บันทึกข้อมูลดิบ (RINEX) แล้วประมวลผลภายหลัง (Post-Processing)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9F048-F4D1-0097-1362-E6A868BE95A1}"/>
              </a:ext>
            </a:extLst>
          </p:cNvPr>
          <p:cNvSpPr txBox="1"/>
          <p:nvPr/>
        </p:nvSpPr>
        <p:spPr>
          <a:xfrm>
            <a:off x="548641" y="1806852"/>
            <a:ext cx="11094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lnSpc>
                <a:spcPct val="100000"/>
              </a:lnSpc>
              <a:buNone/>
            </a:pPr>
            <a:r>
              <a:rPr lang="th-TH" sz="1800" b="1" dirty="0">
                <a:solidFill>
                  <a:schemeClr val="tx1"/>
                </a:solidFill>
                <a:effectLst/>
                <a:latin typeface="+mn-lt"/>
              </a:rPr>
              <a:t>หลักการของ Static Survey</a:t>
            </a: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   </a:t>
            </a:r>
          </a:p>
          <a:p>
            <a:pPr algn="thaiDist">
              <a:lnSpc>
                <a:spcPct val="100000"/>
              </a:lnSpc>
              <a:buNone/>
            </a:pP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ใช้เครื่องรับ 2 เครื่องขึ้นไปรับดาวเทียมชุดเดียวกันพร้อมกัน บันทึก Carrier Phase แล้วประมวลผลภายหลัง ทำให้แก้ Integer Ambiguity ได้เชื่อถือกว่าแบบเรียลไทม์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8FD39-8E16-8ECC-E9E2-28054D957652}"/>
              </a:ext>
            </a:extLst>
          </p:cNvPr>
          <p:cNvSpPr txBox="1"/>
          <p:nvPr/>
        </p:nvSpPr>
        <p:spPr>
          <a:xfrm>
            <a:off x="548641" y="2901790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</a:t>
            </a:r>
            <a:endParaRPr lang="th-TH" b="0" dirty="0">
              <a:solidFill>
                <a:schemeClr val="tx1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แปลงไฟล์ดิบเป็น RINEX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ประมวลผลเส้นฐาน (Baseline) ระหว่างจุดที่ตั้งเครื่อง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43D68-6710-87DB-8644-8F7F36E00DF3}"/>
              </a:ext>
            </a:extLst>
          </p:cNvPr>
          <p:cNvSpPr txBox="1"/>
          <p:nvPr/>
        </p:nvSpPr>
        <p:spPr>
          <a:xfrm>
            <a:off x="548640" y="4464923"/>
            <a:ext cx="491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หมายเหตุ</a:t>
            </a:r>
            <a:r>
              <a:rPr lang="th-TH" sz="1800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เวลาสังเกตการณ์: เส้นฐาน ≤20 กม. ~20–30 นาที, 20–100 กม. ~1–4 ชม., &gt;100 กม. ≥4 ชม.</a:t>
            </a:r>
            <a:endParaRPr lang="th-TH" sz="18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Which is better among Static Survey, RTK or PPK? - Geo-matching">
            <a:extLst>
              <a:ext uri="{FF2B5EF4-FFF2-40B4-BE49-F238E27FC236}">
                <a16:creationId xmlns:a16="http://schemas.microsoft.com/office/drawing/2014/main" id="{9843F1C6-85B7-5938-E560-BE7748E53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73" y="2730182"/>
            <a:ext cx="4878002" cy="27438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D9F7FD4-CC37-DAD2-8D4E-427CF479C18A}"/>
              </a:ext>
            </a:extLst>
          </p:cNvPr>
          <p:cNvSpPr/>
          <p:nvPr/>
        </p:nvSpPr>
        <p:spPr>
          <a:xfrm>
            <a:off x="7321308" y="5554827"/>
            <a:ext cx="30780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2.6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https://geo-matching.com/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2.4 CORS และระบบอ้างอิงพิกัด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102" y="5744041"/>
            <a:ext cx="10921033" cy="8863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ระบบอ้างอิงพิกัด (Coordinate Reference Systems)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พิกัด GNSS อยู่บนทรงรีสากล (WGS84/ITRF) ต้องแปลงเข้าระบบท้องถิ่น (UTM, Indian 1975) และใช้ยีออยด์ TGM2017 แปลงความสูงทรงรีเป็นความสูงออร์โทเมตริก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653AF-2C83-AD0B-9380-BA5BDDCE317C}"/>
              </a:ext>
            </a:extLst>
          </p:cNvPr>
          <p:cNvSpPr txBox="1"/>
          <p:nvPr/>
        </p:nvSpPr>
        <p:spPr>
          <a:xfrm>
            <a:off x="619433" y="938080"/>
            <a:ext cx="11023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CORS (Continuously Operating Reference Station)</a:t>
            </a:r>
            <a:r>
              <a:rPr lang="th-TH" dirty="0"/>
              <a:t>สถานี GNSS ถาวรบนพิกัดที่รู้ค่า รับสัญญาณ 24 ชม. และส่งค่าแก้ให้ผู้ใช้ผ่านอินเทอร์เน็ต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66BA5-D414-9914-9834-A73958D9F2F9}"/>
              </a:ext>
            </a:extLst>
          </p:cNvPr>
          <p:cNvSpPr txBox="1"/>
          <p:nvPr/>
        </p:nvSpPr>
        <p:spPr>
          <a:xfrm>
            <a:off x="541276" y="24108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2.3 เครือข่าย CORS ในประเทศไทย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ตารางเครือข่าย CORS ในประเทศไทย">
            <a:extLst>
              <a:ext uri="{FF2B5EF4-FFF2-40B4-BE49-F238E27FC236}">
                <a16:creationId xmlns:a16="http://schemas.microsoft.com/office/drawing/2014/main" id="{6792DD9D-4366-5EB0-0C9B-85B5CF98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72643"/>
              </p:ext>
            </p:extLst>
          </p:nvPr>
        </p:nvGraphicFramePr>
        <p:xfrm>
          <a:off x="627102" y="2820194"/>
          <a:ext cx="7821572" cy="24001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0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จุดเด่น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เหมาะสำหรับ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8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LRTN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กรมที่ดิน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เครือข่ายสถานี</a:t>
                      </a:r>
                      <a:r>
                        <a:rPr lang="th-TH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จำนวน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มากทั่วประเทศ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WGS84 และแปลงเป็น Indian 1975 (UTM)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 ออกโฉนด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RTSD CORS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กรมแผนที่ทหาร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เน้นความแม่นยำระดับ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Geodetic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ระบบพิกัดสากล ITRF / WGS84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งานโครงสร้างพื้นฐาน แผนที่ระดับชาติ งานวิชาการ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และงานยุทธศาสตร์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5A3E3D-4E7B-B711-74D9-EB7D9993598C}"/>
              </a:ext>
            </a:extLst>
          </p:cNvPr>
          <p:cNvSpPr txBox="1"/>
          <p:nvPr/>
        </p:nvSpPr>
        <p:spPr>
          <a:xfrm>
            <a:off x="627102" y="1509507"/>
            <a:ext cx="11023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sz="1800" dirty="0"/>
              <a:t>ทำหน้าที่เป็นสถานีฐานถาวร ผู้ใช้ได้ตำแหน่งระดับเซนติเมตรแบบเรียลไทม์โดยไม่ต้องตั้งสถานีฐานเอง และทุกงานอ้างอิงกรอบพิกัดเดียวกัน เครือข่าย CORS ในประเทศไทย มีดังนี้</a:t>
            </a:r>
            <a:endParaRPr kumimoji="0" lang="th-TH" sz="18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</a:endParaRPr>
          </a:p>
        </p:txBody>
      </p:sp>
      <p:pic>
        <p:nvPicPr>
          <p:cNvPr id="4" name="Picture 3" descr="ระบบนำทางด้วยดาวเทียม GNSS CORS | GISTDA  สำนักงานพัฒนาเทคโนโลยีอวกาศและภูมิสารสนเทศ (องค์การมหาชน)">
            <a:extLst>
              <a:ext uri="{FF2B5EF4-FFF2-40B4-BE49-F238E27FC236}">
                <a16:creationId xmlns:a16="http://schemas.microsoft.com/office/drawing/2014/main" id="{38BD5656-0354-4B67-9476-02F13C333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570" y="2281598"/>
            <a:ext cx="2180822" cy="2938747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5B0CD64-0485-2151-9806-8757F784D844}"/>
              </a:ext>
            </a:extLst>
          </p:cNvPr>
          <p:cNvSpPr/>
          <p:nvPr/>
        </p:nvSpPr>
        <p:spPr>
          <a:xfrm>
            <a:off x="8957188" y="5334069"/>
            <a:ext cx="2915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2.7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https://gistda.or.th/th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2.5 การประยุกต์ใช้ GNSS ในงานสำรวจภูมิประเทศ</a:t>
            </a:r>
          </a:p>
        </p:txBody>
      </p:sp>
      <p:graphicFrame>
        <p:nvGraphicFramePr>
          <p:cNvPr id="5" name="ตารางงานสำรวจที่ใช้ GNSS">
            <a:extLst>
              <a:ext uri="{FF2B5EF4-FFF2-40B4-BE49-F238E27FC236}">
                <a16:creationId xmlns:a16="http://schemas.microsoft.com/office/drawing/2014/main" id="{05B4E1C5-F7C7-1005-4928-528FF33AA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05005"/>
              </p:ext>
            </p:extLst>
          </p:nvPr>
        </p:nvGraphicFramePr>
        <p:xfrm>
          <a:off x="548640" y="1280160"/>
          <a:ext cx="6294612" cy="52017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3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งานรังวัดที่ดินและแบ่งแยกแปลง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รังวัดขอบเขตและออกโฉนดตามมาตรฐานกรมที่ดินด้วย Network RTK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5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งานก่อสร้างและปักหมุดแนว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Construction &amp; Stakeout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กำหนดแนวเส้นทาง วางผังโครงสร้าง และปักหมุดตำแหน่งอาคาร ถนน สะพาน ได้อย่างรวดเร็ว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งานสำรวจรายละเอียดและทำงานร่วมกับโดรน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Drone Survey - RTK/PPK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บันทึกตำแหน่งภาพจากโดรน หรือรังวัด GCPs และ Checkpoints ระดับเซนติเมตร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งานทำระดับด้วย GNSS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GNSS Leveling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Static Survey + TGM2017 + CORS หาความสูงออร์โทเมตริกสำหรับงานโยธาและงานน้ำ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30D221-BB6E-205F-FC44-19350364CDCC}"/>
              </a:ext>
            </a:extLst>
          </p:cNvPr>
          <p:cNvSpPr txBox="1"/>
          <p:nvPr/>
        </p:nvSpPr>
        <p:spPr>
          <a:xfrm>
            <a:off x="472450" y="937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2.4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การประยุกต์ใช้ GNSS ในงานสำรวจภูมิประเทศ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สำนักงานที่ดินจังหวัดตราด">
            <a:extLst>
              <a:ext uri="{FF2B5EF4-FFF2-40B4-BE49-F238E27FC236}">
                <a16:creationId xmlns:a16="http://schemas.microsoft.com/office/drawing/2014/main" id="{902B0A28-9BEC-C55F-62C4-942C5E917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038" y="1036320"/>
            <a:ext cx="3479962" cy="182118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D209AF6-FCC7-980C-13ED-4FBB6878B575}"/>
              </a:ext>
            </a:extLst>
          </p:cNvPr>
          <p:cNvSpPr/>
          <p:nvPr/>
        </p:nvSpPr>
        <p:spPr>
          <a:xfrm>
            <a:off x="7188038" y="3021945"/>
            <a:ext cx="424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2.8 มาตรฐานงานรังวัดที่ดิน 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https://www.dol.go.th/trat/cate-1769393600/news-1774493637/</a:t>
            </a:r>
          </a:p>
        </p:txBody>
      </p:sp>
      <p:pic>
        <p:nvPicPr>
          <p:cNvPr id="9" name="Picture 8" descr="Ground Control Targets | 3Dsurvey">
            <a:extLst>
              <a:ext uri="{FF2B5EF4-FFF2-40B4-BE49-F238E27FC236}">
                <a16:creationId xmlns:a16="http://schemas.microsoft.com/office/drawing/2014/main" id="{88FDF9DE-044C-B851-CFCD-473454A41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652" y="3503142"/>
            <a:ext cx="2741177" cy="2059458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3FF0DBB1-B614-72DD-7B1C-61DF0D70860A}"/>
              </a:ext>
            </a:extLst>
          </p:cNvPr>
          <p:cNvSpPr/>
          <p:nvPr/>
        </p:nvSpPr>
        <p:spPr>
          <a:xfrm>
            <a:off x="7344419" y="5813723"/>
            <a:ext cx="31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2.9 งานสำรวจรายละเอียดและทำงานร่วมกับโดรน </a:t>
            </a:r>
            <a:b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https://3dsurvey.si/products/ground-control-targets/</a:t>
            </a:r>
          </a:p>
          <a:p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Total Station (กล้องประมวลผลรวม)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3.1 เทคโนโลยีการสำรวจด้วยกล้อง Total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03225"/>
            <a:ext cx="11094415" cy="8556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หลักการ: Total Station รวมกล้องวัดมุมดิจิทัล เครื่องวัดระยะ (EDM) และไมโครโพรเซสเซอร์ไว้ในเครื่องเดียว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7541C-994A-5816-084E-B54C5CD92EFB}"/>
              </a:ext>
            </a:extLst>
          </p:cNvPr>
          <p:cNvSpPr txBox="1"/>
          <p:nvPr/>
        </p:nvSpPr>
        <p:spPr>
          <a:xfrm>
            <a:off x="548640" y="2141398"/>
            <a:ext cx="9863721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วัตถุประสงค์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รังวัดมุม ระยะทาง และคำนวณตำแหน่ง 3 มิติของจุดต่าง ๆ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งานที่ต้องการความละเอียดระดับมิลลิเมตร เช่น งานก่อสร้างและโครงสร้าง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3.2 การรังวัดมุม ระยะทาง และระดับ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867" y="5538612"/>
            <a:ext cx="562327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หมายเหตุ 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วิธีนี้ไม่ใช่การถ่ายระดับ (Differential Leveling) ความแม่นยำแนวดิ่งลดลงเมื่อเล็งไกล จึงไม่ใช้แทนการถ่ายระดับหมุด BM</a:t>
            </a:r>
          </a:p>
        </p:txBody>
      </p:sp>
      <p:graphicFrame>
        <p:nvGraphicFramePr>
          <p:cNvPr id="5" name="ตารางการรังวัดด้วย Total Station">
            <a:extLst>
              <a:ext uri="{FF2B5EF4-FFF2-40B4-BE49-F238E27FC236}">
                <a16:creationId xmlns:a16="http://schemas.microsoft.com/office/drawing/2014/main" id="{B8BD721F-433E-1A45-4375-F41EB187E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22761"/>
              </p:ext>
            </p:extLst>
          </p:nvPr>
        </p:nvGraphicFramePr>
        <p:xfrm>
          <a:off x="701609" y="1580145"/>
          <a:ext cx="5817178" cy="37216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การรังวัดมุม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วัดมุมราบ (Horizontal Angle) และมุมดิ่ง (Vertical / Zenith Angle)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การรังวัดระยะทาง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EDM ยิงเลเซอร์ไปที่ปริซึมหรือแบบ Reflectorless คำนวณระยะด้วย Time-of-Flight / Phase Shift ต้องตั้งค่าแก้บรรยากาศ (ppm) และค่าคงที่ปริซึมให้ถูกต้อง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การหาความสูงและคำนวณตำแหน่ง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หาความสูงด้วยตรีโกณมิติ และคำนวณพิกัด X, Y, Z จากมุมและระยะ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867248-1810-BE5C-3F91-13B7418FC944}"/>
              </a:ext>
            </a:extLst>
          </p:cNvPr>
          <p:cNvSpPr txBox="1"/>
          <p:nvPr/>
        </p:nvSpPr>
        <p:spPr>
          <a:xfrm>
            <a:off x="698866" y="1095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การรังวัดมุม ระยะทาง และระดับ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3.3 วิธีการสำรวจรายละเอียดภูมิประเทศ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DC13F-C4A2-C19D-9174-490E928AAF8D}"/>
              </a:ext>
            </a:extLst>
          </p:cNvPr>
          <p:cNvSpPr txBox="1"/>
          <p:nvPr/>
        </p:nvSpPr>
        <p:spPr>
          <a:xfrm>
            <a:off x="548640" y="5275308"/>
            <a:ext cx="109551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Total Station บันทึกพิกัดพร้อมรหัสรายละเอียด (Feature Code) เช่น ขอบถนน เสาไฟ ต้นไม้ เมื่อส่งออกไป CADD/GIS ซอฟต์แวร์จะลากเส้นและใส่สัญลักษณ์ให้อัตโนมัติ ลดเวลาและความผิดพลาด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3019-6A28-D0B7-7ACB-1C20DE49CABC}"/>
              </a:ext>
            </a:extLst>
          </p:cNvPr>
          <p:cNvSpPr txBox="1"/>
          <p:nvPr/>
        </p:nvSpPr>
        <p:spPr>
          <a:xfrm>
            <a:off x="698866" y="1018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3.2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1" name="ตารางวิธีปฏิบัติงานภาคสนาม">
            <a:extLst>
              <a:ext uri="{FF2B5EF4-FFF2-40B4-BE49-F238E27FC236}">
                <a16:creationId xmlns:a16="http://schemas.microsoft.com/office/drawing/2014/main" id="{18FD469E-56D9-D34A-8744-8A572F441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63661"/>
              </p:ext>
            </p:extLst>
          </p:nvPr>
        </p:nvGraphicFramePr>
        <p:xfrm>
          <a:off x="548640" y="1441030"/>
          <a:ext cx="11091672" cy="36197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การตั้งกล้องและส่อง Backsight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ตั้งกล้องบนหมุดที่ทราบพิกัด ปรับดิ่งและระดับ แล้วตั้งค่า Backsight ด้วยพิกัดหรือมุมแอซิมัทที่ทราบค่า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การรังวัดย้อนหาตำแหน่งตั้งกล้อง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Resection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ตั้งกล้องบนจุดใดก็ได้ แล้วส่องหมุดที่ทราบพิกัด ≥2 จุด กล้องจะคำนวณพิกัดจุดตั้งให้ทันที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การเก็บรายละเอียดและการเดินวงรอบ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Traverse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เก็บรายละเอียดแบบรัศมี หรือเดินวงรอบปิดสร้างหมุดย่อย ตรวจสอบด้วยค่าคลาดเคลื่อนเชิงมุมและเชิงเส้นเทียบเกณฑ์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การประมวลผลแบบ Digital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ส่งออกพิกัดและ Feature Code ไป CADD/GIS เพื่อทำแผนที่ได้ทันที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3.4 การทำงานร่วมกับ GNSS และระบบพิกัด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09447"/>
            <a:ext cx="5599958" cy="44258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จุดเด่นที่เสริมกัน: GNSS เหมาะพื้นที่โล่งและระยะไกล ส่วน Total Station เหมาะพื้นที่อับสัญญาณและงานละเอียดระดับมิลลิเมตร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การส่งต่อหมุดควบคุม: ใช้ GNSS กำหนดหมุดหลักภายนอก (BM1, BM2) แล้วใช้ Total Station เดินวงรอบต่อเข้าพื้นที่อับสัญญาณ (BM3, BM4)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งานก่อสร้าง: GNSS วางผังภาพรวม Total Station ตรวจแนวดิ่ง ตั้งเสา ฐานราก และติดตามการเคลื่อนตัว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การยึดโยงระบบพิกัด: ข้อมูลทั้งหมดอ้างอิงหมุด GNSS จึงอยู่ในระบบพิกัดของประเทศเดียวกัน</a:t>
            </a:r>
          </a:p>
          <a:p>
            <a:pPr marL="45720">
              <a:spcAft>
                <a:spcPts val="600"/>
              </a:spcAft>
            </a:pPr>
            <a:endParaRPr lang="th-TH" sz="2400" b="0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i-005-017.png">
            <a:extLst>
              <a:ext uri="{FF2B5EF4-FFF2-40B4-BE49-F238E27FC236}">
                <a16:creationId xmlns:a16="http://schemas.microsoft.com/office/drawing/2014/main" id="{6C6297C7-9E05-050D-3B63-FC597C6D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2" y="356243"/>
            <a:ext cx="2454869" cy="3273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3EB66-B86D-24F2-4BE0-2343A2B5B244}"/>
              </a:ext>
            </a:extLst>
          </p:cNvPr>
          <p:cNvSpPr txBox="1"/>
          <p:nvPr/>
        </p:nvSpPr>
        <p:spPr>
          <a:xfrm>
            <a:off x="5195181" y="3729770"/>
            <a:ext cx="4595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3.2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เครื่องรับ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GNSS (RTK)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บนขาตั้ง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  <p:pic>
        <p:nvPicPr>
          <p:cNvPr id="9" name="Picture 8" descr="i-005-018.png">
            <a:extLst>
              <a:ext uri="{FF2B5EF4-FFF2-40B4-BE49-F238E27FC236}">
                <a16:creationId xmlns:a16="http://schemas.microsoft.com/office/drawing/2014/main" id="{00435E4F-734E-16A1-EA8D-E1C4033CC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021" y="356243"/>
            <a:ext cx="2456248" cy="3273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7E4D34-AAA0-BF9C-75ED-B77A1B24A9AC}"/>
              </a:ext>
            </a:extLst>
          </p:cNvPr>
          <p:cNvSpPr txBox="1"/>
          <p:nvPr/>
        </p:nvSpPr>
        <p:spPr>
          <a:xfrm>
            <a:off x="9100283" y="3719794"/>
            <a:ext cx="2897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3.3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กล้อง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Total Station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UAV/Drone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29895"/>
            <a:ext cx="11094415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หลักการ Passive Sensing: ถ่ายภาพ 2 มิติหลายมุมที่ซ้อนทับกัน แล้วคำนวณรูปทรง 3 มิติด้วยหลักสามเหลี่ยม (Triangulation)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65D5B-AA0E-1008-1970-8DBE0B8E17CC}"/>
              </a:ext>
            </a:extLst>
          </p:cNvPr>
          <p:cNvSpPr txBox="1"/>
          <p:nvPr/>
        </p:nvSpPr>
        <p:spPr>
          <a:xfrm>
            <a:off x="293001" y="1800848"/>
            <a:ext cx="5920986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กระบวนการประมวลผลภาพถ่าย แบ่งออกได้เป็น 2 แบบ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Structure from Motion (SfM): จับคู่จุดเด่นข้ามภาพ หาตำแหน่งกล้อง และสร้าง Sparse Point Cloud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ตรวจจับจุดเด่น (SIFT/SURF) จับคู่ และตัดคู่ที่ผิดออกด้วย Robust Estimation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Bundle Adjustment ปรับตำแหน่ง/ทิศทางกล้องและพิกัด 3 มิติของจุดร่วมกัน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ใส่ GCP เพื่อเพิ่มความถูกต้องสัมบูรณ์และลดความบิดเบี้ยว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Multi-View Stereo (MVS): คำนวณ Depth Map จากหลายภาพ สร้าง Dense Point Cloud และ 3D Mesh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ดำเนินการต่อจากผลการจัดแนวภาพ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Image Alignment)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ของ </a:t>
            </a:r>
            <a:r>
              <a:rPr lang="en-US" b="0" dirty="0" err="1">
                <a:latin typeface="TH Sarabun New"/>
                <a:ea typeface="TH Sarabun New"/>
                <a:cs typeface="TH Sarabun New"/>
              </a:rPr>
              <a:t>SfM</a:t>
            </a:r>
            <a:endParaRPr lang="en-US" b="0" dirty="0">
              <a:latin typeface="TH Sarabun New"/>
              <a:ea typeface="TH Sarabun New"/>
              <a:cs typeface="TH Sarabun New"/>
            </a:endParaRP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จากกลุ่มเมฆจุดหนาแน่นนี้ สร้าง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DSM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และแบบจำลอง 3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 Mesh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ที่มีพื้นผิวได้</a:t>
            </a:r>
          </a:p>
        </p:txBody>
      </p:sp>
      <p:pic>
        <p:nvPicPr>
          <p:cNvPr id="4" name="Picture 3" descr="Fixstars Open-Sources CUMVS: Multi-View Stereo Software for Rapid 3D Model  Generation from 2D Images | Fixstars Corporation">
            <a:extLst>
              <a:ext uri="{FF2B5EF4-FFF2-40B4-BE49-F238E27FC236}">
                <a16:creationId xmlns:a16="http://schemas.microsoft.com/office/drawing/2014/main" id="{A4541C73-F67B-CFDA-FD44-1674596F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44" y="1800848"/>
            <a:ext cx="5387711" cy="2078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7B27A1-5824-3E71-22ED-178200F204A3}"/>
              </a:ext>
            </a:extLst>
          </p:cNvPr>
          <p:cNvSpPr txBox="1"/>
          <p:nvPr/>
        </p:nvSpPr>
        <p:spPr>
          <a:xfrm>
            <a:off x="5838395" y="4056753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4.1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Structure from Motion (</a:t>
            </a:r>
            <a:r>
              <a:rPr lang="en-US" dirty="0" err="1">
                <a:latin typeface="TH Sarabun New"/>
                <a:ea typeface="TH Sarabun New"/>
                <a:cs typeface="TH Sarabun New"/>
              </a:rPr>
              <a:t>SfM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)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 กับ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Multi-View Stereo (MVS)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 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en-US" dirty="0">
                <a:latin typeface="TH Sarabun New"/>
                <a:ea typeface="TH Sarabun New"/>
                <a:cs typeface="TH Sarabun New"/>
              </a:rPr>
              <a:t>https://news.fixstars.com/en/862/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และการถ่ายภาพทางอากาศ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07" y="1554480"/>
            <a:ext cx="3948224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2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ความสัมพันธ์ของความสูงบิน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ส่วนซ้อน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และพื้นที่ภาพ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(GSD)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i-007-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2433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015339"/>
            <a:ext cx="5394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3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ลำดับการประมวลผลภาพถ่ายใน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Agisoft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Metashape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8046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58240"/>
            <a:ext cx="10660134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สัดส่วนส่วนซ้อนและส่วนเกย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Overlap &amp; </a:t>
            </a:r>
            <a:r>
              <a:rPr lang="en-US" sz="2200" b="1" dirty="0" err="1">
                <a:latin typeface="TH Sarabun New"/>
                <a:ea typeface="TH Sarabun New"/>
                <a:cs typeface="TH Sarabun New"/>
              </a:rPr>
              <a:t>Sidelap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F5014-B186-6956-4046-A12C92DDA09A}"/>
              </a:ext>
            </a:extLst>
          </p:cNvPr>
          <p:cNvSpPr txBox="1"/>
          <p:nvPr/>
        </p:nvSpPr>
        <p:spPr>
          <a:xfrm>
            <a:off x="548640" y="1870834"/>
            <a:ext cx="467228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ส่วนซ้อนในแนวบิน (Forward Overlap): 70–80% (แนะนำ ≥75%) ให้ภาพติดกันมีจุดร่วมเพียงพอ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A9542-5E66-9979-560A-296D97A32434}"/>
              </a:ext>
            </a:extLst>
          </p:cNvPr>
          <p:cNvSpPr txBox="1"/>
          <p:nvPr/>
        </p:nvSpPr>
        <p:spPr>
          <a:xfrm>
            <a:off x="6095847" y="1889472"/>
            <a:ext cx="50619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ส่วนเกยระหว่างแนวบิน (Sidelap): 60–75% (แนะนำ ≥60%) เชื่อมแนวบินและลดความบิดเบี้ยวที่ขอบ</a:t>
            </a:r>
          </a:p>
        </p:txBody>
      </p:sp>
      <p:pic>
        <p:nvPicPr>
          <p:cNvPr id="6" name="Picture 5" descr="overlap.png">
            <a:extLst>
              <a:ext uri="{FF2B5EF4-FFF2-40B4-BE49-F238E27FC236}">
                <a16:creationId xmlns:a16="http://schemas.microsoft.com/office/drawing/2014/main" id="{2CFECD0F-4BC6-F0EA-DE07-1593E6B8E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331094"/>
            <a:ext cx="8414998" cy="2368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6E3FD0-A438-1755-ED72-8AA6921A19AF}"/>
              </a:ext>
            </a:extLst>
          </p:cNvPr>
          <p:cNvSpPr txBox="1"/>
          <p:nvPr/>
        </p:nvSpPr>
        <p:spPr>
          <a:xfrm>
            <a:off x="513058" y="5727192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4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แผนภาพแสดงส่วนซ้อนในแนวบิน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(Forward Overlap)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และส่วนเกยระหว่างแนวบิน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Sidelap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แผนภาพเชิงแนวคิด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จัดทำขึ้นประกอบการบรรยาย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4.2 การวางแผนแนวบินและการกำหนด GCP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10756"/>
            <a:ext cx="11094415" cy="4628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ความสูงบิน (Flight Altitude): กำหนดพื้นที่ครอบคลุมและความละเอียดภาพ (สัมพันธ์กับเลนส์และเซนเซอร์)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รูปแบบบล็อกการบิน: บินเป็นตาราง (Grid) เพื่อโครงข่ายที่แข็งแรง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Checkpoint (CP): หมุดที่รังวัดด้วย RTK แต่ไม่ใช้ปรับโมเดล ใช้คำนวณ RMSE เพื่อประเมินความถูกต้อง</a:t>
            </a:r>
          </a:p>
        </p:txBody>
      </p:sp>
      <p:pic>
        <p:nvPicPr>
          <p:cNvPr id="5" name="Picture 4" descr="i-003-008.png">
            <a:extLst>
              <a:ext uri="{FF2B5EF4-FFF2-40B4-BE49-F238E27FC236}">
                <a16:creationId xmlns:a16="http://schemas.microsoft.com/office/drawing/2014/main" id="{DABF66E6-6790-E2D1-7A4E-8A1B6888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2731925"/>
            <a:ext cx="3505200" cy="2708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7B1737-1447-DCDF-E88B-D90D65904A15}"/>
              </a:ext>
            </a:extLst>
          </p:cNvPr>
          <p:cNvSpPr txBox="1"/>
          <p:nvPr/>
        </p:nvSpPr>
        <p:spPr>
          <a:xfrm>
            <a:off x="417194" y="5467374"/>
            <a:ext cx="3699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5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ตำแหน่ง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Checkpoint (CP)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9" name="Picture 8" descr="i-004-012.png">
            <a:extLst>
              <a:ext uri="{FF2B5EF4-FFF2-40B4-BE49-F238E27FC236}">
                <a16:creationId xmlns:a16="http://schemas.microsoft.com/office/drawing/2014/main" id="{BDB325FE-595A-95C0-3778-C1D7DD9E3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2731925"/>
            <a:ext cx="3505199" cy="1530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3D61B3-EB25-810A-B391-68AF1BFDD159}"/>
              </a:ext>
            </a:extLst>
          </p:cNvPr>
          <p:cNvSpPr txBox="1"/>
          <p:nvPr/>
        </p:nvSpPr>
        <p:spPr>
          <a:xfrm>
            <a:off x="4328159" y="4289929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6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เป้าหมาย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 (Target)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3" name="Picture 12" descr="i-003-007.png">
            <a:extLst>
              <a:ext uri="{FF2B5EF4-FFF2-40B4-BE49-F238E27FC236}">
                <a16:creationId xmlns:a16="http://schemas.microsoft.com/office/drawing/2014/main" id="{9AD0C34C-A026-1ADC-0415-4AAE9EB47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679" y="2731925"/>
            <a:ext cx="3505200" cy="20725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694722-66FA-D3D8-A2FD-2170EC6CA1D9}"/>
              </a:ext>
            </a:extLst>
          </p:cNvPr>
          <p:cNvSpPr txBox="1"/>
          <p:nvPr/>
        </p:nvSpPr>
        <p:spPr>
          <a:xfrm>
            <a:off x="8107679" y="4831913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7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อากาศยานไร้คนขับที่ใช้บิน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การสร้าง Orthophoto และ Digital Surface Model (DSM)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DD9944E-2C0F-6798-C7A0-182E3D37A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64802"/>
              </p:ext>
            </p:extLst>
          </p:nvPr>
        </p:nvGraphicFramePr>
        <p:xfrm>
          <a:off x="548640" y="1681316"/>
          <a:ext cx="11091672" cy="47194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ผลิตภัณฑ์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คืออะไร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สร้างอย่างไร (หลักการ)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Digital Surface Model (DSM)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ความสูงของทุกวัตถุบนดิน (พื้นดิน อาคาร ต้นไม้) เก็บเป็นกริด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ได้ Dense Point Cloud จาก SfM + MVS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แบ่งพื้นที่เป็นเซลล์กริด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ใช้ค่าสูงสุดในแต่ละเซลล์ และเติมเซลล์ว่างจากจุดข้างเคียง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Orthophoto / Orthomosaic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ภาพถ่ายที่ปรับแก้ความเอียง (Orthorectification) มาตราส่วนสม่ำเสมอ วัดระยะและพื้นที่ได้จริง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หรือ DTM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เป็นพื้นผิวอ้างอิง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แต่ละพิกเซล อ่านความสูง Z จาก DSM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ฉายกลับไปยังภาพด้วยตำแหน่งและทิศทางกล้อง เพื่อดึงสี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 ปรับสี และเกลี่ยรอยต่อ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True-Orthophoto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แก้อาคารล้มเอียง (Radial Displacement) ให้วัตถุสูงตั้งตรง เหมาะพื้นที่เมือง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ความละเอียดสูง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วิเคราะห์การบดบัง (Self-occlusion)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เติมส่วนที่ถูกบังด้วยภาพจากกล้องตำแหน่งอื่น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ต่อภาพเป็นผืนเดียว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30718E-418E-4CC9-1854-044AE8C0552B}"/>
              </a:ext>
            </a:extLst>
          </p:cNvPr>
          <p:cNvSpPr txBox="1"/>
          <p:nvPr/>
        </p:nvSpPr>
        <p:spPr>
          <a:xfrm>
            <a:off x="548640" y="1202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4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การสร้าง Orthophoto และ Digital Surface Model (DSM)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การสร้าง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Digital Surface Model (DSM)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9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77" y="1554480"/>
            <a:ext cx="1922484" cy="1783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364991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8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ไม่ใช้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5" name="Picture 4" descr="i-009-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60" y="1554480"/>
            <a:ext cx="1915279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364991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9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7" name="Picture 6" descr="i-010-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51" y="3794760"/>
            <a:ext cx="2301137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05272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10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DSM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ไม่ใช้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pic>
        <p:nvPicPr>
          <p:cNvPr id="9" name="Picture 8" descr="i-010-0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39" y="3794760"/>
            <a:ext cx="210312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19" y="5605272"/>
            <a:ext cx="5394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</a:t>
            </a:r>
            <a:r>
              <a:rPr lang="th-TH"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11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DSM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4.4 การประยุกต์ใช้ในพื้นที่ขนาดใหญ่และพื้นที่เข้าถึงยาก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จุดเด่นเชิงปฏิบัติการ: เก็บข้อมูลพื้นที่ใหญ่ได้เร็ว ลดเวลา กำลังคน และค่าใช้จ่าย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การทำงานในพื้นที่เสี่ยงภัย: หน้าผาชัน พื้นที่พรุ หรือพื้นที่ภัยพิบัติที่เดินเข้าไม่ได้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ขอบเขตการนำไปใช้งาน: งานโยธาและผังเมือง ปริมาณดินตัด-ถม เกษตรแม่นยำ ชายฝั่ง และประเมินความเสียหาย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 LiDAR สำหรับการสำรวจภูมิประเทศ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5.1 หลักการทำงานของ LiDAR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ECAB8-E942-3384-BF8A-3F1EB72F8F28}"/>
              </a:ext>
            </a:extLst>
          </p:cNvPr>
          <p:cNvSpPr txBox="1"/>
          <p:nvPr/>
        </p:nvSpPr>
        <p:spPr>
          <a:xfrm>
            <a:off x="224022" y="1883332"/>
            <a:ext cx="5871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ยิงพัลส์เลเซอร์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ยิงเลเซอร์ (เช่น 1550 nm) ผ่านกระจกสแกน นับแสน–ล้านพัลส์ต่อวินาที</a:t>
            </a: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วัดระยะด้วยเวลาเดินทางของแสง (Time-of-Flight)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 = ความเร็วแสง × เวลาไป-กลับ ÷ 2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ระบุว่าเลเซอร์ยิงจากตำแหน่งและทิศทางใด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เซนเซอร์เคลื่อนที่ไปกับพาหนะ จึงต้องใช้อีก 2 เซนเซอร์ช่วย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GNSS (DGPS/RTK/PPK):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บอกพิกัด X, Y, Z ของเซนเซอร์ในขณะนั้น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IMU (Inertial Measurement Unit):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วัดการวางตัว Roll, Pitch และ Heading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FA9A8-9E40-6ABE-5CA3-C20DF1B07117}"/>
              </a:ext>
            </a:extLst>
          </p:cNvPr>
          <p:cNvSpPr txBox="1"/>
          <p:nvPr/>
        </p:nvSpPr>
        <p:spPr>
          <a:xfrm>
            <a:off x="639096" y="885395"/>
            <a:ext cx="9920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LiDAR (Light Detection and Ranging) 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สำรวจแบบ Active Sensing ส่งสัญญาณเอง ไม่พึ่งแสงธรรมชาติ ทำงาน 4 ขั้น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67811-2BB0-9379-7D39-D2858B9A2EF1}"/>
              </a:ext>
            </a:extLst>
          </p:cNvPr>
          <p:cNvSpPr txBox="1"/>
          <p:nvPr/>
        </p:nvSpPr>
        <p:spPr>
          <a:xfrm>
            <a:off x="6209449" y="1933216"/>
            <a:ext cx="55772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4. รวมข้อมูลเป็นพิกัด 3 มิติ (Sensor Fusion)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รวมระยะ + GNSS + IMU ได้พิกัด X, Y, Z และค่า Intensity เป็น Point Cloud</a:t>
            </a:r>
          </a:p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จุดเด่น: สะท้อนกลับได้หลายครั้ง (Multiple Returns)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1 พัลส์สะท้อนได้หลายครั้ง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First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สะท้อนจากยอดไม้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Intermediate returns: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สะท้อนจากกิ่งก้าน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สะท้อนจากพื้นดิน</a:t>
            </a:r>
          </a:p>
          <a:p>
            <a:pPr rtl="0">
              <a:buNone/>
            </a:pP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จึงวัดพื้นดินจริงใต้ต้นไม้ได้ ซึ่งภาพถ่ายทำไม่ได้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UAV LiDAR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Mobile/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LiDAR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4" y="1554480"/>
            <a:ext cx="335331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5.1 การเก็บข้อมูลด้วย LiDAR แบบถือ (Handheld SLAM)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  <p:pic>
        <p:nvPicPr>
          <p:cNvPr id="5" name="Picture 4" descr="i-004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364" y="1554480"/>
            <a:ext cx="284607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5.2 อุปกรณ์ LiDAR แบบถือและหน่วยควบคุม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630076-6B6F-AB4B-8221-E5E6A85A7FA0}"/>
              </a:ext>
            </a:extLst>
          </p:cNvPr>
          <p:cNvSpPr txBox="1"/>
          <p:nvPr/>
        </p:nvSpPr>
        <p:spPr>
          <a:xfrm>
            <a:off x="548640" y="366748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LiDAR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32DA231E-36CA-8479-087D-2FFF6EF39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212019"/>
              </p:ext>
            </p:extLst>
          </p:nvPr>
        </p:nvGraphicFramePr>
        <p:xfrm>
          <a:off x="462116" y="1710812"/>
          <a:ext cx="11180940" cy="42676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8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ชนิด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การติดตั้ง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เหมาะกับงาน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 / ข้อสังเกต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(เครื่องบิน / เฮลิคอปเตอร์)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ติดตั้งบนเครื่องบินปีกตรึงหรือเฮลิคอปเตอร์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ทำแผนที่ระดับภูมิภาคหรือแนวยาว (Corridor) เช่น ลุ่มน้ำ สายส่งไฟฟ้า ทางหลวง ป่าไม้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ความถูกต้องทางดิ่งราว 1–3 ซม. ถึง 15 ซม. ขึ้นกับความสูงบินและสเปกของเซนเซอร์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Mobile Terrestrial LiDAR (MLS)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เคลื่อนที่ทางบก)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ติดบนรถ ทำงานร่วมกับ Laser Scanner, GNSS, IMU และ Wheel DMI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จุดหนาแน่นสูงด้านข้าง เช่น หน้าผา คันดิน ผนังอาคาร และถนน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Boresight Alignment ระหว่าง LiDAR กับ IMU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3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บนโดรน)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ติดตั้งเซนเซอร์ LiDAR ขนาดเบาบนอากาศยานไร้นักบิน (UAV)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พื้นที่เล็ก–กลาง พื้นที่เสี่ยงภัย หรือป่าไม้ เจาะทรงพุ่มได้และคล่องตัว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จุดหนาแน่น 50–200+ จุด/ตร.ม. ต้นทุนต่ำกว่าเครื่องบิน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D90A14-01B0-1363-283A-67BAFA056283}"/>
              </a:ext>
            </a:extLst>
          </p:cNvPr>
          <p:cNvSpPr txBox="1"/>
          <p:nvPr/>
        </p:nvSpPr>
        <p:spPr>
          <a:xfrm>
            <a:off x="462116" y="1212574"/>
            <a:ext cx="7551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5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ความเหมาะสมและความถูกต้องของ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LiDAR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5.3 Point Cloud และการจำแนกข้อมูล Ground/Non-Ground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0416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Point Cloud: กลุ่มพิกัด X, Y, Z จำนวนมาก พร้อมค่า Intensity, Return Number และสี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FDF7-5A6F-2DA2-D1A0-4269B955DF06}"/>
              </a:ext>
            </a:extLst>
          </p:cNvPr>
          <p:cNvSpPr txBox="1"/>
          <p:nvPr/>
        </p:nvSpPr>
        <p:spPr>
          <a:xfrm>
            <a:off x="548640" y="165883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การจำแนกข้อมูล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Ground / Non-Ground (Ground Filtering)</a:t>
            </a:r>
            <a:endParaRPr lang="th-TH" sz="2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EBB72-0D12-E102-FA2B-A6DA7757F233}"/>
              </a:ext>
            </a:extLst>
          </p:cNvPr>
          <p:cNvSpPr txBox="1"/>
          <p:nvPr/>
        </p:nvSpPr>
        <p:spPr>
          <a:xfrm>
            <a:off x="646962" y="2081481"/>
            <a:ext cx="10404495" cy="237911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แยกจุดเป็น Ground (พื้นดินเปล่า) และ Non-Ground (อาคาร ต้นไม้ ยานพาหนะ Noise)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หลักการคัดแยก: จุดต่ำสุด เกณฑ์ความชัน ความต่างระดับ และความราบเรียบของพื้นผิว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รูปแบบอัลกอริทึมในการจำแนก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Progressive TIN Densification (PTD): สร้าง TIN หยาบจากจุดต่ำสุด แล้วเพิ่มจุดพื้นดินทีละขั้น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Cloth Simulation Filter (CSF): พลิก Point Cloud แล้วคลุมผ้าเสมือน จุดที่ผ้าแตะคือพื้นดิน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Morphological Filter: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ใช้เกณฑ์ความชันและความสูงในการสกัดจุดออกด้วยโครงสร้างกริด</a:t>
            </a:r>
          </a:p>
        </p:txBody>
      </p:sp>
      <p:pic>
        <p:nvPicPr>
          <p:cNvPr id="5" name="Picture 4" descr="i-002-004.png">
            <a:extLst>
              <a:ext uri="{FF2B5EF4-FFF2-40B4-BE49-F238E27FC236}">
                <a16:creationId xmlns:a16="http://schemas.microsoft.com/office/drawing/2014/main" id="{DC183FC2-DB61-364F-6550-59D298AC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529" y="886430"/>
            <a:ext cx="3973893" cy="22746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F3332B-C3B7-6E45-CA8B-5D9E1036905E}"/>
              </a:ext>
            </a:extLst>
          </p:cNvPr>
          <p:cNvSpPr txBox="1"/>
          <p:nvPr/>
        </p:nvSpPr>
        <p:spPr>
          <a:xfrm>
            <a:off x="7315477" y="3271037"/>
            <a:ext cx="4446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5.3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แสดงตามค่าความสูง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  <p:pic>
        <p:nvPicPr>
          <p:cNvPr id="11" name="Picture 10" descr="i-006-023.png">
            <a:extLst>
              <a:ext uri="{FF2B5EF4-FFF2-40B4-BE49-F238E27FC236}">
                <a16:creationId xmlns:a16="http://schemas.microsoft.com/office/drawing/2014/main" id="{76801BF4-286C-96F5-B60A-C317836E0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529" y="3688802"/>
            <a:ext cx="3836623" cy="20650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D57931-BAB9-B2DF-10FD-9D39B30471A8}"/>
              </a:ext>
            </a:extLst>
          </p:cNvPr>
          <p:cNvSpPr txBox="1"/>
          <p:nvPr/>
        </p:nvSpPr>
        <p:spPr>
          <a:xfrm>
            <a:off x="7389125" y="5965127"/>
            <a:ext cx="43732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5.4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การตรวจสอบ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ในซอฟต์แวร์ประมวลผล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5.4 กระบวนการแปลงจุดพอยต์คลาวด์เป็น DTM (Rasterization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13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คัดเลือกเฉพาะจุดพอยต์คลาวด์ที่ได้รับการจำแนกประเภทเป็น Ground (Class 2)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ประมาณค่าจุดพื้นดินเป็นกริด เช่น Points2Grid, Kriging, IDW หรือ TIN to Raster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ได้ DTM (Grid/TIN) ใช้คำนวณดินตัด-ถม วิเคราะห์อุทกวิทยา และทำเส้นชั้นความสูงใน CADD/GIS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การสำรวจภูมิประเทศด้วยเทคโนโลยีภาพถ่ายและ Point Cloud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6.1 Photogrammetry กับ LiDAR (หลักการและการได้มาซึ่งข้อมูล)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773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ทั้ง LiDAR และ Photogrammetry สร้าง Point Cloud ได้ แต่หลักการต่างกัน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AA0FE-BA01-203B-9D30-D6953B6003D1}"/>
              </a:ext>
            </a:extLst>
          </p:cNvPr>
          <p:cNvSpPr txBox="1"/>
          <p:nvPr/>
        </p:nvSpPr>
        <p:spPr>
          <a:xfrm>
            <a:off x="293002" y="2201637"/>
            <a:ext cx="5547360" cy="2148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Passive Sensing ใช้แสงธรรมชาติถ่ายภาพ 2 มิติ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การประมวลผล: SfM + MVS หาตำแหน่งกล้อง แล้วคำนวณพิกัด 3 มิติด้วย Triangulation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Orthophoto, 3D Textured Mesh และ Point Cloud ที่มีสี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EC073-8ADD-3436-2035-E134C8452F99}"/>
              </a:ext>
            </a:extLst>
          </p:cNvPr>
          <p:cNvSpPr txBox="1"/>
          <p:nvPr/>
        </p:nvSpPr>
        <p:spPr>
          <a:xfrm>
            <a:off x="5949900" y="2168290"/>
            <a:ext cx="5730824" cy="18712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Active Sensing ยิงพัลส์เลเซอร์เอง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3D Point Cloud พร้อมค่า Intensity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คุณสมบัติเด่น: Multiple Returns เจาะทรงพุ่มถึงพื้นดินได้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12350-B3D8-1F99-9CF7-5A269AFF58E3}"/>
              </a:ext>
            </a:extLst>
          </p:cNvPr>
          <p:cNvSpPr txBox="1"/>
          <p:nvPr/>
        </p:nvSpPr>
        <p:spPr>
          <a:xfrm>
            <a:off x="293002" y="168723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Photogrammetry (การรังวัดด้วยภาพถ่าย)</a:t>
            </a:r>
            <a:endParaRPr lang="th-TH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B42D8-C292-B3E2-91CF-C1C4DCA73A22}"/>
              </a:ext>
            </a:extLst>
          </p:cNvPr>
          <p:cNvSpPr txBox="1"/>
          <p:nvPr/>
        </p:nvSpPr>
        <p:spPr>
          <a:xfrm>
            <a:off x="5840362" y="1697368"/>
            <a:ext cx="56574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LiDAR (Light Detection and Ranging)</a:t>
            </a:r>
            <a:endParaRPr lang="th-TH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5CA50-8385-9AA3-3D33-695E57DE9871}"/>
              </a:ext>
            </a:extLst>
          </p:cNvPr>
          <p:cNvSpPr txBox="1"/>
          <p:nvPr/>
        </p:nvSpPr>
        <p:spPr>
          <a:xfrm>
            <a:off x="718881" y="6564638"/>
            <a:ext cx="9979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Point Cloud (กลุ่มเมฆจุด 3 มิติ)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คือจุดจำนวนมากที่มีพิกัด X, Y, Z รวมกันเป็นรูปร่าง 3 มิติของพื้นที่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879FC-CEEA-D996-7FA3-72932B3267D9}"/>
              </a:ext>
            </a:extLst>
          </p:cNvPr>
          <p:cNvSpPr txBox="1"/>
          <p:nvPr/>
        </p:nvSpPr>
        <p:spPr>
          <a:xfrm>
            <a:off x="0" y="6501304"/>
            <a:ext cx="9389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Note</a:t>
            </a:r>
            <a:endParaRPr lang="th-TH" sz="26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8" name="Picture 7" descr="i-003-007.png">
            <a:extLst>
              <a:ext uri="{FF2B5EF4-FFF2-40B4-BE49-F238E27FC236}">
                <a16:creationId xmlns:a16="http://schemas.microsoft.com/office/drawing/2014/main" id="{56D19D52-F439-0E16-9DE4-28497DEF7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2" y="3610066"/>
            <a:ext cx="3613354" cy="21365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226A22-80C4-C3C9-6512-ED325DF78F4D}"/>
              </a:ext>
            </a:extLst>
          </p:cNvPr>
          <p:cNvSpPr txBox="1"/>
          <p:nvPr/>
        </p:nvSpPr>
        <p:spPr>
          <a:xfrm>
            <a:off x="-334298" y="5816917"/>
            <a:ext cx="8091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6.1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อากาศยานไร้คนขับพร้อมกล้อง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(Photogrammetry)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15" name="Picture 14" descr="i-004-014.png">
            <a:extLst>
              <a:ext uri="{FF2B5EF4-FFF2-40B4-BE49-F238E27FC236}">
                <a16:creationId xmlns:a16="http://schemas.microsoft.com/office/drawing/2014/main" id="{650A718C-8267-2F11-DB00-0DB8D4BD6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646" y="3263723"/>
            <a:ext cx="1965334" cy="26204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39C078-06DA-A2F5-FF3F-73B4636DB730}"/>
              </a:ext>
            </a:extLst>
          </p:cNvPr>
          <p:cNvSpPr txBox="1"/>
          <p:nvPr/>
        </p:nvSpPr>
        <p:spPr>
          <a:xfrm>
            <a:off x="7838002" y="5985810"/>
            <a:ext cx="2860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6.2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เครื่องสแกน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LiDAR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วรารัตน์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รัตนพันธ์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(2568)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6.2 ตารางเปรียบเทียบ LiDAR และ Photogrammetry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6.1 เปรียบเทียบ LiDAR และ Photogrammetry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27736"/>
              </p:ext>
            </p:extLst>
          </p:nvPr>
        </p:nvGraphicFramePr>
        <p:xfrm>
          <a:off x="548640" y="2049780"/>
          <a:ext cx="11094415" cy="3813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1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หัวข้อเปรียบเทียบ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Photogrammetr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y</a:t>
                      </a:r>
                      <a:endParaRPr lang="th-TH" sz="20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7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หลักการคร่าวๆ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Passive Sensing ถ่ายภาพ แล้วคำนวณ 3 มิติด้วย SfM + MVS และสามเหลี่ยม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Active Sensing ยิงเลเซอร์ วัดระยะด้วย Time-of-Flight ร่วมกับ GNSS และ IMU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ความทนทาน/สภาพแวดล้อม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ต้องใช้แสง ทำงานกลางคืนไม่ได้ ไม่ทะลุพืช และพื้นผิวมัน/ไร้ลาย (น้ำ หิมะ ทราย) จับคู่จุดไม่ได้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เจาะทรงพุ่มถึงพื้นดินได้ (Multiple Returns) และสแกนกลางคืนได้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6.3 การเลือกใช้เทคโนโลยีให้เหมาะสมกับลักษณะพื้นที่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28B4DE9-1C3B-63E1-73E5-045FAE8A9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93498"/>
              </p:ext>
            </p:extLst>
          </p:nvPr>
        </p:nvGraphicFramePr>
        <p:xfrm>
          <a:off x="548640" y="1592826"/>
          <a:ext cx="11091672" cy="47622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ทางเลือก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เหมาะเมื่อ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พื้นที่เปิดโล่ง เช่น งานก่อสร้าง เหมืองเปิด ผังเมือง แปลงเกษตร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ต้องการภาพจริง Orthophoto หรือโมเดล 3D มีสี เพื่อสื่อสารหรือตรวจรอยร้าว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ต้องการควบคุมงบประมาณอุปกรณ์เริ่มต้นให้ประหยัดที่สุด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พื้นที่มีต้นไม้หนาแน่น ต้องการ DTM พื้นดินเปล่า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งานที่ต้องการความถูกต้องทางดิ่งสูง เช่น ดินตัด-ถม หรือวิเคราะห์น้ำท่วม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งานแนวยาว (สายส่ง ถนน รถไฟ) งานกลางคืน หรือภูมิประเทศซับซ้อน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การใช้งานแบบผสมผสาน (Hybrid Workflow)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ปัจจุบันนิยมใช้ร่วมกัน: LiDAR ให้รูปทรงและระดับที่แม่นยำ Photogrammetry ให้ภาพสีทาบผิว (Overlay Texture) เพื่อสร้าง Digital Twin หรือ BIM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6EA8A2-BDB1-1B75-88CF-663EC79CBFFF}"/>
              </a:ext>
            </a:extLst>
          </p:cNvPr>
          <p:cNvSpPr txBox="1"/>
          <p:nvPr/>
        </p:nvSpPr>
        <p:spPr>
          <a:xfrm>
            <a:off x="548640" y="108402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6.2 การเลือกใช้เทคโนโลยีให้เหมาะสมกับลักษณะพื้นที่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การสำรวจภูมิประเทศทางน้ำและใต้น้ำ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459" y="106975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หลักการ: ส่งคลื่นเสียงจาก Transducer ลงพื้นท้องน้ำ แล้วคำนวณความลึกจากเวลาไป-กลับ ตามสูตร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6DBE94-45D8-C362-C0B6-00653DC219BF}"/>
              </a:ext>
            </a:extLst>
          </p:cNvPr>
          <p:cNvSpPr/>
          <p:nvPr/>
        </p:nvSpPr>
        <p:spPr>
          <a:xfrm>
            <a:off x="548640" y="2019068"/>
            <a:ext cx="4564134" cy="868680"/>
          </a:xfrm>
          <a:prstGeom prst="rect">
            <a:avLst/>
          </a:prstGeom>
          <a:solidFill>
            <a:srgbClr val="26313A"/>
          </a:solidFill>
          <a:ln w="127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  =  ½ (v × t)  +  k  +  d r  +  r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4F80A08E-5CFC-00C4-CD48-05D610B8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305550"/>
              </p:ext>
            </p:extLst>
          </p:nvPr>
        </p:nvGraphicFramePr>
        <p:xfrm>
          <a:off x="548640" y="3397045"/>
          <a:ext cx="4357810" cy="25786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สัญลักษณ์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ความเร็วเสียงในน้ำ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เวลาเดินทางไป-กลับ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ค่าคงที่เครื่องมือ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 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ระยะกินน้ำลึก (Draft) ของหัวส่ง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ค่าปรับแก้ระดับอ้างอิง (Tide / Stage Correction)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71948B-9DA0-7BD8-F602-72B30DE0EF54}"/>
              </a:ext>
            </a:extLst>
          </p:cNvPr>
          <p:cNvSpPr txBox="1"/>
          <p:nvPr/>
        </p:nvSpPr>
        <p:spPr>
          <a:xfrm>
            <a:off x="6095847" y="2453408"/>
            <a:ext cx="5556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ความเร็วเสียงในน้ำ (SVP) แปรผันตามอุณหภูมิ ความเค็ม และความลึก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7054A-B8B7-28C0-CBB7-FD936040187C}"/>
              </a:ext>
            </a:extLst>
          </p:cNvPr>
          <p:cNvSpPr txBox="1"/>
          <p:nvPr/>
        </p:nvSpPr>
        <p:spPr>
          <a:xfrm>
            <a:off x="5753379" y="2079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 (Sound Velocity Profile - SVP)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3EC21C-31D8-866B-5598-D4C0A3C27A49}"/>
              </a:ext>
            </a:extLst>
          </p:cNvPr>
          <p:cNvCxnSpPr/>
          <p:nvPr/>
        </p:nvCxnSpPr>
        <p:spPr>
          <a:xfrm>
            <a:off x="5427406" y="1802258"/>
            <a:ext cx="0" cy="4637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DF28906E-F900-2BE3-C850-F40F8BAAD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05396"/>
              </p:ext>
            </p:extLst>
          </p:nvPr>
        </p:nvGraphicFramePr>
        <p:xfrm>
          <a:off x="6095847" y="3757869"/>
          <a:ext cx="5337835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0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ปัจจัย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การเปลี่ยนแปลง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ความเร็วเสียงเปลี่ยน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อุณหภูมิ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°C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4.0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ความเค็ม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ppt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1.4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ความลึก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100 ม.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1.7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0EEC25-4972-908C-925E-BF58BC7057D6}"/>
              </a:ext>
            </a:extLst>
          </p:cNvPr>
          <p:cNvSpPr txBox="1"/>
          <p:nvPr/>
        </p:nvSpPr>
        <p:spPr>
          <a:xfrm>
            <a:off x="5820697" y="3397045"/>
            <a:ext cx="555688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7.1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Echo Sounder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Multibeam Echo Sounder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58" y="1554480"/>
            <a:ext cx="3862122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7.1 โครงสร้างหัวส่งสัญญาณ (Transducer)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4-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331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89981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7.2 ชุดเครื่องหยั่งความลึกและอุปกรณ์ประกอบ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7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เครื่องหยั่งความลึกแบบหลายลำคลื่น (Multibeam Echo Sounder - MBES)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C19EE-F543-C48A-82CB-F48F864D75F9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85B4B-9B33-951D-B88B-97DEB94D7277}"/>
              </a:ext>
            </a:extLst>
          </p:cNvPr>
          <p:cNvSpPr txBox="1"/>
          <p:nvPr/>
        </p:nvSpPr>
        <p:spPr>
          <a:xfrm>
            <a:off x="440944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เครื่องหยั่งความลึกแบบคลื่นเสียงความถี่เดียว/ลำคลื่นเดียว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Single-Beam Echo Sounder - SBES)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7939C8-EFEC-60B7-86F5-34672C75362A}"/>
              </a:ext>
            </a:extLst>
          </p:cNvPr>
          <p:cNvCxnSpPr>
            <a:cxnSpLocks/>
          </p:cNvCxnSpPr>
          <p:nvPr/>
        </p:nvCxnSpPr>
        <p:spPr>
          <a:xfrm>
            <a:off x="5938684" y="1435510"/>
            <a:ext cx="0" cy="4945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0A2F418B-315F-62E9-8D08-364049E0C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874743"/>
              </p:ext>
            </p:extLst>
          </p:nvPr>
        </p:nvGraphicFramePr>
        <p:xfrm>
          <a:off x="440944" y="2018080"/>
          <a:ext cx="5239817" cy="37362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5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ลำคลื่นแคบลำเดียว ได้ความลึก 1 จุดต่อการส่ง 1 ครั้ง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ความถี่และการใช้งาน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มีแบบความถี่คู่: ความถี่สูงวัดผิวท้องน้ำ ความถี่ต่ำทะลุชั้นตะกอน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ข้อดีและจุดประสงค์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ราคาถูก ติดตั้งง่าย เหมาะน้ำตื้น คลองเล็ก งาน Spot Check หรืองบจำกัด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การวัดสอบเครื่องมือ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Bar Check / Calibration เพื่อปรับแก้ค่าความลึก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FA4A0112-284D-B553-55EE-1CA9214B2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529693"/>
              </p:ext>
            </p:extLst>
          </p:nvPr>
        </p:nvGraphicFramePr>
        <p:xfrm>
          <a:off x="6179286" y="1801764"/>
          <a:ext cx="5554448" cy="4892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ส่งคลื่นเป็นแถบพัด (Wide Swath) ครอบคลุมท้องน้ำ 100% ได้ Point Cloud ระดับเซนติเมตร และ Backscatter สำหรับจำแนกวัสดุท้องน้ำ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ระบบและเซนเซอร์ประกอบ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เครื่องรับสัญญาณ RTK GNSS (หาพิกัดราบ-สูง)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เซนเซอร์ IMU/INS (วัดการโคลงของเรือ: Pitch, Roll, Heave, Yaw)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อุปกรณ์วัดความเร็วเสียงในน้ำ (SVP/CTD)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การทดสอบและคาลิเบรต (Patch Test)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ทำก่อนการสำรวจ เพื่อแก้ความเบี่ยงเบนทางตำแหน่งและมุมของหัวส่งเทียบกับตัวเรือ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Roll Test: รังวัดบนพื้นท้องน้ำราบ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Pitch Test: รังวัดข้ามความลาดชัน/ภูมิประเทศขรุขระ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Yaw/Heading Test: รังวัดเส้นทางขนานเยื้องบนวัตถุเด่นใต้น้ำ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SBES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MBES 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27171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99081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7.3 รูปแบบลำคลื่นของ Echo Sounder แบบต่าง ๆ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5-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31" y="1554480"/>
            <a:ext cx="5286936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7.4 แนวกวาดสำรวจ (Swath) ของ Multibeam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25FC30C-9AC6-9314-692A-D9F0F1B7B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614871"/>
              </p:ext>
            </p:extLst>
          </p:nvPr>
        </p:nvGraphicFramePr>
        <p:xfrm>
          <a:off x="548640" y="1602658"/>
          <a:ext cx="11091672" cy="45695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20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การวางแนวรังวัดภาคสนาม (Survey Line Planning)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กำหนดแนวตัดขวางและตัดตามยาวให้เหมาะกับลำน้ำ (เช่น ตัดขวางทุก 5 ม. ตัดตามยาวทุก 25 ม.)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7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การประมวลผลและกรองข้อมูลจุด (Data Processing &amp; Point Filtering)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ข้อมูลดิบมี Noise จากสิ่งมีชีวิต ฟองอากาศ หรือการสะท้อน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กรองใน CloudCompare: แบ่งกลุ่มตามสัณฐาน → SOR ตัดจุดกระจาย → CSF แยกพื้นท้องน้ำ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แบบจำลองภูมิประเทศใต้น้ำ (Digital Bathymetric Model, DBM)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สร้างเส้นชั้นความลึก (Bathymetric Contours), TIN หรือ Raster DBM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การสำรวจหน้าตัดลำน้ำและท้องน้ำ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18748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56756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7.5 แบบจำลอง TIN ของท้องน้ำ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6-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1918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499950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7.6 แผนที่ระดับความลึกท้องน้ำ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1F46-5B93-33EB-0F72-5F67482F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CD2D2-0C02-2118-54E6-C6601C1AC769}"/>
              </a:ext>
            </a:extLst>
          </p:cNvPr>
          <p:cNvSpPr txBox="1"/>
          <p:nvPr/>
        </p:nvSpPr>
        <p:spPr>
          <a:xfrm>
            <a:off x="548640" y="156380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การเขียนรูปตัดและการคำนวณปริมาตร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Cross-Sections &amp; Volume Calculations)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B89EB-2EA3-83B7-0C1E-A4D74841EF45}"/>
              </a:ext>
            </a:extLst>
          </p:cNvPr>
          <p:cNvSpPr txBox="1"/>
          <p:nvPr/>
        </p:nvSpPr>
        <p:spPr>
          <a:xfrm>
            <a:off x="548640" y="273337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1C4AD09C-F85D-025A-5163-63CE9C219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538239"/>
              </p:ext>
            </p:extLst>
          </p:nvPr>
        </p:nvGraphicFramePr>
        <p:xfrm>
          <a:off x="628205" y="2223306"/>
          <a:ext cx="5467796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การเขียนรูปตัด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สกัดรูปตัดตามยาวและตามขวางตามสเตชัน เพื่อออกแบบทางวิศวกรรม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คำนวณปริมาตรน้ำหรือดินขุด-ถม (Cut/Fill) ด้วยวิธี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Composite Method (TIN Surface)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Average End Area Method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Prismoidal Method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607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7.3 การบูรณาการข้อมูลบนบกและใต้น้ำ (</a:t>
            </a:r>
            <a:r>
              <a:rPr lang="en-US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Topographic &amp; Bathymetric Data Integration)</a:t>
            </a:r>
            <a:endParaRPr lang="th-TH" sz="3400" b="1" dirty="0">
              <a:solidFill>
                <a:schemeClr val="accent1"/>
              </a:solidFill>
              <a:latin typeface="TH Sarabun New" panose="020B0500040200020003" pitchFamily="34" charset="-34"/>
              <a:ea typeface="TH Sarabun New"/>
              <a:cs typeface="TH Sarabun New" panose="020B0500040200020003" pitchFamily="34" charset="-34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CD2FE3-5FA4-6FCC-821C-CADAB59A065C}"/>
              </a:ext>
            </a:extLst>
          </p:cNvPr>
          <p:cNvSpPr/>
          <p:nvPr/>
        </p:nvSpPr>
        <p:spPr>
          <a:xfrm>
            <a:off x="551383" y="1087023"/>
            <a:ext cx="7516292" cy="13258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Seamless Topo-Bathy Model 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 DEM บนบกกับ DBM ใต้น้ำเป็นชุดเดียว เห็นฝั่ง ตลิ่ง และท้องน้ำต่อเนื่องไร้รอยต่อ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FB61ABF-445E-E498-12E1-8A7FC41F14C4}"/>
              </a:ext>
            </a:extLst>
          </p:cNvPr>
          <p:cNvSpPr/>
          <p:nvPr/>
        </p:nvSpPr>
        <p:spPr>
          <a:xfrm>
            <a:off x="646962" y="2245686"/>
            <a:ext cx="59603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7.2 การผสานเทคโนโลยีสำรวจ (Multi-Technology Integration)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3862DEB-7DC3-7BBD-7405-DABE252C0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35011"/>
              </p:ext>
            </p:extLst>
          </p:nvPr>
        </p:nvGraphicFramePr>
        <p:xfrm>
          <a:off x="548641" y="2729557"/>
          <a:ext cx="4575809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เทคโนโลยีที่ใช้รวบรวม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ข้อมูลบนบกและชายฝั่ง/น้ำตื้น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Photogrammetry, LiDAR บนบก/อากาศ หรือการรังวัดด้วย RTK GNSS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ข้อมูลใต้น้ำ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เครื่องหยั่งความลึก MBES, SBES หรือ Bathymetric LiDAR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 descr="i-004-000.png">
            <a:extLst>
              <a:ext uri="{FF2B5EF4-FFF2-40B4-BE49-F238E27FC236}">
                <a16:creationId xmlns:a16="http://schemas.microsoft.com/office/drawing/2014/main" id="{3B821B91-D129-B9BC-76F0-CA4EC9984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987" y="2911581"/>
            <a:ext cx="3927431" cy="24858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1BED85-7A55-B24A-86D7-FB2DA00002C3}"/>
              </a:ext>
            </a:extLst>
          </p:cNvPr>
          <p:cNvSpPr txBox="1"/>
          <p:nvPr/>
        </p:nvSpPr>
        <p:spPr>
          <a:xfrm>
            <a:off x="4819902" y="5619579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7.9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โครงข่ายกริดแบบซ้อนระดับ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(Nested Grid)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จากฝั่งสู่ทะเลลึก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  <p:pic>
        <p:nvPicPr>
          <p:cNvPr id="15" name="Picture 14" descr="i-005-001.png">
            <a:extLst>
              <a:ext uri="{FF2B5EF4-FFF2-40B4-BE49-F238E27FC236}">
                <a16:creationId xmlns:a16="http://schemas.microsoft.com/office/drawing/2014/main" id="{107A4909-D37C-51E8-5269-6B54BD085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75" y="891198"/>
            <a:ext cx="4002154" cy="1938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0764C3-6B96-B4BC-E90B-6ABE891F2F79}"/>
              </a:ext>
            </a:extLst>
          </p:cNvPr>
          <p:cNvSpPr txBox="1"/>
          <p:nvPr/>
        </p:nvSpPr>
        <p:spPr>
          <a:xfrm>
            <a:off x="9039225" y="2987663"/>
            <a:ext cx="280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7.10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แนวคิด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Telescoping DEMs</a:t>
            </a: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7.4 การประยุกต์ใช้กับงานแม่น้ำ อ่างเก็บน้ำ และโครงการชลประทาน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F93DFAE-8BEC-F26C-29BA-F4A7CC9DE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77706"/>
              </p:ext>
            </p:extLst>
          </p:nvPr>
        </p:nvGraphicFramePr>
        <p:xfrm>
          <a:off x="548640" y="1494503"/>
          <a:ext cx="11091672" cy="4910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8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การตกตะกอนในอ่างเก็บน้ำและการปรับปรุงเส้นโค้งความจุ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(AEC Curves)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 DEM ท้องอ่าง เพื่อปรับปรุงโค้งระดับ-พื้นที่-ความจุ (EAC Curves)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ประเมินอัตราตกตะกอน ความจุที่หายไป และอายุการใช้งานของอ่าง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งานวางแผน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ออกแบบ และขุดลอกในโครงการชลประทาน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สำรวจหน้าตัดคลองส่งน้ำ/ระบายน้ำ (เช่น คลองบ้านนาลาว)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คำนวณปริมาตรตะกอนและดินขุดลอก (Dredging Volume)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การจำลองอุทกวิทยาและการเตือนภัยน้ำท่วม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DEM/DBM วิเคราะห์ทิศทางการไหล การสะสมน้ำ ขอบเขตลุ่มน้ำ และจุดออกน้ำ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นำเข้าแบบจำลองไฮดรอลิก จำลองน้ำท่วม และกำหนดเขตเสี่ยงภัย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474680-68AC-B567-C13D-9D2293D52878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7.3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ตารางแสดงตัวอย่างการ</a:t>
            </a:r>
            <a:r>
              <a:rPr lang="th-TH" sz="2200" b="1" dirty="0">
                <a:latin typeface="TH Sarabun New"/>
                <a:ea typeface="TH Sarabun New"/>
                <a:cs typeface="TH Sarabun New"/>
              </a:rPr>
              <a:t>ประยุกต์ใช้กับงานแม่น้ำ อ่างเก็บน้ำ และโครงการชลประทาน</a:t>
            </a: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การประมวลผลและจัดการข้อมูลสำรวจ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0485" y="1288026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การกรองสัญญาณรบกวน (Noise &amp; Outlier Filtering)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 ตัดจุดที่สูงหรือต่ำผิดปกติ (นก อากาศยาน การสะท้อน) ก่อนประมวลผล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DDB02-7102-34E3-9454-803059837BD2}"/>
              </a:ext>
            </a:extLst>
          </p:cNvPr>
          <p:cNvSpPr txBox="1"/>
          <p:nvPr/>
        </p:nvSpPr>
        <p:spPr>
          <a:xfrm>
            <a:off x="440485" y="3665458"/>
            <a:ext cx="1034353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การคัดแยกจุดพื้นดินและไม่ใช่พื้นดิน (Ground Filtering / Point Cloud Classification)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แยก Ground (พื้นดินเปล่า) ออกจาก Non-Ground (อาคาร ต้นไม้ ยานพาหนะ)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 (ต่อ)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A58359A-2E7C-4F7B-A2C1-3292EC95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494506"/>
              </p:ext>
            </p:extLst>
          </p:nvPr>
        </p:nvGraphicFramePr>
        <p:xfrm>
          <a:off x="814110" y="1458076"/>
          <a:ext cx="9136134" cy="3631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8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Morphological Filter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อาศัยเกณฑ์ความชันและความสูง สกัดและตัดจุดที่ไม่ใช่พื้นดินออกผ่านโครงสร้างกริด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82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Progressive TIN Densification (PTD)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 TIN หยาบจากจุดต่ำสุด แล้วเพิ่มจุดพื้นดินตามเกณฑ์มุมและความสูง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0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Cloth Simulation Filter (CSF)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พลิก Point Cloud แล้วคลุมผ้าเสมือน จุดที่ผ้าแตะคือพื้นดิน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Surface / Interpolation-based Filters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ใช้สมการพื้นผิวหรือ Thin Plate Spline (TPS) ประมาณค่าเพื่อคัดเลือกจุดพื้นดิน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852A78-07B8-2342-62E9-01B4CA256757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8.1 ตารางแสดงตัวอย่างอัลกอริทึมที่ใช้กรองสัญญาณรบกวน 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37C5C-703F-2E55-419A-68815DBD6807}"/>
              </a:ext>
            </a:extLst>
          </p:cNvPr>
          <p:cNvSpPr txBox="1"/>
          <p:nvPr/>
        </p:nvSpPr>
        <p:spPr>
          <a:xfrm>
            <a:off x="668289" y="5400065"/>
            <a:ext cx="1097476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มาตรฐานการจัดเก็บข้อมูล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ไฟล์ .las / .laz เก็บพิกัด X, Y, Z ประเภทจุด (เช่น Class 2: Ground) Intensity และสี RGB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6673A9AD-8C0D-C16B-E511-D1108C835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012436"/>
              </p:ext>
            </p:extLst>
          </p:nvPr>
        </p:nvGraphicFramePr>
        <p:xfrm>
          <a:off x="460150" y="1846990"/>
          <a:ext cx="612152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0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DSM (Digital Surface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แบบจำลองความสูงเชิงพื้นผิวที่รวมวัตถุและโครงสร้างทั้งหมดบนดิน (พื้นดิน + อาคาร + ต้นไม้)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DTM (Digital Terrain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แบบจำลองภูมิประเทศที่แสดงเฉพาะพื้นดินเปล่า (Bare-Earth) โดยขจัดสิ่งปลูกสร้าง ต้นไม้ และพืชพรรณออกทั้งหมดหลังผ่าน Ground Filtering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DEM (Digital Elevation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นิยามกว้าง ๆ ของแบบจำลองความสูงเชิงตัวเลข ใช้หมายถึง DTM หรือ DSM ขึ้นอยู่กับบริบทการใช้งาน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887DD3-6313-9E98-4C67-DEC6D1F3889F}"/>
              </a:ext>
            </a:extLst>
          </p:cNvPr>
          <p:cNvSpPr txBox="1"/>
          <p:nvPr/>
        </p:nvSpPr>
        <p:spPr>
          <a:xfrm>
            <a:off x="548640" y="1163297"/>
            <a:ext cx="10148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แบบจำลองความสูงมี 3 ประเภท: DSM, DTM และ DEM ต่างกันที่รวมวัตถุบนดินหรือไม่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F3EEA-BB72-C99D-55AB-C306EFBE831E}"/>
              </a:ext>
            </a:extLst>
          </p:cNvPr>
          <p:cNvSpPr txBox="1"/>
          <p:nvPr/>
        </p:nvSpPr>
        <p:spPr>
          <a:xfrm>
            <a:off x="6931250" y="5025578"/>
            <a:ext cx="4800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1400" dirty="0">
                <a:latin typeface="TH Sarabun New"/>
                <a:ea typeface="TH Sarabun New"/>
                <a:cs typeface="TH Sarabun New"/>
              </a:rPr>
              <a:t>8.1 แสดงตัวอย่างรูปแบบผลลัพธ์ของประเภทแบบจำลองความสูง </a:t>
            </a:r>
            <a:r>
              <a:rPr lang="en-US" sz="1400" dirty="0">
                <a:latin typeface="TH Sarabun New"/>
                <a:ea typeface="TH Sarabun New"/>
                <a:cs typeface="TH Sarabun New"/>
              </a:rPr>
              <a:t>DSM DTM DEM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lang="en-US" sz="1400" dirty="0">
                <a:latin typeface="TH Sarabun New"/>
                <a:ea typeface="TH Sarabun New"/>
                <a:cs typeface="TH Sarabun New"/>
              </a:rPr>
              <a:t>https://www.linkedin.com/posts/mahmoud-hajeer-453496103_understanding-the-difference-between-dtm-activity-7451269989262843904-VoJz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8" name="Picture 7" descr="DTM vs DEM vs DSM in Geospatial Analysis | Mahmoud Hajeer posted on the  topic | LinkedIn">
            <a:extLst>
              <a:ext uri="{FF2B5EF4-FFF2-40B4-BE49-F238E27FC236}">
                <a16:creationId xmlns:a16="http://schemas.microsoft.com/office/drawing/2014/main" id="{BA5E638D-8777-2583-B74B-3A90006CF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50" y="1898856"/>
            <a:ext cx="4397000" cy="294599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73541"/>
            <a:ext cx="11094415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ขั้นตอนกระบวนการแปลงจุดเป็นแบบจำลองความสูง (Gridding / Interpolation)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B90B5F7D-EA39-4205-77F1-5FEC9A6EB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27095"/>
              </p:ext>
            </p:extLst>
          </p:nvPr>
        </p:nvGraphicFramePr>
        <p:xfrm>
          <a:off x="548639" y="2129935"/>
          <a:ext cx="10089863" cy="41447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1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คัดเลือกจุด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นำเฉพาะจุดที่จำแนกเป็น Ground (Class 2) มาประมาณค่าเชิงพื้นที่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9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สร้าง Regular Grid (Raster)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ประมาณค่าเชิงพื้นที่จากจุด Ground เพื่อสร้างเป็นแบบจำลองความสูงแบบกริด (Raster)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อัลกอริทึมประมาณค่า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Points2Grid (Local Binning): คัดเลือกค่าความสูงต่ำสุดในแต่ละเซลล์กริด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Inverse Distance Weighting (IDW)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Kriging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Spline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Triangulation (TIN to 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AE0470-65E6-D5CB-D247-15AB807A3BE1}"/>
              </a:ext>
            </a:extLst>
          </p:cNvPr>
          <p:cNvSpPr txBox="1"/>
          <p:nvPr/>
        </p:nvSpPr>
        <p:spPr>
          <a:xfrm>
            <a:off x="548640" y="33889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 (ต่อ)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BE944-E778-24D3-49FC-46BCACD6BD76}"/>
              </a:ext>
            </a:extLst>
          </p:cNvPr>
          <p:cNvSpPr txBox="1"/>
          <p:nvPr/>
        </p:nvSpPr>
        <p:spPr>
          <a:xfrm>
            <a:off x="943896" y="1004575"/>
            <a:ext cx="10019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แบบจำลองความสูงมี 3 ประเภท: DSM, DTM และ DEM ต่างกันที่รวมวัตถุบนดินหรือไม่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นิยามและประเภทของแบบจำลองความสูง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esri_d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029" y="1554480"/>
            <a:ext cx="632746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8.1 DSM เส้นชั้นความสูง และ DTM ที่สร้างจาก LiDAR และจากภาพถ่าย (ArcGIS Pro)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Esri (2025)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8.3 การสร้าง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Contour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Model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E47EF-F0C4-1E55-BC02-56CE119AB2CE}"/>
              </a:ext>
            </a:extLst>
          </p:cNvPr>
          <p:cNvSpPr txBox="1"/>
          <p:nvPr/>
        </p:nvSpPr>
        <p:spPr>
          <a:xfrm>
            <a:off x="351994" y="1230896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โครงสร้างการแสดงผลภูมิประเทศ (Terrain Structures)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A13ED-8013-1226-64AE-CC45D48ED96A}"/>
              </a:ext>
            </a:extLst>
          </p:cNvPr>
          <p:cNvSpPr txBox="1"/>
          <p:nvPr/>
        </p:nvSpPr>
        <p:spPr>
          <a:xfrm>
            <a:off x="6012427" y="1230895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การลากเส้นชั้นความสูง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Contour Generation)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991089-3CFD-1316-64E7-7D2A20D78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07102"/>
              </p:ext>
            </p:extLst>
          </p:nvPr>
        </p:nvGraphicFramePr>
        <p:xfrm>
          <a:off x="232143" y="1847195"/>
          <a:ext cx="5116605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7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4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โครงสร้าง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Regular Grid / Raster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กริดสี่เหลี่ยมเท่ากัน เก็บค่าความสูงต่อเซลล์ ง่ายและประมวลผลเร็ว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6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TIN (Triangulated Irregular Network)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เชื่อมจุดเป็นสามเหลี่ยม (Delaunay) หนาแน่นตามความขรุขระของพื้นที่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CA5EDD6-AEB0-94ED-3C83-8EC409C35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053277"/>
              </p:ext>
            </p:extLst>
          </p:nvPr>
        </p:nvGraphicFramePr>
        <p:xfrm>
          <a:off x="6095847" y="1847195"/>
          <a:ext cx="5471650" cy="27142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8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เส้นชั้นความสูง (Contour)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ลากเส้นผ่านจุดที่ระดับเท่ากัน จาก TIN หรือ Grid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3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แนวเส้นบังคับ (Breaklines)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ใส่ Breaklines (ขอบถนน คันดิน สันเขา ลำน้ำ) ไม่ให้เส้นลากข้ามแนวจริง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438B14-A5E8-5677-7A59-63E50EB73415}"/>
              </a:ext>
            </a:extLst>
          </p:cNvPr>
          <p:cNvCxnSpPr>
            <a:cxnSpLocks/>
          </p:cNvCxnSpPr>
          <p:nvPr/>
        </p:nvCxnSpPr>
        <p:spPr>
          <a:xfrm>
            <a:off x="5781368" y="1101213"/>
            <a:ext cx="0" cy="534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GIS และการบูรณาการข้อมูลเชิงพื้นที่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9.1 การจัดการข้อมูลสำรวจในระบบ GIS (Management of Survey Data in GIS)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D9C041A-6F44-6EFD-9901-ED4E2B536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21594"/>
              </p:ext>
            </p:extLst>
          </p:nvPr>
        </p:nvGraphicFramePr>
        <p:xfrm>
          <a:off x="548641" y="1703565"/>
          <a:ext cx="6923876" cy="4101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0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3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การรวบรวมข้อมูลภาคสนาม (Field Data Collection)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รวบรวมจาก GNSS และการรังวัด ใช้แอปสนาม เช่น ArcGIS Field Maps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การบันทึกตำแหน่งและค่าคุณลักษณะ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นำเข้าพิกัด x, y, z และรหัสจุดเป็นฟีเจอร์เวกเตอร์ หรือสร้างพื้นผิว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เรขาคณิตสำรวจ (COGO – Coordinate Geometry)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คำนวณระยะและทิศทางระหว่างจุด เพื่อกำหนดแนวเขตทางกฎหมาย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การนำข้อมูลสำรวจไปประยุกต์ใช้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 Mass Points ในฐานข้อมูล GIS เพื่อสืบค้นและคำนวณ รองรับงานโยธาและลุ่มน้ำ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C4545A-0142-295F-60FF-BB9E8464FE06}"/>
              </a:ext>
            </a:extLst>
          </p:cNvPr>
          <p:cNvSpPr txBox="1"/>
          <p:nvPr/>
        </p:nvSpPr>
        <p:spPr>
          <a:xfrm>
            <a:off x="548639" y="1053351"/>
            <a:ext cx="11091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ข้อมูลสำรวจภาคสนามถูกนำเข้า GIS เพื่อจัดเก็บ ประมวลผล และวิเคราะห์ใน 4 ประเด็นหลัก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7E349023-1CAE-AE8B-FB8D-67ED247E0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675221"/>
              </p:ext>
            </p:extLst>
          </p:nvPr>
        </p:nvGraphicFramePr>
        <p:xfrm>
          <a:off x="551383" y="1532849"/>
          <a:ext cx="6881804" cy="44988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1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ความลาดชัน (Slope)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ความชันเป็นองศาหรือเปอร์เซ็นต์ ใช้ประเมินความเสี่ยงและเลือกพื้นที่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ทิศทางความลาดชัน (Aspect)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ทิศที่ลาดหันไป (0–360°) มีผลต่อแสงแดด ลม และฝน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การจำลองเงาแสง (Hillshade)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จำลองเงาภูมิประเทศจากมุมและทิศของดวงอาทิตย์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การวิเคราะห์การมองเห็น (Viewshed / Line-of-Sight)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วิเคราะห์พื้นที่ที่มองเห็นได้และถูกบดบังจากจุดสังเกต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ภาพตัดตามแนว (Vertical Profiles)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สกัดหน้าตัดความสูงตามแนวเส้นทาง สำหรับงานถนนและสาธารณูปโภค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196342-D814-846A-4B70-276FE4BC95D3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3D0D-6F6E-770B-28D8-A96520CE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5D6AD-59C7-CC07-B49C-DFA5B8698D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FADB2-3384-3E13-E592-3F05AD3157D9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r>
              <a:rPr lang="en-US" sz="2200" b="1" dirty="0">
                <a:latin typeface="TH Sarabun New"/>
                <a:cs typeface="TH Sarabun New"/>
              </a:rPr>
              <a:t> (</a:t>
            </a:r>
            <a:r>
              <a:rPr lang="th-TH" sz="2200" b="1" dirty="0">
                <a:latin typeface="TH Sarabun New"/>
                <a:cs typeface="TH Sarabun New"/>
              </a:rPr>
              <a:t>ต่อ</a:t>
            </a:r>
            <a:r>
              <a:rPr lang="en-US" sz="2200" b="1" dirty="0">
                <a:latin typeface="TH Sarabun New"/>
                <a:cs typeface="TH Sarabun New"/>
              </a:rPr>
              <a:t>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139ABA4-0DC5-453A-E086-286BFE73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257483"/>
              </p:ext>
            </p:extLst>
          </p:nvPr>
        </p:nvGraphicFramePr>
        <p:xfrm>
          <a:off x="551383" y="1582506"/>
          <a:ext cx="6871972" cy="24277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0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การวิเคราะห์ทางอุทกวิทยา (Hydrological Analysis)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DEM จำลองทิศทางการไหล การสะสมน้ำ ขอบเขตลุ่มน้ำ และจุดออกน้ำ เพื่อคาดการณ์น้ำท่วม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 (Volume Calculations)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คำนวณดินขุด-ถม (Cut and Fill) หรือความจุอ่างเก็บน้ำ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144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6786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แนวคิดการซ้อนทับชั้นข้อมูล (Multi-Layer Overlay)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: ซ้อนชั้นข้อมูลหลายเรื่อง (ดิน การใช้ที่ดิน ธรณีวิทยา ความลาดชัน) เพื่อหาความสัมพันธ์เชิงพื้นที่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BD7EA91-38A0-D261-AAC7-59EC4DFA4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18991"/>
              </p:ext>
            </p:extLst>
          </p:nvPr>
        </p:nvGraphicFramePr>
        <p:xfrm>
          <a:off x="460150" y="3167954"/>
          <a:ext cx="5832495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7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9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วิธีการ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ข้อสังเกต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Vector Overlay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ใช้คำสั่ง Union, Intersection และ Difference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ซับซ้อน อาจเกิด Sliver Polygons จากขอบไม่ตรงกัน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Raster Overlay &amp; Map Algebra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คำนวณทีละเซลล์ ด้วยคณิตศาสตร์และตรรกะ (AND, OR, NOT)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ประมวลผลเร็วบนโครงสร้างตาราง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750E52-A98C-AB2C-99E1-DAF74921B977}"/>
              </a:ext>
            </a:extLst>
          </p:cNvPr>
          <p:cNvSpPr txBox="1"/>
          <p:nvPr/>
        </p:nvSpPr>
        <p:spPr>
          <a:xfrm>
            <a:off x="460150" y="2073140"/>
            <a:ext cx="10807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การซ้อนทับมี 2 แบบ: Vector Overlay (ทำกับขอบเขตโพลีกอน) และ Raster Overlay (คำนวณทีละเซลล์)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D4FF4-D759-18D6-2160-E34AB1479BD1}"/>
              </a:ext>
            </a:extLst>
          </p:cNvPr>
          <p:cNvSpPr txBox="1"/>
          <p:nvPr/>
        </p:nvSpPr>
        <p:spPr>
          <a:xfrm>
            <a:off x="460150" y="2756368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9.2 ตารางเปรียบเทียบวิธีการซ้อนทับข้อมูลทั้ง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 Overlay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กับ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Raster Overlay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123" y="102472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การตัดสินใจแบบหลายหลักเกณฑ์เชิงพื้นที่ (GIS-MCDA / AHP)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A59CA-2F08-759F-38EC-585E0B481476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FD2B1-6CDD-4B8F-6F5D-7484F00B7B09}"/>
              </a:ext>
            </a:extLst>
          </p:cNvPr>
          <p:cNvSpPr txBox="1"/>
          <p:nvPr/>
        </p:nvSpPr>
        <p:spPr>
          <a:xfrm>
            <a:off x="696123" y="1480238"/>
            <a:ext cx="1075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ปัจจัยแต่ละชั้นสำคัญไม่เท่ากัน GIS-MCDA ใช้ AHP กำหนดน้ำหนัก แล้วรวมผลด้วย Weighted Overlay / WLC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21E80F1C-0A5F-0E79-4CFD-97A3EE68D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454560"/>
              </p:ext>
            </p:extLst>
          </p:nvPr>
        </p:nvGraphicFramePr>
        <p:xfrm>
          <a:off x="696123" y="2706090"/>
          <a:ext cx="6461761" cy="3447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84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AHP (Analytic Hierarchy Process)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เปรียบเทียบความสำคัญทีละคู่ (PCM, สเกล 1–9) เพื่อหาน้ำหนักของแต่ละปัจจัย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Weighted Overlay / Weighted Linear Combination (WLC)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แปลงเป็นแรสเตอร์ ให้คะแนน (rᵢ) คูณน้ำหนัก (Wᵢ) แล้วซ้อนทับ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ตัวอย่างการประยุกต์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ประเมินศักยภาพน้ำใต้ดิน จากฝน ธรณีวิทยา ดิน ความลาดชัน ลำน้ำ รอยแตก และการใช้ที่ดิน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7FBB-5FA5-9562-9A30-2E1AC5CDEFB0}"/>
              </a:ext>
            </a:extLst>
          </p:cNvPr>
          <p:cNvSpPr txBox="1"/>
          <p:nvPr/>
        </p:nvSpPr>
        <p:spPr>
          <a:xfrm>
            <a:off x="548640" y="2325481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9.3 ตารางแสดงรายละเอียดการตัดสินใจแบบหลายหลักเกณฑ์เชิงพื้นที่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(GIS-MCDA / AHP)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5BEFE-B3D3-A085-2B37-470AE93583BF}"/>
              </a:ext>
            </a:extLst>
          </p:cNvPr>
          <p:cNvSpPr txBox="1"/>
          <p:nvPr/>
        </p:nvSpPr>
        <p:spPr>
          <a:xfrm>
            <a:off x="902602" y="1342459"/>
            <a:ext cx="94881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หลังวิเคราะห์แล้ว ต้องนำเสนอเป็นแผนที่และจัดเก็บข้อมูลให้ใช้ต่อได้ แบ่งเป็น 2 ส่วน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การจัดทำแผนที่และการแปลงตำแหน่ง: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การแสดงผลแผนที่ และแปลงที่อยู่เป็นพิกัด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การจัดเก็บข้อมูลและการใช้งานร่วมกันหลายผู้ใช้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5E784-1920-EF81-70D3-55C87B30BF25}"/>
              </a:ext>
            </a:extLst>
          </p:cNvPr>
          <p:cNvSpPr txBox="1"/>
          <p:nvPr/>
        </p:nvSpPr>
        <p:spPr>
          <a:xfrm>
            <a:off x="548640" y="237473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 (Mapping &amp; Locators)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F0603-4408-F000-7DCC-EB190BF2B410}"/>
              </a:ext>
            </a:extLst>
          </p:cNvPr>
          <p:cNvSpPr txBox="1"/>
          <p:nvPr/>
        </p:nvSpPr>
        <p:spPr>
          <a:xfrm>
            <a:off x="618547" y="2778178"/>
            <a:ext cx="10431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การแสดงผลแผนที่ (Cartography) และการระบุตำแหน่ง (Locators &amp; Geocoding)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241AE706-553B-A249-2A76-12D4373D8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52228"/>
              </p:ext>
            </p:extLst>
          </p:nvPr>
        </p:nvGraphicFramePr>
        <p:xfrm>
          <a:off x="618547" y="3552078"/>
          <a:ext cx="5477453" cy="24094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90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การแสดงผลเชิงการทำแผนที่ (Cartography)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ใช้สัญลักษณ์เฉพาะเรื่อง ลำดับการวาด ความโปร่งแสง และเส้นชั้นความสูง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เครื่องมือระบุตำแหน่ง (Locators &amp; Geocoding)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แปลงพิกัด ที่อยู่ รหัสไปรษณีย์ หรือหลักกิโลเมตร ให้เป็นตำแหน่งบนแผนที่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7113-D965-684F-B963-1DA42C50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4307F-7909-213A-7014-14AD7675BA50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06C6A-A664-06A9-D906-CB465E70213E}"/>
              </a:ext>
            </a:extLst>
          </p:cNvPr>
          <p:cNvSpPr txBox="1"/>
          <p:nvPr/>
        </p:nvSpPr>
        <p:spPr>
          <a:xfrm>
            <a:off x="548640" y="139147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endParaRPr lang="th-TH" sz="2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C9E22-BEFA-A0B7-4246-C27542DC2785}"/>
              </a:ext>
            </a:extLst>
          </p:cNvPr>
          <p:cNvSpPr txBox="1"/>
          <p:nvPr/>
        </p:nvSpPr>
        <p:spPr>
          <a:xfrm>
            <a:off x="618547" y="1813851"/>
            <a:ext cx="10431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เมื่อข้อมูลมากขึ้นและมีหลายผู้ใช้ Shapefile ไม่เพียงพอ จึงต้องใช้ฐานข้อมูลเชิงพื้นที่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111F5EE2-F082-715F-217E-E42ED6C3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229710"/>
              </p:ext>
            </p:extLst>
          </p:nvPr>
        </p:nvGraphicFramePr>
        <p:xfrm>
          <a:off x="618547" y="3335103"/>
          <a:ext cx="6971956" cy="33956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6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ข้อจำกัดของระบบแฟ้มข้อมูลดั้งเดิม (Flat Files / Coverages / Shapefiles)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แก้ไขพร้อมกันหลายคนไม่ได้ ไม่รองรับ SQL และจำกัดขนาดไฟล์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Data Types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เพิ่มชนิดข้อมูล Point, Line, Polygon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Indexing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ดัชนีเชิงพื้นที่ R-Tree / Quadtree ค้นหาพื้นที่ทับซ้อนได้เร็ว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6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Functions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ฟังก์ชัน SQL ตาม OGC เช่น ST_Intersects, ST_Contains, ST_Buffer, ST_Union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AADD3B-02E3-1377-C383-DE708DA30648}"/>
              </a:ext>
            </a:extLst>
          </p:cNvPr>
          <p:cNvSpPr txBox="1"/>
          <p:nvPr/>
        </p:nvSpPr>
        <p:spPr>
          <a:xfrm>
            <a:off x="548640" y="2897719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007615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BA7A-8F44-554C-E2B5-A4108C12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31002B-940C-C15A-C812-168D2E55410D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F0C32-BB83-891D-1EA0-9A0863859DDC}"/>
              </a:ext>
            </a:extLst>
          </p:cNvPr>
          <p:cNvSpPr txBox="1"/>
          <p:nvPr/>
        </p:nvSpPr>
        <p:spPr>
          <a:xfrm>
            <a:off x="450317" y="1531036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(ต่อ)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35905BF-1652-E051-6D79-48F7829A5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890453"/>
              </p:ext>
            </p:extLst>
          </p:nvPr>
        </p:nvGraphicFramePr>
        <p:xfrm>
          <a:off x="450317" y="1967227"/>
          <a:ext cx="6058638" cy="22722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39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ฐานข้อมูลที่ใช้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RDBMS เช่น PostgreSQL/PostGIS, Oracle, SQL Server ร่วมกับ ArcSDE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การจัดการหลายผู้ใช้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รองรับ Versioning ให้หลายคนแก้ไขพร้อมกันโดยข้อมูลไม่ขัดแย้ง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2317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การบูรณาการข้อมูลสำรวจในรูปแบบ 3D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3D Terrain Model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แบบจำลองภูมิประเทศ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236898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en-US" sz="2600" b="0" dirty="0">
                <a:latin typeface="TH Sarabun New"/>
                <a:ea typeface="TH Sarabun New"/>
                <a:cs typeface="TH Sarabun New"/>
              </a:rPr>
              <a:t>3D Terrain Model คือการแสดงภูมิประเทศเป็นภาพ 3 มิติจาก DSM/DTM/DEM (Raster หรือ TIN) เห็นความสูงและความลาดชันใกล้เคียงจริง ใช้งานได้ดังนี้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7A6F2-AC69-448C-F166-7E38C30C7B4A}"/>
              </a:ext>
            </a:extLst>
          </p:cNvPr>
          <p:cNvSpPr txBox="1"/>
          <p:nvPr/>
        </p:nvSpPr>
        <p:spPr>
          <a:xfrm>
            <a:off x="869016" y="2580271"/>
            <a:ext cx="1065438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DTM ใช้คำนวณดินตัด-ถม วิเคราะห์น้ำท่วม และวิเคราะห์ Slope, Aspect, Viewshed</a:t>
            </a:r>
          </a:p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ใช้ทำ True-Orthophoto และวางโมเดล 3D บนพื้นที่จริงใน CADD, GIS, InfraWorks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81AD3-71BD-A38F-F27C-9BDA7E02B05B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53F7B-1D90-E2E8-01CE-DC8404C33DF6}"/>
              </a:ext>
            </a:extLst>
          </p:cNvPr>
          <p:cNvSpPr txBox="1"/>
          <p:nvPr/>
        </p:nvSpPr>
        <p:spPr>
          <a:xfrm>
            <a:off x="662540" y="1174530"/>
            <a:ext cx="106937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3D Point Cloud คือจุดหลักล้าน–พันล้านจุดที่มีพิกัด X, Y, Z พร้อม Intensity และ RGB ได้จากเทคโนโลยี Reality Capture ใช้ตรวจคุณภาพงานก่อสร้าง ทำ Scan-to-BIM และวัดการเปลี่ยนรูปโครงสร้าง เทคโนโลยีหลักมีดังนี้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9A71759-D08A-0F97-34E6-809AC642D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38270"/>
              </p:ext>
            </p:extLst>
          </p:nvPr>
        </p:nvGraphicFramePr>
        <p:xfrm>
          <a:off x="551382" y="3308894"/>
          <a:ext cx="5013676" cy="30906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9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Terrestrial Laser Scanning (TLS)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สแกนเลเซอร์จากภาคพื้นดิน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/ 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สแกนเลเซอร์จากอากาศยานหรือโดรน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SLAM Mobile Mapping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สแกนแบบเคลื่อนที่ ทั้งแบบแบกเป้ ยานพาหนะ หรืออุปกรณ์มือถือ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ผ่านกระบวนการจับคู่จุดภาพหนาแน่น (Dense Image Matching / MVS)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3677E1E-47ED-2923-A644-BB04A876C50E}"/>
              </a:ext>
            </a:extLst>
          </p:cNvPr>
          <p:cNvSpPr txBox="1"/>
          <p:nvPr/>
        </p:nvSpPr>
        <p:spPr>
          <a:xfrm>
            <a:off x="384234" y="2804140"/>
            <a:ext cx="5544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10.1 ตารางแสดงเทคโนโลยี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และการสร้างข้อมูล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4FD50-E3C3-C5C0-9EBB-DAC2B2A1B691}"/>
              </a:ext>
            </a:extLst>
          </p:cNvPr>
          <p:cNvSpPr txBox="1"/>
          <p:nvPr/>
        </p:nvSpPr>
        <p:spPr>
          <a:xfrm>
            <a:off x="6263150" y="2804140"/>
            <a:ext cx="55446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10.2 ตารางแสดงคุณลักษณะและรูปแบบไฟล์มาตรฐานจากเทคโนโลยี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5E2B7A0D-80C0-2535-B993-B70343DD4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81105"/>
              </p:ext>
            </p:extLst>
          </p:nvPr>
        </p:nvGraphicFramePr>
        <p:xfrm>
          <a:off x="6342581" y="3665876"/>
          <a:ext cx="5013677" cy="27066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ความแม่นยำเชิงตำแหน่ง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ระดับมิลลิเมตรถึงเซนติเมตร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ข้อมูลที่บันทึกเพิ่มเติม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นอกจาก X, Y, Z ยังมี Intensity, Return Number และสี RGB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รูปแบบไฟล์มาตรฐานสากล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เช่น .las, .laz, .e57 หรือ .pts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1354256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บทบาทและหน้าที่ในงานบูรณาการ 3D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ED7A1-D3BB-9719-9B2A-B6F1D4432B7A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 (ต่อ)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FCC15E98-C4C7-4CF0-A661-3D107015B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5641"/>
              </p:ext>
            </p:extLst>
          </p:nvPr>
        </p:nvGraphicFramePr>
        <p:xfrm>
          <a:off x="551382" y="1920986"/>
          <a:ext cx="6921134" cy="31912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3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บทบาท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Metric Reference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ฐานอ้างอิงขนาดจริงสำหรับสร้างและตรวจสอบโมเดล 3 มิติ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Scan-to-BIM &amp; QA/QC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 Point Cloud สภาพจริง (As-built) กับแบบ BIM เพื่อหาค่าเบี่ยงเบนและตรวจคุณภาพ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Deformation &amp; Structural Monitoring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วัดการทรุดตัว การเอียง รอยร้าว และระยะปลอดภัย ระดับมิลลิเมตร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i-013-013.png">
            <a:extLst>
              <a:ext uri="{FF2B5EF4-FFF2-40B4-BE49-F238E27FC236}">
                <a16:creationId xmlns:a16="http://schemas.microsoft.com/office/drawing/2014/main" id="{F8936466-0320-95FF-D656-49DB7C09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930" y="476103"/>
            <a:ext cx="3420351" cy="2564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8F0F26-2597-748F-5400-117547281C44}"/>
              </a:ext>
            </a:extLst>
          </p:cNvPr>
          <p:cNvSpPr txBox="1"/>
          <p:nvPr/>
        </p:nvSpPr>
        <p:spPr>
          <a:xfrm>
            <a:off x="8110689" y="3136772"/>
            <a:ext cx="3565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10.1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ห้องที่ใช้ทดลองสแกน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  <p:pic>
        <p:nvPicPr>
          <p:cNvPr id="10" name="Picture 9" descr="i-014-015.png">
            <a:extLst>
              <a:ext uri="{FF2B5EF4-FFF2-40B4-BE49-F238E27FC236}">
                <a16:creationId xmlns:a16="http://schemas.microsoft.com/office/drawing/2014/main" id="{96AD08CF-3CB8-18A6-CA1B-F71A38D45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346" y="3756138"/>
            <a:ext cx="3406272" cy="19140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FDCF99-071A-7C47-F8B4-6F7D65D59593}"/>
              </a:ext>
            </a:extLst>
          </p:cNvPr>
          <p:cNvSpPr txBox="1"/>
          <p:nvPr/>
        </p:nvSpPr>
        <p:spPr>
          <a:xfrm>
            <a:off x="8369427" y="5797795"/>
            <a:ext cx="3271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10.2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ภายในห้อง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6124" y="1738343"/>
            <a:ext cx="11094415" cy="18343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Digital Twin คือ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แบบจำลองดิจิทัลของวัตถุหรือระบบจริง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หัวใจสำคัญ: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ข้อมูลไหลสองทางแบบเรียลไทม์ อัปเดตสถานะและช่วยตัดสินใจ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ระดับความก้าวหน้าทางดิจิทัล: </a:t>
            </a:r>
            <a:r>
              <a:rPr lang="th-TH" sz="2400" b="0" dirty="0">
                <a:latin typeface="TH Sarabun New"/>
                <a:ea typeface="TH Sarabun New"/>
                <a:cs typeface="TH Sarabun New"/>
              </a:rPr>
              <a:t>Digital Model (โมเดล 3D) → Digital Shadow (ข้อมูลไหลทางเดียว) → Digital Twin (ไหลสองทางอัตโนมัติ)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533C9-0CC2-8D27-4469-56C9DC629D59}"/>
              </a:ext>
            </a:extLst>
          </p:cNvPr>
          <p:cNvSpPr txBox="1"/>
          <p:nvPr/>
        </p:nvSpPr>
        <p:spPr>
          <a:xfrm>
            <a:off x="548639" y="1214454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นิยามและโครงสร้างสถาปัตยกรรม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B7E28F-DB2D-7E3C-B894-5A3CDA181D4D}"/>
              </a:ext>
            </a:extLst>
          </p:cNvPr>
          <p:cNvSpPr txBox="1"/>
          <p:nvPr/>
        </p:nvSpPr>
        <p:spPr>
          <a:xfrm>
            <a:off x="548640" y="123459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การบูรณาการข้อมูลสำรวจ 3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D </a:t>
            </a:r>
            <a:r>
              <a:rPr lang="th-TH" sz="2400" b="1" dirty="0">
                <a:latin typeface="TH Sarabun New"/>
                <a:ea typeface="TH Sarabun New"/>
                <a:cs typeface="TH Sarabun New"/>
              </a:rPr>
              <a:t>ร่วมกับเครือข่ายเซนเซอร์ 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IoT</a:t>
            </a:r>
            <a:endParaRPr lang="th-TH" sz="24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31D70-1296-6FAC-10BE-45D734691A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B6226650-2D89-36AF-F9A3-46A785BF7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98045"/>
              </p:ext>
            </p:extLst>
          </p:nvPr>
        </p:nvGraphicFramePr>
        <p:xfrm>
          <a:off x="548640" y="2040988"/>
          <a:ext cx="11091672" cy="30495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Input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Point Cloud (TLS, SLAM, UAV) และ Scan-to-BIM เป็นฐานเรขาคณิต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Sensing &amp; Integration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เชื่อมเซนเซอร์ IoT (4G, LoRaWAN, API) เช่น Strain Gauge, Tilt Sensor, Piezometer, Rain Gauge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Analytics &amp; Visualization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วิเคราะห์ด้วย FEM หรือ Deep Learning และแสดงผลบนแดชบอร์ด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956" y="1030662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ตัวอย่างการประยุกต์ใช้ในงานโครงสร้างพื้นฐาน (Case Studies)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9997" y="1663893"/>
            <a:ext cx="11094415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ติดตามสุขภาพสะพาน (Bridge SHM): สะพาน IB5 และ Clifton ใช้เซนเซอร์ FBG และเลเซอร์สแกน ตรวจน้ำหนักรถ รอยร้าว และอายุการใช้งาน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เฝ้าระวังน้ำท่วม: แม่น้ำ Tiber กรุงโรม สร้าง Scan-to-BIM ของสะพาน 16 แห่งและตลิ่ง เชื่อม WebGIS และเซนเซอร์อุทกศาสตร์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ประเมินความเสียหายหลังแผ่นดินไหว: โดรนสแกนอาคาร เทียบรอยร้าวกับสภาพก่อนเกิดภัย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4022A-C404-2A47-2055-21B4C3927D83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980" y="1369631"/>
            <a:ext cx="650926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กระบวนการ Scan-to-BIM (Point Cloud to BIM Reconstruction)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BE8FE-7559-94FB-B936-79BC0B4D1F28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B7A36-F99A-F65F-CC49-BE8BCD84CC81}"/>
              </a:ext>
            </a:extLst>
          </p:cNvPr>
          <p:cNvSpPr txBox="1"/>
          <p:nvPr/>
        </p:nvSpPr>
        <p:spPr>
          <a:xfrm>
            <a:off x="451980" y="1769931"/>
            <a:ext cx="65092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แปลง Point Cloud เป็นโมเดล BIM 3D พร้อมข้อมูลเชิงความหมายและระดับ LOD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3DCAD-672C-655A-3398-329D1BCD77BD}"/>
              </a:ext>
            </a:extLst>
          </p:cNvPr>
          <p:cNvSpPr txBox="1"/>
          <p:nvPr/>
        </p:nvSpPr>
        <p:spPr>
          <a:xfrm>
            <a:off x="7193585" y="1517471"/>
            <a:ext cx="4998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มาตรฐาน Open BIM และ IFC 4.3 (ISO 19650)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6E05E-DF2F-B661-98EE-89FE2A6E28D9}"/>
              </a:ext>
            </a:extLst>
          </p:cNvPr>
          <p:cNvSpPr txBox="1"/>
          <p:nvPr/>
        </p:nvSpPr>
        <p:spPr>
          <a:xfrm>
            <a:off x="7193585" y="2019405"/>
            <a:ext cx="4650963" cy="290233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Open BIM (IFC 4.3) แก้ปัญหาไฟล์ปิด ครอบคลุมถนน รถไฟ สะพาน และทางน้ำ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ใช้ Property Sets และ GUID ให้แลกเปลี่ยนข้อมูลข้ามซอฟต์แวร์ได้สมบูรณ์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57107-7349-02EC-B761-B978A7BC19C8}"/>
              </a:ext>
            </a:extLst>
          </p:cNvPr>
          <p:cNvCxnSpPr/>
          <p:nvPr/>
        </p:nvCxnSpPr>
        <p:spPr>
          <a:xfrm>
            <a:off x="6961240" y="1516489"/>
            <a:ext cx="0" cy="49531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E6C61E11-2059-D87F-2EE6-7184A4B2F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63092"/>
              </p:ext>
            </p:extLst>
          </p:nvPr>
        </p:nvGraphicFramePr>
        <p:xfrm>
          <a:off x="548641" y="2810594"/>
          <a:ext cx="6029140" cy="37216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กำหนดความต้องการข้อมูล (Information Requirements)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กำหนดองค์ประกอบอาคารที่ต้องการและระดับ LOD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กำหนดคุณภาพ Point Cloud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ควบคุมค่า Accuracy, Resolution และ Coverage ให้สอดคล้องกับวัตถุประสงค์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การลงทะเบียน Point Cloud (Registration)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ปรับตรึง Point Cloud กับแบบด้วยเทคนิค PCA หรือ ICP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การคัดแยกและสร้างโมเดล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สกัดระนาบด้วย RANSAC หรือ Scan-vs-BIM เพื่อสร้างองค์ประกอบอาคาร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36110-6544-D4F9-CED3-EF713D3516B1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9C968-827F-6A31-9D81-8553D0C5B10F}"/>
              </a:ext>
            </a:extLst>
          </p:cNvPr>
          <p:cNvSpPr txBox="1"/>
          <p:nvPr/>
        </p:nvSpPr>
        <p:spPr>
          <a:xfrm>
            <a:off x="548640" y="1652557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การบูรณาการ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BIM-GIS </a:t>
            </a:r>
            <a:r>
              <a:rPr lang="th-TH" sz="2600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CIM (City Information Modelling)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2F346-1285-1A18-A852-E5505418D89A}"/>
              </a:ext>
            </a:extLst>
          </p:cNvPr>
          <p:cNvSpPr txBox="1"/>
          <p:nvPr/>
        </p:nvSpPr>
        <p:spPr>
          <a:xfrm>
            <a:off x="548639" y="2266476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Open BIM (IFC 4.3) แก้ปัญหาไฟล์ปิด ครอบคลุมถนน รถไฟ สะพาน และทางน้ำ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ใช้ Property Sets และ GUID ให้แลกเปลี่ยนข้อมูลข้ามซอฟต์แวร์ได้สมบูรณ์</a:t>
            </a:r>
          </a:p>
        </p:txBody>
      </p:sp>
    </p:spTree>
    <p:extLst>
      <p:ext uri="{BB962C8B-B14F-4D97-AF65-F5344CB8AC3E}">
        <p14:creationId xmlns:p14="http://schemas.microsoft.com/office/powerpoint/2010/main" val="30011218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ตัวอย่างการประยุกต์ใช้เทคโนโลยีการสำรวจ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11.1 งานสำรวจถนนและโครงสร้างพื้นฐาน (Road &amp; Infrastructure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9247"/>
            <a:ext cx="10936626" cy="24406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UAV ขนาดเล็ก (DJI MINI 2) ตรวจความปลอดภัย วางแผนจราจร และติดป้ายในงานก่อสร้างทางหลวง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UAV ประสิทธิภาพสูง (DJI Matrice 200 V2) สำรวจภูมิประเทศและปริมาณดินถม ก่อนสร้างด่านพรมแดนและสะพานมิตรภาพ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ใช้ SBES ร่วมกับ RTK GNSS ในคลองชลประทาน (เช่น คลองบ้านนาลาว) สร้างเส้นชั้นความลึกและ DBM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สกัดรูปตัดขวางและตามยาวจาก DEM/DBM เพื่อออกแบบลำน้ำและคำนวณความจุ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ใช้ UAV ติดตามการพังทลายของตลิ่ง (เช่น เขื่อนแควน้อยบำรุงแดน) และสำรวจหน้าตัดแม่น้ำ (เช่น ลำภาชี)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ติดตามการตกตะกอนและการกัดเซาะของลำน้ำ (Erosion &amp; Deposition)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11.3 งานสำรวจพื้นที่ก่อสร้าง (Construction Site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463040"/>
            <a:ext cx="7435154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UAV + RTK/PPK สร้าง DSM/DTM และคำนวณปริมาตรดินแบบ Surface-to-Surface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ทำ Orthomosaic และโมเดล 3D ติดตามความคืบหน้าเทียบแผนงาน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สำรวจระดับดินเดิมหลังถางป่าขุดตอ ใช้ตรวจรับงานดินถม</a:t>
            </a:r>
          </a:p>
        </p:txBody>
      </p:sp>
      <p:pic>
        <p:nvPicPr>
          <p:cNvPr id="13" name="Image 0" descr="/tmp/claude-0/-home-claude/599103d1-15bb-5194-a34a-22e73cff613e/scratchpad/i11/s6-014.png">
            <a:extLst>
              <a:ext uri="{FF2B5EF4-FFF2-40B4-BE49-F238E27FC236}">
                <a16:creationId xmlns:a16="http://schemas.microsoft.com/office/drawing/2014/main" id="{A4E3679B-254F-EBB7-EEFE-216D8D6A3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1280160"/>
            <a:ext cx="3566160" cy="191109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20FF31F9-CC24-8C54-F5BE-B6C15F4931D4}"/>
              </a:ext>
            </a:extLst>
          </p:cNvPr>
          <p:cNvSpPr/>
          <p:nvPr/>
        </p:nvSpPr>
        <p:spPr>
          <a:xfrm>
            <a:off x="8076895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11.1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พื้นที่ก่อสร้างจากมุมมอง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ที่มา: ดนัย เรืองสอน และคณะ (2565)</a:t>
            </a:r>
          </a:p>
        </p:txBody>
      </p:sp>
      <p:pic>
        <p:nvPicPr>
          <p:cNvPr id="17" name="Image 1" descr="/tmp/claude-0/-home-claude/599103d1-15bb-5194-a34a-22e73cff613e/scratchpad/i11/s1-048.png">
            <a:extLst>
              <a:ext uri="{FF2B5EF4-FFF2-40B4-BE49-F238E27FC236}">
                <a16:creationId xmlns:a16="http://schemas.microsoft.com/office/drawing/2014/main" id="{3360CC85-8F88-752F-6D69-ED000D755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895" y="3694176"/>
            <a:ext cx="2834640" cy="2167128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EAC15481-D20A-6019-D5F5-D8DE72C50A29}"/>
              </a:ext>
            </a:extLst>
          </p:cNvPr>
          <p:cNvSpPr/>
          <p:nvPr/>
        </p:nvSpPr>
        <p:spPr>
          <a:xfrm>
            <a:off x="8076895" y="5888736"/>
            <a:ext cx="379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แผนที่ความสูงจาก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LiDAR พื้นที่เขาใหญ่ ที่มา: ภุชงค์ วงศ์เกิด และคณะ (2567)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11.4 งานสำรวจพื้นที่เสี่ยงต่อการกัดเซาะ (Erosion Risk Area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107106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ใช้ภาพดาวเทียม (Landsat, WorldView-2 ฯลฯ) กับ Google Earth Engine, ดัชนี AWEI และ DSAS/CoastSat หาแนวชายฝั่งและอัตราการเปลี่ยนแปลง</a:t>
            </a:r>
          </a:p>
        </p:txBody>
      </p:sp>
      <p:pic>
        <p:nvPicPr>
          <p:cNvPr id="5" name="Image 0" descr="/tmp/claude-0/-home-claude/599103d1-15bb-5194-a34a-22e73cff613e/scratchpad/i11/s2-061.png">
            <a:extLst>
              <a:ext uri="{FF2B5EF4-FFF2-40B4-BE49-F238E27FC236}">
                <a16:creationId xmlns:a16="http://schemas.microsoft.com/office/drawing/2014/main" id="{687DD946-B378-9427-688A-0B633131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654" y="2478604"/>
            <a:ext cx="3649734" cy="273372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E138D33-FF36-9306-DF1D-267BB7FE924B}"/>
              </a:ext>
            </a:extLst>
          </p:cNvPr>
          <p:cNvSpPr/>
          <p:nvPr/>
        </p:nvSpPr>
        <p:spPr>
          <a:xfrm>
            <a:off x="715788" y="5421753"/>
            <a:ext cx="5645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แนวชายฝั่ง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ค.ศ. 1990–2025 จ.นครศรีธรรมราช ที่มา: Yuhang &amp; Wutjanam, Int. J. Geoinformatics</a:t>
            </a:r>
          </a:p>
        </p:txBody>
      </p:sp>
      <p:pic>
        <p:nvPicPr>
          <p:cNvPr id="9" name="Image 1" descr="/tmp/claude-0/-home-claude/599103d1-15bb-5194-a34a-22e73cff613e/scratchpad/i11/s5-005.png">
            <a:extLst>
              <a:ext uri="{FF2B5EF4-FFF2-40B4-BE49-F238E27FC236}">
                <a16:creationId xmlns:a16="http://schemas.microsoft.com/office/drawing/2014/main" id="{46D95C1B-6676-7013-B074-79D20B923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929" y="2351222"/>
            <a:ext cx="2498279" cy="3455067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C5EA8161-6191-C4E7-E9D3-2B230BD4B012}"/>
              </a:ext>
            </a:extLst>
          </p:cNvPr>
          <p:cNvSpPr/>
          <p:nvPr/>
        </p:nvSpPr>
        <p:spPr>
          <a:xfrm>
            <a:off x="8150944" y="5947779"/>
            <a:ext cx="2939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การกัดเซาะเกาะคอเขา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พ.ศ. 2545–2559 ที่มา: Pantanahiran (2019), ISPRS Archives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944" y="1798447"/>
            <a:ext cx="11094415" cy="148656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ซ้อนทับชั้นข้อมูล (ฝน ธรณีวิทยา ดิน ความลาดชัน การใช้ที่ดิน) ด้วยน้ำหนักจาก AHP เพื่อหาพื้นที่เหมาะสม</a:t>
            </a:r>
          </a:p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ตัวอย่าง: แผนที่ศักยภาพน้ำใต้ดิน และพื้นที่เปราะบางต่อภัยธรรมชาติ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5BC6F-5DDB-556B-9292-C33DE59170DB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การวิเคราะห์การตัดสินใจแบบหลายหลักเกณฑ์เชิงพื้นที่ (GIS-MCDA / AHP)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BF574-2481-17F8-252A-F81958AD1216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71190-D5E6-A9FE-027F-E5F3FFC25890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การบริหารสินทรัพย์ทางหลวงระดับรัฐและเมืองด้วย </a:t>
            </a:r>
            <a:r>
              <a:rPr lang="en-US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Digital Twin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05FF1-CF45-ABEE-2CCE-3F2C6FD8B172}"/>
              </a:ext>
            </a:extLst>
          </p:cNvPr>
          <p:cNvSpPr txBox="1"/>
          <p:nvPr/>
        </p:nvSpPr>
        <p:spPr>
          <a:xfrm>
            <a:off x="701870" y="1750497"/>
            <a:ext cx="107879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Mobile LiDAR + Photogrammetry สร้าง Digital Twin เช่น Georgia DOT สกัดข้อมูลทางหลวงกว่า 80,000 ไมล์ จาก "Dark Data" เป็นฐานข้อมูลเพื่อวางแผนงบประมาณ</a:t>
            </a:r>
          </a:p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เมือง Perry รัฐ Iowa สแกนทั้งเมือง (4.1 TB) สร้าง 3D Reality Mesh บริหารถนน ทางเท้า และต้นไม้</a:t>
            </a:r>
          </a:p>
        </p:txBody>
      </p:sp>
    </p:spTree>
    <p:extLst>
      <p:ext uri="{BB962C8B-B14F-4D97-AF65-F5344CB8AC3E}">
        <p14:creationId xmlns:p14="http://schemas.microsoft.com/office/powerpoint/2010/main" val="32362570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4782" y="1950523"/>
            <a:ext cx="1086827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ส่งออก Contours และ Profile/Cross-section จาก UAV หรือ LiDAR เข้า CAD / Civil 3D เพื่อออกแบบถนน ระบายน้ำ และจัดรูปที่ดิน</a:t>
            </a:r>
            <a:endParaRPr lang="th-TH" sz="200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4430F-F8B3-8139-DFAC-D005B06BF8CC}"/>
              </a:ext>
            </a:extLst>
          </p:cNvPr>
          <p:cNvSpPr txBox="1"/>
          <p:nvPr/>
        </p:nvSpPr>
        <p:spPr>
          <a:xfrm>
            <a:off x="548640" y="1280160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การสนับสนุนงานออกแบบวิศวกรรมขั้นรายละเอียด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แนวโน้มเทคโนโลยีการสำรวจในอนาคต</a:t>
            </a:r>
          </a:p>
          <a:p>
            <a:pPr>
              <a:spcBef>
                <a:spcPts val="1400"/>
              </a:spcBef>
            </a:pPr>
            <a:r>
              <a:rPr lang="th-TH" sz="2600" b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CFE0983-0E92-903E-CC93-55173AF2AC51}"/>
              </a:ext>
            </a:extLst>
          </p:cNvPr>
          <p:cNvSpPr/>
          <p:nvPr/>
        </p:nvSpPr>
        <p:spPr>
          <a:xfrm>
            <a:off x="548640" y="1086465"/>
            <a:ext cx="6678070" cy="4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การประมวลผล Point Cloud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ใช้ AI เช่น PointNet++, 3D CNNs, Transformers ประมวลผล 3 มิติโดยตรง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Semantic Segmentation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แยกถนน เสาไฟ รถ ต้นไม้ อาคาร ได้ความแม่นยำ 92.4% (mIoU 0.846)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การตรวจจับความเสียหาย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ตรวจรอยร้าวผิวถนน แผงกั้น ท่อระบายน้ำ และอุโมงค์อัตโนมัติ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การพยากรณ์ความเสี่ยง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พยากรณ์การเสื่อมสภาพสินทรัพย์และภัยธรรมชาติ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ข้อจำกัด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ยังต้องมีมนุษย์ทำ QA/QC และตัดสินใจในสนาม</a:t>
            </a:r>
          </a:p>
        </p:txBody>
      </p:sp>
      <p:pic>
        <p:nvPicPr>
          <p:cNvPr id="4" name="Image 0" descr="/tmp/claude-0/-home-claude/599103d1-15bb-5194-a34a-22e73cff613e/scratchpad/img/isx-012.png">
            <a:extLst>
              <a:ext uri="{FF2B5EF4-FFF2-40B4-BE49-F238E27FC236}">
                <a16:creationId xmlns:a16="http://schemas.microsoft.com/office/drawing/2014/main" id="{5B20FAA8-0CF6-B444-4027-4E0F49161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263" y="1052052"/>
            <a:ext cx="4050792" cy="348386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EEFA65E-4E2B-EE5D-FE49-00878BC2264D}"/>
              </a:ext>
            </a:extLst>
          </p:cNvPr>
          <p:cNvSpPr/>
          <p:nvPr/>
        </p:nvSpPr>
        <p:spPr>
          <a:xfrm>
            <a:off x="7592263" y="4563348"/>
            <a:ext cx="4050792" cy="84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</a:t>
            </a:r>
            <a:r>
              <a:rPr lang="en-US" sz="16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ผลการจำแนก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ด้วย PointNet++ (เขียว=ต้นไม้ น้ำตาล=ถนน ขาว=ยานพาหนะ น้ำเงิน=อาคาร แดง=เสา)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12.2 การสกัดคุณลักษณะอัตโนมัติ (Automated Feature Extraction)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92D1ECB-CD28-CC21-98F9-A65087DD1A08}"/>
              </a:ext>
            </a:extLst>
          </p:cNvPr>
          <p:cNvSpPr/>
          <p:nvPr/>
        </p:nvSpPr>
        <p:spPr>
          <a:xfrm>
            <a:off x="548640" y="1115962"/>
            <a:ext cx="6884547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เครื่องมือสกัดวัตถุ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Pix4D, DroneDeploy, LiDAR360, ReCap ใช้ AI สกัดเส้นถนน ขอบอาคาร เสาไฟ และต้นไม้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เรขาคณิตถนนและบัญชีสินทรัพย์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Mobile LiDAR + AI วัดช่องจราจรและเสาไฟอัตโนมัติ RMSE 0.64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การลดเวลาและต้นทุน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ลดเวลา 85% (40 → 6 ชม./กม.)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การกู้คืนข้อมูลซ่อนเร้น (Dark Data)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AI อ่านแบบ CAD และ GIS เดิมเป็นฐานข้อมูล เช่น Georgia DOT (80,000 ไมล์)</a:t>
            </a:r>
          </a:p>
        </p:txBody>
      </p:sp>
      <p:pic>
        <p:nvPicPr>
          <p:cNvPr id="4" name="Image 0" descr="/tmp/claude-0/-home-claude/599103d1-15bb-5194-a34a-22e73cff613e/scratchpad/img/isx-006.png">
            <a:extLst>
              <a:ext uri="{FF2B5EF4-FFF2-40B4-BE49-F238E27FC236}">
                <a16:creationId xmlns:a16="http://schemas.microsoft.com/office/drawing/2014/main" id="{42BF501D-E8B0-C3A6-1D23-F1A7844E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11046"/>
            <a:ext cx="3749040" cy="22860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1BDD376-82C1-9E9D-33D5-E02E3BE2AA40}"/>
              </a:ext>
            </a:extLst>
          </p:cNvPr>
          <p:cNvSpPr/>
          <p:nvPr/>
        </p:nvSpPr>
        <p:spPr>
          <a:xfrm>
            <a:off x="7863840" y="342447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การวัดความกว้างถนนจาก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(8.099 ม.)</a:t>
            </a:r>
          </a:p>
        </p:txBody>
      </p:sp>
      <p:pic>
        <p:nvPicPr>
          <p:cNvPr id="9" name="Image 1" descr="/tmp/claude-0/-home-claude/599103d1-15bb-5194-a34a-22e73cff613e/scratchpad/img/isx-010.png">
            <a:extLst>
              <a:ext uri="{FF2B5EF4-FFF2-40B4-BE49-F238E27FC236}">
                <a16:creationId xmlns:a16="http://schemas.microsoft.com/office/drawing/2014/main" id="{BE44E0C6-EF6D-E1F6-9299-2ABB7C02E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899966"/>
            <a:ext cx="3749040" cy="225856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40800FE-3684-9F0B-602C-FC53E1DC40B0}"/>
              </a:ext>
            </a:extLst>
          </p:cNvPr>
          <p:cNvSpPr/>
          <p:nvPr/>
        </p:nvSpPr>
        <p:spPr>
          <a:xfrm>
            <a:off x="7863840" y="618596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การสกัดความกว้างทางม้าลาย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(7.336 ม.)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12.3 การประมวลผลบนระบบคลาวด์ (Cloud Processing)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461D357-6406-856C-2EFE-320212A6834E}"/>
              </a:ext>
            </a:extLst>
          </p:cNvPr>
          <p:cNvSpPr/>
          <p:nvPr/>
        </p:nvSpPr>
        <p:spPr>
          <a:xfrm>
            <a:off x="687171" y="1005840"/>
            <a:ext cx="10305294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โครงสร้างพื้นฐานที่ขยายขนาดได้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ข้อมูลระดับ Terabytes เก็บและประมวลผลบนคลาวด์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การทำงานร่วมกันข้ามอุปกรณ์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ทีมเข้าถึง วัด และแชร์โมเดล 3D แบบเรียลไทม์ผ่านเว็บ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เวิร์กโฟลว์และ API อัตโนมัติ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Cloud API แปลงข้อมูลดิบเป็นโมเดล 3D และ Orthomosaic อัตโนมัติ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ไม่ต้องซื้อเครื่องแรง จ่ายตามการใช้งานจริง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12.4 การสำรวจแบบเรียลไทม์ (Real-time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8BC6DDB-3667-ABDC-B86D-663CC49E280F}"/>
              </a:ext>
            </a:extLst>
          </p:cNvPr>
          <p:cNvSpPr/>
          <p:nvPr/>
        </p:nvSpPr>
        <p:spPr>
          <a:xfrm>
            <a:off x="687171" y="1125794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Handheld LiDAR และ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สแกนแบบถือ (เช่น TOKNAV TSR20) ได้ Point Cloud ทันทีขณะเดิน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GNSS ร่วมกับ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RTK ขจัด Drift ของ SLAM ได้ความแม่นยำกลางแจ้ง ≤2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การผสานเซนเซอร์หลายรูปแบบ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IMU + กล้อง + RTK + LiDAR สำรวจต่อเนื่องทั้งในและนอกอาคาร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การสตรีมข้อมูลภาคสนาม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ส่งข้อมูลจากโดรนและ IoT เข้า GIS / Digital Twin แบบเรียลไทม์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12.5 ดิจิทัลทวินและโครงสร้างพื้นฐานอัจฉริยะ (Digital Twin &amp; Smart Infrastructure)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E2A51C-B6F1-6E92-1A10-ABA2811CDEF5}"/>
              </a:ext>
            </a:extLst>
          </p:cNvPr>
          <p:cNvSpPr/>
          <p:nvPr/>
        </p:nvSpPr>
        <p:spPr>
          <a:xfrm>
            <a:off x="734470" y="1194619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แนวคิด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แบบจำลอง 3 มิติของโครงสร้างพื้นฐาน อัปเดตสองทางผ่าน IoT, GIS, BIM, LiDAR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แพลตฟอร์มสนับสนุน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Bentley iTwin, Autodesk Tandem, Esri ArcGIS, Siemens Xcelerator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การบำรุงรักษาเชิงคาดการณ์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ตรวจพบการชำรุดของสะพาน ถนน ท่อ ก่อนเสียหายร้ายแรง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แบบจำลองระดับเมืองและระดับชาติ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Virtual Singapore (กว่า 100 หน่วยงาน) และเมือง Perry รัฐ Iowa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ความยั่งยืน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ลดการลงพื้นที่และค่าบำรุงรักษา (ฮาวายประหยัด 940,000 USD/ปี)</a:t>
            </a:r>
          </a:p>
        </p:txBody>
      </p:sp>
      <p:pic>
        <p:nvPicPr>
          <p:cNvPr id="6" name="Image 0" descr="/tmp/claude-0/-home-claude/599103d1-15bb-5194-a34a-22e73cff613e/scratchpad/img/isi33-000.png">
            <a:extLst>
              <a:ext uri="{FF2B5EF4-FFF2-40B4-BE49-F238E27FC236}">
                <a16:creationId xmlns:a16="http://schemas.microsoft.com/office/drawing/2014/main" id="{5AC2EEE7-34BE-9793-1E23-A1636E54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30" y="1194619"/>
            <a:ext cx="4050792" cy="128016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580A8DB-5B8C-68F6-8F68-05A02136DA71}"/>
              </a:ext>
            </a:extLst>
          </p:cNvPr>
          <p:cNvSpPr/>
          <p:nvPr/>
        </p:nvSpPr>
        <p:spPr>
          <a:xfrm>
            <a:off x="7501030" y="250221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 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Virtual Singapore: ดิจิทัลทวินระดับประเทศ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Image 1" descr="/tmp/claude-0/-home-claude/599103d1-15bb-5194-a34a-22e73cff613e/scratchpad/img/isi41-000.png">
            <a:extLst>
              <a:ext uri="{FF2B5EF4-FFF2-40B4-BE49-F238E27FC236}">
                <a16:creationId xmlns:a16="http://schemas.microsoft.com/office/drawing/2014/main" id="{3B0FAFEA-995F-A850-CA58-24265C4FE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030" y="2966485"/>
            <a:ext cx="4050792" cy="1280160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A620EF2A-AF47-9A49-B413-3BC952256157}"/>
              </a:ext>
            </a:extLst>
          </p:cNvPr>
          <p:cNvSpPr/>
          <p:nvPr/>
        </p:nvSpPr>
        <p:spPr>
          <a:xfrm>
            <a:off x="7501030" y="428529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 </a:t>
            </a:r>
            <a:r>
              <a:rPr lang="en-US" sz="14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เมือง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Perry รัฐ Iowa: ดิจิทัลทวินระดับเมือง ที่มา: ISI (2025), Advancing Infrastructure Sustainability Through Digital Twins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12.6 การพัฒนาไปสู่ระบบสำรวจอัตโนมัติและอัจฉริยะ (Automated/Intelligent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85F198-EE1D-C99C-79E1-240A5127F877}"/>
              </a:ext>
            </a:extLst>
          </p:cNvPr>
          <p:cNvSpPr/>
          <p:nvPr/>
        </p:nvSpPr>
        <p:spPr>
          <a:xfrm>
            <a:off x="548640" y="1440426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กระบวนการอัตโนมัติแบบครบวงจร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โดรน → คลาวด์ → AI ได้ข้อมูลพร้อมใช้ โดยแทบไม่ต้องใช้คน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การเปลี่ยนบทบาทของนักสำรวจ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จากผู้ถือกล้อง สู่ผู้จัดการข้อมูลเชิงพื้นที่และผู้ตรวจสอบ AI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จุดสมดุลของการสำรวจ (Surveying Sweet Spot)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LiDAR, RTK, AI และ Cloud ให้ทั้งความแม่นยำ ความเร็ว ความคุ้มค่า และความปลอดภัย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rvey Slate">
      <a:dk1>
        <a:srgbClr val="1B242C"/>
      </a:dk1>
      <a:lt1>
        <a:srgbClr val="E4E7EA"/>
      </a:lt1>
      <a:dk2>
        <a:srgbClr val="26313A"/>
      </a:dk2>
      <a:lt2>
        <a:srgbClr val="A9B4BC"/>
      </a:lt2>
      <a:accent1>
        <a:srgbClr val="D4AC57"/>
      </a:accent1>
      <a:accent2>
        <a:srgbClr val="4FB8CF"/>
      </a:accent2>
      <a:accent3>
        <a:srgbClr val="53959C"/>
      </a:accent3>
      <a:accent4>
        <a:srgbClr val="B08A68"/>
      </a:accent4>
      <a:accent5>
        <a:srgbClr val="8F9CA4"/>
      </a:accent5>
      <a:accent6>
        <a:srgbClr val="3D4750"/>
      </a:accent6>
      <a:hlink>
        <a:srgbClr val="6CCBE0"/>
      </a:hlink>
      <a:folHlink>
        <a:srgbClr val="B9A2D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20304</Words>
  <Application>Microsoft Office PowerPoint</Application>
  <PresentationFormat>Widescreen</PresentationFormat>
  <Paragraphs>1213</Paragraphs>
  <Slides>88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3" baseType="lpstr">
      <vt:lpstr>Aptos</vt:lpstr>
      <vt:lpstr>Arial</vt:lpstr>
      <vt:lpstr>Calibri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soravis amnuaysarn</cp:lastModifiedBy>
  <cp:revision>238</cp:revision>
  <dcterms:created xsi:type="dcterms:W3CDTF">2013-01-27T09:14:16Z</dcterms:created>
  <dcterms:modified xsi:type="dcterms:W3CDTF">2026-10-08T11:08:07Z</dcterms:modified>
  <cp:category/>
</cp:coreProperties>
</file>