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ประเมินพื้นที่เสี่ยงน้ำท่วมและการกัดเซาะเป็นอีกการใช้งานหลักของข้อมูลชุดเดียวกัน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เทคโนโลยีสมัยใหม่ไม่ได้แทนหลักการสำรวจเดิม แต่ทำให้ข้อมูลละเอียดขึ้น เร็วขึ้น และเชื่อมกับระบบงานอื่นได้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[12][13][14]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RTK ใช้การรังวัดเฟสคลื่นพาห์ (Carrier Phase) · ความแม่นยำทางราบของ RTK ระดับ 1–2 ซม. เมื่อสถานะ Fixed · Static ให้ความถูกต้องระดับมิลลิเมตรถึงซับเซนติเมตร (±3–10 มม.) ใช้เวลาตั้งเครื่องตั้งแต่ 20 นาทีถึงหลายชั่วโมง (ทุกตัวเลขรอตรวจแหล่ง)</a:t>
            </a:r>
          </a:p>
          <a:p/>
          <a:p>
            <a:r>
              <a:t>อ้างอิงต้นทาง: [15][18][19][20][21][22][23][24][25][26][27][28][29][30][31][32][33][34][35]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LRTN มีสถานีมากกว่า 600 สถานีทั่วประเทศ (รอตรวจแหล่ง)</a:t>
            </a:r>
          </a:p>
          <a:p/>
          <a:p>
            <a:r>
              <a:t>อ้างอิงต้นทาง: [36][37][38][39][40][41][42][43]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[28][32][46][48]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คำนวณระยะด้วยหลักการ Time-of-Flight หรือ Phase Shift · ต้องปรับแก้สภาพบรรยากาศ (ppm) ตามอุณหภูมิและความดันอากาศ และป้อนค่าคงที่ปริซึม (Prism Constant) ตามผู้ผลิต</a:t>
            </a:r>
          </a:p>
          <a:p/>
          <a:p>
            <a:r>
              <a:t>อ้างอิงต้นทาง: [1][2][3][4][5]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เกณฑ์ตรวจสอบอ้างอิงมาตรฐานสากล เช่น ISO 17123-3</a:t>
            </a:r>
          </a:p>
          <a:p/>
          <a:p>
            <a:r>
              <a:t>อ้างอิงต้นทาง: [5][6][7][8][9][10]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[4][6][11][12][13][14]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Forward Overlap 70–80% (แนะนำไม่น้อยกว่า 75%) · Sidelap 60–75% (แนะนำไม่น้อยกว่า 60%)</a:t>
            </a:r>
          </a:p>
          <a:p/>
          <a:p>
            <a:r>
              <a:t>อ้างอิงต้นทาง: [1][3]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ค่าในต้นฉบับ: Consumer อย่างน้อย 9 จุดต่อบล็อก ห่างไม่เกิน 200 ม. · Professional อย่างน้อย 5 จุด ห่างไม่เกิน 500 ม. · Survey Grade 2 จุดขึ้นไปต่อเที่ยวบิน · ขนาดเป้า GCP ไม่น้อยกว่า 25 เท่าของ GSD · ตัวอย่าง GSD 1–3.5 ซม./พิกเซล (ทุกตัวเลขรอตรวจแหล่ง)</a:t>
            </a:r>
          </a:p>
          <a:p/>
          <a:p>
            <a:r>
              <a:t>อ้างอิงต้นทาง: [5][8][10][12][14][15][20][21][22][23][24]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[3][5][30]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Multirotor เหมาะกับพื้นที่ประมาณ 1–5 ตร.กม. (รอตรวจแหล่ง) · ต้นฉบับใช้คำว่า "ปีกไฟว์" สำหรับ Fixed-Wing ซึ่งควรตรวจคำศัพท์</a:t>
            </a:r>
          </a:p>
          <a:p/>
          <a:p>
            <a:r>
              <a:t>อ้างอิงต้นทาง: [7][33][34][37][38][39][40]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ตัวอย่างความยาวคลื่น 1550 nm (Near Infrared) · เครื่องสแกนยิงได้นับแสนถึงล้านพัลส์ต่อวินาที (รอตรวจแหล่ง)</a:t>
            </a:r>
          </a:p>
          <a:p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Airborne ให้ความถูกต้องทางดิ่งราว 1–3 ซม. ถึง 15 ซม. ตามความสูงบินและสเปกเซนเซอร์ · UAV LiDAR ความหนาแน่นจุด 50–200+ จุด/ตร.ม. (รอตรวจแหล่ง)</a:t>
            </a:r>
          </a:p>
          <a:p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อัลกอริทึม: Progressive TIN Densification (PTD) สร้างโครงข่ายสามเหลี่ยมจากจุดต่ำสุดแล้วขยาย · Cloth Simulation Filter (CSF) พลิก Point Cloud กลับหัวแล้วทิ้งผ้าจำลองลงคลุม · Morphological Filter ใช้เกณฑ์ความชันและความสูงบนกริด</a:t>
            </a:r>
          </a:p>
          <a:p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วิธีประมาณค่า: Points2Grid (Local Binning), Kriging, IDW, TIN to Raster · ตัวอย่างขนาดเซลล์ 0.5 ม.</a:t>
            </a:r>
          </a:p>
          <a:p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ทางราบ Photogrammetry ราว 1–3 ซม. LiDAR ราว 2–5 ซม. · ทางดิ่ง LiDAR ราว 1–3 ซม. (หรือ ±2–15 ซม. สำหรับระบบอากาศยาน) Photogrammetry ราว 2–4 ซม. ในพื้นที่เปิด (รอตรวจแหล่ง)</a:t>
            </a:r>
          </a:p>
          <a:p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ราคาชุดโดรนในต้นฉบับ: LiDAR $15,000–$350,000+ เทียบ Photogrammetry $2,000–$30,000 (รอตรวจแหล่ง)</a:t>
            </a:r>
          </a:p>
          <a:p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อุณหภูมิเปลี่ยน 1 °C เปลี่ยนความเร็วเสียง ≈ 4.0 m/s · ความเค็ม 1 ppt ≈ 1.4 m/s · ความลึก 100 m ≈ 1.7 m/s (รอตรวจแหล่ง)</a:t>
            </a:r>
          </a:p>
          <a:p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ตัวอย่างระยะแนวรังวัดคลอง: ตัดขวางทุก 5 ม. ตัดตามยาวทุก 25 ม. · วิธีคำนวณปริมาตร: Composite Method (TIN Surface), Average End Area, Prismoidal</a:t>
            </a:r>
          </a:p>
          <a:p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ต้นฉบับยกตัวอย่าง datum คือ HTRS96/TM และ NAVD88 ซึ่งไม่ใช่ระบบที่ใช้ในประเทศไทย ควรตรวจก่อนนำไปใช้</a:t>
            </a:r>
          </a:p>
          <a:p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(ไฟล์นี้เลขอ้างอิงติดกับข้อความ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ความหนาแน่นนับล้านถึงพันล้านจุด ความแม่นยำระดับมิลลิเมตรถึงเซนติเมตร (รอตรวจแหล่ง)</a:t>
            </a:r>
          </a:p>
          <a:p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เซนเซอร์ที่ใช้: Fiber Optic/Strain Gauges, Vibrometers, Tilt Sensors, Stage Gauges/Piezometers, Rain Gauges, ADCP · กรณีศึกษา: สะพาน IB5 (สหราชอาณาจักร) และสะพานแขวน Clifton, โครงการแม่น้ำไทเบอร์ (Tiber) ในกรุงโรม (Point Cloud และ Scan-to-BIM ของสะพาน 16 แห่งและตลิ่ง รวมกับ WebGIS และเซนเซอร์อุทกศาสตร์), การประเมินความเสียหายอาคารหลังแผ่นดินไหวด้วยโดรน</a:t>
            </a:r>
          </a:p>
          <a:p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เลขท้ายประโยคในไฟล์ต้นทาง (เลขอ้างอิงติดกับข้อความ จึงยังไม่คัดลอกมาเพื่อกันอ่านผิด รอรายการแหล่งที่มาจากคุณ)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ผลการจำแนก: ความแม่นยำรวม 92.4%, mIoU 0.846 · RMSE เฉลี่ย 0.64 ซม. · ลดเวลาประมวลผลมือ 85% (40 ชม. เหลือ 6 ชม. ต่อกิโลเมตร) · Georgia DOT ทางหลวงกว่า 80,000 ไมล์ · Perry ข้อมูล 4.1 TB · UAV ที่ยกตัวอย่าง: DJI MINI 2 (ติดตามกิจกรรม) และ DJI Matrice 200 V2 (สำรวจภูมิประเทศ) (ทุกตัวเลขรอตรวจแหล่ง)</a:t>
            </a:r>
          </a:p>
          <a:p/>
          <a:p>
            <a:r>
              <a:t>อ้างอิงต้นทาง: [1][2][3][4][5][6][7][8]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[12][13][14][15][16][17][18]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ผลเชิงตัวเลขของตารางที่ 11.2 (รอตรวจแหล่ง): ลำปาง UAV 570.7 ลบ.ม. เทียบ Total Station 620.5 ลบ.ม. ต่างกัน 8% · สระแก้ว ต่างจาก BOQ 9.79% · เขาใหญ่ (3,000 ไร่; YellowScan Mapper บน DJI Matrice 300 RTK) คลาดเคลื่อนทางดิ่งเฉลี่ยไม่เกิน 5 ซม.</a:t>
            </a:r>
          </a:p>
          <a:p/>
          <a:p>
            <a:r>
              <a:t>อ้างอิงต้นทาง: [8][14][15][19][22][23][26][27]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นครศรีธรรมราช (1990–2025) ถอยร่น -3 ถึง -5 ม./ปี บางจุดเกิน -30 ม./ปี, แหลมตะลุมพุก +32.63 ม./ปี · พังงา ระดับรุนแรง &gt; -5 ม./ปี ปานกลาง -1 ถึง -5 ม./ปี · หาดนาใต้ RMSE ความสูง 0.04–0.09 ม. (รอตรวจแหล่ง)</a:t>
            </a:r>
          </a:p>
          <a:p/>
          <a:p>
            <a:r>
              <a:t>อ้างอิงต้นทาง: [28][32][33][34][35][36]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[37][38][39][40][41][42][43]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ตัวอย่าง PointNet++ กับ Mobile LiDAR บนถนนเมืองเบงกาลูรู แยกวัตถุหลัก 5 ประเภท ความแม่นยำรวม 92.4% mIoU 0.846 (รอตรวจแหล่ง)</a:t>
            </a:r>
          </a:p>
          <a:p/>
          <a:p>
            <a:r>
              <a:t>อ้างอิงต้นทาง: [1][5][7][12][17]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RMSE เฉลี่ย 0.64 ซม. · ลดเวลา 85% (40 ชม. เหลือ 6 ชม./กม.) · Georgia DOT สกัดข้อมูลถนนกว่า 80,000 ไมล์ (รอตรวจแหล่ง) · แพลตฟอร์มที่ยกตัวอย่าง: FlyPix AI, Pix4D, Skycatch, Propeller Aero, LiDAR360, DroneDeploy, Autodesk ReCap, Bentley iTwin</a:t>
            </a:r>
          </a:p>
          <a:p/>
          <a:p>
            <a:r>
              <a:t>อ้างอิงต้นทาง: [1][4][29]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[32][35]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SLAM Drift อาจเบี่ยง 50 ซม. ถึงมากกว่า 1 ม. ทุก 500 ม. · เมื่อใช้ RTK ความแม่นยำพิกัดสัมบูรณ์กลางแจ้ง ≤ 2 ซม. · IMU ความถี่ 200 Hz · เครื่องตัวอย่าง TOKNAV TSR20 (รอตรวจแหล่ง)</a:t>
            </a:r>
          </a:p>
          <a:p/>
          <a:p>
            <a:r>
              <a:t>อ้างอิงต้นทาง: [9][41][43]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แพลตฟอร์ม: Bentley iTwin, Autodesk Tandem, Esri ArcGIS/GeoBIM, Siemens Xcelerator, Hexagon Smart Digital Reality · Virtual Singapore รวมข้อมูลจากกว่า 100 หน่วยงาน · กรมขนส่งฮาวายประหยัดได้ $940,000 ต่อปี (รอตรวจแหล่ง)</a:t>
            </a:r>
          </a:p>
          <a:p/>
          <a:p>
            <a:r>
              <a:t>อ้างอิงต้นทาง: [9][10][52][57][62][65][66]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[1][17]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เทคโนโลยีการสำรวจภูมิประเทศสำหรับหน่วยงานภาครัฐ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Draft #1 · ยังไม่ตกแต่ง · ตัวเลขอยู่ในโน้ตผู้บรรยายและรอตรวจแหล่งที่มา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บทนำและความสำคัญของงานสำรวจภูมิประเทศ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1.1 ข้อมูลภูมิประเทศเป็นฐานของการออกแบบและก่อสร้าง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7627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ข้อมูลภูมิประเทศ (Topographic Data) ประกอบด้วยระดับความสูง ความลาดชัน ขอบเขตพื้นที่ และตำแหน่งสิ่งปลูกสร้าง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ใช้กำหนดแนวโครงการ คำนวณปริมาณงานดิน และออกแบบการระบายน้ำ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ความคลาดเคลื่อนของข้อมูลส่งผลต่อแบบก่อสร้าง ปริมาณงาน งบประมาณ และความปลอดภัยของโครงสร้าง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1.2 เทคโนโลยีการสำรวจเปลี่ยนจากการวัดเป็นจุดสู่การเก็บข้อมูลเชิงพื้นผิว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6172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800" b="1" lang="th-TH">
                <a:latin typeface="TH Sarabun New"/>
                <a:ea typeface="TH Sarabun New"/>
                <a:cs typeface="TH Sarabun New"/>
              </a:rPr>
              <a:t>ตารางที่ 1.1 พัฒนาการของเครื่องมือสำรวจภูมิประเทศ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25980"/>
          <a:ext cx="11094415" cy="352958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505206">
                <a:tc>
                  <a:txBody>
                    <a:bodyPr/>
                    <a:lstStyle/>
                    <a:p>
                      <a:r>
                        <a:rPr sz="22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ยุค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เครื่องมือ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ลักษณะข้อมูลที่ได้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882396"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ดั้งเดิม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เทปวัดระยะ กล้องระดับ กล้องวัดมุม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ค่าวัดรายจุด ใช้แรงงานและเวลาภาคสนามมาก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2396"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อิเล็กทรอนิกส์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Total Station, GNSS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ค่าวัดรายจุดที่บันทึกเป็นดิจิทัล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259586"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ปัจจุบัน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UAV/Drone, LiDAR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ข้อมูลพื้นผิวที่ประกอบด้วยจุดจำนวนมาก ครอบคลุมพื้นที่กว้าง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1.3 Digital Survey ทำให้ข้อมูลต่อเนื่องตลอดกระบวนการ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17220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ข้อมูลเป็นดิจิทัลตั้งแต่การเก็บข้อมูล การประมวลผล จนถึงการส่งมอบ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นำเข้าระบบ CAD, GIS และ BIM ได้โดยตรง ลดการแปลงข้อมูลซ้ำ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ลดงานภาคสนาม ลดความเสี่ยงในพื้นที่อันตราย และตรวจสอบย้อนกลับได้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เทคโนโลยีการกำหนดตำแหน่งด้วยดาวเทียม GNSS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2.1 GNSS กำหนดตำแหน่งจากหลายระบบดาวเทียมพร้อมกัน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17220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GNSS (Global Navigation Satellite System) เป็นคำรวมของระบบ GPS, GLONASS, Galileo และ BeiDou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เครื่องรับสมัยใหม่รับสัญญาณหลายระบบดาวเทียม (Multi-Constellation) และหลายความถี่ (Multi-Frequency)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ผลคือเสถียรภาพและความแม่นยำของพิกัดสูงขึ้น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2.2 RTK และ Network RTK ใช้ค่าแก้ในการลดความคลาดเคลื่อน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4648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000" b="1" lang="th-TH">
                <a:latin typeface="TH Sarabun New"/>
                <a:ea typeface="TH Sarabun New"/>
                <a:cs typeface="TH Sarabun New"/>
              </a:rPr>
              <a:t>ตารางที่ 2.1 เปรียบเทียบวิธีรังวัดด้วย GNSS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973580"/>
          <a:ext cx="11094415" cy="390677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6"/>
              </a:tblGrid>
              <a:tr h="436626"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วิธี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หลักการ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การประมวลผล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การใช้งานหลัก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105384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Static Survey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ตั้งเครื่องรับนิ่งเป็นเวลานาน บันทึกข้อมูลดิบ (RINEX)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ภายหลังในสำนักงาน (Post-Processing)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หมุดควบคุมหลัก งานติดตามการเคลื่อนตัว เชื่อมระบบพิกัดของประเทศ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05384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RTK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เครื่องฐาน (Base) ส่งค่าแก้ไปยังเครื่องเคลื่อนที่ (Rover)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เรียลไทม์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รังวัดรายละเอียด ปักหมุดแนว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36245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Network RTK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ข้อมูลจากเครือข่ายสถานีถาวร (CORS) สร้างสถานีอ้างอิงเสมือน (VRS) ส่งผ่านโปรโตคอล NTRIP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เรียลไทม์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งานที่ต้องการความแม่นยำสม่ำเสมอทั่วพื้นที่ ใช้เครื่อง Rover เพียงเครื่องเดียว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2.3 ผลรังวัด GNSS ต้องผูกกับระบบพิกัดและระดับของงาน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5636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800" b="0" lang="th-TH">
                <a:latin typeface="TH Sarabun New"/>
                <a:ea typeface="TH Sarabun New"/>
                <a:cs typeface="TH Sarabun New"/>
              </a:rPr>
              <a:t>ค่าพิกัดจาก GNSS อยู่บนทรงรีสากล (WGS84 หรือ ITRF) ต้องแปลงเป็นระบบพิกัดฉากราบท้องถิ่น (UTM, Indian 1975)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800" b="0" lang="th-TH">
                <a:latin typeface="TH Sarabun New"/>
                <a:ea typeface="TH Sarabun New"/>
                <a:cs typeface="TH Sarabun New"/>
              </a:rPr>
              <a:t>ความสูงเหนือทรงรี (Ellipsoidal Height) ต้องแปลงเป็นความสูงออร์โทเมตริก (Orthometric Height) ด้วยแบบจำลองยีออยด์ (เช่น TGM2017)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3886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600" b="1" lang="th-TH">
                <a:latin typeface="TH Sarabun New"/>
                <a:ea typeface="TH Sarabun New"/>
                <a:cs typeface="TH Sarabun New"/>
              </a:rPr>
              <a:t>ตารางที่ 2.2 เครือข่ายสถานี CORS ในประเทศไทย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461004"/>
          <a:ext cx="11094415" cy="20299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02336">
                <a:tc>
                  <a:txBody>
                    <a:bodyPr/>
                    <a:lstStyle/>
                    <a:p>
                      <a:r>
                        <a:rPr sz="16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เครือข่าย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หน่วยงาน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จุดเน้น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LRTN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กรมที่ดิน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งานรังวัดที่ดิน ออกโฉนด อ้างอิง WGS84 และแปลงเป็น Indian 1975 (UTM)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RTSD CORS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กรมแผนที่ทหาร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ความแม่นยำระดับ Geodetic อ้างอิง ITRF / WGS84 เหมาะกับโครงสร้างพื้นฐาน แผนที่ระดับชาติ งานวิชาการ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2.4 การประยุกต์ใช้ GNSS ในงานสำรวจภูมิประเทศ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8359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งานรังวัดที่ดินและแบ่งแยกแปลงด้วย Network RTK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งานก่อสร้างและปักหมุดแนว (Construction &amp; Stakeout)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งานร่วมกับโดรน: บันทึกตำแหน่งภาพถ่าย รังวัดจุดควบคุมภาพถ่าย (GCP) และจุดตรวจสอบ (Checkpoint)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งานทำระดับด้วย GNSS (GNSS Leveling) ด้วย Static Survey ร่วมกับแบบจำลองยีออยด์ TGM2017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เทคโนโลยีการสำรวจด้วย Total Station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3.1 Total Station รวมการวัดมุมและระยะทางไว้ในเครื่องเดียว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50170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ประกอบด้วยกล้องวัดมุมดิจิทัล (Digital Theodolite) เครื่องวัดระยะทางด้วยคลื่นอิเล็กทรอนิกส์ (EDM) และไมโครโพรเซสเซอร์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วัดมุมราบ (Horizontal Angle) มุมดิ่ง (Vertical Angle) และระยะทางเอียง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คำนวณพิกัดฉาก 3 มิติ (X, Y, Z) จากค่าที่วัดได้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วัดระยะได้ทั้งแบบใช้ปริซึมสะท้อนแสง (Reflector Prism) และแบบไม่ใช้ปริซึม (Reflectorless)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3.2 การรังวัดรายละเอียดอาศัยหมุดที่ทราบพิกัดเป็นจุดอ้างอิง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617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ตั้งกล้องบนหมุดที่ทราบพิกัด (Occupied Station) แล้วตั้งค่า Backsight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ตั้งกล้องบนจุดที่ไม่ทราบพิกัดได้ด้วยการรังวัดย้อน (Resection) จากหมุดอ้างอิงตั้งแต่ 2 จุดขึ้นไป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เก็บรายละเอียดแบบรัศมี หรือเดินวงรอบปิด (Closed Loop Traverse) เพื่อสร้างหมุดควบคุมย่อย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ตรวจสอบความถูกต้องจากค่าความคลาดเคลื่อนทางมุมและทางราบ (Angular / Linear Misclosure)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ส่งออกพิกัดและรหัสรายละเอียด (Feature Code) ไปยัง CADD และ GIS ได้โดยไม่ต้องป้อนซ้ำ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3.3 GNSS และ Total Station ทำงานเสริมกันในพื้นที่ต่างสภาพ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4648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000" b="1" lang="th-TH">
                <a:latin typeface="TH Sarabun New"/>
                <a:ea typeface="TH Sarabun New"/>
                <a:cs typeface="TH Sarabun New"/>
              </a:rPr>
              <a:t>ตารางที่ 3.1 บทบาทของ GNSS และ Total Station ในงานสำรวจ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973580"/>
          <a:ext cx="11094415" cy="223570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36626"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เครื่องมือ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พื้นที่ที่เหมาะสม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บทบาทในงานควบคุม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43662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GNSS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พื้นที่เปิดโล่ง ระยะทางไกล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รังวัดหมุดควบคุมหลักนอกอาคาร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36245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Total Station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พื้นที่อับสัญญาณดาวเทียม เช่น ภายในอาคาร ตรอกซอกซอย ใต้เรือนยอดไม้หนาแน่น และงานที่ต้องการความละเอียดระดับมิลลิเมตร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เดินวงรอบต่อจากหมุด GNSS เข้าไปในพื้นที่อับสัญญาณ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5048"/>
            <a:ext cx="11094415" cy="187858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ข้อมูลรายละเอียดทั้งหมดยึดโยงกับระบบพิกัดของประเทศ (UTM, Indian 1975, WGS84, ITRF) ผ่านหมุดควบคุม GNSS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งานก่อสร้าง: GNSS วางผังภาพรวม ส่วน Total Station ตรวจแนวดิ่ง ตั้งแนวเสาและฐานราก และติดตามการเคลื่อนตัวของโครงสร้าง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เทคโนโลยีการสำรวจด้วย UAV/Drone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4.1 UAV Photogrammetry สร้างแบบจำลอง 3 มิติจากภาพถ่ายที่ซ้อนเกยกัน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445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เป็นการสำรวจระยะไกลแบบไม่ส่งสัญญาณเอง (Passive Sensing) คำนวณเรขาคณิต 3 มิติด้วยหลักสามเหลี่ยม (Triangulation)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Structure from Motion (SfM): จับคู่จุดลักษณะเด่นข้ามภาพ ประเมินตำแหน่งและพารามิเตอร์กล้อง ได้กลุ่มจุดแบบโปร่ง (Sparse Point Cloud)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Multi-View Stereo (MVS): สร้างกลุ่มจุดความหนาแน่นสูง (Dense Point Cloud) และพื้นผิว 3D Mesh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ส่วนซ้อนในแนวบิน (Forward Overlap) และส่วนเกยระหว่างแนวบิน (Sidelap) ทำให้ภาพที่อยู่ติดกันมีจุดเด่นร่วมกันเพียงพอต่อการปรับเกลี่ยบล็อก (Bundle Adjustment)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4.2 ความถูกต้องของผลลัพธ์ขึ้นกับการวางแผนบินและจุดควบคุม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24917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800" b="0" lang="th-TH">
                <a:latin typeface="TH Sarabun New"/>
                <a:ea typeface="TH Sarabun New"/>
                <a:cs typeface="TH Sarabun New"/>
              </a:rPr>
              <a:t>ความสูงบินสัมพันธ์กับทางยาวโฟกัสและขนาดเซนเซอร์ และกำหนดพื้นที่ครอบคลุมและความละเอียดของภาพ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800" b="0" lang="th-TH">
                <a:latin typeface="TH Sarabun New"/>
                <a:ea typeface="TH Sarabun New"/>
                <a:cs typeface="TH Sarabun New"/>
              </a:rPr>
              <a:t>ค่า GSD (Ground Sampling Distance) ยิ่งเล็ก ภาพยิ่งละเอียดและความถูกต้องเชิงตำแหน่งยิ่งสูง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800" b="0" lang="th-TH">
                <a:latin typeface="TH Sarabun New"/>
                <a:ea typeface="TH Sarabun New"/>
                <a:cs typeface="TH Sarabun New"/>
              </a:rPr>
              <a:t>นิยมบินเป็นตาราง (Grid Flight Line) เพื่อให้โครงข่ายการประมวลผลแข็งแรง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800" b="0" lang="th-TH">
                <a:latin typeface="TH Sarabun New"/>
                <a:ea typeface="TH Sarabun New"/>
                <a:cs typeface="TH Sarabun New"/>
              </a:rPr>
              <a:t>GCP (Ground Control Point) ผ่านการรังวัดด้วย GNSS RTK ใช้ยึดโมเดลกับระบบพิกัดจริงและลดความคลาดเคลื่อนเชิงเรขาคณิต เช่น Doming Effect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800" b="0" lang="th-TH">
                <a:latin typeface="TH Sarabun New"/>
                <a:ea typeface="TH Sarabun New"/>
                <a:cs typeface="TH Sarabun New"/>
              </a:rPr>
              <a:t>Checkpoint รังวัดพิกัดจริงแต่ไม่นำไปปรับโมเดล ใช้ประเมินความถูกต้องสัมบูรณ์ด้วยค่า RMSE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00500"/>
            <a:ext cx="11094415" cy="3886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600" b="1" lang="th-TH">
                <a:latin typeface="TH Sarabun New"/>
                <a:ea typeface="TH Sarabun New"/>
                <a:cs typeface="TH Sarabun New"/>
              </a:rPr>
              <a:t>ตารางที่ 4.1 แนวทางการใช้ GCP ตามระดับของโดรน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389120"/>
          <a:ext cx="11094415" cy="160934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402336">
                <a:tc>
                  <a:txBody>
                    <a:bodyPr/>
                    <a:lstStyle/>
                    <a:p>
                      <a:r>
                        <a:rPr sz="16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ระดับ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ลักษณะการใช้ GCP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Consumer Grade (โดรนทั่วไป)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ต้องใช้จำนวนมาก กระจายสม่ำเสมอและถี่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Professional Grade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ใช้จำนวนปานกลาง กระจายห่างกว่า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Survey Grade (โดรน RTK/PPK)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ใช้จำนวนน้อย เพื่อควบคุมและดึงระดับพิกัด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4.3 ผลิตภัณฑ์หลักคือ DSM และภาพถ่ายออร์โท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5791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lang="th-TH">
                <a:latin typeface="TH Sarabun New"/>
                <a:ea typeface="TH Sarabun New"/>
                <a:cs typeface="TH Sarabun New"/>
              </a:rPr>
              <a:t>ตารางที่ 4.2 ผลิตภัณฑ์ข้อมูลจากการสำรวจด้วย UAV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087880"/>
          <a:ext cx="11094415" cy="411251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88061">
                <a:tc>
                  <a:txBody>
                    <a:bodyPr/>
                    <a:lstStyle/>
                    <a:p>
                      <a:r>
                        <a:rPr sz="21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ผลิตภัณฑ์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ความหมาย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การใช้ประโยชน์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1208151"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Digital Surface Model (DSM)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แบบจำลองความสูงของพื้นผิวบนสุด รวมพื้นดิน อาคาร และต้นไม้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ฐานสำหรับผลิตภัณฑ์อื่น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48106"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Orthophoto / Orthomosaic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ภาพถ่ายที่ปรับแก้ความเอียงและมุมมองด้วย DSM หรือ DTM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มาตราส่วนสม่ำเสมอ วัดระยะและคำนวณพื้นที่ได้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568196"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True-Orthophoto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การประมวลผลขั้นสูงสำหรับพื้นที่เมืองหรืออาคารสูง ขจัดภาพล้มเอียงของสิ่งก่อสร้าง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ภาพที่วัตถุทรงสูงปรากฏตั้งตรงโดยไม่มีภาพซ้อนทับ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4.4 UAV เหมาะกับพื้นที่กว้างและพื้นที่ที่เข้าถึงยาก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0124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ลดเวลา กำลังคน และค่าใช้จ่ายเมื่อเทียบกับการสำรวจทางบกแบบดั้งเดิม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เหมาะกับพื้นที่อันตราย หน้าผาชัน พื้นที่พรุ/อับชื้น และพื้นที่ประสบภัยพิบัติ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21204"/>
            <a:ext cx="11094415" cy="4648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000" b="1" lang="th-TH">
                <a:latin typeface="TH Sarabun New"/>
                <a:ea typeface="TH Sarabun New"/>
                <a:cs typeface="TH Sarabun New"/>
              </a:rPr>
              <a:t>ตารางที่ 4.3 ประเภทอากาศยานและงานที่เหมาะสม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986024"/>
          <a:ext cx="11094415" cy="223570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36626"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ประเภท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ลักษณะ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งานที่เหมาะสม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74523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Multirotor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ขึ้น-ลงทางดิ่งสะดวก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พื้นที่ขนาดเล็กถึงปานกลาง งานเก็บรายละเอียดอาคาร/โครงสร้าง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05384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Fixed-Wing / VTOL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บินได้ไกลและนาน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พื้นที่หลายตารางกิโลเมตรต่อเที่ยวบิน งานแนวระเบียงยาว (Corridor Mapping)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87492"/>
            <a:ext cx="11094415" cy="9392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ขอบเขตการใช้งาน: วิศวกรรมโยธาและผังเมือง การคำนวณปริมาณดินตัด-ดินถม เกษตรกรรมแม่นยำ การรังวัดชายฝั่ง และการประเมินความเสียหายหลังภัยพิบัติ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เทคโนโลยี LiDAR สำหรับการสำรวจภูมิประเทศ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5.1 LiDAR วัดระยะด้วยพัลส์เลเซอร์ที่ส่งจากตัวเครื่องเอง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50170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LiDAR (Light Detection and Ranging) เป็นระบบสำรวจระยะไกลแบบส่งสัญญาณเอง (Active Sensing) คำนวณระยะทางจากเวลาที่พัลส์เลเซอร์เดินทางไปและกลับ (Time-of-Flight)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ตำแหน่ง 3 มิติของแต่ละจุดได้จากการรวมข้อมูลสามส่วน: เครื่องสแกนเลเซอร์ (Laser Scanner) พิกัดจาก GNSS และการวางตัวจาก IMU (Roll, Pitch, Heading/Yaw)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ผลลัพธ์แต่ละจุดประกอบด้วยพิกัด (X, Y, Z) และค่าความเข้มสัญญาณสะท้อน (Intensity)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สัญญาณสะท้อนกลับได้หลายครั้ง (Multiple Returns) จึงเจาะผ่านช่องว่างทรงพุ่มไม้ลงถึงพื้นดินได้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5.2 รูปแบบการติดตั้งกำหนดขอบเขตงานที่เหมาะสม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426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800" b="1" lang="th-TH">
                <a:latin typeface="TH Sarabun New"/>
                <a:ea typeface="TH Sarabun New"/>
                <a:cs typeface="TH Sarabun New"/>
              </a:rPr>
              <a:t>ตารางที่ 5.1 ระบบ LiDAR ตามแพลตฟอร์ม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935480"/>
          <a:ext cx="11094415" cy="3718179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19481">
                <a:tc>
                  <a:txBody>
                    <a:bodyPr/>
                    <a:lstStyle/>
                    <a:p>
                      <a:r>
                        <a:rPr sz="17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ระบบ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แพลตฟอร์ม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งานที่เหมาะสม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1002411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Airborne LiDAR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เครื่องบิน เฮลิคอปเตอร์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แผนที่ระดับภูมิภาคและพื้นที่ขนาดใหญ่ งานแนวระเบียงยาว เช่น ลุ่มน้ำ สายส่งไฟฟ้า ทางหลวง ป่าไม้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293876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Mobile Terrestrial LiDAR (MLS)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ยานพาหนะทางบก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มุมมองเฉียงและด้านข้างที่ความหนาแน่นจุดสูง เช่น หน้าผาชายฝั่ง คันดิน ผนังอาคาร ถนน (ต้องปรับแก้ Boresight Alignment)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002411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UAV LiDAR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อากาศยานไร้นักบิน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พื้นที่ขนาดเล็กถึงปานกลาง พื้นที่เสี่ยงภัย พื้นที่ป่าไม้ ค่าดำเนินงานต่ำกว่าเครื่องบินขนาดใหญ่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5.3 Point Cloud ต้องจำแนกจุดพื้นดินออกจากสิ่งปกคลุม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50170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Point Cloud คือกลุ่มจุดพิกัด 3 มิติ พร้อมคุณลักษณะเพิ่มเติม เช่น ค่าความเข้ม ลำดับการสะท้อน และสี RGB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จัดเก็บในไฟล์มาตรฐานเปิด LAS/LAZ ของ ASPRS ซึ่งมีรหัสประเภทจุดมาตรฐาน (เช่น Ground, Vegetation, Building, Water)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การจำแนก Ground / Non-Ground (Ground Filtering) แยกพื้นดินเปล่าจากอาคาร ต้นไม้ ยานพาหนะ และสัญญาณรบกวน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หลักการคัดแยกใช้จุดระดับต่ำสุด เกณฑ์ความชัน ความต่างระดับ และความราบเรียบของพื้นผิว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5.4 DTM สร้างจากจุดพื้นดินที่จำแนกแล้ว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5330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DTM (Digital Terrain Model) แสดงพื้นดินเปล่า (Bare-Earth) ส่วน DSM รวมวัตถุทั้งหมดบนดิน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ขั้นตอน: คัดเลือกจุด Ground → กำหนดขนาดเซลล์กริดและรัศมีค้นหา → ประมาณค่าเชิงพื้นที่ ได้ DTM แบบ Regular Grid หรือ TIN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นำไปใช้คำนวณปริมาณงานดินตัด-ดินถม วิเคราะห์อุทกวิทยา และเขียนเส้นชั้นความสูงในระบบ CADD/GIS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การสำรวจภูมิประเทศด้วยเทคโนโลยีภาพถ่ายและ Point Cloud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6.1 Photogrammetry และ LiDAR ได้ Point Cloud จากหลักการต่างกัน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200" b="1" lang="th-TH">
                <a:latin typeface="TH Sarabun New"/>
                <a:ea typeface="TH Sarabun New"/>
                <a:cs typeface="TH Sarabun New"/>
              </a:rPr>
              <a:t>ตารางที่ 6.1 เปรียบเทียบหลักการและผลลัพธ์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011680"/>
          <a:ext cx="11094415" cy="389763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53771">
                <a:tc>
                  <a:txBody>
                    <a:bodyPr/>
                    <a:lstStyle/>
                    <a:p>
                      <a:r>
                        <a:rPr sz="19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หัวข้อ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Photogrammetry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LiDAR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1105281"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หลักการ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สำรวจแบบ Passive Sensing อาศัยแสงธรรมชาติ ถ่ายภาพซ้อนเกยแล้วประมวลผลด้วย SfM และ MVS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สำรวจแบบ Active Sensing ส่งพัลส์เลเซอร์เอง วัดระยะด้วย Time-of-Flight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3771"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เซนเซอร์ที่ใช้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กล้องถ่ายภาพ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Laser Scanner, GNSS, IMU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79526"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ผลลัพธ์หลัก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Orthophoto, 3D Textured Mesh, Point Cloud ที่มีสี RGB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Point Cloud 3 มิติพร้อมค่าความเข้มสัญญาณสะท้อน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05281"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คุณสมบัติเด่น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ภาพและสีสมจริง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บันทึกสัญญาณสะท้อนหลายครั้ง เจาะผ่านช่องว่างทรงพุ่มไม้ถึงพื้นดิน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6.2 ความถูกต้องทางดิ่งและเงื่อนไขพื้นที่เป็นตัวแยกสองเทคโนโลยี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50170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พื้นที่เปิดโล่งที่ใช้ RTK/PPK ร่วมกับ GCP: ความถูกต้องทางราบของทั้งสองเทคโนโลยีใกล้เคียงกัน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ทางดิ่ง: LiDAR ได้เปรียบด้านความถูกต้องและความสม่ำเสมอ เพราะวัดระยะดิ่งโดยตรง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Photogrammetry ให้ความถูกต้องทางดิ่งดีในพื้นที่เปิดกว้าง แต่ลดลงมากในพื้นที่ป่าหรือพืชพรรณหนาแน่น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ความละเอียด: Photogrammetry กำหนดด้วย GSD ส่วน LiDAR กำหนดด้วยความหนาแน่นของจุด (Point Density)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6.3 ข้อจำกัดเชิงปฏิบัติของแต่ละเทคโนโลยี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6172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800" b="1" lang="th-TH">
                <a:latin typeface="TH Sarabun New"/>
                <a:ea typeface="TH Sarabun New"/>
                <a:cs typeface="TH Sarabun New"/>
              </a:rPr>
              <a:t>ตารางที่ 6.2 ข้อจำกัดเชิงปฏิบัติ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25980"/>
          <a:ext cx="11094415" cy="415594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505206">
                <a:tc>
                  <a:txBody>
                    <a:bodyPr/>
                    <a:lstStyle/>
                    <a:p>
                      <a:r>
                        <a:rPr sz="22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เทคโนโลยี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ข้อจำกัด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2013966"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Photogrammetry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ขึ้นกับแสงธรรมชาติ (ทำงานกลางคืนไม่ได้) · มองไม่ทะลุพืชพรรณ ได้เฉพาะยอดทรงพุ่ม · พื้นผิวไร้ลวดลายหรือสะท้อนแสง (ผิวน้ำ หิมะ ทราย) จับคู่จุดภาพไม่ได้ · ใช้เวลาประมวลผล SfM นาน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36776"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LiDAR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เซนเซอร์และระบบ GNSS/IMU ราคาสูงกว่ามาก · ข้อมูลดิบไม่มีสี ต้องเพิ่มกล้อง RGB · ต้องใช้ทักษะกรองจุดพื้นดิน (Ground Filtering)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6.4 การเลือกเทคโนโลยีพิจารณาจากลักษณะพื้นที่และผลลัพธ์ที่ต้องการ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350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400" b="1" lang="th-TH">
                <a:latin typeface="TH Sarabun New"/>
                <a:ea typeface="TH Sarabun New"/>
                <a:cs typeface="TH Sarabun New"/>
              </a:rPr>
              <a:t>ตารางที่ 6.3 แนวทางการเลือกเทคโนโลยี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59280"/>
          <a:ext cx="11094415" cy="366445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368046">
                <a:tc>
                  <a:txBody>
                    <a:bodyPr/>
                    <a:lstStyle/>
                    <a:p>
                      <a:r>
                        <a:rPr sz="14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เงื่อนไขของงาน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เทคโนโลยีที่เหมาะสม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608076"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พื้นที่เปิดโล่ง ไร้สิ่งบดบัง (งานก่อสร้างอาคาร เหมืองเปิด ผังเมือง แปลงเกษตรเปิด)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Photogrammetry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ต้องการภาพถ่ายจริง Orthophoto หรือโมเดล 3 มิติที่มีสี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Photogrammetry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ต้องควบคุมงบประมาณอุปกรณ์เริ่มต้น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Photogrammetry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08076"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พื้นที่มีพืชพรรณหรือป่าไม้ปกคลุมหนาแน่น ต้องการ DTM พื้นดินเปล่า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LiDAR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08076"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ต้องการความถูกต้องทางดิ่งสูง เช่น ดินตัด-ดินถมในภูมิประเทศซับซ้อน อุทกวิทยา/น้ำท่วม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LiDAR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แนวระเบียงยาว งานสแกนกลางคืน พื้นที่ต่างระดับซับซ้อน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LiDAR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ต้องการทั้งความแม่นยำเรขาคณิตและความสมจริงทางสายตา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ใช้ร่วมกัน (Hybrid Workflow)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89498"/>
            <a:ext cx="11094415" cy="703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600" b="0" lang="th-TH">
                <a:latin typeface="TH Sarabun New"/>
                <a:ea typeface="TH Sarabun New"/>
                <a:cs typeface="TH Sarabun New"/>
              </a:rPr>
              <a:t>Hybrid Workflow: ใช้ LiDAR สร้างโครงสร้างเรขาคณิตและระดับความสูง แล้วทาบภาพจาก Photogrammetry เพื่อสร้างแบบจำลอง Digital Twin หรือ BIM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การสำรวจภูมิประเทศทางน้ำและใต้น้ำ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7.1 การหยั่งความลึกใช้คลื่นเสียงและต้องปรับแก้ความเร็วเสียงในน้ำ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617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ส่งคลื่นเสียงจากหัวส่งสัญญาณ (Transducer) ลงพื้นท้องน้ำ และคำนวณความลึกจากเวลาเดินทางไป-กลับ</a:t>
            </a:r>
          </a:p>
          <a:p>
            <a:pPr>
              <a:spcAft>
                <a:spcPts val="600"/>
              </a:spcAft>
              <a:buNone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D = ½(v · t) + k + d_r + r</a:t>
            </a:r>
          </a:p>
          <a:p>
            <a:pPr>
              <a:spcAft>
                <a:spcPts val="600"/>
              </a:spcAft>
              <a:buNone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โดย v = ความเร็วเสียงในน้ำ, t = เวลาเดินทางไป-กลับ, k = ค่าคงที่เครื่องมือ, d_r = ระยะกินน้ำลึกของหัวส่ง, r = ค่าปรับแก้ระดับอ้างอิง (Tide/Stage Correction)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ความเร็วเสียงแปรผันตามอุณหภูมิ ความเค็ม และความกดดัน/ความลึก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หากไม่วัดและปรับแก้ Sound Velocity Profile (SVP) จะเกิดความคลาดเคลื่อนจากการหักเหของคลื่นเสียง ทำให้พื้นท้องน้ำราบเรียบแสดงเป็นแอ่งหรือนูน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7.2 Single-Beam และ Multibeam ให้ความครอบคลุมพื้นท้องน้ำต่างกัน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36957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500" b="1" lang="th-TH">
                <a:latin typeface="TH Sarabun New"/>
                <a:ea typeface="TH Sarabun New"/>
                <a:cs typeface="TH Sarabun New"/>
              </a:rPr>
              <a:t>ตารางที่ 7.1 เปรียบเทียบเครื่องหยั่งความลึกแบบ SBES และ MBES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8330"/>
          <a:ext cx="11094415" cy="3983355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385191">
                <a:tc>
                  <a:txBody>
                    <a:bodyPr/>
                    <a:lstStyle/>
                    <a:p>
                      <a:r>
                        <a:rPr sz="15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หัวข้อ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Single-Beam (SBES)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Multibeam (MBES)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1156716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ลักษณะข้อมูล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ส่งคลื่นเป็นลำแคบลำเดียว ได้ความลึกเป็นจุดเดี่ยวต่อการส่ง 1 ครั้ง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ส่งคลื่นเป็นแถบพัดหลายลำพร้อมกัน ครอบคลุมพื้นท้องน้ำ 100% ได้ Point Cloud 3 มิติความละเอียดสูง และข้อมูล Backscatter เพื่อจำแนกวัสดุพื้นท้องน้ำ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99541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ข้อดี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ราคาถูก ติดตั้งง่าย เหมาะกับน้ำตื้น ลำน้ำขนาดเล็ก คลองชลประทาน งานตรวจสอบจุด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ได้พื้นผิวท้องน้ำต่อเนื่อง ความละเอียดสูง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99541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เซนเซอร์ประกอบ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RTK GNSS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RTK GNSS, IMU/INS (Pitch, Roll, Heave, Yaw), อุปกรณ์วัดความเร็วเสียง (SVP/CTD)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2366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การวัดสอบเครื่องมือ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Bar Check / Calibration ที่ระดับความลึกและสภาพน้ำต่างกัน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Patch Test (Roll, Pitch, Yaw/Heading) ก่อนการสำรวจ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7.3 หน้าตัดลำน้ำและแบบจำลองท้องน้ำได้จากข้อมูลที่ผ่านการกรอง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8708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วางแนวรังวัดเป็นแนวตัดขวางลำน้ำ (Cross-section) และแนวตัดตามยาว (Longitudinal Profile) ให้เหมาะกับขนาดและความซับซ้อนของลำน้ำ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ข้อมูลดิบมีสัญญาณรบกวนจากสิ่งมีชีวิตในน้ำ ฟองอากาศ และการสะท้อนของคลื่นเสียง จึงกรองแบบกึ่งอัตโนมัติ: แบ่งกลุ่มจุดตามสัณฐาน (Segmentation), กรองสถิติ SOR, แยกจุดพื้นท้องน้ำด้วย CSF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สร้างแบบจำลองภูมิประเทศใต้น้ำ (Digital Bathymetric Model: DBM) เป็นเส้นชั้นความลึก TIN หรือ Raster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คำนวณปริมาตรน้ำ ความจุ หรือดินขุด-ดินถมจากรูปตัด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7.4 การรวมข้อมูลบนบกและใต้น้ำต้องอ้างอิงพิกัดและระดับเดียวกัน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50170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Seamless Topo-Bathy Model รวมแบบจำลองบนบก (DEM) กับใต้น้ำ (DBM) เป็นชุดเดียว แสดงการเชื่อมต่อของตลิ่งและท้องน้ำ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ข้อมูลบนบกและน้ำตื้น: UAV Photogrammetry, LiDAR หรือ RTK GNSS · ข้อมูลใต้น้ำ: MBES, SBES หรือ Bathymetric LiDAR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ต้องแปลงให้อยู่บนระบบพิกัดราบและระดับอ้างอิงความสูง/ความลึกเดียวกัน แล้วรวมใน GIS เป็น Raster DEM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ใช้ Hydro-enforcement ปรับแบบจำลองให้การจำลองการไหลของน้ำถูกต้องตามหลักอุทกวิทยา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7.5 การประยุกต์ใช้กับงานแม่น้ำ อ่างเก็บน้ำ และชลประทาน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5791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600" b="1" lang="th-TH">
                <a:latin typeface="TH Sarabun New"/>
                <a:ea typeface="TH Sarabun New"/>
                <a:cs typeface="TH Sarabun New"/>
              </a:rPr>
              <a:t>ตารางที่ 7.2 การประยุกต์ใช้ข้อมูลสำรวจทางน้ำ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087880"/>
          <a:ext cx="11094415" cy="3752469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488061">
                <a:tc>
                  <a:txBody>
                    <a:bodyPr/>
                    <a:lstStyle/>
                    <a:p>
                      <a:r>
                        <a:rPr sz="21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งาน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การใช้ข้อมูล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1208151"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อ่างเก็บน้ำ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สร้าง DEM ท้องอ่างเพื่อปรับปรุงเส้นโค้งระดับ-พื้นที่-ความจุ (AEC Curve) ประเมินอัตราตกตะกอนและอายุการใช้งาน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48106"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คลองชลประทานและแม่น้ำ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สำรวจหน้าตัดเพื่อประเมินความกว้างและความลึก คำนวณปริมาตรตะกอนและปริมาตรขุดลอก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208151"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อุทกวิทยาและน้ำท่วม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วิเคราะห์ทิศทางการไหล ขอบเขตลุ่มน้ำย่อย เป็นข้อมูลนำเข้าแบบจำลองไฮโดรลิกส์ พยากรณ์น้ำท่วมขัง กำหนดเขตเสี่ยงภัย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การประมวลผลและจัดการข้อมูลสำรวจ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8.1 ขั้นแรกของการประมวลผลคือกรองสัญญาณรบกวนและจำแนกจุดพื้นดิน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69583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500" b="0" lang="th-TH">
                <a:latin typeface="TH Sarabun New"/>
                <a:ea typeface="TH Sarabun New"/>
                <a:cs typeface="TH Sarabun New"/>
              </a:rPr>
              <a:t>Point Cloud ดิบมีจุดคลาดเคลื่อน (Outliers) ทั้งสูงเกินจริง (เช่น นก อากาศยาน) และต่ำกว่าพื้นดิน ต้องกำจัดในขั้น Preprocessing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500" b="0" lang="th-TH">
                <a:latin typeface="TH Sarabun New"/>
                <a:ea typeface="TH Sarabun New"/>
                <a:cs typeface="TH Sarabun New"/>
              </a:rPr>
              <a:t>การจำแนกจุด (Ground Filtering / Point Cloud Classification) แยกจุดพื้นดินเปล่า (Ground) ออกจากอาคาร ต้นไม้ พืชพรรณ และยานพาหนะ (Non-Ground)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500" b="0" lang="th-TH">
                <a:latin typeface="TH Sarabun New"/>
                <a:ea typeface="TH Sarabun New"/>
                <a:cs typeface="TH Sarabun New"/>
              </a:rPr>
              <a:t>จัดเก็บในไฟล์มาตรฐานเปิด .las หรือ .laz ซึ่งบันทึกพิกัด X, Y, Z รหัสประเภทจุด (Class Code) ค่าความเข้ม และสี RGB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4591"/>
            <a:ext cx="11094415" cy="33147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300" b="1" lang="th-TH">
                <a:latin typeface="TH Sarabun New"/>
                <a:ea typeface="TH Sarabun New"/>
                <a:cs typeface="TH Sarabun New"/>
              </a:rPr>
              <a:t>ตารางที่ 8.1 อัลกอริทึมจำแนกจุดพื้นดิน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536061"/>
          <a:ext cx="11094415" cy="2646045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350901">
                <a:tc>
                  <a:txBody>
                    <a:bodyPr/>
                    <a:lstStyle/>
                    <a:p>
                      <a:r>
                        <a:rPr sz="13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อัลกอริทึม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หลักการ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573786"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Morphological Filter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ใช้เกณฑ์ความชันและความสูงตัดจุดที่ไม่ใช่พื้นดินออกผ่านโครงสร้างกริด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73786"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Progressive TIN Densification (PTD)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สร้างโครงข่ายสามเหลี่ยมจากจุดต่ำสุด แล้วเพิ่มจุดพื้นดินตามเกณฑ์มุมและความสูง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73786"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Cloth Simulation Filter (CSF)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พลิก Point Cloud กลับหัวแล้วทิ้งผ้าจำลองคลุม จุดที่ผ้าสัมผัสคือพื้นดิน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73786"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Surface / Interpolation-based Filters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ใช้สมการพื้นผิวหรือ Thin Plate Spline (TPS) ประมาณค่าเพื่อคัดเลือกจุดพื้นดิน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8.2 DEM, DTM และ DSM ต่างกันที่สิ่งที่แบบจำลองรวมไว้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426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800" b="1" lang="th-TH">
                <a:latin typeface="TH Sarabun New"/>
                <a:ea typeface="TH Sarabun New"/>
                <a:cs typeface="TH Sarabun New"/>
              </a:rPr>
              <a:t>ตารางที่ 8.2 ประเภทของแบบจำลองความสูง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935480"/>
          <a:ext cx="11094415" cy="2552319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419481">
                <a:tc>
                  <a:txBody>
                    <a:bodyPr/>
                    <a:lstStyle/>
                    <a:p>
                      <a:r>
                        <a:rPr sz="17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แบบจำลอง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ความหมาย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710946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DSM (Digital Surface Model)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รวมวัตถุและโครงสร้างทั้งหมดบนดิน (พื้นดิน อาคาร ต้นไม้)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0946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DTM (Digital Terrain Model)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เฉพาะพื้นดินเปล่า (Bare-Earth) หลังผ่าน Ground Filtering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0946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DEM (Digital Elevation Model)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คำเรียกกว้างของแบบจำลองความสูงเชิงตัวเลข อาจหมายถึง DTM หรือ DSM ตามบริบท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53559"/>
            <a:ext cx="11094415" cy="17211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การสร้าง: นำเฉพาะจุดที่จำแนกเป็น Ground (Class 2) มาประมาณค่าเชิงพื้นที่เป็น Regular Grid (Raster)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วิธีประมาณค่า: Points2Grid (Local Binning), Inverse Distance Weighting (IDW), Kriging, Spline, Triangulation (TIN to Raster)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8.3 โครงสร้าง Grid และ TIN เป็นฐานของเส้นชั้นความสูง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4648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000" b="1" lang="th-TH">
                <a:latin typeface="TH Sarabun New"/>
                <a:ea typeface="TH Sarabun New"/>
                <a:cs typeface="TH Sarabun New"/>
              </a:rPr>
              <a:t>ตารางที่ 8.3 เปรียบเทียบโครงสร้างแบบจำลองภูมิประเทศ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973580"/>
          <a:ext cx="11094415" cy="223570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36626"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โครงสร้าง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ลักษณะ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จุดเด่น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105384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Regular Grid / Raster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แบ่งพื้นที่เป็นเซลล์สี่เหลี่ยมขนาดเท่ากัน เก็บค่าความสูงต่อเซลล์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โครงสร้างเรียบง่าย ประมวลผลรวดเร็ว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4523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TIN (Triangulated Irregular Network)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เชื่อมจุดความสูงสุ่มเป็นสามเหลี่ยมไม่ซ้อนทับตามหลัก Delaunay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ปรับความหนาแน่นตามความขรุขระของพื้นที่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5048"/>
            <a:ext cx="11094415" cy="187858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เส้นชั้นความสูง (Contour) ลากเชื่อมจุดที่ระดับความสูงเท่ากันจากการประมาณค่าบน TIN หรือ Grid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แนวเส้นบังคับ (Breaklines) เช่น ขอบถนน คันดิน สันเขา ลำน้ำ ป้องกันไม่ให้สามเหลี่ยมหรือเส้นชั้นความสูงลากข้ามแนวโครงสร้างจริง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8.4 ความถูกต้องของข้อมูลประเมินด้วยจุดตรวจสอบอิสระ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89268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700" b="0" lang="th-TH">
                <a:latin typeface="TH Sarabun New"/>
                <a:ea typeface="TH Sarabun New"/>
                <a:cs typeface="TH Sarabun New"/>
              </a:rPr>
              <a:t>ความถูกต้องสัมพัทธ์ (Relative Accuracy) คือความแม่นยำภายในโมเดล ความถูกต้องสัมบูรณ์ (Absolute Accuracy) คือความแม่นยำเทียบระบบพิกัดอ้างอิงจริง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700" b="0" lang="th-TH">
                <a:latin typeface="TH Sarabun New"/>
                <a:ea typeface="TH Sarabun New"/>
                <a:cs typeface="TH Sarabun New"/>
              </a:rPr>
              <a:t>จุดตรวจสอบอิสระ (Independent Checkpoints: CPs) รังวัดด้วยเครื่องมือความถูกต้องสูง (GNSS RTK หรือ Total Station) และไม่นำไปปรับแก้โมเดล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700" b="0" lang="th-TH">
                <a:latin typeface="TH Sarabun New"/>
                <a:ea typeface="TH Sarabun New"/>
                <a:cs typeface="TH Sarabun New"/>
              </a:rPr>
              <a:t>เปรียบเทียบพิกัด CPs กับค่าจากโมเดลเพื่อประเมินความคลาดเคลื่อนจริง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01441"/>
            <a:ext cx="11094415" cy="36957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500" b="1" lang="th-TH">
                <a:latin typeface="TH Sarabun New"/>
                <a:ea typeface="TH Sarabun New"/>
                <a:cs typeface="TH Sarabun New"/>
              </a:rPr>
              <a:t>ตารางที่ 8.4 ตัวชี้วัดการประเมินความถูกต้อง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771011"/>
          <a:ext cx="11094415" cy="2440305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385191">
                <a:tc>
                  <a:txBody>
                    <a:bodyPr/>
                    <a:lstStyle/>
                    <a:p>
                      <a:r>
                        <a:rPr sz="15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ตัวชี้วัด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ความหมาย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385191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RMSE (Root Mean Square Error)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ตัวชี้วัดหลัก แยกทางราบ (RMSE_xy) และทางดิ่ง (RMSE_z)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5191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Mean Error และ S.D.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ค่าคลาดเคลื่อนเฉลี่ยและส่วนเบี่ยงเบนมาตรฐาน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2366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Type I / Type II Error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สัดส่วนความผิดพลาดในการจำแนก: จุดพื้นดินถูกจัดผิด / จุดไม่ใช่พื้นดินถูกจัดเป็นพื้นดิน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2366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การตรวจสอบเชิงสายตา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ตรวจหาจุดผิดปกติ (Surface Artifacts, Outliers) ในระบบ GIS ก่อนใช้งานจริง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GIS และการบูรณาการข้อมูลเชิงพื้นที่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9.1 ข้อมูลสำรวจเข้าสู่ GIS ในรูปพิกัด ระดับ และรหัสจุด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50170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ข้อมูลจากเครื่องรับ GPS/GNSS และการรังวัดระดับ บันทึกผ่านแอปพลิเคชันภาคสนาม (เช่น ArcGIS Field Maps)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ข้อมูลแต่ละจุดประกอบด้วยพิกัด (x, y) ค่าความสูง (z) และรหัสจุด (Point ID) นำเข้า GIS เป็นฟีเจอร์เวกเตอร์ (Feature Classes) หรือประมวลผลเป็นแบบจำลองพื้นผิวต่อเนื่อง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เรขาคณิตสำรวจ (COGO) คำนวณระยะทางและทิศทางระหว่างจุด ใช้กำหนดขอบเขตเชิงกฎหมายและคำอธิบายแนวเขตที่ถูกต้อง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การเชื่อมจุดสำรวจความแม่นยำสูง (Mass Points) กับฐานข้อมูล GIS ช่วยให้จัดเก็บ สืบค้น และคำนวณเรขาคณิตได้อย่างมีประสิทธิภาพ รองรับงานออกแบบโยธา การบริหารโครงสร้างพื้นฐาน คูคลองและลุ่มน้ำ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9.2 การวิเคราะห์ภูมิประเทศอาศัยแบบจำลองพื้นผิว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6637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500" b="0" lang="th-TH">
                <a:latin typeface="TH Sarabun New"/>
                <a:ea typeface="TH Sarabun New"/>
                <a:cs typeface="TH Sarabun New"/>
              </a:rPr>
              <a:t>แบบจำลองพื้นผิว: DEM/Surface Raster (เหมาะกับพื้นที่ขนาดใหญ่ ความถูกต้องขึ้นกับขนาดเซลล์) และ TIN (ประกอบด้วย Nodes, Edges, Faces ตามหลัก Delaunay ปรับความหนาแน่นตามความขรุขระ และแทรก Breaklines ได้)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72462"/>
            <a:ext cx="11094415" cy="33147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300" b="1" lang="th-TH">
                <a:latin typeface="TH Sarabun New"/>
                <a:ea typeface="TH Sarabun New"/>
                <a:cs typeface="TH Sarabun New"/>
              </a:rPr>
              <a:t>ตารางที่ 9.1 การวิเคราะห์ข้อมูลภูมิประเทศใน GIS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503932"/>
          <a:ext cx="11094415" cy="325297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350901">
                <a:tc>
                  <a:txBody>
                    <a:bodyPr/>
                    <a:lstStyle/>
                    <a:p>
                      <a:r>
                        <a:rPr sz="13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การวิเคราะห์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ผลลัพธ์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การใช้ประโยชน์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573786"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Slope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อัตราการเปลี่ยนแปลงความสูงต่อระยะทางราบ (องศาหรือเปอร์เซ็นต์)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ประเมินความเสี่ยง เลือกพื้นที่เหมาะสม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50901"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Aspect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ทิศที่ความลาดชันหันไป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ประเมินรังสีอาทิตย์ ลม ฝน และจุลภูมิอากาศ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50901"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Hillshade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ภาพจำลองเงาภูมิประเทศ 3 มิติ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สื่อสารลักษณะภูมิประเทศ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50901"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Viewshed / Line-of-Sight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พื้นที่ที่มองเห็นและถูกบดบังจากจุดสังเกต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วางตำแหน่งและประเมินทัศนวิสัย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50901"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Vertical Profiles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ภาพตัดตามแนวเส้นทาง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งานตัดถนนและระบบสาธารณูปโภค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73786"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Hydrological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ทิศทางการไหล การสะสมน้ำท่า ขอบเขตลุ่มน้ำ จุดออกของน้ำ (Pour-points)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คาดการณ์น้ำท่วม บริหารจัดการน้ำ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50901"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Volume Calculations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ปริมาตรดินขุด-ดินถม ความจุอ่างเก็บน้ำ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งานวิศวกรรม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9.3 การซ้อนทับชั้นข้อมูลสนับสนุนการตัดสินใจเชิงพื้นที่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74244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700" b="0" lang="th-TH">
                <a:latin typeface="TH Sarabun New"/>
                <a:ea typeface="TH Sarabun New"/>
                <a:cs typeface="TH Sarabun New"/>
              </a:rPr>
              <a:t>การซ้อนทับหลายชั้นข้อมูล (Multi-Layer Overlay) นำชั้นข้อมูลเฉพาะเรื่อง เช่น ดิน การใช้ประโยชน์ที่ดิน ธรณีวิทยา ความลาดชัน ที่อยู่ในระบบพิกัดเดียวกันมาประเมินความสัมพันธ์เชิงพื้นที่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51202"/>
            <a:ext cx="11094415" cy="36957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500" b="1" lang="th-TH">
                <a:latin typeface="TH Sarabun New"/>
                <a:ea typeface="TH Sarabun New"/>
                <a:cs typeface="TH Sarabun New"/>
              </a:rPr>
              <a:t>ตารางที่ 9.2 เปรียบเทียบเทคนิคการซ้อนทับ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620772"/>
          <a:ext cx="11094415" cy="2184273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385191">
                <a:tc>
                  <a:txBody>
                    <a:bodyPr/>
                    <a:lstStyle/>
                    <a:p>
                      <a:r>
                        <a:rPr sz="15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เทคนิค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วิธีประมวลผล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ข้อสังเกต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899541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Vector Overlay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คำสั่งเรขาคณิต: Union, Intersection, Difference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ซับซ้อนในการประมวลผล อาจเกิดโพลีกอนคลาดเคลื่อนขนาดเล็ก (Sliver Polygons) จากการดิจิไทซ์ไม่ตรงกัน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99541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Raster Overlay &amp; Map Algebra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ประมวลผลทีละเซลล์ ด้วยตัวดำเนินการทางคณิตศาสตร์ ตรรกศาสตร์ (AND, OR, NOT) และฟังก์ชันท้องถิ่น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ใช้กับโครงสร้างตารางแรสเตอร์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70805"/>
            <a:ext cx="11094415" cy="148488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700" b="0" lang="th-TH">
                <a:latin typeface="TH Sarabun New"/>
                <a:ea typeface="TH Sarabun New"/>
                <a:cs typeface="TH Sarabun New"/>
              </a:rPr>
              <a:t>GIS-MCDA: กระบวนการลำดับชั้นเชิงวิเคราะห์ (AHP) ของ Saaty เปรียบเทียบความสำคัญเป็นคู่ (Pairwise Comparison) บนสเกล 1–9 ร่วมกับความเห็นผู้เชี่ยวชาญ เพื่อกำหนดน้ำหนักของแต่ละปัจจัย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700" b="0" lang="th-TH">
                <a:latin typeface="TH Sarabun New"/>
                <a:ea typeface="TH Sarabun New"/>
                <a:cs typeface="TH Sarabun New"/>
              </a:rPr>
              <a:t>การซ้อนทับแบบถ่วงน้ำหนัก (Weighted Overlay / WLC) คูณคะแนนของคุณลักษณะกับน้ำหนักปัจจัยแล้วซ้อนทับ เช่น การประเมินพื้นที่ศักยภาพน้ำใต้ดิน (Groundwater Potential Zones)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9.4 ฐานข้อมูลเชิงพื้นที่รองรับการใช้ข้อมูลร่วมกันหลายผู้ใช้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4061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600" b="0" lang="th-TH">
                <a:latin typeface="TH Sarabun New"/>
                <a:ea typeface="TH Sarabun New"/>
                <a:cs typeface="TH Sarabun New"/>
              </a:rPr>
              <a:t>การทำแผนที่: สัญลักษณ์เฉพาะเรื่อง ลำดับการวาด ความโปร่งแสง เส้นชั้นความสูง · Locators และ Geocoding แปลงพิกัด ที่อยู่ รหัสไปรษณีย์ หรือตำแหน่งตามระยะทางบนเส้นทางให้เป็นฟีเจอร์เชิงพื้นที่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600" b="0" lang="th-TH">
                <a:latin typeface="TH Sarabun New"/>
                <a:ea typeface="TH Sarabun New"/>
                <a:cs typeface="TH Sarabun New"/>
              </a:rPr>
              <a:t>ระบบแฟ้มข้อมูลดั้งเดิม (Shapefiles) ไม่รองรับการแก้ไขพร้อมกันหลายผู้ใช้ ขาดการจัดการผ่าน SQL โดยตรง และมีข้อจำกัดด้านขนาดไฟล์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914904"/>
            <a:ext cx="11094415" cy="350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400" b="1" lang="th-TH">
                <a:latin typeface="TH Sarabun New"/>
                <a:ea typeface="TH Sarabun New"/>
                <a:cs typeface="TH Sarabun New"/>
              </a:rPr>
              <a:t>ตารางที่ 9.3 องค์ประกอบของ Spatial Database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265424"/>
          <a:ext cx="11094415" cy="219227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368046">
                <a:tc>
                  <a:txBody>
                    <a:bodyPr/>
                    <a:lstStyle/>
                    <a:p>
                      <a:r>
                        <a:rPr sz="14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องค์ประกอบ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หน้าที่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368046"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Spatial Data Types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เพิ่มประเภทข้อมูลรูปทรง เช่น Point, Line, Polygon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48106"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Spatial Indexing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ดรรชนีเชิงพื้นที่ (R-Tree, Quadtree) ใช้กล่องขอบเขตล้อมรอบ (MBR) สืบค้นพื้นที่ทับซ้อน แทน B-Tree เดิมที่จัดลำดับข้อมูล 2 มิติไม่ได้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08076"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Spatial Functions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ฟังก์ชันเรขาคณิตมาตรฐาน OGC/SFSQL ผ่าน SQL เช่น ST_Intersects, ST_Contains, ST_Buffer, ST_Union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23458"/>
            <a:ext cx="11094415" cy="703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600" b="0" lang="th-TH">
                <a:latin typeface="TH Sarabun New"/>
                <a:ea typeface="TH Sarabun New"/>
                <a:cs typeface="TH Sarabun New"/>
              </a:rPr>
              <a:t>Enterprise Geodatabase: ใช้ RDBMS (PostgreSQL/PostGIS, Oracle, SQL Server) ร่วมกับ ArcSDE รองรับการจัดการหลายเวอร์ชัน (Multi-user Versioning) ให้หลายคนจัดการโทโพโลยีและแก้ไขข้อมูลพร้อมกันโดยข้อมูลไม่ขัดแย้งกัน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การบูรณาการข้อมูลสำรวจในรูปแบบ 3D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10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10.1 แบบจำลองภูมิประเทศ 3 มิติเป็นฐานเรขาคณิตของงานวิศวกรรม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139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โครงสร้างข้อมูลหลักคือ Regular Grid/Raster (เรียบง่าย ประมวลผลเร็ว เหมาะกับพื้นที่ใหญ่) และ TIN (ปรับความหนาแน่นตามความขรุขระ รองรับ Breaklines)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DTM ใช้เป็นฐานคำนวณปริมาณงานดินตัด-ดินถม วิเคราะห์อุทกวิทยาและแบบจำลองน้ำท่วม และวิเคราะห์ความลาดชัน ทิศความลาดชัน ทัศนวิสัย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ใช้เป็นพื้นผิวปรับแก้ภาพถ่าย (True-Orthophoto) และวางตำแหน่งโมเดลโครงสร้าง 3 มิติบนสภาพแวดล้อมจริงในระบบ CADD, GIS และ Autodesk InfraWorks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10.2 Point Cloud เป็นข้อมูลอ้างอิงมิติสำหรับสร้างและตรวจสอบโมเดล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7211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ได้จาก Reality Capture หลายรูปแบบ: Terrestrial Laser Scanning (TLS), Airborne/UAV LiDAR, SLAM Mobile Mapping และ UAV Photogrammetry (Dense Image Matching/MVS)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บันทึกพิกัด X, Y, Z พร้อมค่าความเข้ม ลำดับการสะท้อน และสี RGB จัดเก็บในไฟล์มาตรฐาน เช่น .las, .laz, .e57, .pts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29863"/>
            <a:ext cx="11094415" cy="426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800" b="1" lang="th-TH">
                <a:latin typeface="TH Sarabun New"/>
                <a:ea typeface="TH Sarabun New"/>
                <a:cs typeface="TH Sarabun New"/>
              </a:rPr>
              <a:t>ตารางที่ 10.1 บทบาทของ Point Cloud ในงานบูรณาการ 3D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656584"/>
          <a:ext cx="11094415" cy="2552319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419481">
                <a:tc>
                  <a:txBody>
                    <a:bodyPr/>
                    <a:lstStyle/>
                    <a:p>
                      <a:r>
                        <a:rPr sz="17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บทบาท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ความหมาย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710946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Metric Reference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ฐานอ้างอิงมิติทางกายภาพที่แม่นยำสำหรับสร้าง ควบคุม และตรวจสอบแบบจำลอง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0946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Scan-to-BIM และ QA/QC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เทียบสภาพจริงหลังก่อสร้าง (As-built) กับแบบออกแบบ (As-designed) เพื่อหาค่าเบี่ยงเบนและตรวจคุณภาพ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0946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Deformation และ Structural Monitoring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ตรวจการเคลื่อนตัว การทรุดตัว การเอียง รอยแตกร้าว ระยะปลอดภัยโครงสร้างรถไฟ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10.3 Digital Twin ต้องมีการแลกเปลี่ยนข้อมูลสองทางกับของจริง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4648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000" b="1" lang="th-TH">
                <a:latin typeface="TH Sarabun New"/>
                <a:ea typeface="TH Sarabun New"/>
                <a:cs typeface="TH Sarabun New"/>
              </a:rPr>
              <a:t>ตารางที่ 10.2 ระดับความก้าวหน้าของแบบจำลองดิจิทัล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973580"/>
          <a:ext cx="11094415" cy="205511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436626"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ระดับ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ลักษณะ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43662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Digital Model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มีเฉพาะโมเดลเรขาคณิต 3 มิติ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662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Digital Shadow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ข้อมูลไหลทางเดียวจากกายภาพไปดิจิทัล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45236"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Digital Twin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ข้อมูลไหลและตอบกลับสองทางแบบอัตโนมัติ (Bi-Directional) ปรับสถานะแบบเรียลไทม์หรือใกล้เคียง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94454"/>
            <a:ext cx="11094415" cy="18054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ขั้นตอนบูรณาการข้อมูลสำรวจ 3D กับเครือข่ายเซนเซอร์ IoT: (1) Input Stage: Point Cloud และโมเดล Scan-to-BIM เป็นฐานเรขาคณิต (2) Sensing &amp; Integration Stage: เชื่อมเซนเซอร์ตรวจวัดสดผ่านสัญญาณไร้สาย (3) Analytics &amp; Visualization Stage: วิเคราะห์ด้วย FEM/FEA หรือ Deep Learning แล้วแสดงผลบนแดชบอร์ด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10.4 Scan-to-BIM และ Open BIM เชื่อมข้อมูลสำรวจกับงานออกแบบ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29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Scan-to-BIM แปลง Point Cloud เป็นโมเดล BIM ที่มีข้อมูลเชิงความหมาย (Semantic Information) และระดับความละเอียด (LOD) ขั้นตอน: กำหนดความต้องการข้อมูล → กำหนดคุณภาพ Point Cloud → ลงทะเบียน Point Cloud (Registration) → คัดแยกระนาบและสร้างโมเดล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ใช้ทำแบบจำลองสภาวะจริงของอาคารเดิมที่ไม่มีแบบดิจิทัล งานอนุรักษ์โบราณสถาน และการจำลองความปลอดภัยไซต์งาน (4D)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มาตรฐาน Open BIM (IFC 4.3, ISO 19650 โดย buildingSMART) ครอบคลุมโครงสร้างพื้นฐานแนวยาว เช่น ถนน ทางรถไฟ สะพาน ทางน้ำ ทำให้แลกเปลี่ยนข้อมูลข้ามซอฟต์แวร์ได้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BIM เด่นด้านรายละเอียดภายในและองค์ประกอบ GIS เด่นด้านบริบทพื้นที่และภูมิประเทศ การเชื่อม IFC กับ CityGML ต้องจับคู่ความหมาย (Semantic Mapping) จึงสร้าง City Information Model (CIM) หรือ 3D City Twin ได้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ตัวอย่างการประยุกต์ใช้เทคโนโลยีการสำรวจ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11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11.1 งานถนนและโครงสร้างพื้นฐาน: Mobile LiDAR ร่วมกับการเรียนรู้เชิงลึกสกัดข้อมูลอัตโนมัติ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296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Mobile LiDAR ร่วมกับ Deep Learning (เช่น PointNet++) สกัดองค์ประกอบถนน 3 มิติ และจำแนกวัตถุ (Semantic Segmentation) เช่น พื้นถนน เสาไฟฟ้า ยานพาหนะ ต้นไม้ อาคาร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วัดพารามิเตอร์ทางวิศวกรรมระดับซับเซนติเมตร เช่น ความกว้างช่องจราจร ความยาวเส้นทาง ทางข้ามหมากลาย ความสูงเสาไฟฟ้า และลดเวลาประมวลผลด้วยมือลงมาก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บริหารสินทรัพย์ทางหลวงด้วย Digital Twin: กรณี Georgia DOT เปลี่ยนข้อมูลซ่อนเร้น (Dark Data) เป็นฐานข้อมูลเชิงพื้นที่เพื่อวางแผนและตั้งงบประมาณ · กรณีเมือง Perry รัฐ Iowa สแกนทั้งเมืองเพื่อสร้าง 3D Reality Mesh บริหารโครงสร้างพื้นฐานสีเทา (ถนน ทางเท้า) และสีเขียว (ต้นไม้ พื้นที่ธรรมชาติ)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UAV ขนาดเล็กติดตามกิจกรรม ความปลอดภัย การจราจร และป้ายสัญญาณในโครงการก่อสร้างทางหลวง · UAV ประสิทธิภาพสูงสำรวจระดับภูมิประเทศและคำนวณปริมาณดินถมเบื้องต้น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11.2 งานแม่น้ำและริมตลิ่ง: ข้อมูลท้องน้ำและตลิ่งต่อเป็นแบบจำลองเดียว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36957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500" b="1" lang="th-TH">
                <a:latin typeface="TH Sarabun New"/>
                <a:ea typeface="TH Sarabun New"/>
                <a:cs typeface="TH Sarabun New"/>
              </a:rPr>
              <a:t>ตารางที่ 11.1 เทคโนโลยีที่ใช้ในงานแม่น้ำและพื้นที่ริมตลิ่ง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8330"/>
          <a:ext cx="11094415" cy="385419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385191">
                <a:tc>
                  <a:txBody>
                    <a:bodyPr/>
                    <a:lstStyle/>
                    <a:p>
                      <a:r>
                        <a:rPr sz="15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งาน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เทคโนโลยี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ผลลัพธ์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642366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หยั่งความลึกในลำน้ำและคลองชลประทาน (เช่น คลองบ้านนาลาว)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SBES ร่วมกับ RTK GNSS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แผนที่เส้นชั้นความลึกและแบบจำลองความลึก (DBM)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99541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สแกนพื้นผิวใต้น้ำแบบครอบคลุม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MBES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แบบจำลอง 3 มิติความละเอียดสูงสำหรับทางน้ำ โครงสร้างใต้น้ำ และการศึกษาสัณฐานธารน้ำ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2366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รูปตัดตามขวางและตามยาว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สกัดจาก DEM/DBM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ข้อมูลออกแบบลำน้ำ วิเคราะห์อุทกวิทยา คำนวณความจุลำน้ำ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2366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ติดตามการพังทลายของตลิ่ง (เช่น บริเวณเขื่อนแควน้อยบำรุงแดน)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UAV ร่วมกับงานสำรวจภาพถ่าย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ติดตามสภาพลาดไหล่ทางและตลิ่ง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42366"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สำรวจหน้าตัดแม่น้ำ (เช่น แม่น้ำลำภาชี)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รังวัดหน้าตัด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ข้อมูลสำหรับแบบจำลองการไหล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98286"/>
            <a:ext cx="11094415" cy="407797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700" b="0" lang="th-TH">
                <a:latin typeface="TH Sarabun New"/>
                <a:ea typeface="TH Sarabun New"/>
                <a:cs typeface="TH Sarabun New"/>
              </a:rPr>
              <a:t>ข้อมูลอุทกวิทยาใช้ประเมินการตกตะกอนและการกัดเซาะของลำน้ำร่วมกับคู่มือปฏิบัติงานด้านตะกอน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11.3 งานพื้นที่ก่อสร้าง: UAV ใช้คำนวณปริมาตรดินและติดตามความก้าวหน้า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668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UAV ร่วมกับ RTK/PPK GNSS สร้าง DSM/DTM และคำนวณปริมาตรดินแบบ Surface-to-Surface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75611"/>
            <a:ext cx="11094415" cy="426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800" b="1" lang="th-TH">
                <a:latin typeface="TH Sarabun New"/>
                <a:ea typeface="TH Sarabun New"/>
                <a:cs typeface="TH Sarabun New"/>
              </a:rPr>
              <a:t>ตารางที่ 11.2 กรณีศึกษาเปรียบเทียบความถูกต้องของการสำรวจพื้นที่ก่อสร้าง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402332"/>
          <a:ext cx="11094415" cy="1969389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19481">
                <a:tc>
                  <a:txBody>
                    <a:bodyPr/>
                    <a:lstStyle/>
                    <a:p>
                      <a:r>
                        <a:rPr sz="17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กรณีศึกษา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วิธีสำรวจ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สิ่งที่เปรียบเทียบ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419481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คันทางถนน จ.ลำปาง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UAV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กับกล้องสถานีรวม (Total Station)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10946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ปริมาณดินถมก่อนก่อสร้างอาคารด่านพรมแดนสระแก้ว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UAV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กับรายการวัสดุและค่าใช้จ่าย (BOQ)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9481"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พื้นที่เขาใหญ่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LiDAR บน UAV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ความคลาดเคลื่อนทางดิ่ง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37481"/>
            <a:ext cx="11094415" cy="17211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ติดตามความก้าวหน้า: ภาพถ่ายออร์โธ (Orthomosaic) และโมเดล 3 มิติเทียบกับแผนงาน (Construction Schedule)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000" b="0" lang="th-TH">
                <a:latin typeface="TH Sarabun New"/>
                <a:ea typeface="TH Sarabun New"/>
                <a:cs typeface="TH Sarabun New"/>
              </a:rPr>
              <a:t>สำรวจระดับดินเดิมในขั้นตอนถางป่าขุดตอ (Clearing and Grubbing) เพื่อใช้ตรวจรับงานดินถม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11.4 งานพื้นที่เสี่ยงต่อการกัดเซาะ: อนุกรมเวลาแสดงอัตราการเปลี่ยนแปลงชายฝั่ง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13614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800" b="0" lang="th-TH">
                <a:latin typeface="TH Sarabun New"/>
                <a:ea typeface="TH Sarabun New"/>
                <a:cs typeface="TH Sarabun New"/>
              </a:rPr>
              <a:t>ภาพถ่ายดาวเทียมอนุกรมเวลา (Landsat, IKONOS, QuickBird, Worldview-2, Pleiades) ร่วมกับ Google Earth Engine (GEE) ดัชนี AWEI เทคนิค Otsu Thresholding และเครื่องมือ DSAS / CoastSat กำหนดแนวชายฝั่งและคำนวณอัตราการเปลี่ยนแปลง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44902"/>
            <a:ext cx="11094415" cy="3886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600" b="1" lang="th-TH">
                <a:latin typeface="TH Sarabun New"/>
                <a:ea typeface="TH Sarabun New"/>
                <a:cs typeface="TH Sarabun New"/>
              </a:rPr>
              <a:t>ตารางที่ 11.3 กรณีศึกษาการกัดเซาะชายฝั่งในประเทศไทย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033522"/>
          <a:ext cx="11094415" cy="325526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02336">
                <a:tc>
                  <a:txBody>
                    <a:bodyPr/>
                    <a:lstStyle/>
                    <a:p>
                      <a:r>
                        <a:rPr sz="16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พื้นที่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วิธี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ข้อค้นพบ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จ.นครศรีธรรมราช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ภาพถ่ายดาวเทียมอนุกรมเวลา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กัดเซาะรุนแรงบริเวณอ่าวปากพนังและบ้านเกาะทัง ขณะที่บริเวณแหลมตะลุมพุกมีตะกอนทับถมงอกออกไป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เกาะคอเขาและบ้านน้ำเค็ม จ.พังงา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คำนวณอัตราการกัดเซาะจำแนกระดับ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กำแพงกันคลื่น (Seawall) หลังสึนามิเป็นปัจจัยเร่งการกัดเซาะในพื้นที่ข้างเคียง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หาดนาใต้–หาดเขาปิหลาย จ.พังงา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UAV DSM เทียบสัณฐานชายหาดช่วงมรสุมและหลังมรสุม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ความแม่นยำสูงเมื่อเทียบกับ RTK ภาคสนาม แสดงการเปลี่ยนแปลงความลาดชันและเนินทรายชัดเจน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11.5 งานวางแผนและออกแบบ: รวมข้อมูลสำรวจหลายชั้นเพื่อประเมินและจำลอง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8322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การวิเคราะห์การตัดสินใจแบบหลายหลักเกณฑ์ (GIS-MCDA / AHP) ซ้อนทับชั้นข้อมูล เช่น ฝน ธรณีวิทยา รอยแตก ดิน ความลาดชัน การใช้ประโยชน์ที่ดิน พร้อมน้ำหนักความสำคัญ ตัวอย่างคือแผนที่พื้นที่ศักยภาพน้ำใต้ดินและการประเมินพื้นที่เปราะบางต่อภัยธรรมชาติ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แบบจำลอง Digital Twin รวม GIS 3 มิติ BIM และ LiDAR เป็น Living 3D Model ช่วยประเมินผลกระทบสิ่งแวดล้อมและจำลองสถานการณ์ เช่น น้ำท่วม การไหลเวียนความร้อน จราจร · ตัวอย่าง Virtual Singapore ซึ่งรวม Aerial LiDAR การสแกนจากถนน และเซนเซอร์ IoT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ส่งออกเส้นชั้นความสูงและข้อมูล Profile/Cross-section จาก UAV Photogrammetry หรือ LiDAR เข้าซอฟต์แวร์ออกแบบ (CAD / Civil 3D) สำหรับถนน ระบบระบายน้ำ และการจัดรูปที่ดิน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แนวโน้มเทคโนโลยีการสำรวจในอนาคต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12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12.1 ปัญญาประดิษฐ์ประมวลผล Point Cloud โดยตรงและจำแนกวัตถุอัตโนมัติ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617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โครงข่ายประสาทเทียมขั้นสูง (PointNet++, 3D CNNs, VoxelNet, Transformers) ประมวลผล Point Cloud 3 มิติโดยตรง แทนการแปลความหมายด้วยมนุษย์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จำแนกวัตถุและคุณลักษณะ (Semantic Segmentation) เช่น พื้นถนน เสาไฟฟ้า ยานพาหนะ ต้นไม้ อาคาร สายไฟ ท่อใต้ดิน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ตรวจจับความผิดปกติและความเสียหายอัตโนมัติ เช่น รอยแตกบนผิวจราจร ความเสียหายของแผงกั้นทาง ความชำรุดในท่อระบายน้ำ การรั่วซึมในอุโมงค์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วิเคราะห์อนุกรมเวลาเพื่อพยากรณ์การเสื่อมสภาพของสินทรัพย์และภัยธรรมชาติ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มนุษย์ยังจำเป็นต่อการควบคุมคุณภาพ (QA/QC) การตรวจสอบความถูกต้องทางกฎหมาย และการตัดสินใจในสภาพสนามที่ซับซ้อน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12.2 การสกัดคุณลักษณะอัตโนมัติเปลี่ยนข้อมูลดิบเป็นฐานข้อมูลสินทรัพย์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139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แพลตฟอร์มสำรวจชั้นนำใช้ AI และ Photogrammetry ตรวจจับตำแหน่งวัตถุเดี่ยว เช่น เครื่องหมายบนถนน ขอบอาคาร เสาไฟฟ้า ทรงพุ่มต้นไม้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Mobile LiDAR ร่วมกับ AI วัดองค์ประกอบทางวิศวกรรมได้อัตโนมัติด้วยความคลาดเคลื่อนระดับซับเซนติเมตร ลดเวลาทำงานด้วยมือและค่าแรงอย่างมาก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Generative AI และ Feature Recognition อ่านแบบ CAD เดิม เลเยอร์ GIS และบันทึกประวัติศาสตร์ เพื่อกู้คืน "Dark Data" เป็นฐานข้อมูลเชิงพื้นที่ที่ใช้งานได้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12.3 การประมวลผลบนคลาวด์รองรับข้อมูลขนาดใหญ่และการทำงานร่วมกัน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59968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ข้อมูลสำรวจมีขนาดระดับ Terabytes ระบบคลาวด์เข้ามาแทนเครื่องประมวลผลท้องถิ่นในการจัดเก็บ ประมวลผล และสำรองข้อมูล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ทีมวิศวกร ผู้ดูแลโครงการ และช่างสำรวจภาคสนามเข้าถึง มาร์กอัป วัดขนาด และแชร์โมเดล 3 มิติแบบเรียลไทม์ผ่านเว็บเบราว์เซอร์หรืออุปกรณ์เคลื่อนที่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Cloud API (เช่น Anvil Labs, DroneDeploy) แปลงข้อมูลดิบเป็นโมเดล 3 มิติ Orthomosaic และตรวจจับความผิดปกติ โดยไม่ต้องลงซอฟต์แวร์หนักในเครื่อง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ลดการลงทุนฮาร์ดแวร์และค่าบำรุงรักษา และขยายขนาดการประมวลผลได้ตามจริง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12.4 การสำรวจแบบเรียลไทม์ใช้ SLAM ร่วมกับ RTK GNSS เพื่อลดการคลาดสะสม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445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เครื่องสแกน LiDAR แบบถือ (Handheld) ใช้อัลกอริทึม SLAM (Simultaneous Localization and Mapping) สร้าง Point Cloud 3 มิติทันทีขณะเดินสำรวจ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SLAM บริสุทธิ์เกิดความคลาดเคลื่อนสะสมตามระยะทาง (SLAM Drift) การนำ RTK GNSS มาปรับใน Factor Graph Optimization ช่วยขจัด Drift ได้แบบเรียลไทม์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ผสานเซนเซอร์หลายรูปแบบ (Multi-Sensor Fusion): IMU กล้อง RGB เครื่องรับ RTK GNSS และ LiDAR ทำให้สำรวจต่อเนื่องแม้เดินเข้า-ออกพื้นที่อับสัญญาณ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สตรีมข้อมูลจากกล้องติดรถยนต์ เซนเซอร์ IoT และโดรนเข้าระบบ GIS/Digital Twin เพื่อติดตามการเปลี่ยนแปลงแบบเรียลไทม์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12.5 Digital Twin เชื่อมข้อมูลสำรวจกับการบำรุงรักษาโครงสร้างพื้นฐานอัจฉริยะ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8708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Digital Twin คือแบบจำลองเสมือน 3 มิติของโครงสร้างพื้นฐาน เชื่อมข้อมูลสองทิศทาง และอัปเดตสถานะผ่านเซนเซอร์ IoT, GIS, BIM และ LiDAR ตลอดวงจรชีวิตสินทรัพย์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การบำรุงรักษาเชิงคาดการณ์ (Predictive Maintenance) ตรวจความเค้นหรือการชำรุดของสะพาน ถนน ท่อส่งน้ำ ก่อนเกิดความเสียหายร้ายแรง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ระดับเมืองและประเทศ: Virtual Singapore และ Perry รัฐ Iowa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ผลต่อความยั่งยืน: ลดการลงสำรวจซ้ำซ้อน ลดก๊าซเรือนกระจก ประหยัดงบบำรุงรักษา และเพิ่มความปลอดภัยของเจ้าหน้าที่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12.6 ระบบสำรวจอัตโนมัติและอัจฉริยะเปลี่ยนบทบาทของผู้สำรวจ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2574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กระบวนการอัตโนมัติครบวงจร: บินโดรนเก็บข้อมูลอัตโนมัติ → ประมวลผลบนคลาวด์ → AI แยกวัตถุเป็นข้อมูลวิศวกรรมพร้อมใช้ โดยมนุษย์แทรกแซงน้อยที่สุด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ช่างสำรวจเปลี่ยนบทบาทจากผู้ถืออุปกรณ์รังวัดในสนาม เป็นผู้จัดการข้อมูลเชิงพื้นที่ (Spatial Data Manager) ผู้ตรวจสอบอัลกอริทึม AI (AI Auditor) และผู้วางกลยุทธ์ด้าน Digital Twin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การหลอมรวม LiDAR, RTK GNSS, AI และ Cloud Processing ทำให้งานสำรวจบรรลุพร้อมกันทั้งความถูกต้องสูง ความรวดเร็ว ความคุ้มค่าด้านต้นทุน และความปลอดภัยของเจ้าหน้าที่ (The Surveying Sweet Spot)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