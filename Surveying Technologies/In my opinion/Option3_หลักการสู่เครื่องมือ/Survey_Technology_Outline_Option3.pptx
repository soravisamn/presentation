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26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บทนำสั้น ๆ (~5 นาที) เพื่อให้เห็นว่างานสำรวจโดยรวมต้องการอะไร แล้วจัดกลุ่มเป็น 4 บท. ไม่คัดเนื้อหารายละเอียดจาก Option 1 มาซ้ำ.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surveys = เครือข่ายหมุดแนวราบ/แนวดิ่งเป็นกรอบอ้างอิง (หน้า 11, S044); geodetic methods หาตำแหน่งสัมพัทธ์ของหมุดที่อยู่ห่างกัน (หน้า 9-10, S043); ground survey จำเป็นสำหรับ control แม้ใช้ photogrammetry (หน้า 468, S045). หลักการ GNSS/traverse/leveling ดูหนังสือบท 13, 8, 4 (ยังไม่ลงรหัสแหล่ง)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topographic / construction / as-built: หน้า 11-12 (S044); laser scanning = dense grids of coordinated points (หน้า 7, S042); §17.2: ground survey ใช้กับแผนที่มาตราส่วนใหญ่พื้นที่เล็ก, photogrammetry ใช้กับพื้นที่กว้าง (S045). การแบ่งขนาดพื้นที่ 3 ระดับเป็นข้อเสนอของผู้นำเสนอ. ตำแหน่งจุดเดี่ยวด้วย GNSS ดูบท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§17.13 หน้า 493 (S046): hydrographic surveys determine depths and terrain configurations of bottoms of water bodies; 2 งาน = soundings + locating positions; ใช้กับ dredging, reservoir capacity, navigation. IHO (S048): primary purpose = navigation and other marine purposes. หลักการ echo sounding/ADCP/green LiDAR ยังไม่มีแหล่ง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ข้อมูลตำแหน่งสาธารณูปโภคใต้ดินจำเป็นสำหรับการขุด (S049, บทคัดย่อ); 'unlocated or mislocated utilities are among the leading causes of costly rework...' (S050, เว็บผู้ให้บริการ). หนังสือหน้า 12: mine surveys รวม geophysical surveys. การรวม ERT/seismic เป็นการทดลอง ต้องตัดสินใจอีกครั้ง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ข้อ 1 'monitoring any change therein' และข้อ 2 'positioning and monitoring of physical features, structures and engineering works' (S041). หนังสือ §1.13 หน้า 19-20 (S047): precise deformation surveys สำหรับเขื่อน สะพาน อาคารสูง, แผนที่ผลภัยพิบัติ, global change (future challenges ราว 2011). ยังไม่มีแหล่งเรื่องตลิ่ง/การกัดเซาะ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§1.8 (S030): LIS/GIS เก็บ ผสาน จัดการ วิเคราะห์ แสดงข้อมูลเชิงพื้นที่; ทุกข้อมูลอยู่ในกรอบอ้างอิงร่วม. *** แปลงสมมติ 33 บาท/USD ยังไม่ตรวจอัตรา; ราคา ArcGIS Pro เป็นสัญญากลางรัฐอินเดียนา ก.พ. 2024 (S035) ไม่ใช่ราคาไทย. S039 เปิดอ่านเฉพาะบทคัดย่อ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slide" Target="slide3.xml"/><Relationship Id="rId7" Type="http://schemas.openxmlformats.org/officeDocument/2006/relationships/slide" Target="slide21.xml"/><Relationship Id="rId12" Type="http://schemas.openxmlformats.org/officeDocument/2006/relationships/slide" Target="slide4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11" Type="http://schemas.openxmlformats.org/officeDocument/2006/relationships/slide" Target="slide45.xml"/><Relationship Id="rId5" Type="http://schemas.openxmlformats.org/officeDocument/2006/relationships/slide" Target="slide11.xml"/><Relationship Id="rId10" Type="http://schemas.openxmlformats.org/officeDocument/2006/relationships/slide" Target="slide39.xml"/><Relationship Id="rId4" Type="http://schemas.openxmlformats.org/officeDocument/2006/relationships/slide" Target="slide4.xml"/><Relationship Id="rId9" Type="http://schemas.openxmlformats.org/officeDocument/2006/relationships/slide" Target="slide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เทคโนโลยีสำหรับงานสำรวจวิศวกรรม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 Engineering Technologies  |  ทางเลือก 3: วัตถุประสงค์ → หลักการ → เทคโนโลยี → เครื่องมือ (ร่าง)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2200" dirty="0"/>
          </a:p>
        </p:txBody>
      </p:sp>
      <p:sp>
        <p:nvSpPr>
          <p:cNvPr id="3" name="Text 1">
            <a:hlinkClick r:id="rId3" action="ppaction://hlinksldjump" tooltip="ไปหน้า 3"/>
          </p:cNvPr>
          <p:cNvSpPr txBox="1"/>
          <p:nvPr/>
        </p:nvSpPr>
        <p:spPr>
          <a:xfrm>
            <a:off x="457200" y="91440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action="ppaction://hlinksldjump" tooltip="ไปหน้า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ภาพรวมของงานสำรวจ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9144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3">
            <a:hlinkClick r:id="rId4" action="ppaction://hlinksldjump" tooltip="ไปหน้า 4"/>
          </p:cNvPr>
          <p:cNvSpPr txBox="1"/>
          <p:nvPr/>
        </p:nvSpPr>
        <p:spPr>
          <a:xfrm>
            <a:off x="457200" y="121615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action="ppaction://hlinksldjump" tooltip="ไปหน้า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1  การกำหนดตำแหน่งอ้างอิง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2161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>
            <a:hlinkClick r:id="rId5" action="ppaction://hlinksldjump" tooltip="ไปหน้า 11"/>
          </p:cNvPr>
          <p:cNvSpPr txBox="1"/>
          <p:nvPr/>
        </p:nvSpPr>
        <p:spPr>
          <a:xfrm>
            <a:off x="457200" y="151790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action="ppaction://hlinksldjump" tooltip="ไปหน้า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2  การเก็บข้อมูลกายภาพของพื้นที่: ผิวดิน ใต้น้ำ และใต้ผิวดิน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5179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300" dirty="0"/>
          </a:p>
        </p:txBody>
      </p:sp>
      <p:sp>
        <p:nvSpPr>
          <p:cNvPr id="9" name="Text 7">
            <a:hlinkClick r:id="rId6" action="ppaction://hlinksldjump" tooltip="ไปหน้า 12"/>
          </p:cNvPr>
          <p:cNvSpPr txBox="1"/>
          <p:nvPr/>
        </p:nvSpPr>
        <p:spPr>
          <a:xfrm>
            <a:off x="822960" y="1819656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6" action="ppaction://hlinksldjump" tooltip="ไปหน้า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  ผิวดินและวัตถุบนบก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196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Text 9">
            <a:hlinkClick r:id="rId7" action="ppaction://hlinksldjump" tooltip="ไปหน้า 21"/>
          </p:cNvPr>
          <p:cNvSpPr txBox="1"/>
          <p:nvPr/>
        </p:nvSpPr>
        <p:spPr>
          <a:xfrm>
            <a:off x="822960" y="212140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7" action="ppaction://hlinksldjump" tooltip="ไปหน้า 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2.2  ใต้น้ำ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12140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200" dirty="0"/>
          </a:p>
        </p:txBody>
      </p:sp>
      <p:sp>
        <p:nvSpPr>
          <p:cNvPr id="13" name="Text 11">
            <a:hlinkClick r:id="rId8" action="ppaction://hlinksldjump" tooltip="ไปหน้า 27"/>
          </p:cNvPr>
          <p:cNvSpPr txBox="1"/>
          <p:nvPr/>
        </p:nvSpPr>
        <p:spPr>
          <a:xfrm>
            <a:off x="822960" y="242316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8" action="ppaction://hlinksldjump" tooltip="ไปหน้า 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  ใต้ผิวดิน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4231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200" dirty="0"/>
          </a:p>
        </p:txBody>
      </p:sp>
      <p:sp>
        <p:nvSpPr>
          <p:cNvPr id="15" name="Text 13">
            <a:hlinkClick r:id="rId9" action="ppaction://hlinksldjump" tooltip="ไปหน้า 32"/>
          </p:cNvPr>
          <p:cNvSpPr txBox="1"/>
          <p:nvPr/>
        </p:nvSpPr>
        <p:spPr>
          <a:xfrm>
            <a:off x="457200" y="272491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9" action="ppaction://hlinksldjump" tooltip="ไปหน้า 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3  การติดตามการเปลี่ยนแปลง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7249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1300" dirty="0"/>
          </a:p>
        </p:txBody>
      </p:sp>
      <p:sp>
        <p:nvSpPr>
          <p:cNvPr id="17" name="Text 15">
            <a:hlinkClick r:id="rId10" action="ppaction://hlinksldjump" tooltip="ไปหน้า 39"/>
          </p:cNvPr>
          <p:cNvSpPr txBox="1"/>
          <p:nvPr/>
        </p:nvSpPr>
        <p:spPr>
          <a:xfrm>
            <a:off x="457200" y="302666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0" action="ppaction://hlinksldjump" tooltip="ไปหน้า 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4  การจัดการและวิเคราะห์ข้อมูลเชิงพื้นที่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0266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1300" dirty="0"/>
          </a:p>
        </p:txBody>
      </p:sp>
      <p:sp>
        <p:nvSpPr>
          <p:cNvPr id="19" name="Text 17">
            <a:hlinkClick r:id="rId11" action="ppaction://hlinksldjump" tooltip="ไปหน้า 45"/>
          </p:cNvPr>
          <p:cNvSpPr txBox="1"/>
          <p:nvPr/>
        </p:nvSpPr>
        <p:spPr>
          <a:xfrm>
            <a:off x="457200" y="332841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1" action="ppaction://hlinksldjump" tooltip="ไปหน้า 4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สรุป: ภาพรวมและ trend ร่วม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32841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</a:t>
            </a:r>
            <a:endParaRPr lang="en-US" sz="1300" dirty="0"/>
          </a:p>
        </p:txBody>
      </p:sp>
      <p:sp>
        <p:nvSpPr>
          <p:cNvPr id="21" name="Text 19">
            <a:hlinkClick r:id="rId12" action="ppaction://hlinksldjump" tooltip="ไปหน้า 46"/>
          </p:cNvPr>
          <p:cNvSpPr txBox="1"/>
          <p:nvPr/>
        </p:nvSpPr>
        <p:spPr>
          <a:xfrm>
            <a:off x="457200" y="363016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2" action="ppaction://hlinksldjump" tooltip="ไปหน้า 4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แหล่งอ้างอิง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63016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ภาพรวมของงานสำรวจ: หน้าที่ 6 ประการและการจัดกลุ่มเป็นบท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งานสำรวจเป็นกระบวนการวัดและเก็บข้อมูลเชิงพื้นที่เพื่อกำหนดตำแหน่ง รูปร่าง และการเปลี่ยนแปลงของลักษณะทางกายภาพบน เหนือ และใต้ผิวโลก แล้วจัดการข้อมูลดังกล่าวเพื่อส่งมอบแก่ผู้ใช้ เมื่อจำแนกตามวัตถุประสงค์ของการวัด สามารถแบ่งได้เป็น 6 </a:t>
            </a:r>
            <a:r>
              <a:rPr lang="en-US" sz="1300" dirty="0" err="1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หน้าที่ดังนี้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การกำหนดตำแหน่งอ้างอิง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สร้างกรอบพิกัดแนวราบและแนวดิ่งของหมุดควบคุม (บทที่ 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การวัดรายละเอียดและการถ่ายแนว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หาตำแหน่งรายละเอียดหน้างานและถ่ายแนว/ระดับงานก่อสร้าง (บทที่ 2 (2.1))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การเก็บข้อมูลพื้นผิวและวัตถุในพื้นที่กว้าง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เก็บข้อมูลสามมิติของพื้นผิวและวัตถุในพื้นที่ขนาดใหญ่ (บทที่ 2 (2.1))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การสำรวจใต้น้ำและใต้ผิวดิน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วัดความลึกท้องน้ำและระบุวัตถุ/โครงสร้างใต้ผิวดิน (บทที่ 2 (2.2, 2.3))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ตรวจจับการเปลี่ยนแปลงโดยการวัดซ้ำต่างเวลา (บทที่ 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การจัดการและวิเคราะห์ข้อมูลเชิงพื้นที่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จัดเก็บ วิเคราะห์ และแสดงผลข้อมูลเชิงพื้นที่ (บทที่ 4)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การแบ่งเป็น 6 หน้าที่เป็นการสังเคราะห์ของผู้นำเสนอ จากรายการหน้าที่ของ surveyor ตาม FIG (Elementary Surveying §1.2 หน้า 2 [S041]), ประเภทงานสำรวจ §1.6 หน้า 11-12 [S044] และการแบ่ง commission ของ FIG/ISPRS [S051]; รายละเอียดดูโฟลเดอร์ Option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การกำหนดตำแหน่งอ้างอิง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Geodetic Reference Positioning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 หลักการ และเทคโนโลยี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ตัวอย่างผลิตภัณฑ์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การกำหนดตำแหน่งอ้างอิง: วัตถุประสงค์และหลักการ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วัตถุประสงค์: 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กำหนดตำแหน่งแนวราบและแนวดิ่งของหมุดควบคุม (control monuments) ในระบบพิกัดอ้างอิงเดียวกัน เพื่อเป็นกรอบอ้างอิงของงานสำรวจทุกประเภท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1.1  หลักการที่ใช้: การกำหนดตำแหน่งอ้างอิง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อธิบายหลักการ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การวัดระยะจากสัญญาณดาวเทียม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คำนวณตำแหน่งจากระยะที่วัดไปยังดาวเทียมหลายดวง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GNSS: static, RTK, network RTK, PPP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การวัดมุมและระยะ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หาตำแหน่งจุดจากมุมและระยะที่วัดด้วยอิเล็กทรอนิกส์จากหมุดที่ทราบพิกัด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Total station (traverse ควบคุม)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การหาผลต่างระดับจากแนวเล็งราบ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ผลต่างระดับจากการอ่านไม้ระดับด้วยแนวเล็งราบ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Differential leveling (กล้องระดับดิจิทัล/อัตโนมัติ)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 [S043]; §1.6 หน้า 11 [S044]; §17.2 หน้า 468 [S045]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การกำหนดตำแหน่งอ้างอิง: เทคโนโลยี — GNSS (static, RTK, network RTK, PPP)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การวัดระยะจากสัญญาณดาวเทียม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สาระของหลักการ: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คำนวณตำแหน่งจากระยะที่วัดไปยังดาวเทียมหลายดวง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เครื่องมือที่ใช้เทคโนโลยีนี้: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เครื่องรับ GNSS ชนิดสำรวจ; บริการแก้ค่าพิกัด (network RTK / PPP)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ลักษณะการทำงานของเทคโนโลยี: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ข้อมูลที่ได้: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ข้อดีและข้อจำกัดเชิงเทคโนโลยี: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การกำหนดตำแหน่งอ้างอิง: ชนิดเครื่องมือ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1.2  ชนิดเครื่องมือและการเปรียบเทียบ: การกำหนดตำแหน่งอ้างอิง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การวัดระยะจากสัญญาณดาวเทียม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เครื่องรับ GNSS ชนิดสำรวจ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บริการแก้ค่าพิกัด (network RTK / PPP)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การวัดมุมและระยะ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Total station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การหาผลต่างระดับจากแนวเล็งราบ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กล้องระดับดิจิทัล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การกำหนดตำแหน่งอ้างอิง: ตัวอย่างผลิตภัณฑ์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1.3  ตัวอย่างผลิตภัณฑ์ของแต่ละชนิดเครื่องมือ: การกำหนดตำแหน่งอ้างอิง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เครื่องรับ GNSS ชนิดสำรวจ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CHC Navigation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Emlid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บริการแก้ค่าพิกัด (network RTK / PPP)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เครือข่ายสถานี CORS ของหน่วยงานรัฐ (ต้องตรวจ)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การกำหนดตำแหน่งอ้างอิง: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1.3  ตัวอย่างผลิตภัณฑ์ของแต่ละชนิดเครื่องมือ: การกำหนดตำแหน่งอ้างอิง (ต่อ)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Total station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Sokkia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South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กล้องระดับดิจิทัล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Sokkia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การกำหนดตำแหน่งอ้างอิง: Research trend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การเก็บข้อมูลกายภาพของพื้นที่: ผิวดิน ใต้น้ำ และใต้ผิวดิน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Physical Data Acquisition: Surface, Underwater, Subsurface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 ใต้ผิวดิน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วัตถุประสงค์และหลักการ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วัตถุประสงค์: 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ได้รูปร่างและตำแหน่งสามมิติของภูมิประเทศและสิ่งปลูกสร้างเหนือผิวดิน (แผนที่ภูมิประเทศ แนว/ระดับงานก่อสร้าง สภาพจริงหลังก่อสร้าง) โดยเลือกเครื่องมือตามขนาดพื้นที่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2.1  หลักการที่ใช้: ผิวดินและวัตถุบนบก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อธิบายหลักการ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การวัดมุมและระยะจากจุดตั้งเครื่อง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ตำแหน่งสามมิติของจุดรายละเอียดจากมุมและระยะ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ภาคพื้น (เฉพาะที่)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การวัดระยะด้วยแสงเลเซอร์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ระยะจากเวลาเดินทางหรือเฟสของลำแสง ได้กริดจุดพิกัดหนาแน่น (point cloud)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LiDAR/scanner บนภาคพื้น ยานพาหนะ ผู้ถือ UAV และอากาศยาน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การคำนวณตำแหน่งจากภาพซ้อนเกย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ตำแหน่งสามมิติจากจุดร่วมในภาพหลายภาพ (photogrammetry)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กล้องบน UAV อากาศยาน และดาวเทียม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 [S042]; §1.6 หน้า 11-12 [S044]; §17.2 หน้า 468 [S045]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เทคโนโลยี — LiDAR (การวัดระยะด้วยเลเซอร์)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การวัดระยะด้วยแสงเลเซอร์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สาระของหลักการ: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ระยะจากเวลาเดินทางหรือเฟสของลำแสง ได้กริดจุดพิกัดหนาแน่น (point cloud)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เครื่องมือที่ใช้เทคโนโลยีนี้: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 · Terrestrial laser scanner; แนวยาว · Mobile mapping (บนยานพาหนะ); แนวยาว · SLAM scanner แบบพกพา; พื้นที่กว้าง · UAV LiDAR; พื้นที่กว้าง · LiDAR จากอากาศยานมีคนขับ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ลักษณะการทำงานของเทคโนโลยี: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ข้อมูลที่ได้: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ข้อดีและข้อจำกัดเชิงเทคโนโลยี: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เทคโนโลยี — Photogrammetry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การคำนวณตำแหน่งจากภาพซ้อนเกย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สาระของหลักการ: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ตำแหน่งสามมิติจากจุดร่วมในภาพหลายภาพ (photogrammetry)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เครื่องมือที่ใช้เทคโนโลยีนี้: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พื้นที่กว้าง · UAV photogrammetry; พื้นที่กว้าง · กล้องจากอากาศยานมีคนขับ; พื้นที่กว้างมาก · ภาพถ่ายดาวเทียม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ลักษณะการทำงานของเทคโนโลยี: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ข้อมูลที่ได้: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ข้อดีและข้อจำกัดเชิงเทคโนโลยี: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ชนิดเครื่องมือ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2.2  ชนิดเครื่องมือและการเปรียบเทียบ: ผิวดินและวัตถุบนบก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การวัดมุมและระยะจากจุดตั้งเครื่อง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เฉพาะที่ · Total station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การวัดระยะด้วยแสงเลเซอร์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เฉพาะที่ · Terrestrial laser scanner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แนวยาว · Mobile mapping (บนยานพาหนะ)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แนวยาว · SLAM scanner แบบพกพา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UAV LiDAR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LiDAR จากอากาศยานมีคนขับ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การคำนวณตำแหน่งจากภาพซ้อนเกย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UAV photogrammetry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กล้องจากอากาศยานมีคนขับ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พื้นที่กว้างมาก · ภาพถ่ายดาวเทียม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ตัวอย่างผลิตภัณฑ์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2.3  ตัวอย่างผลิตภัณฑ์ของแต่ละชนิดเครื่องมือ: ผิวดินและวัตถุบนบก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เฉพาะที่ · Total station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Sokkia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South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เฉพาะที่ · Terrestrial laser scanner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(RTC360)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 (X7)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FARO (Focus)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RIEGL (VZ)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2.3  ตัวอย่างผลิตภัณฑ์ของแต่ละชนิดเครื่องมือ: ผิวดินและวัตถุบนบก (ต่อ)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แนวยาว · Mobile mapping (บนยานพาหนะ)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(Pegasus)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 (MX)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RIEGL (VMX)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แนวยาว · SLAM scanner แบบพกพา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GeoSLAM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(BLK2GO)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UAV LiDAR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DJI (Zenmuse L2)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RIEGL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YellowScan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2.3  ตัวอย่างผลิตภัณฑ์ของแต่ละชนิดเครื่องมือ: ผิวดินและวัตถุบนบก (ต่อ)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LiDAR จากอากาศยานมีคนขับ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RIEGL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Optech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UAV photogrammetry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DJI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WingtraOne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AgEagle (eBee)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Quantum 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กล้องจากอากาศยานมีคนขับ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Vexcel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2.3  ตัวอย่างผลิตภัณฑ์ของแต่ละชนิดเครื่องมือ: ผิวดินและวัตถุบนบก (ต่อ)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พื้นที่กว้างมาก · ภาพถ่ายดาวเทียม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Airbus (Pléiades)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Maxar (WorldView)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Planet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ESA (Sentinel-2)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 ผิวดินและวัตถุบนบก: Research trend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ใต้น้ำ: วัตถุประสงค์และหลักการ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วัตถุประสงค์: 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ได้ความลึกและรูปร่างท้องน้ำ (bathymetry) พร้อมตำแหน่งที่วัด เพื่อใช้ในการขุดลอก การคำนวณความจุอ่างเก็บน้ำ และการเดินเรือ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2.4  หลักการที่ใช้: ใต้น้ำ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อธิบายหลักการ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การวัดเวลาเดินทางของคลื่นเสียงสะท้อน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ความลึกจากเวลาเดินทางไป-กลับของสัญญาณเสียง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Echo sounder แบบลำเดี่ยวและหลายลำ ติดตั้งกับเรือหรือ USV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ภาพสะท้อนเสียงของท้องน้ำ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ภาพความเข้มของเสียงสะท้อนแสดงลักษณะผิวและวัตถุที่ท้องน้ำ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Side-scan sonar แบบลากท้ายเรือ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การเปลี่ยนความถี่แบบดอปเปลอร์ของเสียง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ความเร็วกระแสน้ำและปริมาณการไหลจากการเลื่อนความถี่ของเสียงสะท้อน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ADCP ติดตั้งกับเรือหรือทุ่น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การวัดระยะด้วยแสงเลเซอร์สีเขียวทะลุน้ำ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ระยะถึงผิวน้ำและท้องน้ำในน้ำตื้นและใส (ร่าง)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Topo-bathymetric LiDAR จากอากาศยาน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§17.13 หน้า 493 [S046]; IHO Manual on Hydrography ch.1 [S048]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ใต้น้ำ: เทคโนโลยี — Echo sounding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การวัดเวลาเดินทางของคลื่นเสียงสะท้อน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สาระของหลักการ: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ความลึกจากเวลาเดินทางไป-กลับของสัญญาณเสียง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เครื่องมือที่ใช้เทคโนโลยีนี้: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Single-beam echo sounder; Multibeam echo sounder; ระบบหาตำแหน่งและการเคลื่อนที่ของเรือ (GNSS + INS)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ลักษณะการทำงานของเทคโนโลยี: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ข้อมูลที่ได้: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ข้อดีและข้อจำกัดเชิงเทคโนโลยี: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ใต้น้ำ: ชนิดเครื่องมือ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2.5  ชนิดเครื่องมือและการเปรียบเทียบ: ใต้น้ำ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การวัดเวลาเดินทางของคลื่นเสียงสะท้อน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Single-beam echo sounder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Multibeam echo sounder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ระบบหาตำแหน่งและการเคลื่อนที่ของเรือ (GNSS + INS)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ภาพสะท้อนเสียงของท้องน้ำ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Side-scan sonar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การเปลี่ยนความถี่แบบดอปเปลอร์ของเสียง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ADCP (ความเร็ว/ปริมาณการไหล)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การวัดระยะด้วยแสงเลเซอร์สีเขียวทะลุน้ำ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Topo-bathymetric LiDAR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ใต้น้ำ: ตัวอย่างผลิตภัณฑ์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2.6  ตัวอย่างผลิตภัณฑ์ของแต่ละชนิดเครื่องมือ: ใต้น้ำ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Single-beam echo sounder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Odom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CEE Hydrosystems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Ohmex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Multibeam echo sounder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RESON (SeaBat)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Kongsberg (EM)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R2Sonic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Norbit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ระบบหาตำแหน่งและการเคลื่อนที่ของเรือ (GNSS + INS)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Applanix (POS MV)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Kongsberg (Seapath)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2.6  ตัวอย่างผลิตภัณฑ์ของแต่ละชนิดเครื่องมือ: ใต้น้ำ (ต่อ)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Side-scan sonar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EdgeTech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Klein (MIND Technology)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ADCP (ความเร็ว/ปริมาณการไหล)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RDI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SonTek (Xylem)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Topo-bathymetric LiDAR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RIEGL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Optech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 ใต้น้ำ: Research trend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 ใต้ผิวดิน: วัตถุประสงค์และหลักการ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วัตถุประสงค์: 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ระบุตำแหน่งและความลึกของวัตถุและสาธารณูปโภคที่ฝังใต้ผิวดิน และ (เป็นการทดลองรวม) โครงสร้างชั้นดินใต้ผิว เพื่อเป็นข้อมูลก่อนการขุดและลดความเสียหาย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2.7  หลักการที่ใช้: ใต้ผิวดิน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อธิบายหลักการ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การสะท้อนของคลื่นแม่เหล็กไฟฟ้า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คลื่นที่ส่งลงดินสะท้อนที่รอยต่อของวัสดุต่างคุณสมบัติทางไฟฟ้า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Ground-penetrating radar (GPR)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การเหนี่ยวนำสนามแม่เหล็กไฟฟ้ากับตัวนำฝังดิน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ป้อนสัญญาณเข้าตัวนำที่ฝังอยู่แล้วตรวจสนามที่ผิวดิน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เครื่องตรวจหาสาธารณูปโภค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ความต้านทานไฟฟ้าของชั้นดิน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ภาพตัดความต้านทานจากการป้อนกระแสและวัดศักย์ไฟฟ้า (ร่าง)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Electrical resistivity tomography (ERT)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การแพร่ของคลื่นไหวสะเทือน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ความเร็วคลื่นของชั้นดินจากเวลาเดินทางของคลื่น (ร่าง)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Seismic refraction / MASW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12 [S044]; Jaw &amp; Hashim 2013 [S049]; Penhall [S050 แหล่งรอง]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 ใต้ผิวดิน: ชนิดเครื่องมือ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2.8  ชนิดเครื่องมือและการเปรียบเทียบ: ใต้ผิวดิน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การสะท้อนของคลื่นแม่เหล็กไฟฟ้า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การเหนี่ยวนำสนามแม่เหล็กไฟฟ้ากับตัวนำฝังดิน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Electromagnetic utility locator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ความต้านทานไฟฟ้าของชั้นดิน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ERT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การแพร่ของคลื่นไหวสะเทือน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Seismic refraction / MASW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 ใต้ผิวดิน: ตัวอย่างผลิตภัณฑ์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2.9  ตัวอย่างผลิตภัณฑ์ของแต่ละชนิดเครื่องมือ: ใต้ผิวดิน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GSSI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Guideline Geo (MALÅ)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Screening Eagle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IDS GeoRadar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Electromagnetic utility locator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Radiodetection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Vivax-Metrotech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ERT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Iris Instruments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Guideline Geo (ABEM)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Advanced Geosciences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 ใต้ผิวดิน: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2.9  ตัวอย่างผลิตภัณฑ์ของแต่ละชนิดเครื่องมือ: ใต้ผิวดิน (ต่อ)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Seismic refraction / MASW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Geometrics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 ใต้ผิวดิน: Research trend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 &amp; Deformation Monitoring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 หลักการ และเทคโนโลยี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ตัวอย่างผลิตภัณฑ์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การติดตามการเปลี่ยนแปลง: วัตถุประสงค์และหลักการ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วัตถุประสงค์: 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ตรวจจับและวัดปริมาณการเปลี่ยนแปลงของตำแหน่งหรือรูปร่าง (โครงสร้าง ภูมิประเทศ ผลจากภัยพิบัติ) โดยการวัดซ้ำต่างเวลา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3.1  หลักการที่ใช้: การติดตามการเปลี่ยนแปลง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อธิบายหลักการ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การวัดซ้ำที่จุดเดิมด้วยมุมและระยะ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เทียบพิกัดของเป้าที่ติดตั้งถาวรต่างเวลา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Robotic total station + prism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การวัดซ้ำด้วยสัญญาณดาวเทียมต่อเนื่อง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ติดตามตำแหน่งของเครื่องรับที่ติดตั้งถาวร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GNSS ต่อเนื่อง (continuous monitoring)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การวัดซ้ำเชิงพื้นผิว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เทียบพื้นผิวหรือ point cloud ต่างเวลา (รายละเอียดดูหัวข้อ 2.1)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TLS / UAV (ดู 2.1)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ผลต่างเฟสของคลื่นไมโครเวฟ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การเคลื่อนตัวตามแนวเล็งจากผลต่างเฟสของสัญญาณเรดาร์ต่างเวลา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InSAR จากดาวเทียม; ground-based radar interferometry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§1.2 หน้า 2 [S041]; §1.13 หน้า 19-20 [S047]; InSAR review [S011]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การติดตามการเปลี่ยนแปลง: เทคโนโลยี — Radar interferometry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ผลต่างเฟสของคลื่นไมโครเวฟ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สาระของหลักการ: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การเคลื่อนตัวตามแนวเล็งจากผลต่างเฟสของสัญญาณเรดาร์ต่างเวลา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เครื่องมือที่ใช้เทคโนโลยีนี้: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InSAR จากดาวเทียม; Ground-based radar interferometry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ลักษณะการทำงานของเทคโนโลยี: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ข้อมูลที่ได้: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ข้อดีและข้อจำกัดเชิงเทคโนโลยี: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การติดตามการเปลี่ยนแปลง: ชนิดเครื่องมือ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3.2  ชนิดเครื่องมือและการเปรียบเทียบ: การติดตามการเปลี่ยนแปลง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การวัดซ้ำที่จุดเดิมด้วยมุมและระยะ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Robotic total station (monitoring)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การวัดซ้ำด้วยสัญญาณดาวเทียมต่อเนื่อง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เครื่องรับ GNSS ติดตั้งถาวร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การวัดซ้ำเชิงพื้นผิว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TLS / UAV (ดู 2.1)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ผลต่างเฟสของคลื่นไมโครเวฟ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InSAR จากดาวเทียม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Ground-based radar interferometry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การติดตามการเปลี่ยนแปลง: ตัวอย่างผลิตภัณฑ์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3.3  ตัวอย่างผลิตภัณฑ์ของแต่ละชนิดเครื่องมือ: การติดตามการเปลี่ยนแปลง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Robotic total station (monitoring)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(GeoMoS)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 (4D Control)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เครื่องรับ GNSS ติดตั้งถาวร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Septentrio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TLS / UAV (ดู 2.1)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(ดู 2.1)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InSAR จากดาวเทียม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ESA (Sentinel-1)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JAXA (ALOS-2)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Airbus (TerraSAR-X)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การติดตามการเปลี่ยนแปลง: ตัวอย่างผลิตภัณฑ์ (ต่อ)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3.3  ตัวอย่างผลิตภัณฑ์ของแต่ละชนิดเครื่องมือ: การติดตามการเปลี่ยนแปลง (ต่อ)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Ground-based radar interferometry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IDS GeoRadar (IBIS)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MetaSensing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การติดตามการเปลี่ยนแปลง: Research trend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การจัดการและวิเคราะห์ข้อมูลเชิงพื้นที่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Spatial Data Management &amp; Analysis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 หลักการ และเทคโนโลยี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ตัวอย่างผลิตภัณฑ์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การจัดการและวิเคราะห์ข้อมูลเชิงพื้นที่: วัตถุประสงค์และหลักการ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วัตถุประสงค์: </a:t>
            </a: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จัดเก็บ ผสาน วิเคราะห์ และแสดงผลข้อมูลเชิงพื้นที่จากหลายแหล่งเพื่อสนับสนุนการจัดการและการตัดสินใจ โดยทุกชั้นข้อมูลอ้างกรอบพิกัดเดียวกัน (พึ่งบท 1)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4.1  หลักการที่ใช้: การจัดการและวิเคราะห์ข้อมูลเชิงพื้นที่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อธิบายหลักการ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โมเดลข้อมูล vector และ raster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vector เก็บจุด เส้น พื้นที่; raster เก็บเซลล์ (โดยทั่วไป raster หยาบกว่า) [S031]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บนเครื่อง (desktop GIS)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การวิเคราะห์เชิงพื้นที่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overlay, adjacency, connectivity ของชั้นข้อมูล [S032]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ฟังก์ชันวิเคราะห์ใน GIS (รวมกับแถวข้างบน)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รูปแบบข้อมูลบนคลาวด์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เข้าถึงเฉพาะส่วนของข้อมูลขนาดใหญ่ผ่านเว็บ [S037]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COG, FlatGeobuf, GeoParquet, COPC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การเรียนรู้ของเครื่องกับข้อมูลเชิงพื้นที่ (GeoAI)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ML/DL/LLM กับข้อมูลเชิงพื้นที่ [S038]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โมเดลและเครื่องมือ GeoAI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§1.8 หน้า 14-15 [S030]; §28.4.2 [S031]; §28.9 [S032]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การจัดการและวิเคราะห์ข้อมูลเชิงพื้นที่: เทคโนโลยี — GIS บนเครื่อง (desktop GIS)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โมเดลข้อมูล vector และ raster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สาระของหลักการ: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vector เก็บจุด เส้น พื้นที่; raster เก็บเซลล์ (โดยทั่วไป raster หยาบกว่า) [S031]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เครื่องมือที่ใช้เทคโนโลยีนี้: </a:t>
            </a: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GIS โอเพนซอร์ส; GIS เชิงพาณิชย์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ลักษณะการทำงานของเทคโนโลยี: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ข้อมูลที่ได้: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ข้อดีและข้อจำกัดเชิงเทคโนโลยี: </a:t>
            </a: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การจัดการและวิเคราะห์ข้อมูลเชิงพื้นที่: ชนิดเครื่องมือ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4.2  ชนิดเครื่องมือและการเปรียบเทียบ: การจัดการและวิเคราะห์ข้อมูลเชิงพื้นที่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หลักการที่ใช้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อธิบายเครื่องมือ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โมเดลข้อมูล vector และ raster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โอเพนซอร์ส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แผนที่และผลวิเคราะห์ [S032]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ขึ้นกับข้อมูลเข้า [S031]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ต้องจัดการ plugin/Python [S034]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ไม่มีค่าลิขสิทธิ์ (GPLv2+) [S033]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เชิงพาณิชย์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เหมือนกัน [S032]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เหมือนกัน [S031]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ความสามารถขึ้นกับระดับลิขสิทธิ์ [S034]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Basic/Standard/Advanced ถาวร USD 1,656/6,300/12,510 (≈ 5.5 หมื่น/2.1 แสน/4.1 แสนบาท***) + maintenance รายปี USD 460/1,750/3,475 [S035]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การวิเคราะห์เชิงพื้นที่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(ใช้ GIS ตามแถวข้างบน)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รูปแบบข้อมูลบนคลาวด์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รูปแบบข้อมูลบนคลาวด์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เข้าถึงข้อมูลใหญ่เป็นส่วน ๆ [S037]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ไม่เกี่ยว (รูปแบบจัดเก็บ)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ไม่มีรูปแบบเดียวเหมาะทุกกรณี; GeoParquet บางข้อกำหนดยังหารือ [S037]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การเรียนรู้ของเครื่องกับข้อมูลเชิงพื้นที่ (GeoAI)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(รอเติมเนื้อหา)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การจัดการและวิเคราะห์ข้อมูลเชิงพื้นที่: ตัวอย่างผลิตภัณฑ์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4.3  ตัวอย่างผลิตภัณฑ์ของแต่ละชนิดเครื่องมือ: การจัดการและวิเคราะห์ข้อมูลเชิงพื้นที่</a:t>
            </a:r>
            <a:endParaRPr lang="en-US" sz="11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อธิบายผลิตภัณฑ์ / ข้อมูลจำเพาะที่ผู้ผลิตระบุ**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ราคาอ้างอิง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โอเพนซอร์ส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QGIS [S033]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เชิงพาณิชย์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ArcGIS Pro (Esri)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(ใช้ GIS ตามแถวข้างบน)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รูปแบบข้อมูลบนคลาวด์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COG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FlatGeobuf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GeoParquet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COPC [S037]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(รอเติมเนื้อหา)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การจัดการและวิเคราะห์ข้อมูลเชิงพื้นที่: Research trend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GeoAI: ML/DL/LLM กับข้อมูลเชิงพื้นที่; ประเด็นคือ explainability, reproducibility, data bias; ทิศทาง geo-foundation models และ multimodal [S038]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ข้อมูลเชิงพื้นที่บนคลาวด์: รูปแบบอ่านเป็นส่วน ๆ; บางข้อกำหนดยังอยู่ระหว่างหารือ [S037]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Urban digital twin: โครงสร้างสนับสนุนการตัดสินใจ; ประเด็นคือ data silos, interoperability, governance [S039]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IJGI 14(2):56 [S038]; guide.cloudnativegeo.org [S037]; IJGI 15(7):278 [S039]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สรุป: ภาพรวมและ trend ร่วม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 - ดู Reading_List_Option3.md และ Research_Sources.xlsx)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5562</Words>
  <Application>Microsoft Office PowerPoint</Application>
  <PresentationFormat>On-screen Show (16:9)</PresentationFormat>
  <Paragraphs>1021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Engineering Technologies - Option 3</dc:title>
  <dc:subject>PptxGenJS Presentation</dc:subject>
  <dc:creator>PptxGenJS</dc:creator>
  <cp:lastModifiedBy>soravis amnuaysarn</cp:lastModifiedBy>
  <cp:revision>2</cp:revision>
  <dcterms:created xsi:type="dcterms:W3CDTF">2026-10-02T09:10:20Z</dcterms:created>
  <dcterms:modified xsi:type="dcterms:W3CDTF">2026-10-02T09:15:41Z</dcterms:modified>
</cp:coreProperties>
</file>