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เนื้อหาภาพรวมเดิมย้ายไป Old_Overview_Notes.md. หน้าที่ของ FIG ที่ไม่รวม: กฎหมาย/ที่ดิน/ประเมินราคา/วางแผน/ต้นทุนก่อสร้าง เพราะไม่ใช่เทคโนโลยีการวัด (ข้อเสนอของผู้นำเสนอ). ประโยคบรรยายหน้าที่แต่ละข้อเป็นถ้อยคำของผู้นำเสนอ.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 1: control surveys = เครือข่ายหมุดแนวราบและแนวดิ่งเป็นกรอบอ้างอิงสำหรับเริ่มงานสำรวจอื่น (หน้า 11, S044). ข้อ 2: geodetic methods หาตำแหน่งสัมพัทธ์ของหมุดที่อยู่ห่างกัน (หน้า 9, S043). ข้อ 3: หนังสือหน้า 468 (S045) ระบุว่าแม้ใช้ photogrammetry หรือ airborne laser mapping ก็ยังต้องมีการสำรวจภาคพื้นดินเพื่อกำหนดจุดควบคุมและตรวจสอบความถูกต้องของรายละเอียดบนแผนที่; การสรุปว่า 'เป็นฐานของทุกหน้าที่' เป็นการตีความของผู้นำเสนอ. 'หมุดหลักฐาน' = monuments.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 1: topographic surveys determine locations of natural and artificial features and elevations used in map making (หน้า 11). ข้อ 2: construction surveys provide line, grade, control elevations, horizontal positions, dimensions, configurations; also secure data for computing construction pay quantities (หน้า 12). ข้อ 3: as-built surveys document precise final locations and record design changes; important for underground facilities (หน้า 12). 'พื้นที่ไม่กว้างมาก': หน้า 468 ระบุว่าการสำรวจภาคพื้นดินยังใช้ทำแผนที่มาตราส่วนใหญ่ของพื้นที่ขนาดเล็ก (S045). ส่วน as-built ของสาธารณูปโภคใต้ดินอาจซ้อนกับหน้าที่ 4 (ที่นี่ = บันทึกของที่สร้างเอง; หน้าที่ 4 = หาตำแหน่งของที่มีอยู่แล้ว).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 1: aerial surveys ใช้ photogrammetry (กล้องบนเครื่องบิน) หรือ remote sensing (กล้องและเซนเซอร์อื่นบนเครื่องบินหรือดาวเทียม) (หน้า 12, S044). ข้อ 2: laser-scanning instruments combine automatic distance and angle measurements to compute dense grids of coordinated points (หน้า 7, S042). ข้อ 3: หน้า 468 (S045): 'photogrammetry very accurate and economical; almost all mapping projects covering large areas now employ this method'; ground surveys ยังจำเป็นสำหรับ control และ field-check. ข้อความนี้สะท้อนสถานการณ์ราว 2011 ไม่ใช่ปัจจุบัน; UAV ไม่อยู่ในหนังสือ จึงยังไม่ได้ระบุในวัตถุประสงค์.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 1-2: หนังสือ §17.13 หน้า 493 (S046): hydrographic surveys determine depths and terrain configurations of bottoms of water bodies; 2 งานหลักคือวัดความลึก (soundings) และระบุตำแหน่งที่วัด; ใช้ในงานขุดลอกท่าเรือและแม่น้ำ หาความจุอ่างเก็บน้ำเพื่อควบคุมน้ำท่วมและระบบน้ำประปา ทำแผนที่เดินเรือ. IHO (S048): นิยาม hydrography ระบุวัตถุประสงค์หลักคือการเดินเรือและกิจกรรมทางทะเลอื่น เช่น การจัดการเขตชายฝั่ง. ข้อ 3: Jaw &amp; Hashim 2013 (S049, อ่านเฉพาะบทคัดย่อ): ข้อมูลตำแหน่งสาธารณูปโภคใต้ดินจำเป็นสำหรับการขุด; Penhall (S050, เว็บผู้ให้บริการ แหล่งรอง): 'unlocated or mislocated utilities are among the leading causes of costly rework, project delays, and utility strikes'. ขอบเขต 'ใต้ผิวดิน' หนังสือหน้า 12 จัดธรณีฟิสิกส์ไว้ใน mine surveys; การจำกัดเฉพาะสาธารณูปโภคเป็นข้อเสนอของผู้นำเสนอ รอตัดสินใจ.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 1-3: หนังสือ §1.13 หน้า 19-20 (S047) กล่าวถึงเป็น 'future challenges' ของวงการ (เขียนราว 2011): precise deformation surveys for monitoring dams, bridges, skyscrapers to detect imperceptible movements that could be precursors to catastrophes caused by failure; timely measurements and maps of effects of natural disasters; measuring and monitoring global changes (glacial growth/retreat, volcanic activity, large-scale deforestation). บรรทัดสุดท้าย: FIG functions ข้อ 1 'monitoring any change therein' และข้อ 2 'positioning and monitoring of physical features, structures and engineering works' (หน้า 2, S041). ยังไม่มีแหล่งเฉพาะเรื่องตลิ่ง/คันดิน/การกัดเซาะ; ถ้าต้องการเป็นตัวอย่างสำหรับผู้ฟังต้องหาเพิ่ม.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วัตถุประสงค์: หนังสือ §1.8 (S030): LIS/GIS เก็บ ผสาน จัดการ วิเคราะห์ แสดงข้อมูลเชิงพื้นที่ เพื่อการจัดการและตัดสินใจ; ทุกข้อมูลต้องอยู่ในกรอบอ้างอิงร่วม. 'พึ่งหน้าที่ 1' เป็นการเชื่อมของผู้นำเสนอ. หลักการ: vector/raster หน้า 848-850 (S031); overlay/adjacency/connectivity หน้า 864 (S032); cloud-optimized formats (S037); ML/DL/LLM กับข้อมูลเชิงพื้นที่ (S038, editorial).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PostGIS ยังไม่มีแหล่ง: search key 'PostGIS spatial database'. บรรทัดสุดท้ายเป็นการเชื่อมของผู้นำเสนอ ตามแนวคิดบรรทัดเดียวสำหรับเทคโนโลยีที่อธิบายเต็มในหน้าที่อื่น.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S030-S040 ดู Research_Sources.xlsx. ไม่มีแหล่งเทียบประสิทธิภาพ/ขนาดข้อมูลของ QGIS vs ArcGIS Pro (บทความเทียบที่เปิดอ่านไม่มีตัวเลข) search key: 'QGIS ArcGIS Pro benchmark large dataset performance'. ราคาไทย search key: 'Esri Thailand ArcGIS Pro price'. แถวที่ 3 ไม่ได้แข่งโดยตรงกับสองแถวแรก (เป็นรูปแบบข้อมูล ไม่ใช่ซอฟต์แวร์).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S038 เป็น editorial ของ Special Issue (ไม่ใช่งานวิจัยชิ้นเดียว). S039 เป็น narrative review ด้านเมืองอัจฉริยะ เปิดอ่านเฉพาะหน้าบทคัดย่อ/สรุป ไม่ใช่งานสำรวจโดยตรง. S040 (arXiv 2412.11643) เห็นแค่ชื่อ.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9.xml"/><Relationship Id="rId4" Type="http://schemas.openxmlformats.org/officeDocument/2006/relationships/slide" Target="slide14.xml"/><Relationship Id="rId5" Type="http://schemas.openxmlformats.org/officeDocument/2006/relationships/slide" Target="slide19.xml"/><Relationship Id="rId6" Type="http://schemas.openxmlformats.org/officeDocument/2006/relationships/slide" Target="slide24.xml"/><Relationship Id="rId7" Type="http://schemas.openxmlformats.org/officeDocument/2006/relationships/slide" Target="slide29.xml"/><Relationship Id="rId8" Type="http://schemas.openxmlformats.org/officeDocument/2006/relationships/slide" Target="slide34.xml"/><Relationship Id="rId9" Type="http://schemas.openxmlformats.org/officeDocument/2006/relationships/slide" Target="slide35.xml"/><Relationship Id="rId10" Type="http://schemas.openxmlformats.org/officeDocument/2006/relationships/slide" Target="slide36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เทคโนโลยีสำหรับงานสำรวจวิศวกรรม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Survey Engineering Technologies  |  โครงสไลด์ (ร่าง v3: แบ่งตามหน้าที่)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สารบัญ</a:t>
            </a:r>
            <a:endParaRPr lang="en-US" sz="2400" dirty="0"/>
          </a:p>
        </p:txBody>
      </p:sp>
      <p:sp>
        <p:nvSpPr>
          <p:cNvPr id="3" name="Text 1">
            <a:hlinkClick r:id="rId1" tooltip="ไปหน้า 3" action="ppaction://hlinksldjump"/>
          </p:cNvPr>
          <p:cNvSpPr txBox="1"/>
          <p:nvPr/>
        </p:nvSpPr>
        <p:spPr>
          <a:xfrm>
            <a:off x="457200" y="118872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action="ppaction://hlinksldjump" tooltip="ไปหน้า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ภาพรวมของงานสำรวจ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118872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>
            <a:hlinkClick r:id="rId2" tooltip="ไปหน้า 4" action="ppaction://hlinksldjump"/>
          </p:cNvPr>
          <p:cNvSpPr txBox="1"/>
          <p:nvPr/>
        </p:nvSpPr>
        <p:spPr>
          <a:xfrm>
            <a:off x="457200" y="150876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action="ppaction://hlinksldjump" tooltip="ไปหน้า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หน้าที่ 1: การกำหนดตำแหน่งอ้างอิง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50876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Text 5">
            <a:hlinkClick r:id="rId3" tooltip="ไปหน้า 9" action="ppaction://hlinksldjump"/>
          </p:cNvPr>
          <p:cNvSpPr txBox="1"/>
          <p:nvPr/>
        </p:nvSpPr>
        <p:spPr>
          <a:xfrm>
            <a:off x="457200" y="182880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action="ppaction://hlinksldjump" tooltip="ไปหน้า 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หน้าที่ 2: การวัดรายละเอียดและการถ่ายแนว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82880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500" dirty="0"/>
          </a:p>
        </p:txBody>
      </p:sp>
      <p:sp>
        <p:nvSpPr>
          <p:cNvPr id="9" name="Text 7">
            <a:hlinkClick r:id="rId4" tooltip="ไปหน้า 14" action="ppaction://hlinksldjump"/>
          </p:cNvPr>
          <p:cNvSpPr txBox="1"/>
          <p:nvPr/>
        </p:nvSpPr>
        <p:spPr>
          <a:xfrm>
            <a:off x="457200" y="214884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 action="ppaction://hlinksldjump" tooltip="ไปหน้า 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หน้าที่ 3: การเก็บข้อมูลพื้นผิวและวัตถุในพื้นที่กว้าง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14884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500" dirty="0"/>
          </a:p>
        </p:txBody>
      </p:sp>
      <p:sp>
        <p:nvSpPr>
          <p:cNvPr id="11" name="Text 9">
            <a:hlinkClick r:id="rId5" tooltip="ไปหน้า 19" action="ppaction://hlinksldjump"/>
          </p:cNvPr>
          <p:cNvSpPr txBox="1"/>
          <p:nvPr/>
        </p:nvSpPr>
        <p:spPr>
          <a:xfrm>
            <a:off x="457200" y="246888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5" action="ppaction://hlinksldjump" tooltip="ไปหน้า 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หน้าที่ 4: การสำรวจใต้น้ำและใต้ผิวดิน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46888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1500" dirty="0"/>
          </a:p>
        </p:txBody>
      </p:sp>
      <p:sp>
        <p:nvSpPr>
          <p:cNvPr id="13" name="Text 11">
            <a:hlinkClick r:id="rId6" tooltip="ไปหน้า 24" action="ppaction://hlinksldjump"/>
          </p:cNvPr>
          <p:cNvSpPr txBox="1"/>
          <p:nvPr/>
        </p:nvSpPr>
        <p:spPr>
          <a:xfrm>
            <a:off x="457200" y="278892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6" action="ppaction://hlinksldjump" tooltip="ไปหน้า 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หน้าที่ 5: การติดตามการเปลี่ยนแปลง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278892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1500" dirty="0"/>
          </a:p>
        </p:txBody>
      </p:sp>
      <p:sp>
        <p:nvSpPr>
          <p:cNvPr id="15" name="Text 13">
            <a:hlinkClick r:id="rId7" tooltip="ไปหน้า 29" action="ppaction://hlinksldjump"/>
          </p:cNvPr>
          <p:cNvSpPr txBox="1"/>
          <p:nvPr/>
        </p:nvSpPr>
        <p:spPr>
          <a:xfrm>
            <a:off x="457200" y="310896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7" action="ppaction://hlinksldjump" tooltip="ไปหน้า 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หน้าที่ 6: การจัดการและวิเคราะห์ข้อมูลเชิงพื้นที่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310896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</a:t>
            </a:r>
            <a:endParaRPr lang="en-US" sz="1500" dirty="0"/>
          </a:p>
        </p:txBody>
      </p:sp>
      <p:sp>
        <p:nvSpPr>
          <p:cNvPr id="17" name="Text 15">
            <a:hlinkClick r:id="rId8" tooltip="ไปหน้า 34" action="ppaction://hlinksldjump"/>
          </p:cNvPr>
          <p:cNvSpPr txBox="1"/>
          <p:nvPr/>
        </p:nvSpPr>
        <p:spPr>
          <a:xfrm>
            <a:off x="457200" y="342900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8" action="ppaction://hlinksldjump" tooltip="ไปหน้า 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สรุป: เมทริกซ์เทคโนโลยี × หน้าที่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342900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34</a:t>
            </a:r>
            <a:endParaRPr lang="en-US" sz="1500" dirty="0"/>
          </a:p>
        </p:txBody>
      </p:sp>
      <p:sp>
        <p:nvSpPr>
          <p:cNvPr id="19" name="Text 17">
            <a:hlinkClick r:id="rId9" tooltip="ไปหน้า 35" action="ppaction://hlinksldjump"/>
          </p:cNvPr>
          <p:cNvSpPr txBox="1"/>
          <p:nvPr/>
        </p:nvSpPr>
        <p:spPr>
          <a:xfrm>
            <a:off x="457200" y="374904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9" action="ppaction://hlinksldjump" tooltip="ไปหน้า 3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สรุป: ภาพรวมและ trend ร่วม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374904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35</a:t>
            </a:r>
            <a:endParaRPr lang="en-US" sz="1500" dirty="0"/>
          </a:p>
        </p:txBody>
      </p:sp>
      <p:sp>
        <p:nvSpPr>
          <p:cNvPr id="21" name="Text 19">
            <a:hlinkClick r:id="rId10" tooltip="ไปหน้า 36" action="ppaction://hlinksldjump"/>
          </p:cNvPr>
          <p:cNvSpPr txBox="1"/>
          <p:nvPr/>
        </p:nvSpPr>
        <p:spPr>
          <a:xfrm>
            <a:off x="457200" y="406908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0" action="ppaction://hlinksldjump" tooltip="ไปหน้า 3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แหล่งอ้างอิง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406908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36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ภาพรวมของงานสำรวจ: หน้าที่ 6 ประการ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การจัดกลุ่มตามหน้าที่ (functional classification) พิจารณาจากคำถามที่งานสำรวจต้องตอบ ได้แก่ ตำแหน่ง รูปร่างของพื้นผิว และการเปลี่ยนแปลง มิใช่ชนิดของเครื่องมือ เนื่องจากเทคโนโลยีหนึ่งตอบได้หลายหน้าที่ การเปรียบเทียบจึงกระทำระหว่างเทคโนโลยีที่ตอบวัตถุประสงค์เดียวกัน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การกำหนดตำแหน่งอ้างอิง: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การจัดทำกรอบพิกัดอ้างอิงสำหรับงานสำรวจอื่น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การวัดรายละเอียดและการถ่ายแนว: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การหาตำแหน่งรายละเอียดภูมิประเทศและการกำหนดตำแหน่งงานก่อสร้าง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การเก็บข้อมูลพื้นผิวและวัตถุในพื้นที่กว้าง: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การได้รูปร่างของพื้นผิวและวัตถุต่อเนื่องเป็นพื้นที่ แทนการวัดรายจุด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การสำรวจใต้น้ำและใต้ผิวดิน: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การวัดสิ่งที่อยู่ใต้ผิวน้ำและใต้ผิวดิน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การติดตามการเปลี่ยนแปลง: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การเปรียบเทียบข้อมูลต่างเวลาเพื่อตรวจจับการเปลี่ยนแปลง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การจัดการและวิเคราะห์ข้อมูลเชิงพื้นที่: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การบูรณาการ วิเคราะห์ และแสดงผลข้อมูลเชิงพื้นที่เพื่อสนับสนุนการตัดสินใจ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ที่มาของการแบ่ง: เป็นการสังเคราะห์ของผู้นำเสนอ จาก (1) หน้าที่ 11 ข้อของ surveyor ตาม FIG (Elementary Surveying หน้า 2) (2) ประเภทงานสำรวจตามวัตถุประสงค์ (§1.6 หน้า 11-12) (3) การแบ่ง commission ของ FIG (fig.net/about) และ ISPRS (isprs.org/commissions) ไม่ใช่การจัดประเภทอย่างเป็นทางการ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หน้าที่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การกำหนดตำแหน่งอ้างอิง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Reference Positioning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วัตถุประสงค์และหลักการที่ใช้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เทคโนโลยีของแต่ละหลักการ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Research trend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การกำหนดตำแหน่งอ้างอิง: วัตถุประสงค์และหลักการที่ใช้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การจัดทำกรอบอ้างอิงแนวราบและแนวดิ่งในรูปเครือข่ายหมุดหลักฐาน เพื่อเป็นจุดเริ่มต้นของงานสำรวจอื่น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การหาตำแหน่งสัมพัทธ์ของหมุดที่อยู่ห่างกันในระบบพิกัดเดียวกัน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ความเป็นฐานของหน้าที่อื่น: งานแผนที่จากภาพถ่ายทางอากาศยังต้องอาศัยจุดควบคุมและการตรวจสอบจากการสำรวจภาคพื้นดิน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หลักการที่ใช้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92024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หลักการที่ใช้ตอบวัตถุประสงค์)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§1.4 หน้า 9-10 [S043]; §1.6 หน้า 11 [S044]; §17.2 หน้า 468 [S045]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การกำหนดตำแหน่งอ้างอิง: เทคโนโลยีของแต่ละหลักการ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เทคโนโลยีของแต่ละหลักการ; เทคโนโลยีที่อธิบายเต็มในหน้าที่อื่นให้ระบุบรรทัดเดียวพร้อมอ้างถึงสไลด์นั้น)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การกำหนดตำแหน่งอ้างอิง: เปรียบเทียบเทคโนโลยี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371600"/>
                <a:gridCol w="21031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เทคโนโลยี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 (สภาพแวดล้อม + เวลาประมวลผล)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 (บาท)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แถวคือเทคโนโลยีที่ตอบวัตถุประสงค์เดียวกัน; ทุกช่องต้องมีรหัสแหล่งที่มา (Research_Sources.xlsx)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การกำหนดตำแหน่งอ้างอิง: Research trend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แนวโน้มงานวิจัยของหน้าที่นี้)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หน้าที่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การวัดรายละเอียดและการถ่ายแนว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Detail Measurement &amp; Setting-out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วัตถุประสงค์และหลักการที่ใช้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เทคโนโลยีของแต่ละหลักการ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Research trend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การวัดรายละเอียดและการถ่ายแนว: วัตถุประสงค์และหลักการที่ใช้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การหาตำแหน่งและระดับของลักษณะธรรมชาติและสิ่งปลูกสร้างในพื้นที่ขนาดไม่ใหญ่ เพื่อจัดทำแผนที่ภูมิประเทศ (topographic survey)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การกำหนดแนว ระดับ ตำแหน่ง และขนาดสำหรับงานก่อสร้าง รวมทั้งข้อมูลสำหรับคำนวณปริมาณงานที่ใช้เบิกจ่าย (construction survey)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การบันทึกตำแหน่งและรูปแบบสุดท้ายของงานที่ก่อสร้างแล้ว รวมถึงการเปลี่ยนแปลงแบบระหว่างก่อสร้าง (as-built survey) โดยเฉพาะสาธารณูปโภคใต้ดิน เพื่อประโยชน์ในการบำรุงรักษาและป้องกันความเสียหายจากงานติดตั้งภายหลัง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หลักการที่ใช้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92024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หลักการที่ใช้ตอบวัตถุประสงค์)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§1.6 หน้า 11-12 [S044]; §17.2 หน้า 468 [S045]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การวัดรายละเอียดและการถ่ายแนว: เทคโนโลยีของแต่ละหลักการ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เทคโนโลยีของแต่ละหลักการ; เทคโนโลยีที่อธิบายเต็มในหน้าที่อื่นให้ระบุบรรทัดเดียวพร้อมอ้างถึงสไลด์นั้น)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การวัดรายละเอียดและการถ่ายแนว: เปรียบเทียบเทคโนโลยี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371600"/>
                <a:gridCol w="21031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เทคโนโลยี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 (สภาพแวดล้อม + เวลาประมวลผล)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 (บาท)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แถวคือเทคโนโลยีที่ตอบวัตถุประสงค์เดียวกัน; ทุกช่องต้องมีรหัสแหล่งที่มา (Research_Sources.xlsx)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การวัดรายละเอียดและการถ่ายแนว: Research trend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แนวโน้มงานวิจัยของหน้าที่นี้)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หน้าที่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การเก็บข้อมูลพื้นผิวและวัตถุในพื้นที่กว้าง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Wide-area Surface &amp; Object Capture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วัตถุประสงค์และหลักการที่ใช้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เทคโนโลยีของแต่ละหลักการ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Research trend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การเก็บข้อมูลพื้นผิวและวัตถุในพื้นที่กว้าง: วัตถุประสงค์และหลักการที่ใช้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การจัดทำแผนที่และข้อมูลพื้นผิวของพื้นที่กว้างจากภาพถ่ายและเซนเซอร์บนอากาศยานหรือดาวเทียม (photogrammetry และ remote sensing)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การได้กริดจุดพิกัดความหนาแน่นสูงด้วยการสแกนเลเซอร์ (laser scanning) แทนการวัดรายจุด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เงื่อนไขการเลือกใช้: ตามหนังสือ (เขียนราว 2011) โครงการจัดทำแผนที่พื้นที่กว้างเกือบทั้งหมดใช้ photogrammetry เนื่องจากให้ความถูกต้องสูงและประหยัด ทั้งนี้ยังต้องมีจุดควบคุมภาคพื้นดินตามหน้าที่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หลักการที่ใช้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92024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หลักการที่ใช้ตอบวัตถุประสงค์)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§1.3 หน้า 7 [S042]; §1.6 หน้า 12 [S044]; §17.2 หน้า 468 [S045]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การเก็บข้อมูลพื้นผิวและวัตถุในพื้นที่กว้าง: เทคโนโลยีของแต่ละหลักการ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เทคโนโลยีของแต่ละหลักการ; เทคโนโลยีที่อธิบายเต็มในหน้าที่อื่นให้ระบุบรรทัดเดียวพร้อมอ้างถึงสไลด์นั้น)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การเก็บข้อมูลพื้นผิวและวัตถุในพื้นที่กว้าง: เปรียบเทียบเทคโนโลยี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371600"/>
                <a:gridCol w="21031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เทคโนโลยี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 (สภาพแวดล้อม + เวลาประมวลผล)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 (บาท)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แถวคือเทคโนโลยีที่ตอบวัตถุประสงค์เดียวกัน; ทุกช่องต้องมีรหัสแหล่งที่มา (Research_Sources.xlsx)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การเก็บข้อมูลพื้นผิวและวัตถุในพื้นที่กว้าง: Research trend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แนวโน้มงานวิจัยของหน้าที่นี้)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หน้าที่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การสำรวจใต้น้ำและใต้ผิวดิน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Underwater &amp; Subsurface Survey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วัตถุประสงค์และหลักการที่ใช้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เทคโนโลยีของแต่ละหลักการ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Research trend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การสำรวจใต้น้ำและใต้ผิวดิน: วัตถุประสงค์และหลักการที่ใช้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ใต้ผิวน้ำ: การหาความลึกและรูปร่างท้องน้ำของแม่น้ำ อ่างเก็บน้ำ ท่าเรือ ทะเลสาบ และทะเล ประกอบด้วยการวัดความลึกและการระบุตำแหน่งที่วัด เพื่อจัดทำแผนที่ท้องน้ำ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การใช้งาน: การวางแผนและติดตามงานขุดลอก การหาความจุอ่างเก็บน้ำเพื่อการควบคุมน้ำท่วมและระบบจ่ายน้ำ และการกำหนดเส้นทางเดินเรือที่ปลอดภัย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ใต้ผิวดิน: การระบุตำแหน่งท่อและสายสาธารณูปโภคที่ฝังอยู่ก่อนการขุด เพื่อลดความเสียหาย การหยุดให้บริการ และการแก้ไขซ้ำ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ขอบเขตใต้ผิวดินในที่นี้จำกัดที่สาธารณูปโภคใต้ดิน; ธรณีฟิสิกส์สำรวจแร่และพลังงาน (mine survey) อยู่นอกขอบเขต (รอตัดสินใจ)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หลักการที่ใช้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92024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หลักการที่ใช้ตอบวัตถุประสงค์)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§17.13 หน้า 493 [S046]; IHO Manual on Hydrography ch.1 [S048]; Jaw &amp; Hashim 2013 [S049]; Penhall (เว็บผู้ให้บริการ) [S050]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การสำรวจใต้น้ำและใต้ผิวดิน: เทคโนโลยีของแต่ละหลักการ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เทคโนโลยีของแต่ละหลักการ; เทคโนโลยีที่อธิบายเต็มในหน้าที่อื่นให้ระบุบรรทัดเดียวพร้อมอ้างถึงสไลด์นั้น)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การสำรวจใต้น้ำและใต้ผิวดิน: เปรียบเทียบเทคโนโลยี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371600"/>
                <a:gridCol w="21031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เทคโนโลยี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 (สภาพแวดล้อม + เวลาประมวลผล)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 (บาท)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แถวคือเทคโนโลยีที่ตอบวัตถุประสงค์เดียวกัน; ทุกช่องต้องมีรหัสแหล่งที่มา (Research_Sources.xlsx)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การสำรวจใต้น้ำและใต้ผิวดิน: Research trend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แนวโน้มงานวิจัยของหน้าที่นี้)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หน้าที่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การติดตามการเปลี่ยนแปลง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Change &amp; Deformation Monitoring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วัตถุประสงค์และหลักการที่ใช้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เทคโนโลยีของแต่ละหลักการ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Research trend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การติดตามการเปลี่ยนแปลง: วัตถุประสงค์และหลักการที่ใช้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การตรวจจับการเคลื่อนตัวขนาดเล็กของโครงสร้าง เช่น เขื่อน สะพาน อาคารสูง ซึ่งอาจเป็นสัญญาณล่วงหน้าของความเสียหายร้ายแรง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การวัดและจัดทำแผนที่ผลกระทบของภัยพิบัติ (แผ่นดินไหว อุทกภัย พายุ) อย่างทันเวลา เพื่อสนับสนุนการวางแผนให้ความช่วยเหลือ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การติดตามการเปลี่ยนแปลงระดับโลก เช่น การขยายและการลดขนาดของธารน้ำแข็ง กิจกรรมภูเขาไฟ การตัดไม้ทำลายป่า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การติดตามการเปลี่ยนแปลงเป็นส่วนหนึ่งของนิยามหน้าที่ของ surveyor ตาม FIG (ข้อ 1 และ 2)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หลักการที่ใช้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92024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หลักการที่ใช้ตอบวัตถุประสงค์)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§1.2 หน้า 2 [S041]; §1.13 หน้า 19-20 [S047]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การติดตามการเปลี่ยนแปลง: เทคโนโลยีของแต่ละหลักการ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เทคโนโลยีของแต่ละหลักการ; เทคโนโลยีที่อธิบายเต็มในหน้าที่อื่นให้ระบุบรรทัดเดียวพร้อมอ้างถึงสไลด์นั้น)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การติดตามการเปลี่ยนแปลง: เปรียบเทียบเทคโนโลยี</a:t>
            </a:r>
            <a:endParaRPr lang="en-US" sz="2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371600"/>
                <a:gridCol w="21031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เทคโนโลยี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 (สภาพแวดล้อม + เวลาประมวลผล)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 (บาท)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แถวคือเทคโนโลยีที่ตอบวัตถุประสงค์เดียวกัน; ทุกช่องต้องมีรหัสแหล่งที่มา (Research_Sources.xlsx)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การติดตามการเปลี่ยนแปลง: Research trend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แนวโน้มงานวิจัยของหน้าที่นี้)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หน้าที่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การจัดการและวิเคราะห์ข้อมูลเชิงพื้นที่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Spatial Data Management &amp; Analysis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วัตถุประสงค์และหลักการที่ใช้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เทคโนโลยีของแต่ละหลักการ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Research trend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การจัดการและวิเคราะห์ข้อมูลเชิงพื้นที่: วัตถุประสงค์และหลักการที่ใช้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การรวบรวมข้อมูลเชิงพื้นที่จากหลายแหล่ง (งานสำรวจใหม่ แผนที่เดิม ภาพถ่ายจากอากาศยานและดาวเทียม ข้อมูลตาราง) ไว้ในระบบเดียว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การจัดเก็บ วิเคราะห์ และแสดงผล เพื่อสนับสนุนการบริหารจัดการและการตัดสินใจ (เช่น ทรัพยากรธรรมชาติ โครงสร้างพื้นฐาน การตอบสนองเหตุฉุกเฉิน)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การอ้างอิงทุกชั้นข้อมูลต่อกรอบพิกัดเดียวกัน เพื่อให้ซ้อนทับและเปรียบเทียบได้ (พึ่งหน้าที่ 1)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หลักการที่ใช้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92024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กรอบพิกัดร่วม: ชั้นข้อมูลทุกชั้นอ้างอิงระบบพิกัดเดียวกัน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 vector: จุด เส้น และพื้นที่ จัดเก็บในตารางที่เชื่อมด้วยรหัส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 raster: เซลล์หรือพิกเซล ขนาดเซลล์กำหนดความละเอียด โดยทั่วไปหยาบกว่า vector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การวิเคราะห์เชิงพื้นที่: overlay, adjacency, connectivity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แนวโน้มใหม่: รูปแบบข้อมูลบนคลาวด์ที่อ่านเป็นส่วน ๆ ผ่านเครือข่าย; การเรียนรู้ของเครื่อง (machine learning) กับข้อมูลเชิงพื้นที่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§1.8 หน้า 14-15 [S030], §28.4.2 หน้า 848-850 [S031], §28.9 หน้า 864 [S032]; guide.cloudnativegeo.org [S037]; IJGI 14(2):56 [S038]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การจัดการและวิเคราะห์ข้อมูลเชิงพื้นที่: เทคโนโลยีของแต่ละหลักการ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การจัดเก็บและจัดการข้อมูล vector/raster: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ระบบ GIS แบบติดตั้งบนเครื่อง ได้แก่ QGIS (โอเพนซอร์ส) และ ArcGIS Pro (เชิงพาณิชย์)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การวิเคราะห์ overlay / adjacency / connectivity: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ฟังก์ชันภายในซอฟต์แวร์ GIS ข้างต้น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การจัดเก็บและเผยแพร่ข้อมูลขนาดใหญ่: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รูปแบบข้อมูลบนคลาวด์ ได้แก่ COG, FlatGeobuf, GeoParquet, COPC (ฐานข้อมูลเชิงพื้นที่ เช่น PostGIS: ยังไม่ตรวจแหล่ง)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การวิเคราะห์ด้วยปัญญาประดิษฐ์: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machine learning, deep learning, LLM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ข้อมูลนำเข้าจากหน้าที่อื่น: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พิกัดจากหน้าที่ 1; point cloud และภาพจากหน้าที่ 3 (อธิบายเต็มในหน้าที่นั้น)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qgis.org [S033]; gisvantage.com [S034]; guide.cloudnativegeo.org [S037]; IJGI 14(2):56 [S038]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การจัดการและวิเคราะห์ข้อมูลเชิงพื้นที่: เปรียบเทียบเทคโนโลยี</a:t>
            </a:r>
            <a:endParaRPr lang="en-US" sz="2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508760"/>
                <a:gridCol w="1645920"/>
                <a:gridCol w="182880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เทคโนโลยี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ผลลัพธ์ที่ได้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ความแม่นยำ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ต้นทุนเชิงสัมพัทธ์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QGIS (โอเพนซอร์ส)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แผนที่และผลการวิเคราะห์เชิงพื้นที่ [S032]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ความถูกต้องขึ้นกับข้อมูลนำเข้าและรูปแบบ vector/raster ไม่ขึ้นกับซอฟต์แวร์ [S031]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ต้องบริหารจัดการ plugin และสภาพแวดล้อม Python; การส่งมอบงานและการสนับสนุนใช้เวลาและทรัพยากร [S034]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ไม่มีค่าลิขสิทธิ์ (GPLv2+) [S033]; ต้นทุนบุคลากร/การสนับสนุนยังไม่มีตัวเลข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ArcGIS Pro (เชิงพาณิชย์)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เทียบเท่า [S032]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ลักษณะเดียวกัน [S031]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ความสามารถขึ้นกับระดับสิทธิ์การใช้งานและส่วนขยาย [S034]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สิทธิ์ถาวร Basic/Standard/Advanced = USD 1,656 / 6,300 / 12,510 (≈ 5.5 หมื่น / 2.1 แสน / 4.1 แสนบาท*) บวกค่าบำรุงรักษารายปี USD 460 / 1,750 / 3,475 [S035]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รูปแบบข้อมูลบนคลาวด์ (COG, GeoParquet ฯลฯ)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การเข้าถึงเฉพาะส่วนของชุดข้อมูลขนาดใหญ่ผ่านเครือข่าย [S037]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ไม่เกี่ยวข้อง (เป็นรูปแบบการจัดเก็บ) — การตีความของผู้นำเสนอ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ไม่มีรูปแบบเดียวที่เหมาะกับทุกกรณี; ข้อกำหนดบางส่วนของ GeoParquet อยู่ระหว่างพิจารณา [S037]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ยังไม่มีแหล่ง: search key 'cloud object storage price per TB month'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แปลงด้วยอัตราสมมติ 33 บาท/USD (ยังไม่ตรวจอัตรา); ราคาอ้างอิงสัญญากลางของรัฐอินเดียนา ก.พ. 2024 ไม่ใช่ราคาในประเทศไทย | คอลัมน์ 'ความแม่นยำ' ไม่เหมาะกับหน้าที่นี้ เนื่องจากซอฟต์แวร์มิใช่เครื่องมือวัด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การจัดการและวิเคราะห์ข้อมูลเชิงพื้นที่: Research trend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GeoAI: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การประยุกต์ ML/DL/LLM กับข้อมูลเชิงพื้นที่; ประเด็นสำคัญคือความสามารถในการอธิบายผล (explainability) ความสามารถในการทำซ้ำ (reproducibility) และอคติของข้อมูล; ทิศทางคือ geo-foundation models และข้อมูลหลายรูปแบบ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ข้อมูลเชิงพื้นที่บนคลาวด์: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รูปแบบที่อ่านเป็นส่วน ๆ (COG, GeoParquet, COPC); ข้อกำหนดบางส่วนอยู่ระหว่างพิจารณา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Urban digital twin: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โครงสร้างสนับสนุนการตัดสินใจในเมือง; ประเด็นคือข้อมูลแยกส่วน (data silos) ความเข้ากันได้ระหว่างระบบ และการกำกับดูแล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IJGI 14(2):56 [S038]; guide.cloudnativegeo.org [S037]; IJGI 15(7):278 [S039]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สรุป: เมทริกซ์เทคโนโลยี × หน้าที่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(รอเติมเนื้อหา: ความครอบคลุมของแต่ละเทคโนโลยีต่อหน้าที่ — ตัวเลือก ตัดออกได้)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สรุป: ภาพรวมและ trend ร่วม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แหล่งอ้างอิง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(รอเติมเนื้อหา - ดู Reading_List_Option1.md และ Research_Sources.xlsx)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Survey Engineering Technologies - outline</dc:title>
  <dc:subject>PptxGenJS Presentation</dc:subject>
  <dc:creator>PptxGenJS</dc:creator>
  <cp:lastModifiedBy>PptxGenJS</cp:lastModifiedBy>
  <cp:revision>1</cp:revision>
  <dcterms:created xsi:type="dcterms:W3CDTF">2026-10-02T07:02:50Z</dcterms:created>
  <dcterms:modified xsi:type="dcterms:W3CDTF">2026-10-02T07:02:50Z</dcterms:modified>
</cp:coreProperties>
</file>