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นิยามและเหตุผลการเปลี่ยนชื่อ: หนังสือหน้า 1-4. FIG กำหนดหน้าที่ 11 ข้อของ surveyor (หนังสือหน้า 2). ISO/TC 211 อ้างจาก Wikipedia (แหล่งรอง) ควรตรวจกับตัวมาตรฐานก่อนอ้างตรง 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ตามวัตถุประสงค์: หนังสือ §1.6 หน้า 11-12 (control, topographic, land/boundary/cadastral, hydrographic, alignment, construction, as-built, mine, solar, optical tooling). ตามแพลตฟอร์ม: ground/aerial/satellite หน้า 12. ตามแบบจำลองโลก: §1.4 หน้า 9-10; ตัวอย่าง 5 ไมล์ ellipsoid arc กับ chord ต่างกัน ~0.02 ft (หน้า 10). ไม่มีการแบ่งเดียวที่ทุกแหล่งใช้ร่วมกัน.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FIG: https://fig.net/about/index.asp (รายชื่อและขอบเขตของ 10 commissions). ISPRS: https://www2.isprs.org/commissions/ (Technical Commissions I-V ปี 2022-2026). การเลือกตัวหนา 3-6 เป็นการตีความของผู้นำเสนอ ไม่ใช่การจัดประเภทของ 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 §1.3 หน้า 7-8: เครื่องมือเดิมถูกแทนที่ด้วย total station, GNSS, laser scanning, กล้อง/เซนเซอร์ดิจิทัล และ softcopy plotter; ตัวอย่าง mobile mapping 1.3 ล้านจุดต่อวินาทีเป็นตัวเลขของระบบรุ่นที่หนังสือยกตัวอย่าง (หนังสือเขียนราว 2011). §1.8: GIS/LIS. หนังสือไม่มี UAV, SLAM, InSAR, digital twin; เทคโนโลยีที่ใหม่กว่านั้นดูในแต่ละด้าน. Wikipedia (แหล่งรอง) เพิ่ม UAV, GPR, robotic total 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ด้านไม่ได้แบ่งด้วยเกณฑ์เดียว: ด้าน 1-3 ใกล้เคียงการแบ่งตามหลักการ/เทคโนโลยี, ด้าน 4 แบ่งตามสภาพแวดล้อม, ด้าน 5 แบ่งตามผลลัพธ์/ขั้นตอนงาน, ด้าน 6 ข้ามด้าน. จึงมีส่วนซ้อนกัน เช่นด้าน 1 กับ 2 (GNSS ใช้ได้กับงานทุกประเภท ตามหนังสือหน้า 10). คอลัมน์ขวาเป็นการเทียบของผู้นำเสนอกับมุมมองในส่วนภาพรวม ไม่ใช่การจัดประเภทอย่างเป็นทางการ. ดู Reading_List.md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surveys = เครือข่ายหมุดแนวราบและแนวดิ่งเป็นกรอบอ้างอิงเริ่มต้นงานอื่น (หนังสือ หน้า 11). geodetic methods หาตำแหน่งสัมพัทธ์ของหมุดที่อยู่ห่างกันและเป็นฐานให้งานรอง; satellite positioning ให้ความแม่นยำ ความเร็ว และความประหยัดมากกว่า (หน้า 9-10). FIG C5: การได้ข้อมูลตำแหน่ง ขนาด รูปร่างของสิ่งต่าง ๆ บนโลกอย่างแม่นยำและเชื่อถือได้.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 §1.6: topographic surveys หาตำแหน่งสิ่งปลูกสร้างธรรมชาติ/เทียมและระดับความสูงเพื่อทำแผนที่; construction surveys ให้แนว ระดับ ตำแหน่ง ขนาด; as-built บันทึกตำแหน่งสุดท้ายของงาน. FIG C6: quality control, setting-out, machine guidance, deformation monitoring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หนังสือหน้า 12: photogrammetry ใช้กล้องที่มักอยู่บนเครื่องบินเพื่อเก็บภาพ; remote sensing ใช้กล้องและเซนเซอร์อื่นบนเครื่องบินหรือดาวเทียม; ภาพดาวเทียมใช้ทำแผนที่และติดตามพื้นที่กว้าง; วิธีทางอากาศใช้ได้กับงานเฉพาะทางทุกประเภทยกเว้น optical tooling. ISPRS II: image orientation, point cloud; III: land use/cover change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หนังสือหน้า 12: hydrographic surveys กำหนดแนวชายฝั่งและความลึกของทะเลสาบ ลำธาร มหาสมุทร อ่างเก็บน้ำ; mine surveys รวมถึง geophysical surveys หาแร่/พลังงาน. FIG C4: hydrographic surveying, marine environment and coastal zone management, nautical charting and bathymetric maps. IHO: S-44 กำหนดความแม่นยำขั้นต่ำของงานสำรวจเพื่อความปลอดภัยการเดินเรือ และปรับใช้กับ oil&amp;gas, พลังงานหมุนเวียน, dredging, geophysics, geotechnics. GPR อยู่ในรายการเครื่องมือของ Wikipedia (แหล่งรอง) เท่านั้น ยังไม่ได้อ่านเนื้อหาเพื่อกำหนดวัตถุประสงค์.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 §1.8: LIS/GIS เก็บ ผสาน จัดการ วิเคราะห์ แสดงข้อมูลเชิงพื้นที่; ทุกข้อมูลต้องอยู่ในกรอบอ้างอิงทางภูมิศาสตร์ร่วมกันจึงเทียบกันได้. FIG C3: spatial data infrastructure — data collection, analysis, visualisation, standardisation, dissemination. บทที่ 16 (least squares) และบทที่ 18 (mapping) เป็นแหล่งอ่านเรื่องปรับแก้และทำแผนที่ แต่ยังไม่ได้อ่านเนื้อหา.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หนังสือหน้า 7: 3D mobile mapping system = scanners + GNSS + IMU + กล้อง ในระบบเดียว. ISPRS I: mobile mapping, LiDAR, calibration; IV: AI, IoT, digital twins. FIG C6: WG 6.2 Dynamic Structural Monitoring, WG 6.3 Applications of Immersive Technologies in Engineering Geodesy. 'อัตโนมัติ' อิงแนวโน้ม robotic total station จาก Wikipedia (แหล่งรอง).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8.xml"/><Relationship Id="rId3" Type="http://schemas.openxmlformats.org/officeDocument/2006/relationships/slide" Target="slide9.xml"/><Relationship Id="rId4" Type="http://schemas.openxmlformats.org/officeDocument/2006/relationships/slide" Target="slide14.xml"/><Relationship Id="rId5" Type="http://schemas.openxmlformats.org/officeDocument/2006/relationships/slide" Target="slide19.xml"/><Relationship Id="rId6" Type="http://schemas.openxmlformats.org/officeDocument/2006/relationships/slide" Target="slide24.xml"/><Relationship Id="rId7" Type="http://schemas.openxmlformats.org/officeDocument/2006/relationships/slide" Target="slide29.xml"/><Relationship Id="rId8" Type="http://schemas.openxmlformats.org/officeDocument/2006/relationships/slide" Target="slide34.xml"/><Relationship Id="rId9" Type="http://schemas.openxmlformats.org/officeDocument/2006/relationships/slide" Target="slide39.xml"/><Relationship Id="rId10" Type="http://schemas.openxmlformats.org/officeDocument/2006/relationships/slide" Target="slide4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เทคโนโลยีสำหรับงานสำรวจวิศวกรรม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Survey Engineering Technologies  |  โครงสไลด์ (ร่าง)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สารบัญ</a:t>
            </a:r>
            <a:endParaRPr lang="en-US" sz="2800" dirty="0"/>
          </a:p>
        </p:txBody>
      </p:sp>
      <p:sp>
        <p:nvSpPr>
          <p:cNvPr id="3" name="Text 1">
            <a:hlinkClick r:id="rId1" tooltip="ไปหน้า 3" action="ppaction://hlinksldjump"/>
          </p:cNvPr>
          <p:cNvSpPr txBox="1"/>
          <p:nvPr/>
        </p:nvSpPr>
        <p:spPr>
          <a:xfrm>
            <a:off x="457200" y="123444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action="ppaction://hlinksldjump" tooltip="ไปหน้า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ภาคนำ: ภาพรวมของการสำรวจและการแบ่งประเภท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23444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>
            <a:hlinkClick r:id="rId2" tooltip="ไปหน้า 8" action="ppaction://hlinksldjump"/>
          </p:cNvPr>
          <p:cNvSpPr txBox="1"/>
          <p:nvPr/>
        </p:nvSpPr>
        <p:spPr>
          <a:xfrm>
            <a:off x="457200" y="1559052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action="ppaction://hlinksldjump" tooltip="ไปหน้า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เชื่อมสู่ 6 ด้านของสไลด์นี้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55905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500" dirty="0"/>
          </a:p>
        </p:txBody>
      </p:sp>
      <p:sp>
        <p:nvSpPr>
          <p:cNvPr id="7" name="Text 5">
            <a:hlinkClick r:id="rId3" tooltip="ไปหน้า 9" action="ppaction://hlinksldjump"/>
          </p:cNvPr>
          <p:cNvSpPr txBox="1"/>
          <p:nvPr/>
        </p:nvSpPr>
        <p:spPr>
          <a:xfrm>
            <a:off x="457200" y="1883664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action="ppaction://hlinksldjump" tooltip="ไปหน้า 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ด้านที่ 1: Positioning &amp; Geodetic Control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88366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500" dirty="0"/>
          </a:p>
        </p:txBody>
      </p:sp>
      <p:sp>
        <p:nvSpPr>
          <p:cNvPr id="9" name="Text 7">
            <a:hlinkClick r:id="rId4" tooltip="ไปหน้า 14" action="ppaction://hlinksldjump"/>
          </p:cNvPr>
          <p:cNvSpPr txBox="1"/>
          <p:nvPr/>
        </p:nvSpPr>
        <p:spPr>
          <a:xfrm>
            <a:off x="457200" y="2208276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 action="ppaction://hlinksldjump" tooltip="ไปหน้า 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ด้านที่ 2: Terrestrial &amp; Optical Surveying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20827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500" dirty="0"/>
          </a:p>
        </p:txBody>
      </p:sp>
      <p:sp>
        <p:nvSpPr>
          <p:cNvPr id="11" name="Text 9">
            <a:hlinkClick r:id="rId5" tooltip="ไปหน้า 19" action="ppaction://hlinksldjump"/>
          </p:cNvPr>
          <p:cNvSpPr txBox="1"/>
          <p:nvPr/>
        </p:nvSpPr>
        <p:spPr>
          <a:xfrm>
            <a:off x="457200" y="253288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 action="ppaction://hlinksldjump" tooltip="ไปหน้า 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ด้านที่ 3: Remote Sensing &amp; Photogrammetry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53288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1500" dirty="0"/>
          </a:p>
        </p:txBody>
      </p:sp>
      <p:sp>
        <p:nvSpPr>
          <p:cNvPr id="13" name="Text 11">
            <a:hlinkClick r:id="rId6" tooltip="ไปหน้า 24" action="ppaction://hlinksldjump"/>
          </p:cNvPr>
          <p:cNvSpPr txBox="1"/>
          <p:nvPr/>
        </p:nvSpPr>
        <p:spPr>
          <a:xfrm>
            <a:off x="457200" y="285750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6" action="ppaction://hlinksldjump" tooltip="ไปหน้า 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ด้านที่ 4: Hydrographic &amp; Subsurface Survey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85750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1500" dirty="0"/>
          </a:p>
        </p:txBody>
      </p:sp>
      <p:sp>
        <p:nvSpPr>
          <p:cNvPr id="15" name="Text 13">
            <a:hlinkClick r:id="rId7" tooltip="ไปหน้า 29" action="ppaction://hlinksldjump"/>
          </p:cNvPr>
          <p:cNvSpPr txBox="1"/>
          <p:nvPr/>
        </p:nvSpPr>
        <p:spPr>
          <a:xfrm>
            <a:off x="457200" y="3182112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7" action="ppaction://hlinksldjump" tooltip="ไปหน้า 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ด้านที่ 5: Data Processing, GIS &amp; Modeling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18211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</a:t>
            </a:r>
            <a:endParaRPr lang="en-US" sz="1500" dirty="0"/>
          </a:p>
        </p:txBody>
      </p:sp>
      <p:sp>
        <p:nvSpPr>
          <p:cNvPr id="17" name="Text 15">
            <a:hlinkClick r:id="rId8" tooltip="ไปหน้า 34" action="ppaction://hlinksldjump"/>
          </p:cNvPr>
          <p:cNvSpPr txBox="1"/>
          <p:nvPr/>
        </p:nvSpPr>
        <p:spPr>
          <a:xfrm>
            <a:off x="457200" y="3506724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8" action="ppaction://hlinksldjump" tooltip="ไปหน้า 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ด้านที่ 6: Integration, Automation &amp; Emerging Tech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50672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</a:t>
            </a:r>
            <a:endParaRPr lang="en-US" sz="1500" dirty="0"/>
          </a:p>
        </p:txBody>
      </p:sp>
      <p:sp>
        <p:nvSpPr>
          <p:cNvPr id="19" name="Text 17">
            <a:hlinkClick r:id="rId9" tooltip="ไปหน้า 39" action="ppaction://hlinksldjump"/>
          </p:cNvPr>
          <p:cNvSpPr txBox="1"/>
          <p:nvPr/>
        </p:nvSpPr>
        <p:spPr>
          <a:xfrm>
            <a:off x="457200" y="3831336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9" action="ppaction://hlinksldjump" tooltip="ไปหน้า 3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สรุป: ภาพรวมและ trend ร่วมของทุกด้าน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383133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39</a:t>
            </a:r>
            <a:endParaRPr lang="en-US" sz="1500" dirty="0"/>
          </a:p>
        </p:txBody>
      </p:sp>
      <p:sp>
        <p:nvSpPr>
          <p:cNvPr id="21" name="Text 19">
            <a:hlinkClick r:id="rId10" tooltip="ไปหน้า 40" action="ppaction://hlinksldjump"/>
          </p:cNvPr>
          <p:cNvSpPr txBox="1"/>
          <p:nvPr/>
        </p:nvSpPr>
        <p:spPr>
          <a:xfrm>
            <a:off x="457200" y="415594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0" action="ppaction://hlinksldjump" tooltip="ไปหน้า 4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แหล่งอ้างอิง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415594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ภาคนำ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ภาพรวมของการสำรวจและการแบ่งประเภท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การสำรวจ (Surveying / Geomatics) คืออะไร และแบ่งประเภทอย่างไร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นิยามและขอบเขต (surveying = geomatics)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การแบ่งประเภทของการสำรวจ (3 มุมมอง)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การแบ่งตามองค์กรวิชาชีพ: FIG และ ISPRS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เทคโนโลยีหลักของการสำรวจ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เชื่อมสู่ 6 ด้านของสไลด์นี้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ภาพรวมการสำรวจ: นิยามและขอบเขต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Surveying (นิยามดั้งเดิม):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ศาสตร์ ศิลป์ และเทคโนโลยีในการหาตำแหน่งสัมพัทธ์ของจุดบน เหนือ หรือใต้ผิวโลก หรือการกำหนดจุดเหล่านั้น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นิยามกว้าง: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ทุกวิธีที่ใช้วัดและเก็บข้อมูลเกี่ยวกับโลกและสิ่งแวดล้อม ประมวลผล และส่งมอบผลลัพธ์ให้ผู้ใช้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Geomatics: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ชื่อใหม่ของวงการเดียวกัน หนังสือถือเป็นคำเดียวกัน; ASCE เปลี่ยนชื่อ Surveying Engineering Division เป็น Geomatics Division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เหตุที่เปลี่ยนชื่อ: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เครื่องมือเก็บและประมวลผลข้อมูลใหม่ ความต้องการข้อมูลเชิงพื้นที่ที่เพิ่มขึ้น และความกังวลด้านสิ่งแวดล้อม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ISO/TC 211: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geomatics คือการเก็บ กระจาย จัดเก็บ วิเคราะห์ ประมวลผล และนำเสนอข้อมูลภูมิสารสนเทศ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FIG: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surveyor ทำ 11 หน้าที่ ตั้งแต่หาขนาดและรูปร่างโลก วางตำแหน่งงานวิศวกรรม ไปจนถึง GIS ที่ดิน และงานก่อสร้าง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§1.1-1.2 หน้า 1-4; ISO/TC 211 อ้างผ่าน Wikipedia: Geomatics (แหล่งรอง)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การแบ่งประเภทของการสำรวจ: 3 มุมมอง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1) ตามวัตถุประสงค์งาน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Control: กรอบอ้างอิง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Topographic: ทำแผนที่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Boundary / cadastral: แนวเขตที่ดิน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Hydrographic: ใต้น้ำ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Alignment: ถนน ทางรถไฟ ท่อ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Construction และ as-built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Mine: เหมือง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Solar และ optical tooling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2) ตามแพลตฟอร์ม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920240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ภาคพื้นดิน: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กล้องระดับอัตโนมัติ, total station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ทางอากาศ: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photogrammetry (กล้อง) และ remote sensing (กล้องและเซนเซอร์อื่นบนเครื่องบินหรือดาวเทียม)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ดาวเทียม: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GNSS และภาพดาวเทียมสำหรับทำแผนที่ติดตามพื้นที่กว้าง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3) ตามแบบจำลองโลก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920240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Geodetic: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คำนวณบน ellipsoid / พิกัด 3 มิติศูนย์กลางโลก ใช้กับหมุดที่ห่างกัน เป็นฐานให้งานรอง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Plane: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สมมติผิวราบ ใช้ได้เมื่อพื้นที่ไม่กว้าง (เส้นยาว 5 ไมล์ ต่างกันเพียง ~0.02 ฟุต)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ข้อสังเกต: GNSS ถูกใช้ในงานทุกประเภท (geodetic, hydrographic, construction, boundary) จึงไม่มีเส้นแบ่งตายตัว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§1.4 หน้า 9-10, §1.6 หน้า 11-12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การแบ่งตามองค์กรวิชาชีพ: FIG และ ISPRS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FIG: แบ่งตามหน้าที่วิชาชีพ (10 commissions)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Professional Practice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Professional Education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Spatial Information Management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Hydrography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Positioning and Measurement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Engineering Surveys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Cadastre and Land Management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Spatial Planning and Development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Valuation and Management of Real Estate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Construction Economics and Management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371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ISPRS: แบ่งตามเทคโนโลยี (วาระ 2022-2026)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92024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 Sensor Systems: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ดาวเทียม mobile mapping LiDAR การสอบเทียบ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II Photogrammetry: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การจัดวางภาพ point cloud AI/ML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III Remote Sensing: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สเปกตรัม/ความร้อน/ไมโครเวฟ ตรวจจับการเปลี่ยนแปลงการใช้ที่ดิน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IV Spatial Information Science: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การจัดการข้อมูล IoT digital twins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 Education and Outreach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343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ตัวหนาฝั่ง FIG = commission ที่เกี่ยวกับการวัดและจัดการข้อมูลเชิงพื้นที่โดยตรง (การตีความของผู้นำเสนอ)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fig.net/about; isprs.org/commissions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เทคโนโลยีหลักของการสำรวจ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เครื่องมือเดิม (ใช้ถึงราวทศวรรษ 1960-70):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transit, theodolite, กล้องระดับ dumpy, สายวัดเหล็ก ถูกแทนที่เกือบหมด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Total station: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วัดและบันทึกระยะราบ ระยะดิ่ง และมุมโดยอัตโนมัติ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GNSS: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ให้ตำแหน่งแม่นยำสำหรับงานสำรวจแทบทุกประเภท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Laser scanning: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วัดระยะและมุมอัตโนมัติ ได้กริดจุดพิกัดหนาแน่น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ภาพดิจิทัล: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กล้องและเซนเซอร์ทางอากาศ/ดาวเทียม ประมวลเป็นข้อมูลเชิงพื้นที่และแผนที่ (digital photogrammetry)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3D mobile mapping: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scanner + GNSS + IMU + กล้อง; ตัวอย่างในหนังสือเก็บ 1.3 ล้านจุดต่อวินาที รอบรถภายใน 30 ม.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GIS / LIS: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จัดเก็บ วิเคราะห์ แสดงข้อมูลเชิงพื้นที่ โดยทุกชั้นข้อมูลอยู่ในกรอบพิกัดเดียวกัน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§1.3 หน้า 7-8, §1.8 หน้า 14-15 (เขียนราว 2011); เพิ่ม UAV, GPR จาก Wikipedia: Surveying (แหล่งรอง)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เชื่อมสู่ 6 ด้านของสไลด์นี้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การจัดกลุ่มของผู้นำเสนอ: แต่ละด้านแบ่งด้วยเกณฑ์ไม่เหมือนกัน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286000"/>
                <a:gridCol w="27432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ด้าน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เกณฑ์หลักที่ใช้แบ่ง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สัมพันธ์กับมุมมองในภาพรวม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Positioning &amp; Geodetic Control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 / เทคนิค: การหาตำแหน่งในกรอบอ้างอิง (geodetic) ด้วยดาวเทียม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แบบจำลองโลก (geodetic); แพลตฟอร์มดาวเทียม; งาน control; FIG Commission 5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Terrestrial &amp; Optical Surveying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เทคโนโลยี: เครื่องมือภาคพื้นดิน (optical / laser)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แพลตฟอร์มภาคพื้นดิน; งาน topographic, construction, as-built; FIG Commission 5, 6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Remote Sensing &amp; Photogrammetry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 / แพลตฟอร์ม: ภาพและเซนเซอร์ระยะไกล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แพลตฟอร์มทางอากาศและดาวเทียม; ISPRS Commission II, III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Hydrographic &amp; Subsurface Survey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สภาพแวดล้อม: ใต้น้ำ / ใต้ดิน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 hydrographic, mine; FIG Commission 4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Data Processing, GIS &amp; Modeling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 / ขั้นตอนงาน: ประมวลผลและจัดการข้อมูล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FIG Commission 3; ISPRS Commission IV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Integration, Automation &amp; Emerging Tech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ข้ามด้าน: ผสานเซนเซอร์และเทคโนโลยีเกิดใหม่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ISPRS Commission I, IV; FIG Commission 6 (WG 6.2, 6.3)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เกณฑ์และการเทียบเป็นการตีความของผู้นำเสนอ; commission อ้างอิง fig.net/about และ isprs.org/commissions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ด้านที่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Positioning &amp; Geodetic Control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การหาตำแหน่งและโครงข่ายหมุดหลักฐาน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หลักการคิด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Trend ในอนาคต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Positioning &amp; Geodetic Control: วัตถุประสงค์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สร้างกรอบอ้างอิงแนวราบและแนวดิ่ง (หมุดหลักฐาน) ให้งานสำรวจอื่นใช้เป็นจุดเริ่มต้น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กำหนดตำแหน่งของจุดที่อยู่ห่างกันให้แม่นยำ ในระบบพิกัดอ้างอิงเดียวกัน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เพิ่มความแม่นยำ ความเร็ว และลดต้นทุนด้วยการหาตำแหน่งจากดาวเทียม (GNSS) แทนเครื่องมือภาคพื้นดินในงานระดับ geodetic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§1.4 หน้า 9-10, §1.6 หน้า 11; FIG Commission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Positioning &amp; Geodetic Control: หลักการคิด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Positioning &amp; Geodetic Control: เทคโนโลยี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Positioning &amp; Geodetic Control: Trend ในอนาคต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ด้านที่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Terrestrial &amp; Optical Surveying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การสำรวจภาคพื้นดิน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หลักการคิด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Trend ในอนาคต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Terrestrial &amp; Optical Surveying: วัตถุประสงค์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หาตำแหน่งสัมพัทธ์ของรายละเอียดในหน้างานจากหมุดควบคุม (แผนที่ภูมิประเทศ แนวเขตที่ดิน)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วางแนว ระดับ และตำแหน่งให้งานก่อสร้าง และบันทึกผลงานจริงหลังก่อสร้าง (construction / as-built)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ตรวจสอบคุณภาพงานและการเคลื่อนตัวของโครงสร้าง (deformation monitoring)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§1.6 หน้า 11-12; FIG Commission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Terrestrial &amp; Optical Surveying: หลักการคิด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Terrestrial &amp; Optical Surveying: เทคโนโลยี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Terrestrial &amp; Optical Surveying: Trend ในอนาคต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ด้านที่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Remote Sensing &amp; Photogrammetry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การสำรวจระยะไกลและภาพถ่าย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หลักการคิด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Trend ในอนาคต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Remote Sensing &amp; Photogrammetry: วัตถุประสงค์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ทำแผนที่และแบบจำลอง 3 มิติของพื้นที่กว้างจากภาพถ่ายและข้อมูลเซนเซอร์ (photogrammetry)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เฝ้าติดตามการเปลี่ยนแปลงของพื้นผิวโลก เช่น การใช้ที่ดิน ด้วยเซนเซอร์บนเครื่องบินหรือดาวเทียม (remote sensing)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สนับสนุนงานสำรวจเกือบทุกประเภท ยกเว้น optical tooling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§1.6 หน้า 12; ISPRS Commission II, III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Remote Sensing &amp; Photogrammetry: หลักการคิด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Remote Sensing &amp; Photogrammetry: เทคโนโลยี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Remote Sensing &amp; Photogrammetry: Trend ในอนาคต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ด้านที่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Hydrographic &amp; Subsurface Survey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การสำรวจใต้น้ำและใต้ดิน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หลักการคิด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Trend ในอนาคต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Hydrographic &amp; Subsurface Survey: วัตถุประสงค์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กำหนดแนวชายฝั่งและความลึกของทะเล แม่น้ำ ทะเลสาบ และอ่างเก็บน้ำ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ผลิตแผนที่ความลึก (bathymetric) และแผนที่เดินเรือ เพื่อความปลอดภัยการเดินเรือและการจัดการเขตชายฝั่ง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ให้ข้อมูลตามมาตรฐานความแม่นยำสากล (IHO S-44) ที่ปรับใช้กับงานขุดลอก พลังงาน และธรณีเทคนิคได้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ส่วนใต้ดิน (เหมือง ธรณีฟิสิกส์ GPR): ขอบเขตของด้านนี้ยังไม่ชัด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§1.6 หน้า 12; FIG Commission 4; IHO (S-44)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Hydrographic &amp; Subsurface Survey: หลักการคิด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Hydrographic &amp; Subsurface Survey: เทคโนโลยี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Hydrographic &amp; Subsurface Survey: Trend ในอนาคต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ด้านที่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Processing, GIS &amp; Modeling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การประมวลผลและจัดการข้อมูลเชิงพื้นที่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หลักการคิด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Trend ในอนาคต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Data Processing, GIS &amp; Modeling: วัตถุประสงค์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จัดเก็บ ผสาน วิเคราะห์ และแสดงข้อมูลเชิงพื้นที่ใน GIS / LIS เพื่อสนับสนุนการตัดสินใจ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ทำให้ข้อมูลหลายชั้น (layers) เทียบกันได้ โดยอ้างอิงกรอบพิกัดภูมิศาสตร์เดียวกัน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จัดการข้อมูลเชิงพื้นที่เป็นโครงสร้างพื้นฐาน (SDI): เก็บ วิเคราะห์ แสดงผล กำหนดมาตรฐาน และเผยแพร่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§1.8 หน้า 14-15; FIG Commission 3; ISPRS Commission IV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Data Processing, GIS &amp; Modeling: หลักการคิด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Data Processing, GIS &amp; Modeling: เทคโนโลยี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Data Processing, GIS &amp; Modeling: Trend ในอนาคต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ด้านที่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Integration, Automation &amp; Emerging Tech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การบูรณาการ ระบบอัตโนมัติ และเทคโนโลยีเกิดใหม่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หลักการคิด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Trend ในอนาคต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Integration, Automation &amp; Emerging Tech: วัตถุประสงค์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ผสานเซนเซอร์หลายชนิด (เช่น scanner + GNSS + IMU + กล้อง) ให้ได้ข้อมูลพิกัด 3 มิติในระบบเดียว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ทำให้การวัดและการเฝ้าติดตามเป็นแบบอัตโนมัติ ต่อเนื่อง และทันเวลา (เช่น dynamic structural monitoring)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นำเทคโนโลยีใหม่เข้าสู่งานสำรวจ: AI/ML, IoT, digital twin, immersive technologies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§1.3 หน้า 7; ISPRS Commission I, IV; FIG Commission 6 (WG 6.2, 6.3)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Integration, Automation &amp; Emerging Tech: หลักการคิด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Integration, Automation &amp; Emerging Tech: เทคโนโลยี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Integration, Automation &amp; Emerging Tech: Trend ในอนาคต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สรุป: ภาพรวมและ trend ร่วมของทุกด้าน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แหล่งอ้างอิง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 - ดู Reading_List.md และ Research_Sources.xlsx)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Survey Engineering Technologies - outline</dc:title>
  <dc:subject>PptxGenJS Presentation</dc:subject>
  <dc:creator>PptxGenJS</dc:creator>
  <cp:lastModifiedBy>PptxGenJS</cp:lastModifiedBy>
  <cp:revision>1</cp:revision>
  <dcterms:created xsi:type="dcterms:W3CDTF">2026-10-02T03:26:07Z</dcterms:created>
  <dcterms:modified xsi:type="dcterms:W3CDTF">2026-10-02T03:26:07Z</dcterms:modified>
</cp:coreProperties>
</file>