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slideMasters/slideMaster21.xml" ContentType="application/vnd.openxmlformats-officedocument.presentationml.slideMaster+xml"/>
  <Override PartName="/ppt/slides/slide21.xml" ContentType="application/vnd.openxmlformats-officedocument.presentationml.slide+xml"/>
  <Override PartName="/ppt/slideMasters/slideMaster22.xml" ContentType="application/vnd.openxmlformats-officedocument.presentationml.slideMaster+xml"/>
  <Override PartName="/ppt/slides/slide22.xml" ContentType="application/vnd.openxmlformats-officedocument.presentationml.slide+xml"/>
  <Override PartName="/ppt/slideMasters/slideMaster23.xml" ContentType="application/vnd.openxmlformats-officedocument.presentationml.slideMaster+xml"/>
  <Override PartName="/ppt/slides/slide23.xml" ContentType="application/vnd.openxmlformats-officedocument.presentationml.slide+xml"/>
  <Override PartName="/ppt/slideMasters/slideMaster24.xml" ContentType="application/vnd.openxmlformats-officedocument.presentationml.slideMaster+xml"/>
  <Override PartName="/ppt/slides/slide24.xml" ContentType="application/vnd.openxmlformats-officedocument.presentationml.slide+xml"/>
  <Override PartName="/ppt/slideMasters/slideMaster25.xml" ContentType="application/vnd.openxmlformats-officedocument.presentationml.slideMaster+xml"/>
  <Override PartName="/ppt/slides/slide25.xml" ContentType="application/vnd.openxmlformats-officedocument.presentationml.slide+xml"/>
  <Override PartName="/ppt/slideMasters/slideMaster26.xml" ContentType="application/vnd.openxmlformats-officedocument.presentationml.slideMaster+xml"/>
  <Override PartName="/ppt/slides/slide26.xml" ContentType="application/vnd.openxmlformats-officedocument.presentationml.slide+xml"/>
  <Override PartName="/ppt/slideMasters/slideMaster27.xml" ContentType="application/vnd.openxmlformats-officedocument.presentationml.slideMaster+xml"/>
  <Override PartName="/ppt/slides/slide27.xml" ContentType="application/vnd.openxmlformats-officedocument.presentationml.slide+xml"/>
  <Override PartName="/ppt/slideMasters/slideMaster28.xml" ContentType="application/vnd.openxmlformats-officedocument.presentationml.slideMaster+xml"/>
  <Override PartName="/ppt/slides/slide28.xml" ContentType="application/vnd.openxmlformats-officedocument.presentationml.slide+xml"/>
  <Override PartName="/ppt/slideMasters/slideMaster29.xml" ContentType="application/vnd.openxmlformats-officedocument.presentationml.slideMaster+xml"/>
  <Override PartName="/ppt/slides/slide29.xml" ContentType="application/vnd.openxmlformats-officedocument.presentationml.slide+xml"/>
  <Override PartName="/ppt/slideMasters/slideMaster30.xml" ContentType="application/vnd.openxmlformats-officedocument.presentationml.slideMaster+xml"/>
  <Override PartName="/ppt/slides/slide30.xml" ContentType="application/vnd.openxmlformats-officedocument.presentationml.slide+xml"/>
  <Override PartName="/ppt/slideMasters/slideMaster31.xml" ContentType="application/vnd.openxmlformats-officedocument.presentationml.slideMaster+xml"/>
  <Override PartName="/ppt/slides/slide31.xml" ContentType="application/vnd.openxmlformats-officedocument.presentationml.slide+xml"/>
  <Override PartName="/ppt/slideMasters/slideMaster32.xml" ContentType="application/vnd.openxmlformats-officedocument.presentationml.slideMaster+xml"/>
  <Override PartName="/ppt/slides/slide32.xml" ContentType="application/vnd.openxmlformats-officedocument.presentationml.slide+xml"/>
  <Override PartName="/ppt/slideMasters/slideMaster33.xml" ContentType="application/vnd.openxmlformats-officedocument.presentationml.slideMaster+xml"/>
  <Override PartName="/ppt/slides/slide33.xml" ContentType="application/vnd.openxmlformats-officedocument.presentationml.slide+xml"/>
  <Override PartName="/ppt/slideMasters/slideMaster34.xml" ContentType="application/vnd.openxmlformats-officedocument.presentationml.slideMaster+xml"/>
  <Override PartName="/ppt/slides/slide34.xml" ContentType="application/vnd.openxmlformats-officedocument.presentationml.slide+xml"/>
  <Override PartName="/ppt/slideMasters/slideMaster35.xml" ContentType="application/vnd.openxmlformats-officedocument.presentationml.slideMaster+xml"/>
  <Override PartName="/ppt/slides/slide35.xml" ContentType="application/vnd.openxmlformats-officedocument.presentationml.slide+xml"/>
  <Override PartName="/ppt/slideMasters/slideMaster36.xml" ContentType="application/vnd.openxmlformats-officedocument.presentationml.slideMaster+xml"/>
  <Override PartName="/ppt/slides/slide36.xml" ContentType="application/vnd.openxmlformats-officedocument.presentationml.slide+xml"/>
  <Override PartName="/ppt/slideMasters/slideMaster37.xml" ContentType="application/vnd.openxmlformats-officedocument.presentationml.slideMaster+xml"/>
  <Override PartName="/ppt/slides/slide37.xml" ContentType="application/vnd.openxmlformats-officedocument.presentationml.slide+xml"/>
  <Override PartName="/ppt/slideMasters/slideMaster38.xml" ContentType="application/vnd.openxmlformats-officedocument.presentationml.slideMaster+xml"/>
  <Override PartName="/ppt/slides/slide38.xml" ContentType="application/vnd.openxmlformats-officedocument.presentationml.slide+xml"/>
  <Override PartName="/ppt/slideMasters/slideMaster39.xml" ContentType="application/vnd.openxmlformats-officedocument.presentationml.slideMaster+xml"/>
  <Override PartName="/ppt/slides/slide39.xml" ContentType="application/vnd.openxmlformats-officedocument.presentationml.slide+xml"/>
  <Override PartName="/ppt/slideMasters/slideMaster40.xml" ContentType="application/vnd.openxmlformats-officedocument.presentationml.slideMaster+xml"/>
  <Override PartName="/ppt/slides/slide40.xml" ContentType="application/vnd.openxmlformats-officedocument.presentationml.slide+xml"/>
  <Override PartName="/ppt/slideMasters/slideMaster41.xml" ContentType="application/vnd.openxmlformats-officedocument.presentationml.slideMaster+xml"/>
  <Override PartName="/ppt/slides/slide41.xml" ContentType="application/vnd.openxmlformats-officedocument.presentationml.slide+xml"/>
  <Override PartName="/ppt/slideMasters/slideMaster42.xml" ContentType="application/vnd.openxmlformats-officedocument.presentationml.slideMaster+xml"/>
  <Override PartName="/ppt/slides/slide4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ppt/notesSlides/notesSlide35.xml" ContentType="application/vnd.openxmlformats-officedocument.presentationml.notesSlide+xml"/>
  <Override PartName="/ppt/notesSlides/notesSlide36.xml" ContentType="application/vnd.openxmlformats-officedocument.presentationml.notesSlide+xml"/>
  <Override PartName="/ppt/notesSlides/notesSlide37.xml" ContentType="application/vnd.openxmlformats-officedocument.presentationml.notesSlide+xml"/>
  <Override PartName="/ppt/notesSlides/notesSlide38.xml" ContentType="application/vnd.openxmlformats-officedocument.presentationml.notesSlide+xml"/>
  <Override PartName="/ppt/notesSlides/notesSlide39.xml" ContentType="application/vnd.openxmlformats-officedocument.presentationml.notesSlide+xml"/>
  <Override PartName="/ppt/notesSlides/notesSlide40.xml" ContentType="application/vnd.openxmlformats-officedocument.presentationml.notesSlide+xml"/>
  <Override PartName="/ppt/notesSlides/notesSlide41.xml" ContentType="application/vnd.openxmlformats-officedocument.presentationml.notesSlide+xml"/>
  <Override PartName="/ppt/notesSlides/notesSlide4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  <p:sldId id="282" r:id="rId28"/>
    <p:sldId id="283" r:id="rId29"/>
    <p:sldId id="284" r:id="rId30"/>
    <p:sldId id="285" r:id="rId31"/>
    <p:sldId id="286" r:id="rId32"/>
    <p:sldId id="287" r:id="rId33"/>
    <p:sldId id="288" r:id="rId34"/>
    <p:sldId id="289" r:id="rId35"/>
    <p:sldId id="290" r:id="rId36"/>
    <p:sldId id="291" r:id="rId37"/>
    <p:sldId id="292" r:id="rId38"/>
    <p:sldId id="293" r:id="rId39"/>
    <p:sldId id="294" r:id="rId40"/>
    <p:sldId id="295" r:id="rId41"/>
    <p:sldId id="296" r:id="rId42"/>
    <p:sldId id="297" r:id="rId43"/>
  </p:sldIdLst>
  <p:notesMasterIdLst>
    <p:notesMasterId r:id="rId44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slide" Target="slides/slide22.xml"/><Relationship Id="rId24" Type="http://schemas.openxmlformats.org/officeDocument/2006/relationships/slide" Target="slides/slide23.xml"/><Relationship Id="rId25" Type="http://schemas.openxmlformats.org/officeDocument/2006/relationships/slide" Target="slides/slide24.xml"/><Relationship Id="rId26" Type="http://schemas.openxmlformats.org/officeDocument/2006/relationships/slide" Target="slides/slide25.xml"/><Relationship Id="rId27" Type="http://schemas.openxmlformats.org/officeDocument/2006/relationships/slide" Target="slides/slide26.xml"/><Relationship Id="rId28" Type="http://schemas.openxmlformats.org/officeDocument/2006/relationships/slide" Target="slides/slide27.xml"/><Relationship Id="rId29" Type="http://schemas.openxmlformats.org/officeDocument/2006/relationships/slide" Target="slides/slide28.xml"/><Relationship Id="rId30" Type="http://schemas.openxmlformats.org/officeDocument/2006/relationships/slide" Target="slides/slide29.xml"/><Relationship Id="rId31" Type="http://schemas.openxmlformats.org/officeDocument/2006/relationships/slide" Target="slides/slide30.xml"/><Relationship Id="rId32" Type="http://schemas.openxmlformats.org/officeDocument/2006/relationships/slide" Target="slides/slide31.xml"/><Relationship Id="rId33" Type="http://schemas.openxmlformats.org/officeDocument/2006/relationships/slide" Target="slides/slide32.xml"/><Relationship Id="rId34" Type="http://schemas.openxmlformats.org/officeDocument/2006/relationships/slide" Target="slides/slide33.xml"/><Relationship Id="rId35" Type="http://schemas.openxmlformats.org/officeDocument/2006/relationships/slide" Target="slides/slide34.xml"/><Relationship Id="rId36" Type="http://schemas.openxmlformats.org/officeDocument/2006/relationships/slide" Target="slides/slide35.xml"/><Relationship Id="rId37" Type="http://schemas.openxmlformats.org/officeDocument/2006/relationships/slide" Target="slides/slide36.xml"/><Relationship Id="rId38" Type="http://schemas.openxmlformats.org/officeDocument/2006/relationships/slide" Target="slides/slide37.xml"/><Relationship Id="rId39" Type="http://schemas.openxmlformats.org/officeDocument/2006/relationships/slide" Target="slides/slide38.xml"/><Relationship Id="rId40" Type="http://schemas.openxmlformats.org/officeDocument/2006/relationships/slide" Target="slides/slide39.xml"/><Relationship Id="rId41" Type="http://schemas.openxmlformats.org/officeDocument/2006/relationships/slide" Target="slides/slide40.xml"/><Relationship Id="rId42" Type="http://schemas.openxmlformats.org/officeDocument/2006/relationships/slide" Target="slides/slide41.xml"/><Relationship Id="rId43" Type="http://schemas.openxmlformats.org/officeDocument/2006/relationships/slide" Target="slides/slide42.xml"/><Relationship Id="rId44" Type="http://schemas.openxmlformats.org/officeDocument/2006/relationships/notesMaster" Target="notesMasters/notesMaster1.xml"/><Relationship Id="rId45" Type="http://schemas.openxmlformats.org/officeDocument/2006/relationships/presProps" Target="presProps.xml"/><Relationship Id="rId46" Type="http://schemas.openxmlformats.org/officeDocument/2006/relationships/viewProps" Target="viewProps.xml"/><Relationship Id="rId47" Type="http://schemas.openxmlformats.org/officeDocument/2006/relationships/theme" Target="theme/theme1.xml"/><Relationship Id="rId48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_rels/notesSlide2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1.xml"/>
		</Relationships>
</file>

<file path=ppt/notesSlides/_rels/notesSlide2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2.xml"/>
		</Relationships>
</file>

<file path=ppt/notesSlides/_rels/notesSlide2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3.xml"/>
		</Relationships>
</file>

<file path=ppt/notesSlides/_rels/notesSlide2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4.xml"/>
		</Relationships>
</file>

<file path=ppt/notesSlides/_rels/notesSlide2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5.xml"/>
		</Relationships>
</file>

<file path=ppt/notesSlides/_rels/notesSlide2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6.xml"/>
		</Relationships>
</file>

<file path=ppt/notesSlides/_rels/notesSlide2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7.xml"/>
		</Relationships>
</file>

<file path=ppt/notesSlides/_rels/notesSlide2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8.xml"/>
		</Relationships>
</file>

<file path=ppt/notesSlides/_rels/notesSlide2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9.xml"/>
		</Relationships>
</file>

<file path=ppt/notesSlides/_rels/notesSlide3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0.xml"/>
		</Relationships>
</file>

<file path=ppt/notesSlides/_rels/notesSlide3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1.xml"/>
		</Relationships>
</file>

<file path=ppt/notesSlides/_rels/notesSlide3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2.xml"/>
		</Relationships>
</file>

<file path=ppt/notesSlides/_rels/notesSlide3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3.xml"/>
		</Relationships>
</file>

<file path=ppt/notesSlides/_rels/notesSlide3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4.xml"/>
		</Relationships>
</file>

<file path=ppt/notesSlides/_rels/notesSlide3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5.xml"/>
		</Relationships>
</file>

<file path=ppt/notesSlides/_rels/notesSlide3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6.xml"/>
		</Relationships>
</file>

<file path=ppt/notesSlides/_rels/notesSlide3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7.xml"/>
		</Relationships>
</file>

<file path=ppt/notesSlides/_rels/notesSlide3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8.xml"/>
		</Relationships>
</file>

<file path=ppt/notesSlides/_rels/notesSlide3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9.xml"/>
		</Relationships>
</file>

<file path=ppt/notesSlides/_rels/notesSlide4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0.xml"/>
		</Relationships>
</file>

<file path=ppt/notesSlides/_rels/notesSlide4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1.xml"/>
		</Relationships>
</file>

<file path=ppt/notesSlides/_rels/notesSlide4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2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ทางเลือก 2: โครงสร้างแบ่งตามบริเวณผลลัพธ์ที่ได้. หน่วยในตารางคือชนิดเครื่องมือพร้อมตัวอย่างผลิตภัณฑ์. ดูรายการข้อมูลที่ต้องหาใน Reading_List_Option2.md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control surveys = เครือข่ายหมุดแนวราบ/แนวดิ่งเป็นกรอบอ้างอิง (หน้า 11); geodetic methods หาตำแหน่งสัมพัทธ์ของหมุดที่อยู่ห่างกัน (หน้า 9); ground survey จำเป็นสำหรับ control แม้ใช้ photogrammetry (หน้า 468). บทนี้ไม่ผูกกับบริเวณ จึงอยู่ต้นเล่มเป็นฐานของทุกบท (ข้อเสนอของผู้นำเสนอ).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topographic / construction / as-built: หน้า 11-12 (S044); laser scanning = dense grids of coordinated points (หน้า 7, S042); §17.2: ground survey ใช้กับแผนที่มาตราส่วนใหญ่พื้นที่เล็ก, photogrammetry ใช้กับพื้นที่กว้าง (S045). การแบ่งสามระดับพื้นที่เป็นข้อเสนอของผู้นำเสนอ.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หนังสือ §17.13 หน้า 493 (S046): hydrographic surveys determine depths and terrain configurations of bottoms of water bodies; 2 งาน = soundings + locating positions; ใช้กับ dredging, reservoir capacity, navigation. IHO (S048): primary purpose = navigation and other marine purposes.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ข้อมูลตำแหน่งสาธารณูปโภคใต้ดินจำเป็นสำหรับการขุด (S049, บทคัดย่อ); 'unlocated or mislocated utilities are among the leading causes of costly rework, project delays, and utility strikes' (S050, เว็บผู้ให้บริการ). หนังสือหน้า 12: mine surveys รวม geophysical surveys. การรวมภาพตัดชั้นดิน (ERT, seismic) เป็นการทดลองตามคำสั่งผู้ใช้ ใกล้งานธรณีเทคนิค ต้องตัดสินใจอีกครั้ง.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FIG ข้อ 1 'monitoring any change therein' และข้อ 2 'positioning and monitoring of physical features, structures and engineering works' (S041). หนังสือ §1.13 หน้า 19-20 (S047) กล่าวถึง precise deformation surveys สำหรับเขื่อน สะพาน อาคารสูง, แผนที่ผลภัยพิบัติ, global change (เป็น future challenges ราว 2011). ยังไม่มีแหล่งเรื่องตลิ่ง/การกัดเซาะ.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หนังสือ §1.8 (S030): LIS/GIS เก็บ ผสาน จัดการ วิเคราะห์ แสดงข้อมูลเชิงพื้นที่; ทุกข้อมูลต้องอยู่ในกรอบอ้างอิงร่วม.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*** แปลงสมมติ 33 บาท/USD ยังไม่ตรวจอัตรา; ราคาเป็นสัญญากลางรัฐอินเดียนา ก.พ. 2024 ไม่ใช่ราคาไทย. S039 เปิดอ่านเฉพาะบทคัดย่อ.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321040" y="475488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808080"/>
                </a:solidFill>
                <a:latin typeface="Tahoma"/>
                <a:ea typeface="Tahoma"/>
                <a:cs typeface="Tahoma"/>
              </a:defRPr>
            </a:lvl1pPr>
          </a:lstStyle>
          <a:p>
            <a:pPr algn="r"/>
            <a:fld id="{F7021451-1387-4CA6-816F-3879F97B5CBC}" type="slidenum">
              <a:rPr b="0" lang="en-US"/>
              <a:t>1000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321040" y="475488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808080"/>
                </a:solidFill>
                <a:latin typeface="Tahoma"/>
                <a:ea typeface="Tahoma"/>
                <a:cs typeface="Tahoma"/>
              </a:defRPr>
            </a:lvl1pPr>
          </a:lstStyle>
          <a:p>
            <a:pPr algn="r"/>
            <a:fld id="{F7021451-1387-4CA6-816F-3879F97B5CBC}" type="slidenum">
              <a:rPr b="0" lang="en-US"/>
              <a:t>null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" Target="slide3.xml"/><Relationship Id="rId2" Type="http://schemas.openxmlformats.org/officeDocument/2006/relationships/slide" Target="slide4.xml"/><Relationship Id="rId3" Type="http://schemas.openxmlformats.org/officeDocument/2006/relationships/slide" Target="slide10.xml"/><Relationship Id="rId4" Type="http://schemas.openxmlformats.org/officeDocument/2006/relationships/slide" Target="slide17.xml"/><Relationship Id="rId5" Type="http://schemas.openxmlformats.org/officeDocument/2006/relationships/slide" Target="slide23.xml"/><Relationship Id="rId6" Type="http://schemas.openxmlformats.org/officeDocument/2006/relationships/slide" Target="slide29.xml"/><Relationship Id="rId7" Type="http://schemas.openxmlformats.org/officeDocument/2006/relationships/slide" Target="slide35.xml"/><Relationship Id="rId8" Type="http://schemas.openxmlformats.org/officeDocument/2006/relationships/slide" Target="slide41.xml"/><Relationship Id="rId9" Type="http://schemas.openxmlformats.org/officeDocument/2006/relationships/slide" Target="slide42.xml"/><Relationship Id="rId10" Type="http://schemas.openxmlformats.org/officeDocument/2006/relationships/slideLayout" Target="../slideLayouts/slideLayout1.xml"/><Relationship Id="rId11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0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1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3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4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5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6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7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8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9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0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1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2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3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4.xml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5.xml"/></Relationships>
</file>

<file path=ppt/slides/_rels/slide3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6.xml"/></Relationships>
</file>

<file path=ppt/slides/_rels/slide3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7.xml"/></Relationships>
</file>

<file path=ppt/slides/_rels/slide3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8.xml"/></Relationships>
</file>

<file path=ppt/slides/_rels/slide3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9.xml"/></Relationships>
</file>

<file path=ppt/slides/_rels/slide4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0.xml"/></Relationships>
</file>

<file path=ppt/slides/_rels/slide4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1.xml"/></Relationships>
</file>

<file path=ppt/slides/_rels/slide4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1645920"/>
            <a:ext cx="8229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000000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เทคโนโลยีสำหรับงานสำรวจวิศวกรรม</a:t>
            </a:r>
            <a:endParaRPr lang="en-US" sz="36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2560320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595959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Survey Engineering Technologies  |  ทางเลือก 2: แบ่งตามบริเวณที่สำรวจ (ร่าง)</a:t>
            </a:r>
            <a:endParaRPr lang="en-US" sz="18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321040" y="475488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808080"/>
                </a:solidFill>
                <a:latin typeface="Tahoma"/>
                <a:ea typeface="Tahoma"/>
                <a:cs typeface="Tahoma"/>
              </a:defRPr>
            </a:lvl1pPr>
          </a:lstStyle>
          <a:p>
            <a:pPr algn="r"/>
            <a:fld id="{F7021451-1387-4CA6-816F-3879F97B5CBC}" type="slidenum">
              <a:rPr b="0" lang="en-US"/>
              <a:t>1</a:t>
            </a:fld>
            <a:endParaRPr lang="en-US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320040"/>
            <a:ext cx="82296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400" b="1" dirty="0">
                <a:solidFill>
                  <a:srgbClr val="000000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สารบัญ</a:t>
            </a:r>
            <a:endParaRPr lang="en-US" sz="2400" dirty="0"/>
          </a:p>
        </p:txBody>
      </p:sp>
      <p:sp>
        <p:nvSpPr>
          <p:cNvPr id="3" name="Text 1">
            <a:hlinkClick r:id="rId1" tooltip="ไปหน้า 3" action="ppaction://hlinksldjump"/>
          </p:cNvPr>
          <p:cNvSpPr txBox="1"/>
          <p:nvPr/>
        </p:nvSpPr>
        <p:spPr>
          <a:xfrm>
            <a:off x="457200" y="1188720"/>
            <a:ext cx="722376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u="sng" dirty="0">
                <a:solidFill>
                  <a:srgbClr val="000000"/>
                </a:solidFill>
                <a:latin typeface="Tahoma" pitchFamily="34" charset="0"/>
                <a:ea typeface="Tahoma" pitchFamily="34" charset="-122"/>
                <a:cs typeface="Tahoma" pitchFamily="34" charset="-120"/>
                <a:hlinkClick r:id="rId1" action="ppaction://hlinksldjump" tooltip="ไปหน้า 3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ภาพรวมของงานสำรวจ</a:t>
            </a:r>
            <a:endParaRPr lang="en-US" sz="1500" dirty="0"/>
          </a:p>
        </p:txBody>
      </p:sp>
      <p:sp>
        <p:nvSpPr>
          <p:cNvPr id="4" name="Text 2"/>
          <p:cNvSpPr txBox="1"/>
          <p:nvPr/>
        </p:nvSpPr>
        <p:spPr>
          <a:xfrm>
            <a:off x="7680960" y="1188720"/>
            <a:ext cx="100584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500" dirty="0">
                <a:solidFill>
                  <a:srgbClr val="000000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3</a:t>
            </a:r>
            <a:endParaRPr lang="en-US" sz="1500" dirty="0"/>
          </a:p>
        </p:txBody>
      </p:sp>
      <p:sp>
        <p:nvSpPr>
          <p:cNvPr id="5" name="Text 3">
            <a:hlinkClick r:id="rId2" tooltip="ไปหน้า 4" action="ppaction://hlinksldjump"/>
          </p:cNvPr>
          <p:cNvSpPr txBox="1"/>
          <p:nvPr/>
        </p:nvSpPr>
        <p:spPr>
          <a:xfrm>
            <a:off x="457200" y="1527048"/>
            <a:ext cx="722376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u="sng" dirty="0">
                <a:solidFill>
                  <a:srgbClr val="000000"/>
                </a:solidFill>
                <a:latin typeface="Tahoma" pitchFamily="34" charset="0"/>
                <a:ea typeface="Tahoma" pitchFamily="34" charset="-122"/>
                <a:cs typeface="Tahoma" pitchFamily="34" charset="-120"/>
                <a:hlinkClick r:id="rId2" action="ppaction://hlinksldjump" tooltip="ไปหน้า 4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บทที่ 0: ตำแหน่งอ้างอิง</a:t>
            </a:r>
            <a:endParaRPr lang="en-US" sz="1500" dirty="0"/>
          </a:p>
        </p:txBody>
      </p:sp>
      <p:sp>
        <p:nvSpPr>
          <p:cNvPr id="6" name="Text 4"/>
          <p:cNvSpPr txBox="1"/>
          <p:nvPr/>
        </p:nvSpPr>
        <p:spPr>
          <a:xfrm>
            <a:off x="7680960" y="1527048"/>
            <a:ext cx="100584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500" dirty="0">
                <a:solidFill>
                  <a:srgbClr val="000000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4</a:t>
            </a:r>
            <a:endParaRPr lang="en-US" sz="1500" dirty="0"/>
          </a:p>
        </p:txBody>
      </p:sp>
      <p:sp>
        <p:nvSpPr>
          <p:cNvPr id="7" name="Text 5">
            <a:hlinkClick r:id="rId3" tooltip="ไปหน้า 10" action="ppaction://hlinksldjump"/>
          </p:cNvPr>
          <p:cNvSpPr txBox="1"/>
          <p:nvPr/>
        </p:nvSpPr>
        <p:spPr>
          <a:xfrm>
            <a:off x="457200" y="1865376"/>
            <a:ext cx="722376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u="sng" dirty="0">
                <a:solidFill>
                  <a:srgbClr val="000000"/>
                </a:solidFill>
                <a:latin typeface="Tahoma" pitchFamily="34" charset="0"/>
                <a:ea typeface="Tahoma" pitchFamily="34" charset="-122"/>
                <a:cs typeface="Tahoma" pitchFamily="34" charset="-120"/>
                <a:hlinkClick r:id="rId3" action="ppaction://hlinksldjump" tooltip="ไปหน้า 1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บทที่ 1: ภูมิประเทศและสิ่งปลูกสร้างเหนือผิวดิน</a:t>
            </a:r>
            <a:endParaRPr lang="en-US" sz="1500" dirty="0"/>
          </a:p>
        </p:txBody>
      </p:sp>
      <p:sp>
        <p:nvSpPr>
          <p:cNvPr id="8" name="Text 6"/>
          <p:cNvSpPr txBox="1"/>
          <p:nvPr/>
        </p:nvSpPr>
        <p:spPr>
          <a:xfrm>
            <a:off x="7680960" y="1865376"/>
            <a:ext cx="100584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500" dirty="0">
                <a:solidFill>
                  <a:srgbClr val="000000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10</a:t>
            </a:r>
            <a:endParaRPr lang="en-US" sz="1500" dirty="0"/>
          </a:p>
        </p:txBody>
      </p:sp>
      <p:sp>
        <p:nvSpPr>
          <p:cNvPr id="9" name="Text 7">
            <a:hlinkClick r:id="rId4" tooltip="ไปหน้า 17" action="ppaction://hlinksldjump"/>
          </p:cNvPr>
          <p:cNvSpPr txBox="1"/>
          <p:nvPr/>
        </p:nvSpPr>
        <p:spPr>
          <a:xfrm>
            <a:off x="457200" y="2203704"/>
            <a:ext cx="722376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u="sng" dirty="0">
                <a:solidFill>
                  <a:srgbClr val="000000"/>
                </a:solidFill>
                <a:latin typeface="Tahoma" pitchFamily="34" charset="0"/>
                <a:ea typeface="Tahoma" pitchFamily="34" charset="-122"/>
                <a:cs typeface="Tahoma" pitchFamily="34" charset="-120"/>
                <a:hlinkClick r:id="rId4" action="ppaction://hlinksldjump" tooltip="ไปหน้า 17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บทที่ 2: ท้องน้ำ</a:t>
            </a:r>
            <a:endParaRPr lang="en-US" sz="1500" dirty="0"/>
          </a:p>
        </p:txBody>
      </p:sp>
      <p:sp>
        <p:nvSpPr>
          <p:cNvPr id="10" name="Text 8"/>
          <p:cNvSpPr txBox="1"/>
          <p:nvPr/>
        </p:nvSpPr>
        <p:spPr>
          <a:xfrm>
            <a:off x="7680960" y="2203704"/>
            <a:ext cx="100584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500" dirty="0">
                <a:solidFill>
                  <a:srgbClr val="000000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17</a:t>
            </a:r>
            <a:endParaRPr lang="en-US" sz="1500" dirty="0"/>
          </a:p>
        </p:txBody>
      </p:sp>
      <p:sp>
        <p:nvSpPr>
          <p:cNvPr id="11" name="Text 9">
            <a:hlinkClick r:id="rId5" tooltip="ไปหน้า 23" action="ppaction://hlinksldjump"/>
          </p:cNvPr>
          <p:cNvSpPr txBox="1"/>
          <p:nvPr/>
        </p:nvSpPr>
        <p:spPr>
          <a:xfrm>
            <a:off x="457200" y="2542032"/>
            <a:ext cx="722376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u="sng" dirty="0">
                <a:solidFill>
                  <a:srgbClr val="000000"/>
                </a:solidFill>
                <a:latin typeface="Tahoma" pitchFamily="34" charset="0"/>
                <a:ea typeface="Tahoma" pitchFamily="34" charset="-122"/>
                <a:cs typeface="Tahoma" pitchFamily="34" charset="-120"/>
                <a:hlinkClick r:id="rId5" action="ppaction://hlinksldjump" tooltip="ไปหน้า 23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บทที่ 3: ใต้ผิวดิน</a:t>
            </a:r>
            <a:endParaRPr lang="en-US" sz="1500" dirty="0"/>
          </a:p>
        </p:txBody>
      </p:sp>
      <p:sp>
        <p:nvSpPr>
          <p:cNvPr id="12" name="Text 10"/>
          <p:cNvSpPr txBox="1"/>
          <p:nvPr/>
        </p:nvSpPr>
        <p:spPr>
          <a:xfrm>
            <a:off x="7680960" y="2542032"/>
            <a:ext cx="100584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500" dirty="0">
                <a:solidFill>
                  <a:srgbClr val="000000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23</a:t>
            </a:r>
            <a:endParaRPr lang="en-US" sz="1500" dirty="0"/>
          </a:p>
        </p:txBody>
      </p:sp>
      <p:sp>
        <p:nvSpPr>
          <p:cNvPr id="13" name="Text 11">
            <a:hlinkClick r:id="rId6" tooltip="ไปหน้า 29" action="ppaction://hlinksldjump"/>
          </p:cNvPr>
          <p:cNvSpPr txBox="1"/>
          <p:nvPr/>
        </p:nvSpPr>
        <p:spPr>
          <a:xfrm>
            <a:off x="457200" y="2880360"/>
            <a:ext cx="722376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u="sng" dirty="0">
                <a:solidFill>
                  <a:srgbClr val="000000"/>
                </a:solidFill>
                <a:latin typeface="Tahoma" pitchFamily="34" charset="0"/>
                <a:ea typeface="Tahoma" pitchFamily="34" charset="-122"/>
                <a:cs typeface="Tahoma" pitchFamily="34" charset="-120"/>
                <a:hlinkClick r:id="rId6" action="ppaction://hlinksldjump" tooltip="ไปหน้า 29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บทที่ 4: การติดตามการเปลี่ยนแปลง</a:t>
            </a:r>
            <a:endParaRPr lang="en-US" sz="1500" dirty="0"/>
          </a:p>
        </p:txBody>
      </p:sp>
      <p:sp>
        <p:nvSpPr>
          <p:cNvPr id="14" name="Text 12"/>
          <p:cNvSpPr txBox="1"/>
          <p:nvPr/>
        </p:nvSpPr>
        <p:spPr>
          <a:xfrm>
            <a:off x="7680960" y="2880360"/>
            <a:ext cx="100584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500" dirty="0">
                <a:solidFill>
                  <a:srgbClr val="000000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29</a:t>
            </a:r>
            <a:endParaRPr lang="en-US" sz="1500" dirty="0"/>
          </a:p>
        </p:txBody>
      </p:sp>
      <p:sp>
        <p:nvSpPr>
          <p:cNvPr id="15" name="Text 13">
            <a:hlinkClick r:id="rId7" tooltip="ไปหน้า 35" action="ppaction://hlinksldjump"/>
          </p:cNvPr>
          <p:cNvSpPr txBox="1"/>
          <p:nvPr/>
        </p:nvSpPr>
        <p:spPr>
          <a:xfrm>
            <a:off x="457200" y="3218688"/>
            <a:ext cx="722376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u="sng" dirty="0">
                <a:solidFill>
                  <a:srgbClr val="000000"/>
                </a:solidFill>
                <a:latin typeface="Tahoma" pitchFamily="34" charset="0"/>
                <a:ea typeface="Tahoma" pitchFamily="34" charset="-122"/>
                <a:cs typeface="Tahoma" pitchFamily="34" charset="-120"/>
                <a:hlinkClick r:id="rId7" action="ppaction://hlinksldjump" tooltip="ไปหน้า 35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บทที่ 5: การจัดการและวิเคราะห์ข้อมูลเชิงพื้นที่</a:t>
            </a:r>
            <a:endParaRPr lang="en-US" sz="1500" dirty="0"/>
          </a:p>
        </p:txBody>
      </p:sp>
      <p:sp>
        <p:nvSpPr>
          <p:cNvPr id="16" name="Text 14"/>
          <p:cNvSpPr txBox="1"/>
          <p:nvPr/>
        </p:nvSpPr>
        <p:spPr>
          <a:xfrm>
            <a:off x="7680960" y="3218688"/>
            <a:ext cx="100584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500" dirty="0">
                <a:solidFill>
                  <a:srgbClr val="000000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35</a:t>
            </a:r>
            <a:endParaRPr lang="en-US" sz="1500" dirty="0"/>
          </a:p>
        </p:txBody>
      </p:sp>
      <p:sp>
        <p:nvSpPr>
          <p:cNvPr id="17" name="Text 15">
            <a:hlinkClick r:id="rId8" tooltip="ไปหน้า 41" action="ppaction://hlinksldjump"/>
          </p:cNvPr>
          <p:cNvSpPr txBox="1"/>
          <p:nvPr/>
        </p:nvSpPr>
        <p:spPr>
          <a:xfrm>
            <a:off x="457200" y="3557016"/>
            <a:ext cx="722376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u="sng" dirty="0">
                <a:solidFill>
                  <a:srgbClr val="000000"/>
                </a:solidFill>
                <a:latin typeface="Tahoma" pitchFamily="34" charset="0"/>
                <a:ea typeface="Tahoma" pitchFamily="34" charset="-122"/>
                <a:cs typeface="Tahoma" pitchFamily="34" charset="-120"/>
                <a:hlinkClick r:id="rId8" action="ppaction://hlinksldjump" tooltip="ไปหน้า 41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สรุป: ภาพรวมและ trend ร่วม</a:t>
            </a:r>
            <a:endParaRPr lang="en-US" sz="1500" dirty="0"/>
          </a:p>
        </p:txBody>
      </p:sp>
      <p:sp>
        <p:nvSpPr>
          <p:cNvPr id="18" name="Text 16"/>
          <p:cNvSpPr txBox="1"/>
          <p:nvPr/>
        </p:nvSpPr>
        <p:spPr>
          <a:xfrm>
            <a:off x="7680960" y="3557016"/>
            <a:ext cx="100584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500" dirty="0">
                <a:solidFill>
                  <a:srgbClr val="000000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41</a:t>
            </a:r>
            <a:endParaRPr lang="en-US" sz="1500" dirty="0"/>
          </a:p>
        </p:txBody>
      </p:sp>
      <p:sp>
        <p:nvSpPr>
          <p:cNvPr id="19" name="Text 17">
            <a:hlinkClick r:id="rId9" tooltip="ไปหน้า 42" action="ppaction://hlinksldjump"/>
          </p:cNvPr>
          <p:cNvSpPr txBox="1"/>
          <p:nvPr/>
        </p:nvSpPr>
        <p:spPr>
          <a:xfrm>
            <a:off x="457200" y="3895344"/>
            <a:ext cx="722376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u="sng" dirty="0">
                <a:solidFill>
                  <a:srgbClr val="000000"/>
                </a:solidFill>
                <a:latin typeface="Tahoma" pitchFamily="34" charset="0"/>
                <a:ea typeface="Tahoma" pitchFamily="34" charset="-122"/>
                <a:cs typeface="Tahoma" pitchFamily="34" charset="-120"/>
                <a:hlinkClick r:id="rId9" action="ppaction://hlinksldjump" tooltip="ไปหน้า 42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แหล่งอ้างอิง</a:t>
            </a:r>
            <a:endParaRPr lang="en-US" sz="1500" dirty="0"/>
          </a:p>
        </p:txBody>
      </p:sp>
      <p:sp>
        <p:nvSpPr>
          <p:cNvPr id="20" name="Text 18"/>
          <p:cNvSpPr txBox="1"/>
          <p:nvPr/>
        </p:nvSpPr>
        <p:spPr>
          <a:xfrm>
            <a:off x="7680960" y="3895344"/>
            <a:ext cx="100584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500" dirty="0">
                <a:solidFill>
                  <a:srgbClr val="000000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42</a:t>
            </a:r>
            <a:endParaRPr lang="en-US" sz="15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321040" y="475488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808080"/>
                </a:solidFill>
                <a:latin typeface="Tahoma"/>
                <a:ea typeface="Tahoma"/>
                <a:cs typeface="Tahoma"/>
              </a:defRPr>
            </a:lvl1pPr>
          </a:lstStyle>
          <a:p>
            <a:pPr algn="r"/>
            <a:fld id="{F7021451-1387-4CA6-816F-3879F97B5CBC}" type="slidenum">
              <a:rPr b="0" lang="en-US"/>
              <a:t>2</a:t>
            </a:fld>
            <a:endParaRPr lang="en-US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320040"/>
            <a:ext cx="82296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400" b="1" dirty="0">
                <a:solidFill>
                  <a:srgbClr val="000000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ภาพรวมของงานสำรวจ: การแบ่งตามบริเวณที่สำรวจ</a:t>
            </a:r>
            <a:endParaRPr lang="en-US" sz="24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960120"/>
            <a:ext cx="82296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000000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การจัดโครงสร้างพิจารณาจากบริเวณที่เป็นเป้าหมายของการวัด (บนผิวดิน ใต้น้ำ ใต้ผิวดิน) ไม่ใช่ตำแหน่งติดตั้งของเครื่องมือ เนื่องจากเครื่องมือชนิดเดียวกันติดตั้งได้บนหลายแพลตฟอร์ม หน่วยของการนำเสนอคือชนิดเครื่องมือ โดยหลักการวัดและเทคโนโลยีเป็นองค์ประกอบประกอบ</a:t>
            </a:r>
            <a:endParaRPr lang="en-US" sz="1300" dirty="0"/>
          </a:p>
        </p:txBody>
      </p:sp>
      <p:sp>
        <p:nvSpPr>
          <p:cNvPr id="4" name="Text 2"/>
          <p:cNvSpPr txBox="1"/>
          <p:nvPr/>
        </p:nvSpPr>
        <p:spPr>
          <a:xfrm>
            <a:off x="457200" y="1874520"/>
            <a:ext cx="8229600" cy="2468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700"/>
              </a:spcAft>
              <a:buNone/>
            </a:pPr>
            <a:r>
              <a:rPr lang="en-US" sz="1400" b="1" dirty="0">
                <a:solidFill>
                  <a:srgbClr val="000000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บทที่ 0  ตำแหน่งอ้างอิง: </a:t>
            </a:r>
            <a:pPr indent="0" marL="0">
              <a:spcAft>
                <a:spcPts val="700"/>
              </a:spcAft>
              <a:buNone/>
            </a:pPr>
            <a:r>
              <a:rPr lang="en-US" sz="1400" dirty="0">
                <a:solidFill>
                  <a:srgbClr val="000000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การกำหนดตำแหน่งอ้างอิงแนวราบและแนวดิ่ง</a:t>
            </a:r>
            <a:endParaRPr lang="en-US" sz="1400" dirty="0"/>
          </a:p>
          <a:p>
            <a:pPr indent="0" marL="0">
              <a:spcAft>
                <a:spcPts val="700"/>
              </a:spcAft>
              <a:buNone/>
            </a:pPr>
            <a:r>
              <a:rPr lang="en-US" sz="1400" b="1" dirty="0">
                <a:solidFill>
                  <a:srgbClr val="000000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บทที่ 1  ภูมิประเทศและสิ่งปลูกสร้างเหนือผิวดิน: </a:t>
            </a:r>
            <a:pPr indent="0" marL="0">
              <a:spcAft>
                <a:spcPts val="700"/>
              </a:spcAft>
              <a:buNone/>
            </a:pPr>
            <a:r>
              <a:rPr lang="en-US" sz="1400" dirty="0">
                <a:solidFill>
                  <a:srgbClr val="000000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การวัดภูมิประเทศและสิ่งปลูกสร้างเหนือผิวดิน</a:t>
            </a:r>
            <a:endParaRPr lang="en-US" sz="1400" dirty="0"/>
          </a:p>
          <a:p>
            <a:pPr indent="0" marL="0">
              <a:spcAft>
                <a:spcPts val="700"/>
              </a:spcAft>
              <a:buNone/>
            </a:pPr>
            <a:r>
              <a:rPr lang="en-US" sz="1400" b="1" dirty="0">
                <a:solidFill>
                  <a:srgbClr val="000000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บทที่ 2  ท้องน้ำ: </a:t>
            </a:r>
            <a:pPr indent="0" marL="0">
              <a:spcAft>
                <a:spcPts val="700"/>
              </a:spcAft>
              <a:buNone/>
            </a:pPr>
            <a:r>
              <a:rPr lang="en-US" sz="1400" dirty="0">
                <a:solidFill>
                  <a:srgbClr val="000000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การวัดความลึกและรูปร่างท้องน้ำ</a:t>
            </a:r>
            <a:endParaRPr lang="en-US" sz="1400" dirty="0"/>
          </a:p>
          <a:p>
            <a:pPr indent="0" marL="0">
              <a:spcAft>
                <a:spcPts val="700"/>
              </a:spcAft>
              <a:buNone/>
            </a:pPr>
            <a:r>
              <a:rPr lang="en-US" sz="1400" b="1" dirty="0">
                <a:solidFill>
                  <a:srgbClr val="000000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บทที่ 3  ใต้ผิวดิน: </a:t>
            </a:r>
            <a:pPr indent="0" marL="0">
              <a:spcAft>
                <a:spcPts val="700"/>
              </a:spcAft>
              <a:buNone/>
            </a:pPr>
            <a:r>
              <a:rPr lang="en-US" sz="1400" dirty="0">
                <a:solidFill>
                  <a:srgbClr val="000000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การระบุวัตถุและโครงสร้างใต้ผิวดิน</a:t>
            </a:r>
            <a:endParaRPr lang="en-US" sz="1400" dirty="0"/>
          </a:p>
          <a:p>
            <a:pPr indent="0" marL="0">
              <a:spcAft>
                <a:spcPts val="700"/>
              </a:spcAft>
              <a:buNone/>
            </a:pPr>
            <a:r>
              <a:rPr lang="en-US" sz="1400" b="1" dirty="0">
                <a:solidFill>
                  <a:srgbClr val="000000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บทที่ 4  การติดตามการเปลี่ยนแปลง: </a:t>
            </a:r>
            <a:pPr indent="0" marL="0">
              <a:spcAft>
                <a:spcPts val="700"/>
              </a:spcAft>
              <a:buNone/>
            </a:pPr>
            <a:r>
              <a:rPr lang="en-US" sz="1400" dirty="0">
                <a:solidFill>
                  <a:srgbClr val="000000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การวัดซ้ำต่างเวลาเพื่อตรวจจับการเปลี่ยนแปลง</a:t>
            </a:r>
            <a:endParaRPr lang="en-US" sz="1400" dirty="0"/>
          </a:p>
          <a:p>
            <a:pPr indent="0" marL="0">
              <a:spcAft>
                <a:spcPts val="700"/>
              </a:spcAft>
              <a:buNone/>
            </a:pPr>
            <a:r>
              <a:rPr lang="en-US" sz="1400" b="1" dirty="0">
                <a:solidFill>
                  <a:srgbClr val="000000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บทที่ 5  การจัดการและวิเคราะห์ข้อมูลเชิงพื้นที่: </a:t>
            </a:r>
            <a:pPr indent="0" marL="0">
              <a:spcAft>
                <a:spcPts val="700"/>
              </a:spcAft>
              <a:buNone/>
            </a:pPr>
            <a:r>
              <a:rPr lang="en-US" sz="1400" dirty="0">
                <a:solidFill>
                  <a:srgbClr val="000000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การจัดเก็บ วิเคราะห์ และแสดงผลข้อมูลเชิงพื้นที่</a:t>
            </a:r>
            <a:endParaRPr lang="en-US" sz="1400" dirty="0"/>
          </a:p>
        </p:txBody>
      </p:sp>
      <p:sp>
        <p:nvSpPr>
          <p:cNvPr id="5" name="Text 3"/>
          <p:cNvSpPr txBox="1"/>
          <p:nvPr/>
        </p:nvSpPr>
        <p:spPr>
          <a:xfrm>
            <a:off x="457200" y="4343400"/>
            <a:ext cx="76809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808080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ที่มาของการแบ่ง: การสังเคราะห์ของผู้นำเสนอ จากประเภทงานสำรวจตามวัตถุประสงค์และตามแพลตฟอร์ม (Elementary Surveying §1.6 หน้า 11-12 [S044]) และการแบ่ง commission ของ FIG (fig.net/about) และ ISPRS (isprs.org/commissions) ไม่ใช่การจัดประเภทอย่างเป็นทางการ</a:t>
            </a:r>
            <a:endParaRPr lang="en-US" sz="9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321040" y="475488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808080"/>
                </a:solidFill>
                <a:latin typeface="Tahoma"/>
                <a:ea typeface="Tahoma"/>
                <a:cs typeface="Tahoma"/>
              </a:defRPr>
            </a:lvl1pPr>
          </a:lstStyle>
          <a:p>
            <a:pPr algn="r"/>
            <a:fld id="{F7021451-1387-4CA6-816F-3879F97B5CBC}" type="slidenum">
              <a:rPr b="0" lang="en-US"/>
              <a:t>3</a:t>
            </a:fld>
            <a:endParaRPr lang="en-US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54864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595959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บทที่ 0</a:t>
            </a:r>
            <a:endParaRPr lang="en-US" sz="16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914400"/>
            <a:ext cx="8229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000" b="1" dirty="0">
                <a:solidFill>
                  <a:srgbClr val="000000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ตำแหน่งอ้างอิง</a:t>
            </a:r>
            <a:endParaRPr lang="en-US" sz="3000" dirty="0"/>
          </a:p>
        </p:txBody>
      </p:sp>
      <p:sp>
        <p:nvSpPr>
          <p:cNvPr id="4" name="Text 2"/>
          <p:cNvSpPr txBox="1"/>
          <p:nvPr/>
        </p:nvSpPr>
        <p:spPr>
          <a:xfrm>
            <a:off x="457200" y="1737360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595959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Geodetic Reference Positioning</a:t>
            </a:r>
            <a:endParaRPr lang="en-US" sz="1800" dirty="0"/>
          </a:p>
        </p:txBody>
      </p:sp>
      <p:sp>
        <p:nvSpPr>
          <p:cNvPr id="5" name="Text 3"/>
          <p:cNvSpPr txBox="1"/>
          <p:nvPr/>
        </p:nvSpPr>
        <p:spPr>
          <a:xfrm>
            <a:off x="457200" y="2468880"/>
            <a:ext cx="8229600" cy="2103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600"/>
              </a:spcAft>
              <a:buSzPct val="100000"/>
              <a:buFont typeface="+mj-lt"/>
              <a:buAutoNum type="arabicPeriod" startAt="1"/>
            </a:pPr>
            <a:r>
              <a:rPr lang="en-US" sz="2000" dirty="0">
                <a:solidFill>
                  <a:srgbClr val="000000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ขอบเขตและผลลัพธ์</a:t>
            </a:r>
            <a:endParaRPr lang="en-US" sz="2000" dirty="0"/>
          </a:p>
          <a:p>
            <a:pPr marL="342900" indent="-342900">
              <a:spcAft>
                <a:spcPts val="600"/>
              </a:spcAft>
              <a:buSzPct val="100000"/>
              <a:buFont typeface="+mj-lt"/>
              <a:buAutoNum type="arabicPeriod" startAt="1"/>
            </a:pPr>
            <a:r>
              <a:rPr lang="en-US" sz="2000" dirty="0">
                <a:solidFill>
                  <a:srgbClr val="000000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ชนิดเครื่องมือและหลักการวัด</a:t>
            </a:r>
            <a:endParaRPr lang="en-US" sz="2000" dirty="0"/>
          </a:p>
          <a:p>
            <a:pPr marL="342900" indent="-342900">
              <a:spcAft>
                <a:spcPts val="600"/>
              </a:spcAft>
              <a:buSzPct val="100000"/>
              <a:buFont typeface="+mj-lt"/>
              <a:buAutoNum type="arabicPeriod" startAt="1"/>
            </a:pPr>
            <a:r>
              <a:rPr lang="en-US" sz="2000" dirty="0">
                <a:solidFill>
                  <a:srgbClr val="000000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เปรียบเทียบเครื่องมือ</a:t>
            </a:r>
            <a:endParaRPr lang="en-US" sz="2000" dirty="0"/>
          </a:p>
          <a:p>
            <a:pPr marL="342900" indent="-342900">
              <a:spcAft>
                <a:spcPts val="600"/>
              </a:spcAft>
              <a:buSzPct val="100000"/>
              <a:buFont typeface="+mj-lt"/>
              <a:buAutoNum type="arabicPeriod" startAt="1"/>
            </a:pPr>
            <a:r>
              <a:rPr lang="en-US" sz="2000" dirty="0">
                <a:solidFill>
                  <a:srgbClr val="000000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เกณฑ์การเลือกใช้</a:t>
            </a:r>
            <a:endParaRPr lang="en-US" sz="2000" dirty="0"/>
          </a:p>
          <a:p>
            <a:pPr marL="342900" indent="-342900">
              <a:spcAft>
                <a:spcPts val="600"/>
              </a:spcAft>
              <a:buSzPct val="100000"/>
              <a:buFont typeface="+mj-lt"/>
              <a:buAutoNum type="arabicPeriod" startAt="1"/>
            </a:pPr>
            <a:r>
              <a:rPr lang="en-US" sz="2000" dirty="0">
                <a:solidFill>
                  <a:srgbClr val="000000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Research trend</a:t>
            </a:r>
            <a:endParaRPr lang="en-US" sz="2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321040" y="475488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808080"/>
                </a:solidFill>
                <a:latin typeface="Tahoma"/>
                <a:ea typeface="Tahoma"/>
                <a:cs typeface="Tahoma"/>
              </a:defRPr>
            </a:lvl1pPr>
          </a:lstStyle>
          <a:p>
            <a:pPr algn="r"/>
            <a:fld id="{F7021451-1387-4CA6-816F-3879F97B5CBC}" type="slidenum">
              <a:rPr b="0" lang="en-US"/>
              <a:t>4</a:t>
            </a:fld>
            <a:endParaRPr lang="en-US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320040"/>
            <a:ext cx="82296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400" b="1" dirty="0">
                <a:solidFill>
                  <a:srgbClr val="000000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บทที่ 0  ตำแหน่งอ้างอิง: ขอบเขตและผลลัพธ์</a:t>
            </a:r>
            <a:endParaRPr lang="en-US" sz="24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1371600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endParaRPr lang="en-US" sz="1400" dirty="0"/>
          </a:p>
        </p:txBody>
      </p:sp>
      <p:sp>
        <p:nvSpPr>
          <p:cNvPr id="4" name="Text 2"/>
          <p:cNvSpPr txBox="1"/>
          <p:nvPr/>
        </p:nvSpPr>
        <p:spPr>
          <a:xfrm>
            <a:off x="457200" y="1920240"/>
            <a:ext cx="8229600" cy="2651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300" dirty="0">
                <a:solidFill>
                  <a:srgbClr val="000000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บริเวณ/สิ่งที่หา: ตำแหน่งของหมุดหลักฐาน (monuments) ในระบบพิกัดอ้างอิงแนวราบและแนวดิ่ง</a:t>
            </a:r>
            <a:endParaRPr lang="en-US" sz="13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300" dirty="0">
                <a:solidFill>
                  <a:srgbClr val="000000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ผลลัพธ์: เครือข่ายหมุดควบคุม (control network) ที่มีพิกัดและค่าความถูกต้อง</a:t>
            </a:r>
            <a:endParaRPr lang="en-US" sz="13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300" dirty="0">
                <a:solidFill>
                  <a:srgbClr val="000000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การใช้งาน: กรอบอ้างอิงของงานสำรวจทุกบริเวณ; งานภาพถ่ายทางอากาศยังต้องอาศัยจุดควบคุมภาคพื้นดิน</a:t>
            </a:r>
            <a:endParaRPr lang="en-US" sz="1300" dirty="0"/>
          </a:p>
        </p:txBody>
      </p:sp>
      <p:sp>
        <p:nvSpPr>
          <p:cNvPr id="5" name="Text 3"/>
          <p:cNvSpPr txBox="1"/>
          <p:nvPr/>
        </p:nvSpPr>
        <p:spPr>
          <a:xfrm>
            <a:off x="457200" y="4572000"/>
            <a:ext cx="7680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808080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อ้างอิง: Elementary Surveying §1.4 หน้า 9-10 [S043]; §1.6 หน้า 11 [S044]; §17.2 หน้า 468 [S045]</a:t>
            </a:r>
            <a:endParaRPr lang="en-US" sz="9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321040" y="475488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808080"/>
                </a:solidFill>
                <a:latin typeface="Tahoma"/>
                <a:ea typeface="Tahoma"/>
                <a:cs typeface="Tahoma"/>
              </a:defRPr>
            </a:lvl1pPr>
          </a:lstStyle>
          <a:p>
            <a:pPr algn="r"/>
            <a:fld id="{F7021451-1387-4CA6-816F-3879F97B5CBC}" type="slidenum">
              <a:rPr b="0" lang="en-US"/>
              <a:t>5</a:t>
            </a:fld>
            <a:endParaRPr lang="en-US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320040"/>
            <a:ext cx="82296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400" b="1" dirty="0">
                <a:solidFill>
                  <a:srgbClr val="000000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บทที่ 0  ตำแหน่งอ้างอิง: ชนิดเครื่องมือและหลักการวัด</a:t>
            </a:r>
            <a:endParaRPr lang="en-US" sz="24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1371600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endParaRPr lang="en-US" sz="1400" dirty="0"/>
          </a:p>
        </p:txBody>
      </p:sp>
      <p:sp>
        <p:nvSpPr>
          <p:cNvPr id="4" name="Text 2"/>
          <p:cNvSpPr txBox="1"/>
          <p:nvPr/>
        </p:nvSpPr>
        <p:spPr>
          <a:xfrm>
            <a:off x="457200" y="1920240"/>
            <a:ext cx="8229600" cy="2651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300" dirty="0">
                <a:solidFill>
                  <a:srgbClr val="000000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GNSS: การวัดระยะจากสัญญาณดาวเทียม (ตำแหน่งสัมบูรณ์/สัมพัทธ์)</a:t>
            </a:r>
            <a:endParaRPr lang="en-US" sz="13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300" dirty="0">
                <a:solidFill>
                  <a:srgbClr val="000000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Total station: การวัดมุมและระยะด้วยอิเล็กทรอนิกส์</a:t>
            </a:r>
            <a:endParaRPr lang="en-US" sz="13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300" dirty="0">
                <a:solidFill>
                  <a:srgbClr val="000000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กล้องระดับ: ผลต่างระดับจากแนวเล็งราบ</a:t>
            </a:r>
            <a:endParaRPr lang="en-US" sz="1300" dirty="0"/>
          </a:p>
        </p:txBody>
      </p:sp>
      <p:sp>
        <p:nvSpPr>
          <p:cNvPr id="5" name="Text 3"/>
          <p:cNvSpPr txBox="1"/>
          <p:nvPr/>
        </p:nvSpPr>
        <p:spPr>
          <a:xfrm>
            <a:off x="457200" y="4572000"/>
            <a:ext cx="7680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808080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หมายเหตุ: ถ้อยคำหลักการเป็นร่างจากความรู้ทั่วไป ยังไม่ตรวจแหล่ง ยกเว้นรายการที่มีรหัส S</a:t>
            </a:r>
            <a:endParaRPr lang="en-US" sz="9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321040" y="475488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808080"/>
                </a:solidFill>
                <a:latin typeface="Tahoma"/>
                <a:ea typeface="Tahoma"/>
                <a:cs typeface="Tahoma"/>
              </a:defRPr>
            </a:lvl1pPr>
          </a:lstStyle>
          <a:p>
            <a:pPr algn="r"/>
            <a:fld id="{F7021451-1387-4CA6-816F-3879F97B5CBC}" type="slidenum">
              <a:rPr b="0" lang="en-US"/>
              <a:t>6</a:t>
            </a:fld>
            <a:endParaRPr lang="en-US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320040"/>
            <a:ext cx="82296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400" b="1" dirty="0">
                <a:solidFill>
                  <a:srgbClr val="000000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บทที่ 0  ตำแหน่งอ้างอิง: เปรียบเทียบเครื่องมือ</a:t>
            </a:r>
            <a:endParaRPr lang="en-US" sz="2400" dirty="0"/>
          </a:p>
        </p:txBody>
      </p:sp>
      <p:graphicFrame>
        <p:nvGraphicFramePr>
          <p:cNvPr id="8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005840"/>
          <a:ext cx="8229600" cy="914400"/>
        </p:xfrm>
        <a:graphic>
          <a:graphicData uri="http://schemas.openxmlformats.org/drawingml/2006/table">
            <a:tbl>
              <a:tblPr/>
              <a:tblGrid>
                <a:gridCol w="1737360"/>
                <a:gridCol w="2103120"/>
                <a:gridCol w="960120"/>
                <a:gridCol w="960120"/>
                <a:gridCol w="1371600"/>
                <a:gridCol w="1097280"/>
              </a:tblGrid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000000"/>
                          </a:solidFill>
                          <a:latin typeface="Tahoma" pitchFamily="34" charset="0"/>
                          <a:ea typeface="Tahoma" pitchFamily="34" charset="-122"/>
                          <a:cs typeface="Tahoma" pitchFamily="34" charset="-120"/>
                        </a:rPr>
                        <a:t>ชนิดเครื่องมือ</a:t>
                      </a:r>
                      <a:endParaRPr lang="en-US" sz="900" dirty="0">
                        <a:latin typeface="Tahoma" charset="0"/>
                        <a:ea typeface="Tahoma" charset="0"/>
                        <a:cs typeface="Tahoma" charset="0"/>
                      </a:endParaRPr>
                    </a:p>
                  </a:txBody>
                  <a:tcPr marL="45720" marR="45720" marT="27432" marB="27432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000000"/>
                          </a:solidFill>
                          <a:latin typeface="Tahoma" pitchFamily="34" charset="0"/>
                          <a:ea typeface="Tahoma" pitchFamily="34" charset="-122"/>
                          <a:cs typeface="Tahoma" pitchFamily="34" charset="-120"/>
                        </a:rPr>
                        <a:t>ตัวอย่างผลิตภัณฑ์*</a:t>
                      </a:r>
                      <a:endParaRPr lang="en-US" sz="900" dirty="0">
                        <a:latin typeface="Tahoma" charset="0"/>
                        <a:ea typeface="Tahoma" charset="0"/>
                        <a:cs typeface="Tahoma" charset="0"/>
                      </a:endParaRPr>
                    </a:p>
                  </a:txBody>
                  <a:tcPr marL="45720" marR="45720" marT="27432" marB="27432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000000"/>
                          </a:solidFill>
                          <a:latin typeface="Tahoma" pitchFamily="34" charset="0"/>
                          <a:ea typeface="Tahoma" pitchFamily="34" charset="-122"/>
                          <a:cs typeface="Tahoma" pitchFamily="34" charset="-120"/>
                        </a:rPr>
                        <a:t>ผลลัพธ์ที่ได้</a:t>
                      </a:r>
                      <a:endParaRPr lang="en-US" sz="900" dirty="0">
                        <a:latin typeface="Tahoma" charset="0"/>
                        <a:ea typeface="Tahoma" charset="0"/>
                        <a:cs typeface="Tahoma" charset="0"/>
                      </a:endParaRPr>
                    </a:p>
                  </a:txBody>
                  <a:tcPr marL="45720" marR="45720" marT="27432" marB="27432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000000"/>
                          </a:solidFill>
                          <a:latin typeface="Tahoma" pitchFamily="34" charset="0"/>
                          <a:ea typeface="Tahoma" pitchFamily="34" charset="-122"/>
                          <a:cs typeface="Tahoma" pitchFamily="34" charset="-120"/>
                        </a:rPr>
                        <a:t>ความแม่นยำ**</a:t>
                      </a:r>
                      <a:endParaRPr lang="en-US" sz="900" dirty="0">
                        <a:latin typeface="Tahoma" charset="0"/>
                        <a:ea typeface="Tahoma" charset="0"/>
                        <a:cs typeface="Tahoma" charset="0"/>
                      </a:endParaRPr>
                    </a:p>
                  </a:txBody>
                  <a:tcPr marL="45720" marR="45720" marT="27432" marB="27432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000000"/>
                          </a:solidFill>
                          <a:latin typeface="Tahoma" pitchFamily="34" charset="0"/>
                          <a:ea typeface="Tahoma" pitchFamily="34" charset="-122"/>
                          <a:cs typeface="Tahoma" pitchFamily="34" charset="-120"/>
                        </a:rPr>
                        <a:t>ข้อจำกัด (สภาพแวดล้อม + เวลาประมวลผล)</a:t>
                      </a:r>
                      <a:endParaRPr lang="en-US" sz="900" dirty="0">
                        <a:latin typeface="Tahoma" charset="0"/>
                        <a:ea typeface="Tahoma" charset="0"/>
                        <a:cs typeface="Tahoma" charset="0"/>
                      </a:endParaRPr>
                    </a:p>
                  </a:txBody>
                  <a:tcPr marL="45720" marR="45720" marT="27432" marB="27432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000000"/>
                          </a:solidFill>
                          <a:latin typeface="Tahoma" pitchFamily="34" charset="0"/>
                          <a:ea typeface="Tahoma" pitchFamily="34" charset="-122"/>
                          <a:cs typeface="Tahoma" pitchFamily="34" charset="-120"/>
                        </a:rPr>
                        <a:t>ต้นทุนเชิงสัมพัทธ์ (บาท)</a:t>
                      </a:r>
                      <a:endParaRPr lang="en-US" sz="900" dirty="0">
                        <a:latin typeface="Tahoma" charset="0"/>
                        <a:ea typeface="Tahoma" charset="0"/>
                        <a:cs typeface="Tahoma" charset="0"/>
                      </a:endParaRPr>
                    </a:p>
                  </a:txBody>
                  <a:tcPr marL="45720" marR="45720" marT="27432" marB="27432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Tahoma" pitchFamily="34" charset="0"/>
                          <a:ea typeface="Tahoma" pitchFamily="34" charset="-122"/>
                          <a:cs typeface="Tahoma" pitchFamily="34" charset="-120"/>
                        </a:rPr>
                        <a:t>เครื่องรับ GNSS (static / RTK)</a:t>
                      </a:r>
                      <a:endParaRPr lang="en-US" sz="900" dirty="0">
                        <a:latin typeface="Tahoma" charset="0"/>
                        <a:ea typeface="Tahoma" charset="0"/>
                        <a:cs typeface="Tahoma" charset="0"/>
                      </a:endParaRPr>
                    </a:p>
                  </a:txBody>
                  <a:tcPr marL="45720" marR="45720" marT="27432" marB="27432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Tahoma" pitchFamily="34" charset="0"/>
                          <a:ea typeface="Tahoma" pitchFamily="34" charset="-122"/>
                          <a:cs typeface="Tahoma" pitchFamily="34" charset="-120"/>
                        </a:rPr>
                        <a:t>Trimble, Leica Geosystems, Topcon, CHC Navigation, Emlid</a:t>
                      </a:r>
                      <a:endParaRPr lang="en-US" sz="900" dirty="0">
                        <a:latin typeface="Tahoma" charset="0"/>
                        <a:ea typeface="Tahoma" charset="0"/>
                        <a:cs typeface="Tahoma" charset="0"/>
                      </a:endParaRPr>
                    </a:p>
                  </a:txBody>
                  <a:tcPr marL="45720" marR="45720" marT="27432" marB="27432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A6A6A6"/>
                          </a:solidFill>
                          <a:latin typeface="Tahoma" pitchFamily="34" charset="0"/>
                          <a:ea typeface="Tahoma" pitchFamily="34" charset="-122"/>
                          <a:cs typeface="Tahoma" pitchFamily="34" charset="-120"/>
                        </a:rPr>
                        <a:t>—</a:t>
                      </a:r>
                      <a:endParaRPr lang="en-US" sz="900" dirty="0">
                        <a:latin typeface="Tahoma" charset="0"/>
                        <a:ea typeface="Tahoma" charset="0"/>
                        <a:cs typeface="Tahoma" charset="0"/>
                      </a:endParaRPr>
                    </a:p>
                  </a:txBody>
                  <a:tcPr marL="45720" marR="45720" marT="27432" marB="27432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A6A6A6"/>
                          </a:solidFill>
                          <a:latin typeface="Tahoma" pitchFamily="34" charset="0"/>
                          <a:ea typeface="Tahoma" pitchFamily="34" charset="-122"/>
                          <a:cs typeface="Tahoma" pitchFamily="34" charset="-120"/>
                        </a:rPr>
                        <a:t>—</a:t>
                      </a:r>
                      <a:endParaRPr lang="en-US" sz="900" dirty="0">
                        <a:latin typeface="Tahoma" charset="0"/>
                        <a:ea typeface="Tahoma" charset="0"/>
                        <a:cs typeface="Tahoma" charset="0"/>
                      </a:endParaRPr>
                    </a:p>
                  </a:txBody>
                  <a:tcPr marL="45720" marR="45720" marT="27432" marB="27432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A6A6A6"/>
                          </a:solidFill>
                          <a:latin typeface="Tahoma" pitchFamily="34" charset="0"/>
                          <a:ea typeface="Tahoma" pitchFamily="34" charset="-122"/>
                          <a:cs typeface="Tahoma" pitchFamily="34" charset="-120"/>
                        </a:rPr>
                        <a:t>—</a:t>
                      </a:r>
                      <a:endParaRPr lang="en-US" sz="900" dirty="0">
                        <a:latin typeface="Tahoma" charset="0"/>
                        <a:ea typeface="Tahoma" charset="0"/>
                        <a:cs typeface="Tahoma" charset="0"/>
                      </a:endParaRPr>
                    </a:p>
                  </a:txBody>
                  <a:tcPr marL="45720" marR="45720" marT="27432" marB="27432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A6A6A6"/>
                          </a:solidFill>
                          <a:latin typeface="Tahoma" pitchFamily="34" charset="0"/>
                          <a:ea typeface="Tahoma" pitchFamily="34" charset="-122"/>
                          <a:cs typeface="Tahoma" pitchFamily="34" charset="-120"/>
                        </a:rPr>
                        <a:t>—</a:t>
                      </a:r>
                      <a:endParaRPr lang="en-US" sz="900" dirty="0">
                        <a:latin typeface="Tahoma" charset="0"/>
                        <a:ea typeface="Tahoma" charset="0"/>
                        <a:cs typeface="Tahoma" charset="0"/>
                      </a:endParaRPr>
                    </a:p>
                  </a:txBody>
                  <a:tcPr marL="45720" marR="45720" marT="27432" marB="27432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Tahoma" pitchFamily="34" charset="0"/>
                          <a:ea typeface="Tahoma" pitchFamily="34" charset="-122"/>
                          <a:cs typeface="Tahoma" pitchFamily="34" charset="-120"/>
                        </a:rPr>
                        <a:t>บริการแก้ค่าพิกัด (network RTK / PPP)</a:t>
                      </a:r>
                      <a:endParaRPr lang="en-US" sz="900" dirty="0">
                        <a:latin typeface="Tahoma" charset="0"/>
                        <a:ea typeface="Tahoma" charset="0"/>
                        <a:cs typeface="Tahoma" charset="0"/>
                      </a:endParaRPr>
                    </a:p>
                  </a:txBody>
                  <a:tcPr marL="45720" marR="45720" marT="27432" marB="27432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Tahoma" pitchFamily="34" charset="0"/>
                          <a:ea typeface="Tahoma" pitchFamily="34" charset="-122"/>
                          <a:cs typeface="Tahoma" pitchFamily="34" charset="-120"/>
                        </a:rPr>
                        <a:t>เครือข่ายสถานี CORS ของหน่วยงานรัฐ (ต้องตรวจ)</a:t>
                      </a:r>
                      <a:endParaRPr lang="en-US" sz="900" dirty="0">
                        <a:latin typeface="Tahoma" charset="0"/>
                        <a:ea typeface="Tahoma" charset="0"/>
                        <a:cs typeface="Tahoma" charset="0"/>
                      </a:endParaRPr>
                    </a:p>
                  </a:txBody>
                  <a:tcPr marL="45720" marR="45720" marT="27432" marB="27432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A6A6A6"/>
                          </a:solidFill>
                          <a:latin typeface="Tahoma" pitchFamily="34" charset="0"/>
                          <a:ea typeface="Tahoma" pitchFamily="34" charset="-122"/>
                          <a:cs typeface="Tahoma" pitchFamily="34" charset="-120"/>
                        </a:rPr>
                        <a:t>—</a:t>
                      </a:r>
                      <a:endParaRPr lang="en-US" sz="900" dirty="0">
                        <a:latin typeface="Tahoma" charset="0"/>
                        <a:ea typeface="Tahoma" charset="0"/>
                        <a:cs typeface="Tahoma" charset="0"/>
                      </a:endParaRPr>
                    </a:p>
                  </a:txBody>
                  <a:tcPr marL="45720" marR="45720" marT="27432" marB="27432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A6A6A6"/>
                          </a:solidFill>
                          <a:latin typeface="Tahoma" pitchFamily="34" charset="0"/>
                          <a:ea typeface="Tahoma" pitchFamily="34" charset="-122"/>
                          <a:cs typeface="Tahoma" pitchFamily="34" charset="-120"/>
                        </a:rPr>
                        <a:t>—</a:t>
                      </a:r>
                      <a:endParaRPr lang="en-US" sz="900" dirty="0">
                        <a:latin typeface="Tahoma" charset="0"/>
                        <a:ea typeface="Tahoma" charset="0"/>
                        <a:cs typeface="Tahoma" charset="0"/>
                      </a:endParaRPr>
                    </a:p>
                  </a:txBody>
                  <a:tcPr marL="45720" marR="45720" marT="27432" marB="27432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A6A6A6"/>
                          </a:solidFill>
                          <a:latin typeface="Tahoma" pitchFamily="34" charset="0"/>
                          <a:ea typeface="Tahoma" pitchFamily="34" charset="-122"/>
                          <a:cs typeface="Tahoma" pitchFamily="34" charset="-120"/>
                        </a:rPr>
                        <a:t>—</a:t>
                      </a:r>
                      <a:endParaRPr lang="en-US" sz="900" dirty="0">
                        <a:latin typeface="Tahoma" charset="0"/>
                        <a:ea typeface="Tahoma" charset="0"/>
                        <a:cs typeface="Tahoma" charset="0"/>
                      </a:endParaRPr>
                    </a:p>
                  </a:txBody>
                  <a:tcPr marL="45720" marR="45720" marT="27432" marB="27432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A6A6A6"/>
                          </a:solidFill>
                          <a:latin typeface="Tahoma" pitchFamily="34" charset="0"/>
                          <a:ea typeface="Tahoma" pitchFamily="34" charset="-122"/>
                          <a:cs typeface="Tahoma" pitchFamily="34" charset="-120"/>
                        </a:rPr>
                        <a:t>—</a:t>
                      </a:r>
                      <a:endParaRPr lang="en-US" sz="900" dirty="0">
                        <a:latin typeface="Tahoma" charset="0"/>
                        <a:ea typeface="Tahoma" charset="0"/>
                        <a:cs typeface="Tahoma" charset="0"/>
                      </a:endParaRPr>
                    </a:p>
                  </a:txBody>
                  <a:tcPr marL="45720" marR="45720" marT="27432" marB="27432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Tahoma" pitchFamily="34" charset="0"/>
                          <a:ea typeface="Tahoma" pitchFamily="34" charset="-122"/>
                          <a:cs typeface="Tahoma" pitchFamily="34" charset="-120"/>
                        </a:rPr>
                        <a:t>Total station (traverse ควบคุม) — รายละเอียดดูบท 1</a:t>
                      </a:r>
                      <a:endParaRPr lang="en-US" sz="900" dirty="0">
                        <a:latin typeface="Tahoma" charset="0"/>
                        <a:ea typeface="Tahoma" charset="0"/>
                        <a:cs typeface="Tahoma" charset="0"/>
                      </a:endParaRPr>
                    </a:p>
                  </a:txBody>
                  <a:tcPr marL="45720" marR="45720" marT="27432" marB="27432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Tahoma" pitchFamily="34" charset="0"/>
                          <a:ea typeface="Tahoma" pitchFamily="34" charset="-122"/>
                          <a:cs typeface="Tahoma" pitchFamily="34" charset="-120"/>
                        </a:rPr>
                        <a:t>Leica Geosystems, Trimble, Topcon, Sokkia, South</a:t>
                      </a:r>
                      <a:endParaRPr lang="en-US" sz="900" dirty="0">
                        <a:latin typeface="Tahoma" charset="0"/>
                        <a:ea typeface="Tahoma" charset="0"/>
                        <a:cs typeface="Tahoma" charset="0"/>
                      </a:endParaRPr>
                    </a:p>
                  </a:txBody>
                  <a:tcPr marL="45720" marR="45720" marT="27432" marB="27432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A6A6A6"/>
                          </a:solidFill>
                          <a:latin typeface="Tahoma" pitchFamily="34" charset="0"/>
                          <a:ea typeface="Tahoma" pitchFamily="34" charset="-122"/>
                          <a:cs typeface="Tahoma" pitchFamily="34" charset="-120"/>
                        </a:rPr>
                        <a:t>—</a:t>
                      </a:r>
                      <a:endParaRPr lang="en-US" sz="900" dirty="0">
                        <a:latin typeface="Tahoma" charset="0"/>
                        <a:ea typeface="Tahoma" charset="0"/>
                        <a:cs typeface="Tahoma" charset="0"/>
                      </a:endParaRPr>
                    </a:p>
                  </a:txBody>
                  <a:tcPr marL="45720" marR="45720" marT="27432" marB="27432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A6A6A6"/>
                          </a:solidFill>
                          <a:latin typeface="Tahoma" pitchFamily="34" charset="0"/>
                          <a:ea typeface="Tahoma" pitchFamily="34" charset="-122"/>
                          <a:cs typeface="Tahoma" pitchFamily="34" charset="-120"/>
                        </a:rPr>
                        <a:t>—</a:t>
                      </a:r>
                      <a:endParaRPr lang="en-US" sz="900" dirty="0">
                        <a:latin typeface="Tahoma" charset="0"/>
                        <a:ea typeface="Tahoma" charset="0"/>
                        <a:cs typeface="Tahoma" charset="0"/>
                      </a:endParaRPr>
                    </a:p>
                  </a:txBody>
                  <a:tcPr marL="45720" marR="45720" marT="27432" marB="27432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A6A6A6"/>
                          </a:solidFill>
                          <a:latin typeface="Tahoma" pitchFamily="34" charset="0"/>
                          <a:ea typeface="Tahoma" pitchFamily="34" charset="-122"/>
                          <a:cs typeface="Tahoma" pitchFamily="34" charset="-120"/>
                        </a:rPr>
                        <a:t>—</a:t>
                      </a:r>
                      <a:endParaRPr lang="en-US" sz="900" dirty="0">
                        <a:latin typeface="Tahoma" charset="0"/>
                        <a:ea typeface="Tahoma" charset="0"/>
                        <a:cs typeface="Tahoma" charset="0"/>
                      </a:endParaRPr>
                    </a:p>
                  </a:txBody>
                  <a:tcPr marL="45720" marR="45720" marT="27432" marB="27432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A6A6A6"/>
                          </a:solidFill>
                          <a:latin typeface="Tahoma" pitchFamily="34" charset="0"/>
                          <a:ea typeface="Tahoma" pitchFamily="34" charset="-122"/>
                          <a:cs typeface="Tahoma" pitchFamily="34" charset="-120"/>
                        </a:rPr>
                        <a:t>—</a:t>
                      </a:r>
                      <a:endParaRPr lang="en-US" sz="900" dirty="0">
                        <a:latin typeface="Tahoma" charset="0"/>
                        <a:ea typeface="Tahoma" charset="0"/>
                        <a:cs typeface="Tahoma" charset="0"/>
                      </a:endParaRPr>
                    </a:p>
                  </a:txBody>
                  <a:tcPr marL="45720" marR="45720" marT="27432" marB="27432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Tahoma" pitchFamily="34" charset="0"/>
                          <a:ea typeface="Tahoma" pitchFamily="34" charset="-122"/>
                          <a:cs typeface="Tahoma" pitchFamily="34" charset="-120"/>
                        </a:rPr>
                        <a:t>กล้องระดับดิจิทัล (ควบคุมแนวดิ่ง)</a:t>
                      </a:r>
                      <a:endParaRPr lang="en-US" sz="900" dirty="0">
                        <a:latin typeface="Tahoma" charset="0"/>
                        <a:ea typeface="Tahoma" charset="0"/>
                        <a:cs typeface="Tahoma" charset="0"/>
                      </a:endParaRPr>
                    </a:p>
                  </a:txBody>
                  <a:tcPr marL="45720" marR="45720" marT="27432" marB="27432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Tahoma" pitchFamily="34" charset="0"/>
                          <a:ea typeface="Tahoma" pitchFamily="34" charset="-122"/>
                          <a:cs typeface="Tahoma" pitchFamily="34" charset="-120"/>
                        </a:rPr>
                        <a:t>Leica Geosystems, Trimble, Topcon, Sokkia</a:t>
                      </a:r>
                      <a:endParaRPr lang="en-US" sz="900" dirty="0">
                        <a:latin typeface="Tahoma" charset="0"/>
                        <a:ea typeface="Tahoma" charset="0"/>
                        <a:cs typeface="Tahoma" charset="0"/>
                      </a:endParaRPr>
                    </a:p>
                  </a:txBody>
                  <a:tcPr marL="45720" marR="45720" marT="27432" marB="27432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A6A6A6"/>
                          </a:solidFill>
                          <a:latin typeface="Tahoma" pitchFamily="34" charset="0"/>
                          <a:ea typeface="Tahoma" pitchFamily="34" charset="-122"/>
                          <a:cs typeface="Tahoma" pitchFamily="34" charset="-120"/>
                        </a:rPr>
                        <a:t>—</a:t>
                      </a:r>
                      <a:endParaRPr lang="en-US" sz="900" dirty="0">
                        <a:latin typeface="Tahoma" charset="0"/>
                        <a:ea typeface="Tahoma" charset="0"/>
                        <a:cs typeface="Tahoma" charset="0"/>
                      </a:endParaRPr>
                    </a:p>
                  </a:txBody>
                  <a:tcPr marL="45720" marR="45720" marT="27432" marB="27432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A6A6A6"/>
                          </a:solidFill>
                          <a:latin typeface="Tahoma" pitchFamily="34" charset="0"/>
                          <a:ea typeface="Tahoma" pitchFamily="34" charset="-122"/>
                          <a:cs typeface="Tahoma" pitchFamily="34" charset="-120"/>
                        </a:rPr>
                        <a:t>—</a:t>
                      </a:r>
                      <a:endParaRPr lang="en-US" sz="900" dirty="0">
                        <a:latin typeface="Tahoma" charset="0"/>
                        <a:ea typeface="Tahoma" charset="0"/>
                        <a:cs typeface="Tahoma" charset="0"/>
                      </a:endParaRPr>
                    </a:p>
                  </a:txBody>
                  <a:tcPr marL="45720" marR="45720" marT="27432" marB="27432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A6A6A6"/>
                          </a:solidFill>
                          <a:latin typeface="Tahoma" pitchFamily="34" charset="0"/>
                          <a:ea typeface="Tahoma" pitchFamily="34" charset="-122"/>
                          <a:cs typeface="Tahoma" pitchFamily="34" charset="-120"/>
                        </a:rPr>
                        <a:t>—</a:t>
                      </a:r>
                      <a:endParaRPr lang="en-US" sz="900" dirty="0">
                        <a:latin typeface="Tahoma" charset="0"/>
                        <a:ea typeface="Tahoma" charset="0"/>
                        <a:cs typeface="Tahoma" charset="0"/>
                      </a:endParaRPr>
                    </a:p>
                  </a:txBody>
                  <a:tcPr marL="45720" marR="45720" marT="27432" marB="27432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A6A6A6"/>
                          </a:solidFill>
                          <a:latin typeface="Tahoma" pitchFamily="34" charset="0"/>
                          <a:ea typeface="Tahoma" pitchFamily="34" charset="-122"/>
                          <a:cs typeface="Tahoma" pitchFamily="34" charset="-120"/>
                        </a:rPr>
                        <a:t>—</a:t>
                      </a:r>
                      <a:endParaRPr lang="en-US" sz="900" dirty="0">
                        <a:latin typeface="Tahoma" charset="0"/>
                        <a:ea typeface="Tahoma" charset="0"/>
                        <a:cs typeface="Tahoma" charset="0"/>
                      </a:endParaRPr>
                    </a:p>
                  </a:txBody>
                  <a:tcPr marL="45720" marR="45720" marT="27432" marB="27432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4" name="Text 1"/>
          <p:cNvSpPr txBox="1"/>
          <p:nvPr/>
        </p:nvSpPr>
        <p:spPr>
          <a:xfrm>
            <a:off x="457200" y="4572000"/>
            <a:ext cx="7680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808080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* รายการตัวอย่างผลิตภัณฑ์มาจากความรู้ทั่วไป ยังไม่ตรวจ datasheet และไม่ใช่การแนะนำ  ** ค่าความแม่นยำที่จะใส่เป็นค่าที่ผู้ผลิตระบุ</a:t>
            </a:r>
            <a:endParaRPr lang="en-US" sz="9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321040" y="475488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808080"/>
                </a:solidFill>
                <a:latin typeface="Tahoma"/>
                <a:ea typeface="Tahoma"/>
                <a:cs typeface="Tahoma"/>
              </a:defRPr>
            </a:lvl1pPr>
          </a:lstStyle>
          <a:p>
            <a:pPr algn="r"/>
            <a:fld id="{F7021451-1387-4CA6-816F-3879F97B5CBC}" type="slidenum">
              <a:rPr b="0" lang="en-US"/>
              <a:t>7</a:t>
            </a:fld>
            <a:endParaRPr lang="en-US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320040"/>
            <a:ext cx="82296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400" b="1" dirty="0">
                <a:solidFill>
                  <a:srgbClr val="000000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บทที่ 0  ตำแหน่งอ้างอิง: เกณฑ์การเลือกใช้</a:t>
            </a:r>
            <a:endParaRPr lang="en-US" sz="24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1371600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endParaRPr lang="en-US" sz="1400" dirty="0"/>
          </a:p>
        </p:txBody>
      </p:sp>
      <p:sp>
        <p:nvSpPr>
          <p:cNvPr id="4" name="Text 2"/>
          <p:cNvSpPr txBox="1"/>
          <p:nvPr/>
        </p:nvSpPr>
        <p:spPr>
          <a:xfrm>
            <a:off x="457200" y="1920240"/>
            <a:ext cx="8229600" cy="2651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400" dirty="0">
                <a:solidFill>
                  <a:srgbClr val="000000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ขนาดพื้นที่และลักษณะพื้นที่ปฏิบัติงาน</a:t>
            </a:r>
            <a:endParaRPr lang="en-US" sz="14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400" dirty="0">
                <a:solidFill>
                  <a:srgbClr val="000000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ความถูกต้องที่ต้องการ</a:t>
            </a:r>
            <a:endParaRPr lang="en-US" sz="14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400" dirty="0">
                <a:solidFill>
                  <a:srgbClr val="000000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สภาพแวดล้อมหน้างาน</a:t>
            </a:r>
            <a:endParaRPr lang="en-US" sz="14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400" dirty="0">
                <a:solidFill>
                  <a:srgbClr val="000000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เวลาประมวลผลและบุคลากร</a:t>
            </a:r>
            <a:endParaRPr lang="en-US" sz="14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400" dirty="0">
                <a:solidFill>
                  <a:srgbClr val="000000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ต้นทุนการจัดซื้อหรือจ้าง</a:t>
            </a:r>
            <a:endParaRPr lang="en-US" sz="14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400" dirty="0">
                <a:solidFill>
                  <a:srgbClr val="808080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(รอเติมเนื้อหา: เกณฑ์ข้างต้นเป็นโครงร่าง)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321040" y="475488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808080"/>
                </a:solidFill>
                <a:latin typeface="Tahoma"/>
                <a:ea typeface="Tahoma"/>
                <a:cs typeface="Tahoma"/>
              </a:defRPr>
            </a:lvl1pPr>
          </a:lstStyle>
          <a:p>
            <a:pPr algn="r"/>
            <a:fld id="{F7021451-1387-4CA6-816F-3879F97B5CBC}" type="slidenum">
              <a:rPr b="0" lang="en-US"/>
              <a:t>8</a:t>
            </a:fld>
            <a:endParaRPr lang="en-US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320040"/>
            <a:ext cx="82296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400" b="1" dirty="0">
                <a:solidFill>
                  <a:srgbClr val="000000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บทที่ 0  ตำแหน่งอ้างอิง: Research trend</a:t>
            </a:r>
            <a:endParaRPr lang="en-US" sz="24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1371600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endParaRPr lang="en-US" sz="1400" dirty="0"/>
          </a:p>
        </p:txBody>
      </p:sp>
      <p:sp>
        <p:nvSpPr>
          <p:cNvPr id="4" name="Text 2"/>
          <p:cNvSpPr txBox="1"/>
          <p:nvPr/>
        </p:nvSpPr>
        <p:spPr>
          <a:xfrm>
            <a:off x="457200" y="1920240"/>
            <a:ext cx="8229600" cy="2651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1400" dirty="0">
                <a:solidFill>
                  <a:srgbClr val="808080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(รอเติมเนื้อหา)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321040" y="475488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808080"/>
                </a:solidFill>
                <a:latin typeface="Tahoma"/>
                <a:ea typeface="Tahoma"/>
                <a:cs typeface="Tahoma"/>
              </a:defRPr>
            </a:lvl1pPr>
          </a:lstStyle>
          <a:p>
            <a:pPr algn="r"/>
            <a:fld id="{F7021451-1387-4CA6-816F-3879F97B5CBC}" type="slidenum">
              <a:rPr b="0" lang="en-US"/>
              <a:t>9</a:t>
            </a:fld>
            <a:endParaRPr lang="en-US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54864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595959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บทที่ 1</a:t>
            </a:r>
            <a:endParaRPr lang="en-US" sz="16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914400"/>
            <a:ext cx="8229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000" b="1" dirty="0">
                <a:solidFill>
                  <a:srgbClr val="000000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ภูมิประเทศและสิ่งปลูกสร้างเหนือผิวดิน</a:t>
            </a:r>
            <a:endParaRPr lang="en-US" sz="3000" dirty="0"/>
          </a:p>
        </p:txBody>
      </p:sp>
      <p:sp>
        <p:nvSpPr>
          <p:cNvPr id="4" name="Text 2"/>
          <p:cNvSpPr txBox="1"/>
          <p:nvPr/>
        </p:nvSpPr>
        <p:spPr>
          <a:xfrm>
            <a:off x="457200" y="1737360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595959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Terrestrial Surface &amp; Objects</a:t>
            </a:r>
            <a:endParaRPr lang="en-US" sz="1800" dirty="0"/>
          </a:p>
        </p:txBody>
      </p:sp>
      <p:sp>
        <p:nvSpPr>
          <p:cNvPr id="5" name="Text 3"/>
          <p:cNvSpPr txBox="1"/>
          <p:nvPr/>
        </p:nvSpPr>
        <p:spPr>
          <a:xfrm>
            <a:off x="457200" y="2468880"/>
            <a:ext cx="8229600" cy="2103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600"/>
              </a:spcAft>
              <a:buSzPct val="100000"/>
              <a:buFont typeface="+mj-lt"/>
              <a:buAutoNum type="arabicPeriod" startAt="1"/>
            </a:pPr>
            <a:r>
              <a:rPr lang="en-US" sz="2000" dirty="0">
                <a:solidFill>
                  <a:srgbClr val="000000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ขอบเขตและผลลัพธ์</a:t>
            </a:r>
            <a:endParaRPr lang="en-US" sz="2000" dirty="0"/>
          </a:p>
          <a:p>
            <a:pPr marL="342900" indent="-342900">
              <a:spcAft>
                <a:spcPts val="600"/>
              </a:spcAft>
              <a:buSzPct val="100000"/>
              <a:buFont typeface="+mj-lt"/>
              <a:buAutoNum type="arabicPeriod" startAt="1"/>
            </a:pPr>
            <a:r>
              <a:rPr lang="en-US" sz="2000" dirty="0">
                <a:solidFill>
                  <a:srgbClr val="000000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ชนิดเครื่องมือและหลักการวัด</a:t>
            </a:r>
            <a:endParaRPr lang="en-US" sz="2000" dirty="0"/>
          </a:p>
          <a:p>
            <a:pPr marL="342900" indent="-342900">
              <a:spcAft>
                <a:spcPts val="600"/>
              </a:spcAft>
              <a:buSzPct val="100000"/>
              <a:buFont typeface="+mj-lt"/>
              <a:buAutoNum type="arabicPeriod" startAt="1"/>
            </a:pPr>
            <a:r>
              <a:rPr lang="en-US" sz="2000" dirty="0">
                <a:solidFill>
                  <a:srgbClr val="000000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เปรียบเทียบเครื่องมือ</a:t>
            </a:r>
            <a:endParaRPr lang="en-US" sz="2000" dirty="0"/>
          </a:p>
          <a:p>
            <a:pPr marL="342900" indent="-342900">
              <a:spcAft>
                <a:spcPts val="600"/>
              </a:spcAft>
              <a:buSzPct val="100000"/>
              <a:buFont typeface="+mj-lt"/>
              <a:buAutoNum type="arabicPeriod" startAt="1"/>
            </a:pPr>
            <a:r>
              <a:rPr lang="en-US" sz="2000" dirty="0">
                <a:solidFill>
                  <a:srgbClr val="000000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เกณฑ์การเลือกใช้</a:t>
            </a:r>
            <a:endParaRPr lang="en-US" sz="2000" dirty="0"/>
          </a:p>
          <a:p>
            <a:pPr marL="342900" indent="-342900">
              <a:spcAft>
                <a:spcPts val="600"/>
              </a:spcAft>
              <a:buSzPct val="100000"/>
              <a:buFont typeface="+mj-lt"/>
              <a:buAutoNum type="arabicPeriod" startAt="1"/>
            </a:pPr>
            <a:r>
              <a:rPr lang="en-US" sz="2000" dirty="0">
                <a:solidFill>
                  <a:srgbClr val="000000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Research trend</a:t>
            </a:r>
            <a:endParaRPr lang="en-US" sz="2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321040" y="475488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808080"/>
                </a:solidFill>
                <a:latin typeface="Tahoma"/>
                <a:ea typeface="Tahoma"/>
                <a:cs typeface="Tahoma"/>
              </a:defRPr>
            </a:lvl1pPr>
          </a:lstStyle>
          <a:p>
            <a:pPr algn="r"/>
            <a:fld id="{F7021451-1387-4CA6-816F-3879F97B5CBC}" type="slidenum">
              <a:rPr b="0" lang="en-US"/>
              <a:t>10</a:t>
            </a:fld>
            <a:endParaRPr lang="en-US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320040"/>
            <a:ext cx="82296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400" b="1" dirty="0">
                <a:solidFill>
                  <a:srgbClr val="000000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บทที่ 1  ภูมิประเทศและสิ่งปลูกสร้างเหนือผิวดิน: ขอบเขตและผลลัพธ์</a:t>
            </a:r>
            <a:endParaRPr lang="en-US" sz="24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1371600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endParaRPr lang="en-US" sz="1400" dirty="0"/>
          </a:p>
        </p:txBody>
      </p:sp>
      <p:sp>
        <p:nvSpPr>
          <p:cNvPr id="4" name="Text 2"/>
          <p:cNvSpPr txBox="1"/>
          <p:nvPr/>
        </p:nvSpPr>
        <p:spPr>
          <a:xfrm>
            <a:off x="457200" y="1920240"/>
            <a:ext cx="8229600" cy="2651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300" dirty="0">
                <a:solidFill>
                  <a:srgbClr val="000000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บริเวณ: ภูมิประเทศและสิ่งปลูกสร้างเหนือผิวดิน แบ่งตามขนาดพื้นที่ คือ เฉพาะที่ แนวยาว และพื้นที่กว้าง</a:t>
            </a:r>
            <a:endParaRPr lang="en-US" sz="13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300" dirty="0">
                <a:solidFill>
                  <a:srgbClr val="000000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ผลลัพธ์: แผนที่ภูมิประเทศ แนว/ระดับสำหรับงานก่อสร้าง ข้อมูลสภาพจริงหลังก่อสร้าง (as-built) และกริดจุดพิกัดหนาแน่น</a:t>
            </a:r>
            <a:endParaRPr lang="en-US" sz="13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300" dirty="0">
                <a:solidFill>
                  <a:srgbClr val="000000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เกณฑ์ตามขนาดพื้นที่: ภาคพื้นดินใช้กับพื้นที่ขนาดเล็กมาตราส่วนใหญ่; photogrammetry ใช้กับพื้นที่กว้าง (ตามหนังสือ ราว 2011); ทั้งสองต้องมีจุดควบคุมภาคพื้นดิน</a:t>
            </a:r>
            <a:endParaRPr lang="en-US" sz="1300" dirty="0"/>
          </a:p>
        </p:txBody>
      </p:sp>
      <p:sp>
        <p:nvSpPr>
          <p:cNvPr id="5" name="Text 3"/>
          <p:cNvSpPr txBox="1"/>
          <p:nvPr/>
        </p:nvSpPr>
        <p:spPr>
          <a:xfrm>
            <a:off x="457200" y="4572000"/>
            <a:ext cx="7680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808080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อ้างอิง: Elementary Surveying §1.3 หน้า 7 [S042]; §1.6 หน้า 11-12 [S044]; §17.2 หน้า 468 [S045]</a:t>
            </a:r>
            <a:endParaRPr lang="en-US" sz="9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321040" y="475488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808080"/>
                </a:solidFill>
                <a:latin typeface="Tahoma"/>
                <a:ea typeface="Tahoma"/>
                <a:cs typeface="Tahoma"/>
              </a:defRPr>
            </a:lvl1pPr>
          </a:lstStyle>
          <a:p>
            <a:pPr algn="r"/>
            <a:fld id="{F7021451-1387-4CA6-816F-3879F97B5CBC}" type="slidenum">
              <a:rPr b="0" lang="en-US"/>
              <a:t>11</a:t>
            </a:fld>
            <a:endParaRPr lang="en-US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320040"/>
            <a:ext cx="82296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400" b="1" dirty="0">
                <a:solidFill>
                  <a:srgbClr val="000000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บทที่ 1  ภูมิประเทศและสิ่งปลูกสร้างเหนือผิวดิน: ชนิดเครื่องมือและหลักการวัด</a:t>
            </a:r>
            <a:endParaRPr lang="en-US" sz="24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1371600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endParaRPr lang="en-US" sz="1400" dirty="0"/>
          </a:p>
        </p:txBody>
      </p:sp>
      <p:sp>
        <p:nvSpPr>
          <p:cNvPr id="4" name="Text 2"/>
          <p:cNvSpPr txBox="1"/>
          <p:nvPr/>
        </p:nvSpPr>
        <p:spPr>
          <a:xfrm>
            <a:off x="457200" y="1920240"/>
            <a:ext cx="8229600" cy="2651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300" dirty="0">
                <a:solidFill>
                  <a:srgbClr val="000000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Total station / TLS: การวัดระยะด้วยเลเซอร์หรืออิเล็กทรอนิกส์ร่วมกับมุม</a:t>
            </a:r>
            <a:endParaRPr lang="en-US" sz="13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300" dirty="0">
                <a:solidFill>
                  <a:srgbClr val="000000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Mobile mapping: scanner + GNSS + IMU + กล้องในระบบเดียว</a:t>
            </a:r>
            <a:endParaRPr lang="en-US" sz="13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300" dirty="0">
                <a:solidFill>
                  <a:srgbClr val="000000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Photogrammetry: การคำนวณตำแหน่งจากภาพซ้อนเกย</a:t>
            </a:r>
            <a:endParaRPr lang="en-US" sz="13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300" dirty="0">
                <a:solidFill>
                  <a:srgbClr val="000000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Remote sensing: เซนเซอร์บนอากาศยานหรือดาวเทียม</a:t>
            </a:r>
            <a:endParaRPr lang="en-US" sz="1300" dirty="0"/>
          </a:p>
        </p:txBody>
      </p:sp>
      <p:sp>
        <p:nvSpPr>
          <p:cNvPr id="5" name="Text 3"/>
          <p:cNvSpPr txBox="1"/>
          <p:nvPr/>
        </p:nvSpPr>
        <p:spPr>
          <a:xfrm>
            <a:off x="457200" y="4572000"/>
            <a:ext cx="7680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808080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หมายเหตุ: ถ้อยคำหลักการเป็นร่างจากความรู้ทั่วไป ยังไม่ตรวจแหล่ง ยกเว้นรายการที่มีรหัส S</a:t>
            </a:r>
            <a:endParaRPr lang="en-US" sz="9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321040" y="475488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808080"/>
                </a:solidFill>
                <a:latin typeface="Tahoma"/>
                <a:ea typeface="Tahoma"/>
                <a:cs typeface="Tahoma"/>
              </a:defRPr>
            </a:lvl1pPr>
          </a:lstStyle>
          <a:p>
            <a:pPr algn="r"/>
            <a:fld id="{F7021451-1387-4CA6-816F-3879F97B5CBC}" type="slidenum">
              <a:rPr b="0" lang="en-US"/>
              <a:t>12</a:t>
            </a:fld>
            <a:endParaRPr lang="en-US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320040"/>
            <a:ext cx="82296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400" b="1" dirty="0">
                <a:solidFill>
                  <a:srgbClr val="000000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บทที่ 1  ภูมิประเทศและสิ่งปลูกสร้างเหนือผิวดิน: เปรียบเทียบเครื่องมือ</a:t>
            </a:r>
            <a:endParaRPr lang="en-US" sz="2400" dirty="0"/>
          </a:p>
        </p:txBody>
      </p:sp>
      <p:graphicFrame>
        <p:nvGraphicFramePr>
          <p:cNvPr id="14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005840"/>
          <a:ext cx="8229600" cy="914400"/>
        </p:xfrm>
        <a:graphic>
          <a:graphicData uri="http://schemas.openxmlformats.org/drawingml/2006/table">
            <a:tbl>
              <a:tblPr/>
              <a:tblGrid>
                <a:gridCol w="1737360"/>
                <a:gridCol w="2103120"/>
                <a:gridCol w="960120"/>
                <a:gridCol w="960120"/>
                <a:gridCol w="1371600"/>
                <a:gridCol w="1097280"/>
              </a:tblGrid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000000"/>
                          </a:solidFill>
                          <a:latin typeface="Tahoma" pitchFamily="34" charset="0"/>
                          <a:ea typeface="Tahoma" pitchFamily="34" charset="-122"/>
                          <a:cs typeface="Tahoma" pitchFamily="34" charset="-120"/>
                        </a:rPr>
                        <a:t>ชนิดเครื่องมือ</a:t>
                      </a:r>
                      <a:endParaRPr lang="en-US" sz="900" dirty="0">
                        <a:latin typeface="Tahoma" charset="0"/>
                        <a:ea typeface="Tahoma" charset="0"/>
                        <a:cs typeface="Tahoma" charset="0"/>
                      </a:endParaRPr>
                    </a:p>
                  </a:txBody>
                  <a:tcPr marL="45720" marR="45720" marT="27432" marB="27432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000000"/>
                          </a:solidFill>
                          <a:latin typeface="Tahoma" pitchFamily="34" charset="0"/>
                          <a:ea typeface="Tahoma" pitchFamily="34" charset="-122"/>
                          <a:cs typeface="Tahoma" pitchFamily="34" charset="-120"/>
                        </a:rPr>
                        <a:t>ตัวอย่างผลิตภัณฑ์*</a:t>
                      </a:r>
                      <a:endParaRPr lang="en-US" sz="900" dirty="0">
                        <a:latin typeface="Tahoma" charset="0"/>
                        <a:ea typeface="Tahoma" charset="0"/>
                        <a:cs typeface="Tahoma" charset="0"/>
                      </a:endParaRPr>
                    </a:p>
                  </a:txBody>
                  <a:tcPr marL="45720" marR="45720" marT="27432" marB="27432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000000"/>
                          </a:solidFill>
                          <a:latin typeface="Tahoma" pitchFamily="34" charset="0"/>
                          <a:ea typeface="Tahoma" pitchFamily="34" charset="-122"/>
                          <a:cs typeface="Tahoma" pitchFamily="34" charset="-120"/>
                        </a:rPr>
                        <a:t>ผลลัพธ์ที่ได้</a:t>
                      </a:r>
                      <a:endParaRPr lang="en-US" sz="900" dirty="0">
                        <a:latin typeface="Tahoma" charset="0"/>
                        <a:ea typeface="Tahoma" charset="0"/>
                        <a:cs typeface="Tahoma" charset="0"/>
                      </a:endParaRPr>
                    </a:p>
                  </a:txBody>
                  <a:tcPr marL="45720" marR="45720" marT="27432" marB="27432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000000"/>
                          </a:solidFill>
                          <a:latin typeface="Tahoma" pitchFamily="34" charset="0"/>
                          <a:ea typeface="Tahoma" pitchFamily="34" charset="-122"/>
                          <a:cs typeface="Tahoma" pitchFamily="34" charset="-120"/>
                        </a:rPr>
                        <a:t>ความแม่นยำ**</a:t>
                      </a:r>
                      <a:endParaRPr lang="en-US" sz="900" dirty="0">
                        <a:latin typeface="Tahoma" charset="0"/>
                        <a:ea typeface="Tahoma" charset="0"/>
                        <a:cs typeface="Tahoma" charset="0"/>
                      </a:endParaRPr>
                    </a:p>
                  </a:txBody>
                  <a:tcPr marL="45720" marR="45720" marT="27432" marB="27432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000000"/>
                          </a:solidFill>
                          <a:latin typeface="Tahoma" pitchFamily="34" charset="0"/>
                          <a:ea typeface="Tahoma" pitchFamily="34" charset="-122"/>
                          <a:cs typeface="Tahoma" pitchFamily="34" charset="-120"/>
                        </a:rPr>
                        <a:t>ข้อจำกัด (สภาพแวดล้อม + เวลาประมวลผล)</a:t>
                      </a:r>
                      <a:endParaRPr lang="en-US" sz="900" dirty="0">
                        <a:latin typeface="Tahoma" charset="0"/>
                        <a:ea typeface="Tahoma" charset="0"/>
                        <a:cs typeface="Tahoma" charset="0"/>
                      </a:endParaRPr>
                    </a:p>
                  </a:txBody>
                  <a:tcPr marL="45720" marR="45720" marT="27432" marB="27432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000000"/>
                          </a:solidFill>
                          <a:latin typeface="Tahoma" pitchFamily="34" charset="0"/>
                          <a:ea typeface="Tahoma" pitchFamily="34" charset="-122"/>
                          <a:cs typeface="Tahoma" pitchFamily="34" charset="-120"/>
                        </a:rPr>
                        <a:t>ต้นทุนเชิงสัมพัทธ์ (บาท)</a:t>
                      </a:r>
                      <a:endParaRPr lang="en-US" sz="900" dirty="0">
                        <a:latin typeface="Tahoma" charset="0"/>
                        <a:ea typeface="Tahoma" charset="0"/>
                        <a:cs typeface="Tahoma" charset="0"/>
                      </a:endParaRPr>
                    </a:p>
                  </a:txBody>
                  <a:tcPr marL="45720" marR="45720" marT="27432" marB="27432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Tahoma" pitchFamily="34" charset="0"/>
                          <a:ea typeface="Tahoma" pitchFamily="34" charset="-122"/>
                          <a:cs typeface="Tahoma" pitchFamily="34" charset="-120"/>
                        </a:rPr>
                        <a:t>เฉพาะที่ · Total station</a:t>
                      </a:r>
                      <a:endParaRPr lang="en-US" sz="900" dirty="0">
                        <a:latin typeface="Tahoma" charset="0"/>
                        <a:ea typeface="Tahoma" charset="0"/>
                        <a:cs typeface="Tahoma" charset="0"/>
                      </a:endParaRPr>
                    </a:p>
                  </a:txBody>
                  <a:tcPr marL="45720" marR="45720" marT="27432" marB="27432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Tahoma" pitchFamily="34" charset="0"/>
                          <a:ea typeface="Tahoma" pitchFamily="34" charset="-122"/>
                          <a:cs typeface="Tahoma" pitchFamily="34" charset="-120"/>
                        </a:rPr>
                        <a:t>Leica Geosystems, Trimble, Topcon, Sokkia, South</a:t>
                      </a:r>
                      <a:endParaRPr lang="en-US" sz="900" dirty="0">
                        <a:latin typeface="Tahoma" charset="0"/>
                        <a:ea typeface="Tahoma" charset="0"/>
                        <a:cs typeface="Tahoma" charset="0"/>
                      </a:endParaRPr>
                    </a:p>
                  </a:txBody>
                  <a:tcPr marL="45720" marR="45720" marT="27432" marB="27432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A6A6A6"/>
                          </a:solidFill>
                          <a:latin typeface="Tahoma" pitchFamily="34" charset="0"/>
                          <a:ea typeface="Tahoma" pitchFamily="34" charset="-122"/>
                          <a:cs typeface="Tahoma" pitchFamily="34" charset="-120"/>
                        </a:rPr>
                        <a:t>—</a:t>
                      </a:r>
                      <a:endParaRPr lang="en-US" sz="900" dirty="0">
                        <a:latin typeface="Tahoma" charset="0"/>
                        <a:ea typeface="Tahoma" charset="0"/>
                        <a:cs typeface="Tahoma" charset="0"/>
                      </a:endParaRPr>
                    </a:p>
                  </a:txBody>
                  <a:tcPr marL="45720" marR="45720" marT="27432" marB="27432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A6A6A6"/>
                          </a:solidFill>
                          <a:latin typeface="Tahoma" pitchFamily="34" charset="0"/>
                          <a:ea typeface="Tahoma" pitchFamily="34" charset="-122"/>
                          <a:cs typeface="Tahoma" pitchFamily="34" charset="-120"/>
                        </a:rPr>
                        <a:t>—</a:t>
                      </a:r>
                      <a:endParaRPr lang="en-US" sz="900" dirty="0">
                        <a:latin typeface="Tahoma" charset="0"/>
                        <a:ea typeface="Tahoma" charset="0"/>
                        <a:cs typeface="Tahoma" charset="0"/>
                      </a:endParaRPr>
                    </a:p>
                  </a:txBody>
                  <a:tcPr marL="45720" marR="45720" marT="27432" marB="27432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A6A6A6"/>
                          </a:solidFill>
                          <a:latin typeface="Tahoma" pitchFamily="34" charset="0"/>
                          <a:ea typeface="Tahoma" pitchFamily="34" charset="-122"/>
                          <a:cs typeface="Tahoma" pitchFamily="34" charset="-120"/>
                        </a:rPr>
                        <a:t>—</a:t>
                      </a:r>
                      <a:endParaRPr lang="en-US" sz="900" dirty="0">
                        <a:latin typeface="Tahoma" charset="0"/>
                        <a:ea typeface="Tahoma" charset="0"/>
                        <a:cs typeface="Tahoma" charset="0"/>
                      </a:endParaRPr>
                    </a:p>
                  </a:txBody>
                  <a:tcPr marL="45720" marR="45720" marT="27432" marB="27432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A6A6A6"/>
                          </a:solidFill>
                          <a:latin typeface="Tahoma" pitchFamily="34" charset="0"/>
                          <a:ea typeface="Tahoma" pitchFamily="34" charset="-122"/>
                          <a:cs typeface="Tahoma" pitchFamily="34" charset="-120"/>
                        </a:rPr>
                        <a:t>—</a:t>
                      </a:r>
                      <a:endParaRPr lang="en-US" sz="900" dirty="0">
                        <a:latin typeface="Tahoma" charset="0"/>
                        <a:ea typeface="Tahoma" charset="0"/>
                        <a:cs typeface="Tahoma" charset="0"/>
                      </a:endParaRPr>
                    </a:p>
                  </a:txBody>
                  <a:tcPr marL="45720" marR="45720" marT="27432" marB="27432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Tahoma" pitchFamily="34" charset="0"/>
                          <a:ea typeface="Tahoma" pitchFamily="34" charset="-122"/>
                          <a:cs typeface="Tahoma" pitchFamily="34" charset="-120"/>
                        </a:rPr>
                        <a:t>เฉพาะที่ · Terrestrial laser scanner (TLS)</a:t>
                      </a:r>
                      <a:endParaRPr lang="en-US" sz="900" dirty="0">
                        <a:latin typeface="Tahoma" charset="0"/>
                        <a:ea typeface="Tahoma" charset="0"/>
                        <a:cs typeface="Tahoma" charset="0"/>
                      </a:endParaRPr>
                    </a:p>
                  </a:txBody>
                  <a:tcPr marL="45720" marR="45720" marT="27432" marB="27432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Tahoma" pitchFamily="34" charset="0"/>
                          <a:ea typeface="Tahoma" pitchFamily="34" charset="-122"/>
                          <a:cs typeface="Tahoma" pitchFamily="34" charset="-120"/>
                        </a:rPr>
                        <a:t>Leica Geosystems (RTC360), Trimble (X7), FARO (Focus), RIEGL (VZ)</a:t>
                      </a:r>
                      <a:endParaRPr lang="en-US" sz="900" dirty="0">
                        <a:latin typeface="Tahoma" charset="0"/>
                        <a:ea typeface="Tahoma" charset="0"/>
                        <a:cs typeface="Tahoma" charset="0"/>
                      </a:endParaRPr>
                    </a:p>
                  </a:txBody>
                  <a:tcPr marL="45720" marR="45720" marT="27432" marB="27432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A6A6A6"/>
                          </a:solidFill>
                          <a:latin typeface="Tahoma" pitchFamily="34" charset="0"/>
                          <a:ea typeface="Tahoma" pitchFamily="34" charset="-122"/>
                          <a:cs typeface="Tahoma" pitchFamily="34" charset="-120"/>
                        </a:rPr>
                        <a:t>—</a:t>
                      </a:r>
                      <a:endParaRPr lang="en-US" sz="900" dirty="0">
                        <a:latin typeface="Tahoma" charset="0"/>
                        <a:ea typeface="Tahoma" charset="0"/>
                        <a:cs typeface="Tahoma" charset="0"/>
                      </a:endParaRPr>
                    </a:p>
                  </a:txBody>
                  <a:tcPr marL="45720" marR="45720" marT="27432" marB="27432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A6A6A6"/>
                          </a:solidFill>
                          <a:latin typeface="Tahoma" pitchFamily="34" charset="0"/>
                          <a:ea typeface="Tahoma" pitchFamily="34" charset="-122"/>
                          <a:cs typeface="Tahoma" pitchFamily="34" charset="-120"/>
                        </a:rPr>
                        <a:t>—</a:t>
                      </a:r>
                      <a:endParaRPr lang="en-US" sz="900" dirty="0">
                        <a:latin typeface="Tahoma" charset="0"/>
                        <a:ea typeface="Tahoma" charset="0"/>
                        <a:cs typeface="Tahoma" charset="0"/>
                      </a:endParaRPr>
                    </a:p>
                  </a:txBody>
                  <a:tcPr marL="45720" marR="45720" marT="27432" marB="27432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A6A6A6"/>
                          </a:solidFill>
                          <a:latin typeface="Tahoma" pitchFamily="34" charset="0"/>
                          <a:ea typeface="Tahoma" pitchFamily="34" charset="-122"/>
                          <a:cs typeface="Tahoma" pitchFamily="34" charset="-120"/>
                        </a:rPr>
                        <a:t>—</a:t>
                      </a:r>
                      <a:endParaRPr lang="en-US" sz="900" dirty="0">
                        <a:latin typeface="Tahoma" charset="0"/>
                        <a:ea typeface="Tahoma" charset="0"/>
                        <a:cs typeface="Tahoma" charset="0"/>
                      </a:endParaRPr>
                    </a:p>
                  </a:txBody>
                  <a:tcPr marL="45720" marR="45720" marT="27432" marB="27432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A6A6A6"/>
                          </a:solidFill>
                          <a:latin typeface="Tahoma" pitchFamily="34" charset="0"/>
                          <a:ea typeface="Tahoma" pitchFamily="34" charset="-122"/>
                          <a:cs typeface="Tahoma" pitchFamily="34" charset="-120"/>
                        </a:rPr>
                        <a:t>—</a:t>
                      </a:r>
                      <a:endParaRPr lang="en-US" sz="900" dirty="0">
                        <a:latin typeface="Tahoma" charset="0"/>
                        <a:ea typeface="Tahoma" charset="0"/>
                        <a:cs typeface="Tahoma" charset="0"/>
                      </a:endParaRPr>
                    </a:p>
                  </a:txBody>
                  <a:tcPr marL="45720" marR="45720" marT="27432" marB="27432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Tahoma" pitchFamily="34" charset="0"/>
                          <a:ea typeface="Tahoma" pitchFamily="34" charset="-122"/>
                          <a:cs typeface="Tahoma" pitchFamily="34" charset="-120"/>
                        </a:rPr>
                        <a:t>แนวยาว · Mobile mapping system (บนยานพาหนะ)</a:t>
                      </a:r>
                      <a:endParaRPr lang="en-US" sz="900" dirty="0">
                        <a:latin typeface="Tahoma" charset="0"/>
                        <a:ea typeface="Tahoma" charset="0"/>
                        <a:cs typeface="Tahoma" charset="0"/>
                      </a:endParaRPr>
                    </a:p>
                  </a:txBody>
                  <a:tcPr marL="45720" marR="45720" marT="27432" marB="27432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Tahoma" pitchFamily="34" charset="0"/>
                          <a:ea typeface="Tahoma" pitchFamily="34" charset="-122"/>
                          <a:cs typeface="Tahoma" pitchFamily="34" charset="-120"/>
                        </a:rPr>
                        <a:t>Leica Geosystems (Pegasus), Trimble (MX), RIEGL (VMX), Topcon</a:t>
                      </a:r>
                      <a:endParaRPr lang="en-US" sz="900" dirty="0">
                        <a:latin typeface="Tahoma" charset="0"/>
                        <a:ea typeface="Tahoma" charset="0"/>
                        <a:cs typeface="Tahoma" charset="0"/>
                      </a:endParaRPr>
                    </a:p>
                  </a:txBody>
                  <a:tcPr marL="45720" marR="45720" marT="27432" marB="27432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A6A6A6"/>
                          </a:solidFill>
                          <a:latin typeface="Tahoma" pitchFamily="34" charset="0"/>
                          <a:ea typeface="Tahoma" pitchFamily="34" charset="-122"/>
                          <a:cs typeface="Tahoma" pitchFamily="34" charset="-120"/>
                        </a:rPr>
                        <a:t>—</a:t>
                      </a:r>
                      <a:endParaRPr lang="en-US" sz="900" dirty="0">
                        <a:latin typeface="Tahoma" charset="0"/>
                        <a:ea typeface="Tahoma" charset="0"/>
                        <a:cs typeface="Tahoma" charset="0"/>
                      </a:endParaRPr>
                    </a:p>
                  </a:txBody>
                  <a:tcPr marL="45720" marR="45720" marT="27432" marB="27432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A6A6A6"/>
                          </a:solidFill>
                          <a:latin typeface="Tahoma" pitchFamily="34" charset="0"/>
                          <a:ea typeface="Tahoma" pitchFamily="34" charset="-122"/>
                          <a:cs typeface="Tahoma" pitchFamily="34" charset="-120"/>
                        </a:rPr>
                        <a:t>—</a:t>
                      </a:r>
                      <a:endParaRPr lang="en-US" sz="900" dirty="0">
                        <a:latin typeface="Tahoma" charset="0"/>
                        <a:ea typeface="Tahoma" charset="0"/>
                        <a:cs typeface="Tahoma" charset="0"/>
                      </a:endParaRPr>
                    </a:p>
                  </a:txBody>
                  <a:tcPr marL="45720" marR="45720" marT="27432" marB="27432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A6A6A6"/>
                          </a:solidFill>
                          <a:latin typeface="Tahoma" pitchFamily="34" charset="0"/>
                          <a:ea typeface="Tahoma" pitchFamily="34" charset="-122"/>
                          <a:cs typeface="Tahoma" pitchFamily="34" charset="-120"/>
                        </a:rPr>
                        <a:t>—</a:t>
                      </a:r>
                      <a:endParaRPr lang="en-US" sz="900" dirty="0">
                        <a:latin typeface="Tahoma" charset="0"/>
                        <a:ea typeface="Tahoma" charset="0"/>
                        <a:cs typeface="Tahoma" charset="0"/>
                      </a:endParaRPr>
                    </a:p>
                  </a:txBody>
                  <a:tcPr marL="45720" marR="45720" marT="27432" marB="27432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A6A6A6"/>
                          </a:solidFill>
                          <a:latin typeface="Tahoma" pitchFamily="34" charset="0"/>
                          <a:ea typeface="Tahoma" pitchFamily="34" charset="-122"/>
                          <a:cs typeface="Tahoma" pitchFamily="34" charset="-120"/>
                        </a:rPr>
                        <a:t>—</a:t>
                      </a:r>
                      <a:endParaRPr lang="en-US" sz="900" dirty="0">
                        <a:latin typeface="Tahoma" charset="0"/>
                        <a:ea typeface="Tahoma" charset="0"/>
                        <a:cs typeface="Tahoma" charset="0"/>
                      </a:endParaRPr>
                    </a:p>
                  </a:txBody>
                  <a:tcPr marL="45720" marR="45720" marT="27432" marB="27432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Tahoma" pitchFamily="34" charset="0"/>
                          <a:ea typeface="Tahoma" pitchFamily="34" charset="-122"/>
                          <a:cs typeface="Tahoma" pitchFamily="34" charset="-120"/>
                        </a:rPr>
                        <a:t>แนวยาว/พื้นที่จำกัด · SLAM scanner แบบพกพา</a:t>
                      </a:r>
                      <a:endParaRPr lang="en-US" sz="900" dirty="0">
                        <a:latin typeface="Tahoma" charset="0"/>
                        <a:ea typeface="Tahoma" charset="0"/>
                        <a:cs typeface="Tahoma" charset="0"/>
                      </a:endParaRPr>
                    </a:p>
                  </a:txBody>
                  <a:tcPr marL="45720" marR="45720" marT="27432" marB="27432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Tahoma" pitchFamily="34" charset="0"/>
                          <a:ea typeface="Tahoma" pitchFamily="34" charset="-122"/>
                          <a:cs typeface="Tahoma" pitchFamily="34" charset="-120"/>
                        </a:rPr>
                        <a:t>GeoSLAM, Leica Geosystems (BLK2GO)</a:t>
                      </a:r>
                      <a:endParaRPr lang="en-US" sz="900" dirty="0">
                        <a:latin typeface="Tahoma" charset="0"/>
                        <a:ea typeface="Tahoma" charset="0"/>
                        <a:cs typeface="Tahoma" charset="0"/>
                      </a:endParaRPr>
                    </a:p>
                  </a:txBody>
                  <a:tcPr marL="45720" marR="45720" marT="27432" marB="27432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A6A6A6"/>
                          </a:solidFill>
                          <a:latin typeface="Tahoma" pitchFamily="34" charset="0"/>
                          <a:ea typeface="Tahoma" pitchFamily="34" charset="-122"/>
                          <a:cs typeface="Tahoma" pitchFamily="34" charset="-120"/>
                        </a:rPr>
                        <a:t>—</a:t>
                      </a:r>
                      <a:endParaRPr lang="en-US" sz="900" dirty="0">
                        <a:latin typeface="Tahoma" charset="0"/>
                        <a:ea typeface="Tahoma" charset="0"/>
                        <a:cs typeface="Tahoma" charset="0"/>
                      </a:endParaRPr>
                    </a:p>
                  </a:txBody>
                  <a:tcPr marL="45720" marR="45720" marT="27432" marB="27432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A6A6A6"/>
                          </a:solidFill>
                          <a:latin typeface="Tahoma" pitchFamily="34" charset="0"/>
                          <a:ea typeface="Tahoma" pitchFamily="34" charset="-122"/>
                          <a:cs typeface="Tahoma" pitchFamily="34" charset="-120"/>
                        </a:rPr>
                        <a:t>—</a:t>
                      </a:r>
                      <a:endParaRPr lang="en-US" sz="900" dirty="0">
                        <a:latin typeface="Tahoma" charset="0"/>
                        <a:ea typeface="Tahoma" charset="0"/>
                        <a:cs typeface="Tahoma" charset="0"/>
                      </a:endParaRPr>
                    </a:p>
                  </a:txBody>
                  <a:tcPr marL="45720" marR="45720" marT="27432" marB="27432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A6A6A6"/>
                          </a:solidFill>
                          <a:latin typeface="Tahoma" pitchFamily="34" charset="0"/>
                          <a:ea typeface="Tahoma" pitchFamily="34" charset="-122"/>
                          <a:cs typeface="Tahoma" pitchFamily="34" charset="-120"/>
                        </a:rPr>
                        <a:t>—</a:t>
                      </a:r>
                      <a:endParaRPr lang="en-US" sz="900" dirty="0">
                        <a:latin typeface="Tahoma" charset="0"/>
                        <a:ea typeface="Tahoma" charset="0"/>
                        <a:cs typeface="Tahoma" charset="0"/>
                      </a:endParaRPr>
                    </a:p>
                  </a:txBody>
                  <a:tcPr marL="45720" marR="45720" marT="27432" marB="27432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A6A6A6"/>
                          </a:solidFill>
                          <a:latin typeface="Tahoma" pitchFamily="34" charset="0"/>
                          <a:ea typeface="Tahoma" pitchFamily="34" charset="-122"/>
                          <a:cs typeface="Tahoma" pitchFamily="34" charset="-120"/>
                        </a:rPr>
                        <a:t>—</a:t>
                      </a:r>
                      <a:endParaRPr lang="en-US" sz="900" dirty="0">
                        <a:latin typeface="Tahoma" charset="0"/>
                        <a:ea typeface="Tahoma" charset="0"/>
                        <a:cs typeface="Tahoma" charset="0"/>
                      </a:endParaRPr>
                    </a:p>
                  </a:txBody>
                  <a:tcPr marL="45720" marR="45720" marT="27432" marB="27432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Tahoma" pitchFamily="34" charset="0"/>
                          <a:ea typeface="Tahoma" pitchFamily="34" charset="-122"/>
                          <a:cs typeface="Tahoma" pitchFamily="34" charset="-120"/>
                        </a:rPr>
                        <a:t>พื้นที่กว้าง · UAV photogrammetry</a:t>
                      </a:r>
                      <a:endParaRPr lang="en-US" sz="900" dirty="0">
                        <a:latin typeface="Tahoma" charset="0"/>
                        <a:ea typeface="Tahoma" charset="0"/>
                        <a:cs typeface="Tahoma" charset="0"/>
                      </a:endParaRPr>
                    </a:p>
                  </a:txBody>
                  <a:tcPr marL="45720" marR="45720" marT="27432" marB="27432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Tahoma" pitchFamily="34" charset="0"/>
                          <a:ea typeface="Tahoma" pitchFamily="34" charset="-122"/>
                          <a:cs typeface="Tahoma" pitchFamily="34" charset="-120"/>
                        </a:rPr>
                        <a:t>DJI, WingtraOne, AgEagle (eBee), Quantum Systems</a:t>
                      </a:r>
                      <a:endParaRPr lang="en-US" sz="900" dirty="0">
                        <a:latin typeface="Tahoma" charset="0"/>
                        <a:ea typeface="Tahoma" charset="0"/>
                        <a:cs typeface="Tahoma" charset="0"/>
                      </a:endParaRPr>
                    </a:p>
                  </a:txBody>
                  <a:tcPr marL="45720" marR="45720" marT="27432" marB="27432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A6A6A6"/>
                          </a:solidFill>
                          <a:latin typeface="Tahoma" pitchFamily="34" charset="0"/>
                          <a:ea typeface="Tahoma" pitchFamily="34" charset="-122"/>
                          <a:cs typeface="Tahoma" pitchFamily="34" charset="-120"/>
                        </a:rPr>
                        <a:t>—</a:t>
                      </a:r>
                      <a:endParaRPr lang="en-US" sz="900" dirty="0">
                        <a:latin typeface="Tahoma" charset="0"/>
                        <a:ea typeface="Tahoma" charset="0"/>
                        <a:cs typeface="Tahoma" charset="0"/>
                      </a:endParaRPr>
                    </a:p>
                  </a:txBody>
                  <a:tcPr marL="45720" marR="45720" marT="27432" marB="27432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A6A6A6"/>
                          </a:solidFill>
                          <a:latin typeface="Tahoma" pitchFamily="34" charset="0"/>
                          <a:ea typeface="Tahoma" pitchFamily="34" charset="-122"/>
                          <a:cs typeface="Tahoma" pitchFamily="34" charset="-120"/>
                        </a:rPr>
                        <a:t>—</a:t>
                      </a:r>
                      <a:endParaRPr lang="en-US" sz="900" dirty="0">
                        <a:latin typeface="Tahoma" charset="0"/>
                        <a:ea typeface="Tahoma" charset="0"/>
                        <a:cs typeface="Tahoma" charset="0"/>
                      </a:endParaRPr>
                    </a:p>
                  </a:txBody>
                  <a:tcPr marL="45720" marR="45720" marT="27432" marB="27432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A6A6A6"/>
                          </a:solidFill>
                          <a:latin typeface="Tahoma" pitchFamily="34" charset="0"/>
                          <a:ea typeface="Tahoma" pitchFamily="34" charset="-122"/>
                          <a:cs typeface="Tahoma" pitchFamily="34" charset="-120"/>
                        </a:rPr>
                        <a:t>—</a:t>
                      </a:r>
                      <a:endParaRPr lang="en-US" sz="900" dirty="0">
                        <a:latin typeface="Tahoma" charset="0"/>
                        <a:ea typeface="Tahoma" charset="0"/>
                        <a:cs typeface="Tahoma" charset="0"/>
                      </a:endParaRPr>
                    </a:p>
                  </a:txBody>
                  <a:tcPr marL="45720" marR="45720" marT="27432" marB="27432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A6A6A6"/>
                          </a:solidFill>
                          <a:latin typeface="Tahoma" pitchFamily="34" charset="0"/>
                          <a:ea typeface="Tahoma" pitchFamily="34" charset="-122"/>
                          <a:cs typeface="Tahoma" pitchFamily="34" charset="-120"/>
                        </a:rPr>
                        <a:t>—</a:t>
                      </a:r>
                      <a:endParaRPr lang="en-US" sz="900" dirty="0">
                        <a:latin typeface="Tahoma" charset="0"/>
                        <a:ea typeface="Tahoma" charset="0"/>
                        <a:cs typeface="Tahoma" charset="0"/>
                      </a:endParaRPr>
                    </a:p>
                  </a:txBody>
                  <a:tcPr marL="45720" marR="45720" marT="27432" marB="27432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Tahoma" pitchFamily="34" charset="0"/>
                          <a:ea typeface="Tahoma" pitchFamily="34" charset="-122"/>
                          <a:cs typeface="Tahoma" pitchFamily="34" charset="-120"/>
                        </a:rPr>
                        <a:t>พื้นที่กว้าง · UAV LiDAR</a:t>
                      </a:r>
                      <a:endParaRPr lang="en-US" sz="900" dirty="0">
                        <a:latin typeface="Tahoma" charset="0"/>
                        <a:ea typeface="Tahoma" charset="0"/>
                        <a:cs typeface="Tahoma" charset="0"/>
                      </a:endParaRPr>
                    </a:p>
                  </a:txBody>
                  <a:tcPr marL="45720" marR="45720" marT="27432" marB="27432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Tahoma" pitchFamily="34" charset="0"/>
                          <a:ea typeface="Tahoma" pitchFamily="34" charset="-122"/>
                          <a:cs typeface="Tahoma" pitchFamily="34" charset="-120"/>
                        </a:rPr>
                        <a:t>DJI (Zenmuse L2), RIEGL, YellowScan</a:t>
                      </a:r>
                      <a:endParaRPr lang="en-US" sz="900" dirty="0">
                        <a:latin typeface="Tahoma" charset="0"/>
                        <a:ea typeface="Tahoma" charset="0"/>
                        <a:cs typeface="Tahoma" charset="0"/>
                      </a:endParaRPr>
                    </a:p>
                  </a:txBody>
                  <a:tcPr marL="45720" marR="45720" marT="27432" marB="27432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A6A6A6"/>
                          </a:solidFill>
                          <a:latin typeface="Tahoma" pitchFamily="34" charset="0"/>
                          <a:ea typeface="Tahoma" pitchFamily="34" charset="-122"/>
                          <a:cs typeface="Tahoma" pitchFamily="34" charset="-120"/>
                        </a:rPr>
                        <a:t>—</a:t>
                      </a:r>
                      <a:endParaRPr lang="en-US" sz="900" dirty="0">
                        <a:latin typeface="Tahoma" charset="0"/>
                        <a:ea typeface="Tahoma" charset="0"/>
                        <a:cs typeface="Tahoma" charset="0"/>
                      </a:endParaRPr>
                    </a:p>
                  </a:txBody>
                  <a:tcPr marL="45720" marR="45720" marT="27432" marB="27432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A6A6A6"/>
                          </a:solidFill>
                          <a:latin typeface="Tahoma" pitchFamily="34" charset="0"/>
                          <a:ea typeface="Tahoma" pitchFamily="34" charset="-122"/>
                          <a:cs typeface="Tahoma" pitchFamily="34" charset="-120"/>
                        </a:rPr>
                        <a:t>—</a:t>
                      </a:r>
                      <a:endParaRPr lang="en-US" sz="900" dirty="0">
                        <a:latin typeface="Tahoma" charset="0"/>
                        <a:ea typeface="Tahoma" charset="0"/>
                        <a:cs typeface="Tahoma" charset="0"/>
                      </a:endParaRPr>
                    </a:p>
                  </a:txBody>
                  <a:tcPr marL="45720" marR="45720" marT="27432" marB="27432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A6A6A6"/>
                          </a:solidFill>
                          <a:latin typeface="Tahoma" pitchFamily="34" charset="0"/>
                          <a:ea typeface="Tahoma" pitchFamily="34" charset="-122"/>
                          <a:cs typeface="Tahoma" pitchFamily="34" charset="-120"/>
                        </a:rPr>
                        <a:t>—</a:t>
                      </a:r>
                      <a:endParaRPr lang="en-US" sz="900" dirty="0">
                        <a:latin typeface="Tahoma" charset="0"/>
                        <a:ea typeface="Tahoma" charset="0"/>
                        <a:cs typeface="Tahoma" charset="0"/>
                      </a:endParaRPr>
                    </a:p>
                  </a:txBody>
                  <a:tcPr marL="45720" marR="45720" marT="27432" marB="27432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A6A6A6"/>
                          </a:solidFill>
                          <a:latin typeface="Tahoma" pitchFamily="34" charset="0"/>
                          <a:ea typeface="Tahoma" pitchFamily="34" charset="-122"/>
                          <a:cs typeface="Tahoma" pitchFamily="34" charset="-120"/>
                        </a:rPr>
                        <a:t>—</a:t>
                      </a:r>
                      <a:endParaRPr lang="en-US" sz="900" dirty="0">
                        <a:latin typeface="Tahoma" charset="0"/>
                        <a:ea typeface="Tahoma" charset="0"/>
                        <a:cs typeface="Tahoma" charset="0"/>
                      </a:endParaRPr>
                    </a:p>
                  </a:txBody>
                  <a:tcPr marL="45720" marR="45720" marT="27432" marB="27432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Tahoma" pitchFamily="34" charset="0"/>
                          <a:ea typeface="Tahoma" pitchFamily="34" charset="-122"/>
                          <a:cs typeface="Tahoma" pitchFamily="34" charset="-120"/>
                        </a:rPr>
                        <a:t>พื้นที่กว้าง · LiDAR/กล้องจากอากาศยานมีคนขับ</a:t>
                      </a:r>
                      <a:endParaRPr lang="en-US" sz="900" dirty="0">
                        <a:latin typeface="Tahoma" charset="0"/>
                        <a:ea typeface="Tahoma" charset="0"/>
                        <a:cs typeface="Tahoma" charset="0"/>
                      </a:endParaRPr>
                    </a:p>
                  </a:txBody>
                  <a:tcPr marL="45720" marR="45720" marT="27432" marB="27432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Tahoma" pitchFamily="34" charset="0"/>
                          <a:ea typeface="Tahoma" pitchFamily="34" charset="-122"/>
                          <a:cs typeface="Tahoma" pitchFamily="34" charset="-120"/>
                        </a:rPr>
                        <a:t>Leica Geosystems, RIEGL, Teledyne Optech, Vexcel</a:t>
                      </a:r>
                      <a:endParaRPr lang="en-US" sz="900" dirty="0">
                        <a:latin typeface="Tahoma" charset="0"/>
                        <a:ea typeface="Tahoma" charset="0"/>
                        <a:cs typeface="Tahoma" charset="0"/>
                      </a:endParaRPr>
                    </a:p>
                  </a:txBody>
                  <a:tcPr marL="45720" marR="45720" marT="27432" marB="27432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A6A6A6"/>
                          </a:solidFill>
                          <a:latin typeface="Tahoma" pitchFamily="34" charset="0"/>
                          <a:ea typeface="Tahoma" pitchFamily="34" charset="-122"/>
                          <a:cs typeface="Tahoma" pitchFamily="34" charset="-120"/>
                        </a:rPr>
                        <a:t>—</a:t>
                      </a:r>
                      <a:endParaRPr lang="en-US" sz="900" dirty="0">
                        <a:latin typeface="Tahoma" charset="0"/>
                        <a:ea typeface="Tahoma" charset="0"/>
                        <a:cs typeface="Tahoma" charset="0"/>
                      </a:endParaRPr>
                    </a:p>
                  </a:txBody>
                  <a:tcPr marL="45720" marR="45720" marT="27432" marB="27432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A6A6A6"/>
                          </a:solidFill>
                          <a:latin typeface="Tahoma" pitchFamily="34" charset="0"/>
                          <a:ea typeface="Tahoma" pitchFamily="34" charset="-122"/>
                          <a:cs typeface="Tahoma" pitchFamily="34" charset="-120"/>
                        </a:rPr>
                        <a:t>—</a:t>
                      </a:r>
                      <a:endParaRPr lang="en-US" sz="900" dirty="0">
                        <a:latin typeface="Tahoma" charset="0"/>
                        <a:ea typeface="Tahoma" charset="0"/>
                        <a:cs typeface="Tahoma" charset="0"/>
                      </a:endParaRPr>
                    </a:p>
                  </a:txBody>
                  <a:tcPr marL="45720" marR="45720" marT="27432" marB="27432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A6A6A6"/>
                          </a:solidFill>
                          <a:latin typeface="Tahoma" pitchFamily="34" charset="0"/>
                          <a:ea typeface="Tahoma" pitchFamily="34" charset="-122"/>
                          <a:cs typeface="Tahoma" pitchFamily="34" charset="-120"/>
                        </a:rPr>
                        <a:t>—</a:t>
                      </a:r>
                      <a:endParaRPr lang="en-US" sz="900" dirty="0">
                        <a:latin typeface="Tahoma" charset="0"/>
                        <a:ea typeface="Tahoma" charset="0"/>
                        <a:cs typeface="Tahoma" charset="0"/>
                      </a:endParaRPr>
                    </a:p>
                  </a:txBody>
                  <a:tcPr marL="45720" marR="45720" marT="27432" marB="27432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A6A6A6"/>
                          </a:solidFill>
                          <a:latin typeface="Tahoma" pitchFamily="34" charset="0"/>
                          <a:ea typeface="Tahoma" pitchFamily="34" charset="-122"/>
                          <a:cs typeface="Tahoma" pitchFamily="34" charset="-120"/>
                        </a:rPr>
                        <a:t>—</a:t>
                      </a:r>
                      <a:endParaRPr lang="en-US" sz="900" dirty="0">
                        <a:latin typeface="Tahoma" charset="0"/>
                        <a:ea typeface="Tahoma" charset="0"/>
                        <a:cs typeface="Tahoma" charset="0"/>
                      </a:endParaRPr>
                    </a:p>
                  </a:txBody>
                  <a:tcPr marL="45720" marR="45720" marT="27432" marB="27432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Tahoma" pitchFamily="34" charset="0"/>
                          <a:ea typeface="Tahoma" pitchFamily="34" charset="-122"/>
                          <a:cs typeface="Tahoma" pitchFamily="34" charset="-120"/>
                        </a:rPr>
                        <a:t>พื้นที่กว้างมาก · ภาพถ่ายดาวเทียม</a:t>
                      </a:r>
                      <a:endParaRPr lang="en-US" sz="900" dirty="0">
                        <a:latin typeface="Tahoma" charset="0"/>
                        <a:ea typeface="Tahoma" charset="0"/>
                        <a:cs typeface="Tahoma" charset="0"/>
                      </a:endParaRPr>
                    </a:p>
                  </a:txBody>
                  <a:tcPr marL="45720" marR="45720" marT="27432" marB="27432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Tahoma" pitchFamily="34" charset="0"/>
                          <a:ea typeface="Tahoma" pitchFamily="34" charset="-122"/>
                          <a:cs typeface="Tahoma" pitchFamily="34" charset="-120"/>
                        </a:rPr>
                        <a:t>Airbus (Pléiades), Maxar (WorldView), Planet, ESA (Sentinel-2)</a:t>
                      </a:r>
                      <a:endParaRPr lang="en-US" sz="900" dirty="0">
                        <a:latin typeface="Tahoma" charset="0"/>
                        <a:ea typeface="Tahoma" charset="0"/>
                        <a:cs typeface="Tahoma" charset="0"/>
                      </a:endParaRPr>
                    </a:p>
                  </a:txBody>
                  <a:tcPr marL="45720" marR="45720" marT="27432" marB="27432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A6A6A6"/>
                          </a:solidFill>
                          <a:latin typeface="Tahoma" pitchFamily="34" charset="0"/>
                          <a:ea typeface="Tahoma" pitchFamily="34" charset="-122"/>
                          <a:cs typeface="Tahoma" pitchFamily="34" charset="-120"/>
                        </a:rPr>
                        <a:t>—</a:t>
                      </a:r>
                      <a:endParaRPr lang="en-US" sz="900" dirty="0">
                        <a:latin typeface="Tahoma" charset="0"/>
                        <a:ea typeface="Tahoma" charset="0"/>
                        <a:cs typeface="Tahoma" charset="0"/>
                      </a:endParaRPr>
                    </a:p>
                  </a:txBody>
                  <a:tcPr marL="45720" marR="45720" marT="27432" marB="27432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A6A6A6"/>
                          </a:solidFill>
                          <a:latin typeface="Tahoma" pitchFamily="34" charset="0"/>
                          <a:ea typeface="Tahoma" pitchFamily="34" charset="-122"/>
                          <a:cs typeface="Tahoma" pitchFamily="34" charset="-120"/>
                        </a:rPr>
                        <a:t>—</a:t>
                      </a:r>
                      <a:endParaRPr lang="en-US" sz="900" dirty="0">
                        <a:latin typeface="Tahoma" charset="0"/>
                        <a:ea typeface="Tahoma" charset="0"/>
                        <a:cs typeface="Tahoma" charset="0"/>
                      </a:endParaRPr>
                    </a:p>
                  </a:txBody>
                  <a:tcPr marL="45720" marR="45720" marT="27432" marB="27432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A6A6A6"/>
                          </a:solidFill>
                          <a:latin typeface="Tahoma" pitchFamily="34" charset="0"/>
                          <a:ea typeface="Tahoma" pitchFamily="34" charset="-122"/>
                          <a:cs typeface="Tahoma" pitchFamily="34" charset="-120"/>
                        </a:rPr>
                        <a:t>—</a:t>
                      </a:r>
                      <a:endParaRPr lang="en-US" sz="900" dirty="0">
                        <a:latin typeface="Tahoma" charset="0"/>
                        <a:ea typeface="Tahoma" charset="0"/>
                        <a:cs typeface="Tahoma" charset="0"/>
                      </a:endParaRPr>
                    </a:p>
                  </a:txBody>
                  <a:tcPr marL="45720" marR="45720" marT="27432" marB="27432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A6A6A6"/>
                          </a:solidFill>
                          <a:latin typeface="Tahoma" pitchFamily="34" charset="0"/>
                          <a:ea typeface="Tahoma" pitchFamily="34" charset="-122"/>
                          <a:cs typeface="Tahoma" pitchFamily="34" charset="-120"/>
                        </a:rPr>
                        <a:t>—</a:t>
                      </a:r>
                      <a:endParaRPr lang="en-US" sz="900" dirty="0">
                        <a:latin typeface="Tahoma" charset="0"/>
                        <a:ea typeface="Tahoma" charset="0"/>
                        <a:cs typeface="Tahoma" charset="0"/>
                      </a:endParaRPr>
                    </a:p>
                  </a:txBody>
                  <a:tcPr marL="45720" marR="45720" marT="27432" marB="27432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4" name="Text 1"/>
          <p:cNvSpPr txBox="1"/>
          <p:nvPr/>
        </p:nvSpPr>
        <p:spPr>
          <a:xfrm>
            <a:off x="457200" y="4572000"/>
            <a:ext cx="7680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808080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* รายการตัวอย่างผลิตภัณฑ์มาจากความรู้ทั่วไป ยังไม่ตรวจ datasheet และไม่ใช่การแนะนำ  ** ค่าความแม่นยำที่จะใส่เป็นค่าที่ผู้ผลิตระบุ</a:t>
            </a:r>
            <a:endParaRPr lang="en-US" sz="9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321040" y="475488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808080"/>
                </a:solidFill>
                <a:latin typeface="Tahoma"/>
                <a:ea typeface="Tahoma"/>
                <a:cs typeface="Tahoma"/>
              </a:defRPr>
            </a:lvl1pPr>
          </a:lstStyle>
          <a:p>
            <a:pPr algn="r"/>
            <a:fld id="{F7021451-1387-4CA6-816F-3879F97B5CBC}" type="slidenum">
              <a:rPr b="0" lang="en-US"/>
              <a:t>13</a:t>
            </a:fld>
            <a:endParaRPr lang="en-US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320040"/>
            <a:ext cx="82296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400" b="1" dirty="0">
                <a:solidFill>
                  <a:srgbClr val="000000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บทที่ 1  รอยต่อบก–น้ำ (Land–Water Interface)</a:t>
            </a:r>
            <a:endParaRPr lang="en-US" sz="24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1371600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000000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ประเด็น: บริเวณน้ำตื้นและชายตลิ่งที่เครื่องมือภาคพื้นดินและเครื่องมือใต้น้ำไม่ครอบคลุมทั้งหมด</a:t>
            </a:r>
            <a:endParaRPr lang="en-US" sz="1400" dirty="0"/>
          </a:p>
        </p:txBody>
      </p:sp>
      <p:sp>
        <p:nvSpPr>
          <p:cNvPr id="4" name="Text 2"/>
          <p:cNvSpPr txBox="1"/>
          <p:nvPr/>
        </p:nvSpPr>
        <p:spPr>
          <a:xfrm>
            <a:off x="457200" y="1920240"/>
            <a:ext cx="8229600" cy="2651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400" dirty="0">
                <a:solidFill>
                  <a:srgbClr val="000000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Topo-bathymetric (green) LiDAR จากอากาศยาน</a:t>
            </a:r>
            <a:endParaRPr lang="en-US" sz="14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400" dirty="0">
                <a:solidFill>
                  <a:srgbClr val="000000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UAV ร่วมกับเรือสำรวจไร้คนขับหรือการวัดแบบเดินลุยน้ำ + GNSS</a:t>
            </a:r>
            <a:endParaRPr lang="en-US" sz="14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400" dirty="0">
                <a:solidFill>
                  <a:srgbClr val="000000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ข้อจำกัดด้านความขุ่นของน้ำ</a:t>
            </a:r>
            <a:endParaRPr lang="en-US" sz="14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400" dirty="0">
                <a:solidFill>
                  <a:srgbClr val="808080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(รอแหล่งอ้างอิง: ประเด็นนี้มาจากความรู้ทั่วไป ยังไม่ได้ค้น)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321040" y="475488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808080"/>
                </a:solidFill>
                <a:latin typeface="Tahoma"/>
                <a:ea typeface="Tahoma"/>
                <a:cs typeface="Tahoma"/>
              </a:defRPr>
            </a:lvl1pPr>
          </a:lstStyle>
          <a:p>
            <a:pPr algn="r"/>
            <a:fld id="{F7021451-1387-4CA6-816F-3879F97B5CBC}" type="slidenum">
              <a:rPr b="0" lang="en-US"/>
              <a:t>14</a:t>
            </a:fld>
            <a:endParaRPr lang="en-US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320040"/>
            <a:ext cx="82296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400" b="1" dirty="0">
                <a:solidFill>
                  <a:srgbClr val="000000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บทที่ 1  ภูมิประเทศและสิ่งปลูกสร้างเหนือผิวดิน: เกณฑ์การเลือกใช้</a:t>
            </a:r>
            <a:endParaRPr lang="en-US" sz="24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1371600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endParaRPr lang="en-US" sz="1400" dirty="0"/>
          </a:p>
        </p:txBody>
      </p:sp>
      <p:sp>
        <p:nvSpPr>
          <p:cNvPr id="4" name="Text 2"/>
          <p:cNvSpPr txBox="1"/>
          <p:nvPr/>
        </p:nvSpPr>
        <p:spPr>
          <a:xfrm>
            <a:off x="457200" y="1920240"/>
            <a:ext cx="8229600" cy="2651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400" dirty="0">
                <a:solidFill>
                  <a:srgbClr val="000000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ขนาดพื้นที่และลักษณะพื้นที่ปฏิบัติงาน</a:t>
            </a:r>
            <a:endParaRPr lang="en-US" sz="14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400" dirty="0">
                <a:solidFill>
                  <a:srgbClr val="000000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ความถูกต้องที่ต้องการ</a:t>
            </a:r>
            <a:endParaRPr lang="en-US" sz="14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400" dirty="0">
                <a:solidFill>
                  <a:srgbClr val="000000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สภาพแวดล้อมหน้างาน</a:t>
            </a:r>
            <a:endParaRPr lang="en-US" sz="14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400" dirty="0">
                <a:solidFill>
                  <a:srgbClr val="000000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เวลาประมวลผลและบุคลากร</a:t>
            </a:r>
            <a:endParaRPr lang="en-US" sz="14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400" dirty="0">
                <a:solidFill>
                  <a:srgbClr val="000000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ต้นทุนการจัดซื้อหรือจ้าง</a:t>
            </a:r>
            <a:endParaRPr lang="en-US" sz="14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400" dirty="0">
                <a:solidFill>
                  <a:srgbClr val="808080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(รอเติมเนื้อหา: เกณฑ์ข้างต้นเป็นโครงร่าง)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321040" y="475488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808080"/>
                </a:solidFill>
                <a:latin typeface="Tahoma"/>
                <a:ea typeface="Tahoma"/>
                <a:cs typeface="Tahoma"/>
              </a:defRPr>
            </a:lvl1pPr>
          </a:lstStyle>
          <a:p>
            <a:pPr algn="r"/>
            <a:fld id="{F7021451-1387-4CA6-816F-3879F97B5CBC}" type="slidenum">
              <a:rPr b="0" lang="en-US"/>
              <a:t>15</a:t>
            </a:fld>
            <a:endParaRPr lang="en-US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320040"/>
            <a:ext cx="82296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400" b="1" dirty="0">
                <a:solidFill>
                  <a:srgbClr val="000000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บทที่ 1  ภูมิประเทศและสิ่งปลูกสร้างเหนือผิวดิน: Research trend</a:t>
            </a:r>
            <a:endParaRPr lang="en-US" sz="24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1371600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endParaRPr lang="en-US" sz="1400" dirty="0"/>
          </a:p>
        </p:txBody>
      </p:sp>
      <p:sp>
        <p:nvSpPr>
          <p:cNvPr id="4" name="Text 2"/>
          <p:cNvSpPr txBox="1"/>
          <p:nvPr/>
        </p:nvSpPr>
        <p:spPr>
          <a:xfrm>
            <a:off x="457200" y="1920240"/>
            <a:ext cx="8229600" cy="2651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1400" dirty="0">
                <a:solidFill>
                  <a:srgbClr val="808080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(รอเติมเนื้อหา)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321040" y="475488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808080"/>
                </a:solidFill>
                <a:latin typeface="Tahoma"/>
                <a:ea typeface="Tahoma"/>
                <a:cs typeface="Tahoma"/>
              </a:defRPr>
            </a:lvl1pPr>
          </a:lstStyle>
          <a:p>
            <a:pPr algn="r"/>
            <a:fld id="{F7021451-1387-4CA6-816F-3879F97B5CBC}" type="slidenum">
              <a:rPr b="0" lang="en-US"/>
              <a:t>16</a:t>
            </a:fld>
            <a:endParaRPr lang="en-US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54864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595959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บทที่ 2</a:t>
            </a:r>
            <a:endParaRPr lang="en-US" sz="16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914400"/>
            <a:ext cx="8229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000" b="1" dirty="0">
                <a:solidFill>
                  <a:srgbClr val="000000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ท้องน้ำ</a:t>
            </a:r>
            <a:endParaRPr lang="en-US" sz="3000" dirty="0"/>
          </a:p>
        </p:txBody>
      </p:sp>
      <p:sp>
        <p:nvSpPr>
          <p:cNvPr id="4" name="Text 2"/>
          <p:cNvSpPr txBox="1"/>
          <p:nvPr/>
        </p:nvSpPr>
        <p:spPr>
          <a:xfrm>
            <a:off x="457200" y="1737360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595959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Underwater (Hydrographic) Survey</a:t>
            </a:r>
            <a:endParaRPr lang="en-US" sz="1800" dirty="0"/>
          </a:p>
        </p:txBody>
      </p:sp>
      <p:sp>
        <p:nvSpPr>
          <p:cNvPr id="5" name="Text 3"/>
          <p:cNvSpPr txBox="1"/>
          <p:nvPr/>
        </p:nvSpPr>
        <p:spPr>
          <a:xfrm>
            <a:off x="457200" y="2468880"/>
            <a:ext cx="8229600" cy="2103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600"/>
              </a:spcAft>
              <a:buSzPct val="100000"/>
              <a:buFont typeface="+mj-lt"/>
              <a:buAutoNum type="arabicPeriod" startAt="1"/>
            </a:pPr>
            <a:r>
              <a:rPr lang="en-US" sz="2000" dirty="0">
                <a:solidFill>
                  <a:srgbClr val="000000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ขอบเขตและผลลัพธ์</a:t>
            </a:r>
            <a:endParaRPr lang="en-US" sz="2000" dirty="0"/>
          </a:p>
          <a:p>
            <a:pPr marL="342900" indent="-342900">
              <a:spcAft>
                <a:spcPts val="600"/>
              </a:spcAft>
              <a:buSzPct val="100000"/>
              <a:buFont typeface="+mj-lt"/>
              <a:buAutoNum type="arabicPeriod" startAt="1"/>
            </a:pPr>
            <a:r>
              <a:rPr lang="en-US" sz="2000" dirty="0">
                <a:solidFill>
                  <a:srgbClr val="000000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ชนิดเครื่องมือและหลักการวัด</a:t>
            </a:r>
            <a:endParaRPr lang="en-US" sz="2000" dirty="0"/>
          </a:p>
          <a:p>
            <a:pPr marL="342900" indent="-342900">
              <a:spcAft>
                <a:spcPts val="600"/>
              </a:spcAft>
              <a:buSzPct val="100000"/>
              <a:buFont typeface="+mj-lt"/>
              <a:buAutoNum type="arabicPeriod" startAt="1"/>
            </a:pPr>
            <a:r>
              <a:rPr lang="en-US" sz="2000" dirty="0">
                <a:solidFill>
                  <a:srgbClr val="000000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เปรียบเทียบเครื่องมือ</a:t>
            </a:r>
            <a:endParaRPr lang="en-US" sz="2000" dirty="0"/>
          </a:p>
          <a:p>
            <a:pPr marL="342900" indent="-342900">
              <a:spcAft>
                <a:spcPts val="600"/>
              </a:spcAft>
              <a:buSzPct val="100000"/>
              <a:buFont typeface="+mj-lt"/>
              <a:buAutoNum type="arabicPeriod" startAt="1"/>
            </a:pPr>
            <a:r>
              <a:rPr lang="en-US" sz="2000" dirty="0">
                <a:solidFill>
                  <a:srgbClr val="000000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เกณฑ์การเลือกใช้</a:t>
            </a:r>
            <a:endParaRPr lang="en-US" sz="2000" dirty="0"/>
          </a:p>
          <a:p>
            <a:pPr marL="342900" indent="-342900">
              <a:spcAft>
                <a:spcPts val="600"/>
              </a:spcAft>
              <a:buSzPct val="100000"/>
              <a:buFont typeface="+mj-lt"/>
              <a:buAutoNum type="arabicPeriod" startAt="1"/>
            </a:pPr>
            <a:r>
              <a:rPr lang="en-US" sz="2000" dirty="0">
                <a:solidFill>
                  <a:srgbClr val="000000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Research trend</a:t>
            </a:r>
            <a:endParaRPr lang="en-US" sz="2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321040" y="475488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808080"/>
                </a:solidFill>
                <a:latin typeface="Tahoma"/>
                <a:ea typeface="Tahoma"/>
                <a:cs typeface="Tahoma"/>
              </a:defRPr>
            </a:lvl1pPr>
          </a:lstStyle>
          <a:p>
            <a:pPr algn="r"/>
            <a:fld id="{F7021451-1387-4CA6-816F-3879F97B5CBC}" type="slidenum">
              <a:rPr b="0" lang="en-US"/>
              <a:t>17</a:t>
            </a:fld>
            <a:endParaRPr lang="en-US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320040"/>
            <a:ext cx="82296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400" b="1" dirty="0">
                <a:solidFill>
                  <a:srgbClr val="000000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บทที่ 2  ท้องน้ำ: ขอบเขตและผลลัพธ์</a:t>
            </a:r>
            <a:endParaRPr lang="en-US" sz="24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1371600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endParaRPr lang="en-US" sz="1400" dirty="0"/>
          </a:p>
        </p:txBody>
      </p:sp>
      <p:sp>
        <p:nvSpPr>
          <p:cNvPr id="4" name="Text 2"/>
          <p:cNvSpPr txBox="1"/>
          <p:nvPr/>
        </p:nvSpPr>
        <p:spPr>
          <a:xfrm>
            <a:off x="457200" y="1920240"/>
            <a:ext cx="8229600" cy="2651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300" dirty="0">
                <a:solidFill>
                  <a:srgbClr val="000000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บริเวณ: ท้องน้ำของแม่น้ำ อ่างเก็บน้ำ ท่าเรือ ทะเลสาบ และทะเล</a:t>
            </a:r>
            <a:endParaRPr lang="en-US" sz="13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300" dirty="0">
                <a:solidFill>
                  <a:srgbClr val="000000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ผลลัพธ์: ความลึกและรูปร่างท้องน้ำ (bathymetry) และแผนที่ท้องน้ำ ประกอบด้วยการวัดความลึก (sounding) และการระบุตำแหน่งที่วัด</a:t>
            </a:r>
            <a:endParaRPr lang="en-US" sz="13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300" dirty="0">
                <a:solidFill>
                  <a:srgbClr val="000000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การใช้งาน: การขุดลอก ความจุอ่างเก็บน้ำ (การควบคุมน้ำท่วม ระบบจ่ายน้ำ) และการเดินเรือ</a:t>
            </a:r>
            <a:endParaRPr lang="en-US" sz="1300" dirty="0"/>
          </a:p>
        </p:txBody>
      </p:sp>
      <p:sp>
        <p:nvSpPr>
          <p:cNvPr id="5" name="Text 3"/>
          <p:cNvSpPr txBox="1"/>
          <p:nvPr/>
        </p:nvSpPr>
        <p:spPr>
          <a:xfrm>
            <a:off x="457200" y="4572000"/>
            <a:ext cx="7680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808080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อ้างอิง: Elementary Surveying §17.13 หน้า 493 [S046]; IHO Manual on Hydrography ch.1 [S048]</a:t>
            </a:r>
            <a:endParaRPr lang="en-US" sz="9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321040" y="475488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808080"/>
                </a:solidFill>
                <a:latin typeface="Tahoma"/>
                <a:ea typeface="Tahoma"/>
                <a:cs typeface="Tahoma"/>
              </a:defRPr>
            </a:lvl1pPr>
          </a:lstStyle>
          <a:p>
            <a:pPr algn="r"/>
            <a:fld id="{F7021451-1387-4CA6-816F-3879F97B5CBC}" type="slidenum">
              <a:rPr b="0" lang="en-US"/>
              <a:t>18</a:t>
            </a:fld>
            <a:endParaRPr lang="en-US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320040"/>
            <a:ext cx="82296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400" b="1" dirty="0">
                <a:solidFill>
                  <a:srgbClr val="000000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บทที่ 2  ท้องน้ำ: ชนิดเครื่องมือและหลักการวัด</a:t>
            </a:r>
            <a:endParaRPr lang="en-US" sz="24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1371600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endParaRPr lang="en-US" sz="1400" dirty="0"/>
          </a:p>
        </p:txBody>
      </p:sp>
      <p:sp>
        <p:nvSpPr>
          <p:cNvPr id="4" name="Text 2"/>
          <p:cNvSpPr txBox="1"/>
          <p:nvPr/>
        </p:nvSpPr>
        <p:spPr>
          <a:xfrm>
            <a:off x="457200" y="1920240"/>
            <a:ext cx="8229600" cy="2651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300" dirty="0">
                <a:solidFill>
                  <a:srgbClr val="000000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Echo sounder: เวลาเดินทางของสัญญาณเสียงสะท้อน</a:t>
            </a:r>
            <a:endParaRPr lang="en-US" sz="13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300" dirty="0">
                <a:solidFill>
                  <a:srgbClr val="000000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ADCP: การเปลี่ยนความถี่แบบดอปเปลอร์ของเสียง</a:t>
            </a:r>
            <a:endParaRPr lang="en-US" sz="13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300" dirty="0">
                <a:solidFill>
                  <a:srgbClr val="000000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Sonar: ภาพสะท้อนเสียงของท้องน้ำ</a:t>
            </a:r>
            <a:endParaRPr lang="en-US" sz="1300" dirty="0"/>
          </a:p>
        </p:txBody>
      </p:sp>
      <p:sp>
        <p:nvSpPr>
          <p:cNvPr id="5" name="Text 3"/>
          <p:cNvSpPr txBox="1"/>
          <p:nvPr/>
        </p:nvSpPr>
        <p:spPr>
          <a:xfrm>
            <a:off x="457200" y="4572000"/>
            <a:ext cx="7680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808080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หมายเหตุ: ถ้อยคำหลักการเป็นร่างจากความรู้ทั่วไป ยังไม่ตรวจแหล่ง ยกเว้นรายการที่มีรหัส S</a:t>
            </a:r>
            <a:endParaRPr lang="en-US" sz="9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321040" y="475488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808080"/>
                </a:solidFill>
                <a:latin typeface="Tahoma"/>
                <a:ea typeface="Tahoma"/>
                <a:cs typeface="Tahoma"/>
              </a:defRPr>
            </a:lvl1pPr>
          </a:lstStyle>
          <a:p>
            <a:pPr algn="r"/>
            <a:fld id="{F7021451-1387-4CA6-816F-3879F97B5CBC}" type="slidenum">
              <a:rPr b="0" lang="en-US"/>
              <a:t>19</a:t>
            </a:fld>
            <a:endParaRPr lang="en-US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320040"/>
            <a:ext cx="82296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400" b="1" dirty="0">
                <a:solidFill>
                  <a:srgbClr val="000000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บทที่ 2  ท้องน้ำ: เปรียบเทียบเครื่องมือ</a:t>
            </a:r>
            <a:endParaRPr lang="en-US" sz="2400" dirty="0"/>
          </a:p>
        </p:txBody>
      </p:sp>
      <p:graphicFrame>
        <p:nvGraphicFramePr>
          <p:cNvPr id="21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005840"/>
          <a:ext cx="8229600" cy="914400"/>
        </p:xfrm>
        <a:graphic>
          <a:graphicData uri="http://schemas.openxmlformats.org/drawingml/2006/table">
            <a:tbl>
              <a:tblPr/>
              <a:tblGrid>
                <a:gridCol w="1737360"/>
                <a:gridCol w="2103120"/>
                <a:gridCol w="960120"/>
                <a:gridCol w="960120"/>
                <a:gridCol w="1371600"/>
                <a:gridCol w="1097280"/>
              </a:tblGrid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000000"/>
                          </a:solidFill>
                          <a:latin typeface="Tahoma" pitchFamily="34" charset="0"/>
                          <a:ea typeface="Tahoma" pitchFamily="34" charset="-122"/>
                          <a:cs typeface="Tahoma" pitchFamily="34" charset="-120"/>
                        </a:rPr>
                        <a:t>ชนิดเครื่องมือ</a:t>
                      </a:r>
                      <a:endParaRPr lang="en-US" sz="900" dirty="0">
                        <a:latin typeface="Tahoma" charset="0"/>
                        <a:ea typeface="Tahoma" charset="0"/>
                        <a:cs typeface="Tahoma" charset="0"/>
                      </a:endParaRPr>
                    </a:p>
                  </a:txBody>
                  <a:tcPr marL="45720" marR="45720" marT="27432" marB="27432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000000"/>
                          </a:solidFill>
                          <a:latin typeface="Tahoma" pitchFamily="34" charset="0"/>
                          <a:ea typeface="Tahoma" pitchFamily="34" charset="-122"/>
                          <a:cs typeface="Tahoma" pitchFamily="34" charset="-120"/>
                        </a:rPr>
                        <a:t>ตัวอย่างผลิตภัณฑ์*</a:t>
                      </a:r>
                      <a:endParaRPr lang="en-US" sz="900" dirty="0">
                        <a:latin typeface="Tahoma" charset="0"/>
                        <a:ea typeface="Tahoma" charset="0"/>
                        <a:cs typeface="Tahoma" charset="0"/>
                      </a:endParaRPr>
                    </a:p>
                  </a:txBody>
                  <a:tcPr marL="45720" marR="45720" marT="27432" marB="27432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000000"/>
                          </a:solidFill>
                          <a:latin typeface="Tahoma" pitchFamily="34" charset="0"/>
                          <a:ea typeface="Tahoma" pitchFamily="34" charset="-122"/>
                          <a:cs typeface="Tahoma" pitchFamily="34" charset="-120"/>
                        </a:rPr>
                        <a:t>ผลลัพธ์ที่ได้</a:t>
                      </a:r>
                      <a:endParaRPr lang="en-US" sz="900" dirty="0">
                        <a:latin typeface="Tahoma" charset="0"/>
                        <a:ea typeface="Tahoma" charset="0"/>
                        <a:cs typeface="Tahoma" charset="0"/>
                      </a:endParaRPr>
                    </a:p>
                  </a:txBody>
                  <a:tcPr marL="45720" marR="45720" marT="27432" marB="27432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000000"/>
                          </a:solidFill>
                          <a:latin typeface="Tahoma" pitchFamily="34" charset="0"/>
                          <a:ea typeface="Tahoma" pitchFamily="34" charset="-122"/>
                          <a:cs typeface="Tahoma" pitchFamily="34" charset="-120"/>
                        </a:rPr>
                        <a:t>ความแม่นยำ**</a:t>
                      </a:r>
                      <a:endParaRPr lang="en-US" sz="900" dirty="0">
                        <a:latin typeface="Tahoma" charset="0"/>
                        <a:ea typeface="Tahoma" charset="0"/>
                        <a:cs typeface="Tahoma" charset="0"/>
                      </a:endParaRPr>
                    </a:p>
                  </a:txBody>
                  <a:tcPr marL="45720" marR="45720" marT="27432" marB="27432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000000"/>
                          </a:solidFill>
                          <a:latin typeface="Tahoma" pitchFamily="34" charset="0"/>
                          <a:ea typeface="Tahoma" pitchFamily="34" charset="-122"/>
                          <a:cs typeface="Tahoma" pitchFamily="34" charset="-120"/>
                        </a:rPr>
                        <a:t>ข้อจำกัด (สภาพแวดล้อม + เวลาประมวลผล)</a:t>
                      </a:r>
                      <a:endParaRPr lang="en-US" sz="900" dirty="0">
                        <a:latin typeface="Tahoma" charset="0"/>
                        <a:ea typeface="Tahoma" charset="0"/>
                        <a:cs typeface="Tahoma" charset="0"/>
                      </a:endParaRPr>
                    </a:p>
                  </a:txBody>
                  <a:tcPr marL="45720" marR="45720" marT="27432" marB="27432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000000"/>
                          </a:solidFill>
                          <a:latin typeface="Tahoma" pitchFamily="34" charset="0"/>
                          <a:ea typeface="Tahoma" pitchFamily="34" charset="-122"/>
                          <a:cs typeface="Tahoma" pitchFamily="34" charset="-120"/>
                        </a:rPr>
                        <a:t>ต้นทุนเชิงสัมพัทธ์ (บาท)</a:t>
                      </a:r>
                      <a:endParaRPr lang="en-US" sz="900" dirty="0">
                        <a:latin typeface="Tahoma" charset="0"/>
                        <a:ea typeface="Tahoma" charset="0"/>
                        <a:cs typeface="Tahoma" charset="0"/>
                      </a:endParaRPr>
                    </a:p>
                  </a:txBody>
                  <a:tcPr marL="45720" marR="45720" marT="27432" marB="27432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Tahoma" pitchFamily="34" charset="0"/>
                          <a:ea typeface="Tahoma" pitchFamily="34" charset="-122"/>
                          <a:cs typeface="Tahoma" pitchFamily="34" charset="-120"/>
                        </a:rPr>
                        <a:t>Single-beam echo sounder</a:t>
                      </a:r>
                      <a:endParaRPr lang="en-US" sz="900" dirty="0">
                        <a:latin typeface="Tahoma" charset="0"/>
                        <a:ea typeface="Tahoma" charset="0"/>
                        <a:cs typeface="Tahoma" charset="0"/>
                      </a:endParaRPr>
                    </a:p>
                  </a:txBody>
                  <a:tcPr marL="45720" marR="45720" marT="27432" marB="27432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Tahoma" pitchFamily="34" charset="0"/>
                          <a:ea typeface="Tahoma" pitchFamily="34" charset="-122"/>
                          <a:cs typeface="Tahoma" pitchFamily="34" charset="-120"/>
                        </a:rPr>
                        <a:t>Teledyne Odom, CEE Hydrosystems, Ohmex</a:t>
                      </a:r>
                      <a:endParaRPr lang="en-US" sz="900" dirty="0">
                        <a:latin typeface="Tahoma" charset="0"/>
                        <a:ea typeface="Tahoma" charset="0"/>
                        <a:cs typeface="Tahoma" charset="0"/>
                      </a:endParaRPr>
                    </a:p>
                  </a:txBody>
                  <a:tcPr marL="45720" marR="45720" marT="27432" marB="27432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A6A6A6"/>
                          </a:solidFill>
                          <a:latin typeface="Tahoma" pitchFamily="34" charset="0"/>
                          <a:ea typeface="Tahoma" pitchFamily="34" charset="-122"/>
                          <a:cs typeface="Tahoma" pitchFamily="34" charset="-120"/>
                        </a:rPr>
                        <a:t>—</a:t>
                      </a:r>
                      <a:endParaRPr lang="en-US" sz="900" dirty="0">
                        <a:latin typeface="Tahoma" charset="0"/>
                        <a:ea typeface="Tahoma" charset="0"/>
                        <a:cs typeface="Tahoma" charset="0"/>
                      </a:endParaRPr>
                    </a:p>
                  </a:txBody>
                  <a:tcPr marL="45720" marR="45720" marT="27432" marB="27432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A6A6A6"/>
                          </a:solidFill>
                          <a:latin typeface="Tahoma" pitchFamily="34" charset="0"/>
                          <a:ea typeface="Tahoma" pitchFamily="34" charset="-122"/>
                          <a:cs typeface="Tahoma" pitchFamily="34" charset="-120"/>
                        </a:rPr>
                        <a:t>—</a:t>
                      </a:r>
                      <a:endParaRPr lang="en-US" sz="900" dirty="0">
                        <a:latin typeface="Tahoma" charset="0"/>
                        <a:ea typeface="Tahoma" charset="0"/>
                        <a:cs typeface="Tahoma" charset="0"/>
                      </a:endParaRPr>
                    </a:p>
                  </a:txBody>
                  <a:tcPr marL="45720" marR="45720" marT="27432" marB="27432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A6A6A6"/>
                          </a:solidFill>
                          <a:latin typeface="Tahoma" pitchFamily="34" charset="0"/>
                          <a:ea typeface="Tahoma" pitchFamily="34" charset="-122"/>
                          <a:cs typeface="Tahoma" pitchFamily="34" charset="-120"/>
                        </a:rPr>
                        <a:t>—</a:t>
                      </a:r>
                      <a:endParaRPr lang="en-US" sz="900" dirty="0">
                        <a:latin typeface="Tahoma" charset="0"/>
                        <a:ea typeface="Tahoma" charset="0"/>
                        <a:cs typeface="Tahoma" charset="0"/>
                      </a:endParaRPr>
                    </a:p>
                  </a:txBody>
                  <a:tcPr marL="45720" marR="45720" marT="27432" marB="27432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A6A6A6"/>
                          </a:solidFill>
                          <a:latin typeface="Tahoma" pitchFamily="34" charset="0"/>
                          <a:ea typeface="Tahoma" pitchFamily="34" charset="-122"/>
                          <a:cs typeface="Tahoma" pitchFamily="34" charset="-120"/>
                        </a:rPr>
                        <a:t>—</a:t>
                      </a:r>
                      <a:endParaRPr lang="en-US" sz="900" dirty="0">
                        <a:latin typeface="Tahoma" charset="0"/>
                        <a:ea typeface="Tahoma" charset="0"/>
                        <a:cs typeface="Tahoma" charset="0"/>
                      </a:endParaRPr>
                    </a:p>
                  </a:txBody>
                  <a:tcPr marL="45720" marR="45720" marT="27432" marB="27432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Tahoma" pitchFamily="34" charset="0"/>
                          <a:ea typeface="Tahoma" pitchFamily="34" charset="-122"/>
                          <a:cs typeface="Tahoma" pitchFamily="34" charset="-120"/>
                        </a:rPr>
                        <a:t>Multibeam echo sounder</a:t>
                      </a:r>
                      <a:endParaRPr lang="en-US" sz="900" dirty="0">
                        <a:latin typeface="Tahoma" charset="0"/>
                        <a:ea typeface="Tahoma" charset="0"/>
                        <a:cs typeface="Tahoma" charset="0"/>
                      </a:endParaRPr>
                    </a:p>
                  </a:txBody>
                  <a:tcPr marL="45720" marR="45720" marT="27432" marB="27432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Tahoma" pitchFamily="34" charset="0"/>
                          <a:ea typeface="Tahoma" pitchFamily="34" charset="-122"/>
                          <a:cs typeface="Tahoma" pitchFamily="34" charset="-120"/>
                        </a:rPr>
                        <a:t>Teledyne RESON (SeaBat), Kongsberg (EM), R2Sonic, Norbit</a:t>
                      </a:r>
                      <a:endParaRPr lang="en-US" sz="900" dirty="0">
                        <a:latin typeface="Tahoma" charset="0"/>
                        <a:ea typeface="Tahoma" charset="0"/>
                        <a:cs typeface="Tahoma" charset="0"/>
                      </a:endParaRPr>
                    </a:p>
                  </a:txBody>
                  <a:tcPr marL="45720" marR="45720" marT="27432" marB="27432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A6A6A6"/>
                          </a:solidFill>
                          <a:latin typeface="Tahoma" pitchFamily="34" charset="0"/>
                          <a:ea typeface="Tahoma" pitchFamily="34" charset="-122"/>
                          <a:cs typeface="Tahoma" pitchFamily="34" charset="-120"/>
                        </a:rPr>
                        <a:t>—</a:t>
                      </a:r>
                      <a:endParaRPr lang="en-US" sz="900" dirty="0">
                        <a:latin typeface="Tahoma" charset="0"/>
                        <a:ea typeface="Tahoma" charset="0"/>
                        <a:cs typeface="Tahoma" charset="0"/>
                      </a:endParaRPr>
                    </a:p>
                  </a:txBody>
                  <a:tcPr marL="45720" marR="45720" marT="27432" marB="27432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A6A6A6"/>
                          </a:solidFill>
                          <a:latin typeface="Tahoma" pitchFamily="34" charset="0"/>
                          <a:ea typeface="Tahoma" pitchFamily="34" charset="-122"/>
                          <a:cs typeface="Tahoma" pitchFamily="34" charset="-120"/>
                        </a:rPr>
                        <a:t>—</a:t>
                      </a:r>
                      <a:endParaRPr lang="en-US" sz="900" dirty="0">
                        <a:latin typeface="Tahoma" charset="0"/>
                        <a:ea typeface="Tahoma" charset="0"/>
                        <a:cs typeface="Tahoma" charset="0"/>
                      </a:endParaRPr>
                    </a:p>
                  </a:txBody>
                  <a:tcPr marL="45720" marR="45720" marT="27432" marB="27432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A6A6A6"/>
                          </a:solidFill>
                          <a:latin typeface="Tahoma" pitchFamily="34" charset="0"/>
                          <a:ea typeface="Tahoma" pitchFamily="34" charset="-122"/>
                          <a:cs typeface="Tahoma" pitchFamily="34" charset="-120"/>
                        </a:rPr>
                        <a:t>—</a:t>
                      </a:r>
                      <a:endParaRPr lang="en-US" sz="900" dirty="0">
                        <a:latin typeface="Tahoma" charset="0"/>
                        <a:ea typeface="Tahoma" charset="0"/>
                        <a:cs typeface="Tahoma" charset="0"/>
                      </a:endParaRPr>
                    </a:p>
                  </a:txBody>
                  <a:tcPr marL="45720" marR="45720" marT="27432" marB="27432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A6A6A6"/>
                          </a:solidFill>
                          <a:latin typeface="Tahoma" pitchFamily="34" charset="0"/>
                          <a:ea typeface="Tahoma" pitchFamily="34" charset="-122"/>
                          <a:cs typeface="Tahoma" pitchFamily="34" charset="-120"/>
                        </a:rPr>
                        <a:t>—</a:t>
                      </a:r>
                      <a:endParaRPr lang="en-US" sz="900" dirty="0">
                        <a:latin typeface="Tahoma" charset="0"/>
                        <a:ea typeface="Tahoma" charset="0"/>
                        <a:cs typeface="Tahoma" charset="0"/>
                      </a:endParaRPr>
                    </a:p>
                  </a:txBody>
                  <a:tcPr marL="45720" marR="45720" marT="27432" marB="27432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Tahoma" pitchFamily="34" charset="0"/>
                          <a:ea typeface="Tahoma" pitchFamily="34" charset="-122"/>
                          <a:cs typeface="Tahoma" pitchFamily="34" charset="-120"/>
                        </a:rPr>
                        <a:t>Side-scan sonar</a:t>
                      </a:r>
                      <a:endParaRPr lang="en-US" sz="900" dirty="0">
                        <a:latin typeface="Tahoma" charset="0"/>
                        <a:ea typeface="Tahoma" charset="0"/>
                        <a:cs typeface="Tahoma" charset="0"/>
                      </a:endParaRPr>
                    </a:p>
                  </a:txBody>
                  <a:tcPr marL="45720" marR="45720" marT="27432" marB="27432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Tahoma" pitchFamily="34" charset="0"/>
                          <a:ea typeface="Tahoma" pitchFamily="34" charset="-122"/>
                          <a:cs typeface="Tahoma" pitchFamily="34" charset="-120"/>
                        </a:rPr>
                        <a:t>EdgeTech, Klein (MIND Technology)</a:t>
                      </a:r>
                      <a:endParaRPr lang="en-US" sz="900" dirty="0">
                        <a:latin typeface="Tahoma" charset="0"/>
                        <a:ea typeface="Tahoma" charset="0"/>
                        <a:cs typeface="Tahoma" charset="0"/>
                      </a:endParaRPr>
                    </a:p>
                  </a:txBody>
                  <a:tcPr marL="45720" marR="45720" marT="27432" marB="27432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A6A6A6"/>
                          </a:solidFill>
                          <a:latin typeface="Tahoma" pitchFamily="34" charset="0"/>
                          <a:ea typeface="Tahoma" pitchFamily="34" charset="-122"/>
                          <a:cs typeface="Tahoma" pitchFamily="34" charset="-120"/>
                        </a:rPr>
                        <a:t>—</a:t>
                      </a:r>
                      <a:endParaRPr lang="en-US" sz="900" dirty="0">
                        <a:latin typeface="Tahoma" charset="0"/>
                        <a:ea typeface="Tahoma" charset="0"/>
                        <a:cs typeface="Tahoma" charset="0"/>
                      </a:endParaRPr>
                    </a:p>
                  </a:txBody>
                  <a:tcPr marL="45720" marR="45720" marT="27432" marB="27432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A6A6A6"/>
                          </a:solidFill>
                          <a:latin typeface="Tahoma" pitchFamily="34" charset="0"/>
                          <a:ea typeface="Tahoma" pitchFamily="34" charset="-122"/>
                          <a:cs typeface="Tahoma" pitchFamily="34" charset="-120"/>
                        </a:rPr>
                        <a:t>—</a:t>
                      </a:r>
                      <a:endParaRPr lang="en-US" sz="900" dirty="0">
                        <a:latin typeface="Tahoma" charset="0"/>
                        <a:ea typeface="Tahoma" charset="0"/>
                        <a:cs typeface="Tahoma" charset="0"/>
                      </a:endParaRPr>
                    </a:p>
                  </a:txBody>
                  <a:tcPr marL="45720" marR="45720" marT="27432" marB="27432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A6A6A6"/>
                          </a:solidFill>
                          <a:latin typeface="Tahoma" pitchFamily="34" charset="0"/>
                          <a:ea typeface="Tahoma" pitchFamily="34" charset="-122"/>
                          <a:cs typeface="Tahoma" pitchFamily="34" charset="-120"/>
                        </a:rPr>
                        <a:t>—</a:t>
                      </a:r>
                      <a:endParaRPr lang="en-US" sz="900" dirty="0">
                        <a:latin typeface="Tahoma" charset="0"/>
                        <a:ea typeface="Tahoma" charset="0"/>
                        <a:cs typeface="Tahoma" charset="0"/>
                      </a:endParaRPr>
                    </a:p>
                  </a:txBody>
                  <a:tcPr marL="45720" marR="45720" marT="27432" marB="27432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A6A6A6"/>
                          </a:solidFill>
                          <a:latin typeface="Tahoma" pitchFamily="34" charset="0"/>
                          <a:ea typeface="Tahoma" pitchFamily="34" charset="-122"/>
                          <a:cs typeface="Tahoma" pitchFamily="34" charset="-120"/>
                        </a:rPr>
                        <a:t>—</a:t>
                      </a:r>
                      <a:endParaRPr lang="en-US" sz="900" dirty="0">
                        <a:latin typeface="Tahoma" charset="0"/>
                        <a:ea typeface="Tahoma" charset="0"/>
                        <a:cs typeface="Tahoma" charset="0"/>
                      </a:endParaRPr>
                    </a:p>
                  </a:txBody>
                  <a:tcPr marL="45720" marR="45720" marT="27432" marB="27432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Tahoma" pitchFamily="34" charset="0"/>
                          <a:ea typeface="Tahoma" pitchFamily="34" charset="-122"/>
                          <a:cs typeface="Tahoma" pitchFamily="34" charset="-120"/>
                        </a:rPr>
                        <a:t>ADCP (ความลึก + ความเร็ว/ปริมาณการไหล)</a:t>
                      </a:r>
                      <a:endParaRPr lang="en-US" sz="900" dirty="0">
                        <a:latin typeface="Tahoma" charset="0"/>
                        <a:ea typeface="Tahoma" charset="0"/>
                        <a:cs typeface="Tahoma" charset="0"/>
                      </a:endParaRPr>
                    </a:p>
                  </a:txBody>
                  <a:tcPr marL="45720" marR="45720" marT="27432" marB="27432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Tahoma" pitchFamily="34" charset="0"/>
                          <a:ea typeface="Tahoma" pitchFamily="34" charset="-122"/>
                          <a:cs typeface="Tahoma" pitchFamily="34" charset="-120"/>
                        </a:rPr>
                        <a:t>Teledyne RDI, SonTek (Xylem)</a:t>
                      </a:r>
                      <a:endParaRPr lang="en-US" sz="900" dirty="0">
                        <a:latin typeface="Tahoma" charset="0"/>
                        <a:ea typeface="Tahoma" charset="0"/>
                        <a:cs typeface="Tahoma" charset="0"/>
                      </a:endParaRPr>
                    </a:p>
                  </a:txBody>
                  <a:tcPr marL="45720" marR="45720" marT="27432" marB="27432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A6A6A6"/>
                          </a:solidFill>
                          <a:latin typeface="Tahoma" pitchFamily="34" charset="0"/>
                          <a:ea typeface="Tahoma" pitchFamily="34" charset="-122"/>
                          <a:cs typeface="Tahoma" pitchFamily="34" charset="-120"/>
                        </a:rPr>
                        <a:t>—</a:t>
                      </a:r>
                      <a:endParaRPr lang="en-US" sz="900" dirty="0">
                        <a:latin typeface="Tahoma" charset="0"/>
                        <a:ea typeface="Tahoma" charset="0"/>
                        <a:cs typeface="Tahoma" charset="0"/>
                      </a:endParaRPr>
                    </a:p>
                  </a:txBody>
                  <a:tcPr marL="45720" marR="45720" marT="27432" marB="27432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A6A6A6"/>
                          </a:solidFill>
                          <a:latin typeface="Tahoma" pitchFamily="34" charset="0"/>
                          <a:ea typeface="Tahoma" pitchFamily="34" charset="-122"/>
                          <a:cs typeface="Tahoma" pitchFamily="34" charset="-120"/>
                        </a:rPr>
                        <a:t>—</a:t>
                      </a:r>
                      <a:endParaRPr lang="en-US" sz="900" dirty="0">
                        <a:latin typeface="Tahoma" charset="0"/>
                        <a:ea typeface="Tahoma" charset="0"/>
                        <a:cs typeface="Tahoma" charset="0"/>
                      </a:endParaRPr>
                    </a:p>
                  </a:txBody>
                  <a:tcPr marL="45720" marR="45720" marT="27432" marB="27432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A6A6A6"/>
                          </a:solidFill>
                          <a:latin typeface="Tahoma" pitchFamily="34" charset="0"/>
                          <a:ea typeface="Tahoma" pitchFamily="34" charset="-122"/>
                          <a:cs typeface="Tahoma" pitchFamily="34" charset="-120"/>
                        </a:rPr>
                        <a:t>—</a:t>
                      </a:r>
                      <a:endParaRPr lang="en-US" sz="900" dirty="0">
                        <a:latin typeface="Tahoma" charset="0"/>
                        <a:ea typeface="Tahoma" charset="0"/>
                        <a:cs typeface="Tahoma" charset="0"/>
                      </a:endParaRPr>
                    </a:p>
                  </a:txBody>
                  <a:tcPr marL="45720" marR="45720" marT="27432" marB="27432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A6A6A6"/>
                          </a:solidFill>
                          <a:latin typeface="Tahoma" pitchFamily="34" charset="0"/>
                          <a:ea typeface="Tahoma" pitchFamily="34" charset="-122"/>
                          <a:cs typeface="Tahoma" pitchFamily="34" charset="-120"/>
                        </a:rPr>
                        <a:t>—</a:t>
                      </a:r>
                      <a:endParaRPr lang="en-US" sz="900" dirty="0">
                        <a:latin typeface="Tahoma" charset="0"/>
                        <a:ea typeface="Tahoma" charset="0"/>
                        <a:cs typeface="Tahoma" charset="0"/>
                      </a:endParaRPr>
                    </a:p>
                  </a:txBody>
                  <a:tcPr marL="45720" marR="45720" marT="27432" marB="27432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Tahoma" pitchFamily="34" charset="0"/>
                          <a:ea typeface="Tahoma" pitchFamily="34" charset="-122"/>
                          <a:cs typeface="Tahoma" pitchFamily="34" charset="-120"/>
                        </a:rPr>
                        <a:t>ระบบหาตำแหน่งและการเคลื่อนที่ของเรือ (GNSS + INS)</a:t>
                      </a:r>
                      <a:endParaRPr lang="en-US" sz="900" dirty="0">
                        <a:latin typeface="Tahoma" charset="0"/>
                        <a:ea typeface="Tahoma" charset="0"/>
                        <a:cs typeface="Tahoma" charset="0"/>
                      </a:endParaRPr>
                    </a:p>
                  </a:txBody>
                  <a:tcPr marL="45720" marR="45720" marT="27432" marB="27432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Tahoma" pitchFamily="34" charset="0"/>
                          <a:ea typeface="Tahoma" pitchFamily="34" charset="-122"/>
                          <a:cs typeface="Tahoma" pitchFamily="34" charset="-120"/>
                        </a:rPr>
                        <a:t>Applanix (POS MV), Kongsberg (Seapath)</a:t>
                      </a:r>
                      <a:endParaRPr lang="en-US" sz="900" dirty="0">
                        <a:latin typeface="Tahoma" charset="0"/>
                        <a:ea typeface="Tahoma" charset="0"/>
                        <a:cs typeface="Tahoma" charset="0"/>
                      </a:endParaRPr>
                    </a:p>
                  </a:txBody>
                  <a:tcPr marL="45720" marR="45720" marT="27432" marB="27432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A6A6A6"/>
                          </a:solidFill>
                          <a:latin typeface="Tahoma" pitchFamily="34" charset="0"/>
                          <a:ea typeface="Tahoma" pitchFamily="34" charset="-122"/>
                          <a:cs typeface="Tahoma" pitchFamily="34" charset="-120"/>
                        </a:rPr>
                        <a:t>—</a:t>
                      </a:r>
                      <a:endParaRPr lang="en-US" sz="900" dirty="0">
                        <a:latin typeface="Tahoma" charset="0"/>
                        <a:ea typeface="Tahoma" charset="0"/>
                        <a:cs typeface="Tahoma" charset="0"/>
                      </a:endParaRPr>
                    </a:p>
                  </a:txBody>
                  <a:tcPr marL="45720" marR="45720" marT="27432" marB="27432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A6A6A6"/>
                          </a:solidFill>
                          <a:latin typeface="Tahoma" pitchFamily="34" charset="0"/>
                          <a:ea typeface="Tahoma" pitchFamily="34" charset="-122"/>
                          <a:cs typeface="Tahoma" pitchFamily="34" charset="-120"/>
                        </a:rPr>
                        <a:t>—</a:t>
                      </a:r>
                      <a:endParaRPr lang="en-US" sz="900" dirty="0">
                        <a:latin typeface="Tahoma" charset="0"/>
                        <a:ea typeface="Tahoma" charset="0"/>
                        <a:cs typeface="Tahoma" charset="0"/>
                      </a:endParaRPr>
                    </a:p>
                  </a:txBody>
                  <a:tcPr marL="45720" marR="45720" marT="27432" marB="27432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A6A6A6"/>
                          </a:solidFill>
                          <a:latin typeface="Tahoma" pitchFamily="34" charset="0"/>
                          <a:ea typeface="Tahoma" pitchFamily="34" charset="-122"/>
                          <a:cs typeface="Tahoma" pitchFamily="34" charset="-120"/>
                        </a:rPr>
                        <a:t>—</a:t>
                      </a:r>
                      <a:endParaRPr lang="en-US" sz="900" dirty="0">
                        <a:latin typeface="Tahoma" charset="0"/>
                        <a:ea typeface="Tahoma" charset="0"/>
                        <a:cs typeface="Tahoma" charset="0"/>
                      </a:endParaRPr>
                    </a:p>
                  </a:txBody>
                  <a:tcPr marL="45720" marR="45720" marT="27432" marB="27432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A6A6A6"/>
                          </a:solidFill>
                          <a:latin typeface="Tahoma" pitchFamily="34" charset="0"/>
                          <a:ea typeface="Tahoma" pitchFamily="34" charset="-122"/>
                          <a:cs typeface="Tahoma" pitchFamily="34" charset="-120"/>
                        </a:rPr>
                        <a:t>—</a:t>
                      </a:r>
                      <a:endParaRPr lang="en-US" sz="900" dirty="0">
                        <a:latin typeface="Tahoma" charset="0"/>
                        <a:ea typeface="Tahoma" charset="0"/>
                        <a:cs typeface="Tahoma" charset="0"/>
                      </a:endParaRPr>
                    </a:p>
                  </a:txBody>
                  <a:tcPr marL="45720" marR="45720" marT="27432" marB="27432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Tahoma" pitchFamily="34" charset="0"/>
                          <a:ea typeface="Tahoma" pitchFamily="34" charset="-122"/>
                          <a:cs typeface="Tahoma" pitchFamily="34" charset="-120"/>
                        </a:rPr>
                        <a:t>เรือสำรวจไร้คนขับ (USV)</a:t>
                      </a:r>
                      <a:endParaRPr lang="en-US" sz="900" dirty="0">
                        <a:latin typeface="Tahoma" charset="0"/>
                        <a:ea typeface="Tahoma" charset="0"/>
                        <a:cs typeface="Tahoma" charset="0"/>
                      </a:endParaRPr>
                    </a:p>
                  </a:txBody>
                  <a:tcPr marL="45720" marR="45720" marT="27432" marB="27432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Tahoma" pitchFamily="34" charset="0"/>
                          <a:ea typeface="Tahoma" pitchFamily="34" charset="-122"/>
                          <a:cs typeface="Tahoma" pitchFamily="34" charset="-120"/>
                        </a:rPr>
                        <a:t>Seafloor Systems (HyDrone)</a:t>
                      </a:r>
                      <a:endParaRPr lang="en-US" sz="900" dirty="0">
                        <a:latin typeface="Tahoma" charset="0"/>
                        <a:ea typeface="Tahoma" charset="0"/>
                        <a:cs typeface="Tahoma" charset="0"/>
                      </a:endParaRPr>
                    </a:p>
                  </a:txBody>
                  <a:tcPr marL="45720" marR="45720" marT="27432" marB="27432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A6A6A6"/>
                          </a:solidFill>
                          <a:latin typeface="Tahoma" pitchFamily="34" charset="0"/>
                          <a:ea typeface="Tahoma" pitchFamily="34" charset="-122"/>
                          <a:cs typeface="Tahoma" pitchFamily="34" charset="-120"/>
                        </a:rPr>
                        <a:t>—</a:t>
                      </a:r>
                      <a:endParaRPr lang="en-US" sz="900" dirty="0">
                        <a:latin typeface="Tahoma" charset="0"/>
                        <a:ea typeface="Tahoma" charset="0"/>
                        <a:cs typeface="Tahoma" charset="0"/>
                      </a:endParaRPr>
                    </a:p>
                  </a:txBody>
                  <a:tcPr marL="45720" marR="45720" marT="27432" marB="27432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A6A6A6"/>
                          </a:solidFill>
                          <a:latin typeface="Tahoma" pitchFamily="34" charset="0"/>
                          <a:ea typeface="Tahoma" pitchFamily="34" charset="-122"/>
                          <a:cs typeface="Tahoma" pitchFamily="34" charset="-120"/>
                        </a:rPr>
                        <a:t>—</a:t>
                      </a:r>
                      <a:endParaRPr lang="en-US" sz="900" dirty="0">
                        <a:latin typeface="Tahoma" charset="0"/>
                        <a:ea typeface="Tahoma" charset="0"/>
                        <a:cs typeface="Tahoma" charset="0"/>
                      </a:endParaRPr>
                    </a:p>
                  </a:txBody>
                  <a:tcPr marL="45720" marR="45720" marT="27432" marB="27432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A6A6A6"/>
                          </a:solidFill>
                          <a:latin typeface="Tahoma" pitchFamily="34" charset="0"/>
                          <a:ea typeface="Tahoma" pitchFamily="34" charset="-122"/>
                          <a:cs typeface="Tahoma" pitchFamily="34" charset="-120"/>
                        </a:rPr>
                        <a:t>—</a:t>
                      </a:r>
                      <a:endParaRPr lang="en-US" sz="900" dirty="0">
                        <a:latin typeface="Tahoma" charset="0"/>
                        <a:ea typeface="Tahoma" charset="0"/>
                        <a:cs typeface="Tahoma" charset="0"/>
                      </a:endParaRPr>
                    </a:p>
                  </a:txBody>
                  <a:tcPr marL="45720" marR="45720" marT="27432" marB="27432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A6A6A6"/>
                          </a:solidFill>
                          <a:latin typeface="Tahoma" pitchFamily="34" charset="0"/>
                          <a:ea typeface="Tahoma" pitchFamily="34" charset="-122"/>
                          <a:cs typeface="Tahoma" pitchFamily="34" charset="-120"/>
                        </a:rPr>
                        <a:t>—</a:t>
                      </a:r>
                      <a:endParaRPr lang="en-US" sz="900" dirty="0">
                        <a:latin typeface="Tahoma" charset="0"/>
                        <a:ea typeface="Tahoma" charset="0"/>
                        <a:cs typeface="Tahoma" charset="0"/>
                      </a:endParaRPr>
                    </a:p>
                  </a:txBody>
                  <a:tcPr marL="45720" marR="45720" marT="27432" marB="27432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4" name="Text 1"/>
          <p:cNvSpPr txBox="1"/>
          <p:nvPr/>
        </p:nvSpPr>
        <p:spPr>
          <a:xfrm>
            <a:off x="457200" y="4572000"/>
            <a:ext cx="7680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808080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* รายการตัวอย่างผลิตภัณฑ์มาจากความรู้ทั่วไป ยังไม่ตรวจ datasheet และไม่ใช่การแนะนำ  ** ค่าความแม่นยำที่จะใส่เป็นค่าที่ผู้ผลิตระบุ</a:t>
            </a:r>
            <a:endParaRPr lang="en-US" sz="9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321040" y="475488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808080"/>
                </a:solidFill>
                <a:latin typeface="Tahoma"/>
                <a:ea typeface="Tahoma"/>
                <a:cs typeface="Tahoma"/>
              </a:defRPr>
            </a:lvl1pPr>
          </a:lstStyle>
          <a:p>
            <a:pPr algn="r"/>
            <a:fld id="{F7021451-1387-4CA6-816F-3879F97B5CBC}" type="slidenum">
              <a:rPr b="0" lang="en-US"/>
              <a:t>20</a:t>
            </a:fld>
            <a:endParaRPr lang="en-US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320040"/>
            <a:ext cx="82296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400" b="1" dirty="0">
                <a:solidFill>
                  <a:srgbClr val="000000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บทที่ 2  ท้องน้ำ: เกณฑ์การเลือกใช้</a:t>
            </a:r>
            <a:endParaRPr lang="en-US" sz="24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1371600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endParaRPr lang="en-US" sz="1400" dirty="0"/>
          </a:p>
        </p:txBody>
      </p:sp>
      <p:sp>
        <p:nvSpPr>
          <p:cNvPr id="4" name="Text 2"/>
          <p:cNvSpPr txBox="1"/>
          <p:nvPr/>
        </p:nvSpPr>
        <p:spPr>
          <a:xfrm>
            <a:off x="457200" y="1920240"/>
            <a:ext cx="8229600" cy="2651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400" dirty="0">
                <a:solidFill>
                  <a:srgbClr val="000000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ขนาดพื้นที่และลักษณะพื้นที่ปฏิบัติงาน</a:t>
            </a:r>
            <a:endParaRPr lang="en-US" sz="14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400" dirty="0">
                <a:solidFill>
                  <a:srgbClr val="000000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ความถูกต้องที่ต้องการ</a:t>
            </a:r>
            <a:endParaRPr lang="en-US" sz="14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400" dirty="0">
                <a:solidFill>
                  <a:srgbClr val="000000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สภาพแวดล้อมหน้างาน</a:t>
            </a:r>
            <a:endParaRPr lang="en-US" sz="14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400" dirty="0">
                <a:solidFill>
                  <a:srgbClr val="000000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เวลาประมวลผลและบุคลากร</a:t>
            </a:r>
            <a:endParaRPr lang="en-US" sz="14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400" dirty="0">
                <a:solidFill>
                  <a:srgbClr val="000000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ต้นทุนการจัดซื้อหรือจ้าง</a:t>
            </a:r>
            <a:endParaRPr lang="en-US" sz="14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400" dirty="0">
                <a:solidFill>
                  <a:srgbClr val="808080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(รอเติมเนื้อหา: เกณฑ์ข้างต้นเป็นโครงร่าง)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321040" y="475488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808080"/>
                </a:solidFill>
                <a:latin typeface="Tahoma"/>
                <a:ea typeface="Tahoma"/>
                <a:cs typeface="Tahoma"/>
              </a:defRPr>
            </a:lvl1pPr>
          </a:lstStyle>
          <a:p>
            <a:pPr algn="r"/>
            <a:fld id="{F7021451-1387-4CA6-816F-3879F97B5CBC}" type="slidenum">
              <a:rPr b="0" lang="en-US"/>
              <a:t>21</a:t>
            </a:fld>
            <a:endParaRPr lang="en-US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320040"/>
            <a:ext cx="82296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400" b="1" dirty="0">
                <a:solidFill>
                  <a:srgbClr val="000000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บทที่ 2  ท้องน้ำ: Research trend</a:t>
            </a:r>
            <a:endParaRPr lang="en-US" sz="24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1371600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endParaRPr lang="en-US" sz="1400" dirty="0"/>
          </a:p>
        </p:txBody>
      </p:sp>
      <p:sp>
        <p:nvSpPr>
          <p:cNvPr id="4" name="Text 2"/>
          <p:cNvSpPr txBox="1"/>
          <p:nvPr/>
        </p:nvSpPr>
        <p:spPr>
          <a:xfrm>
            <a:off x="457200" y="1920240"/>
            <a:ext cx="8229600" cy="2651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1400" dirty="0">
                <a:solidFill>
                  <a:srgbClr val="808080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(รอเติมเนื้อหา)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321040" y="475488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808080"/>
                </a:solidFill>
                <a:latin typeface="Tahoma"/>
                <a:ea typeface="Tahoma"/>
                <a:cs typeface="Tahoma"/>
              </a:defRPr>
            </a:lvl1pPr>
          </a:lstStyle>
          <a:p>
            <a:pPr algn="r"/>
            <a:fld id="{F7021451-1387-4CA6-816F-3879F97B5CBC}" type="slidenum">
              <a:rPr b="0" lang="en-US"/>
              <a:t>22</a:t>
            </a:fld>
            <a:endParaRPr lang="en-US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54864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595959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บทที่ 3</a:t>
            </a:r>
            <a:endParaRPr lang="en-US" sz="16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914400"/>
            <a:ext cx="8229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000" b="1" dirty="0">
                <a:solidFill>
                  <a:srgbClr val="000000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ใต้ผิวดิน</a:t>
            </a:r>
            <a:endParaRPr lang="en-US" sz="3000" dirty="0"/>
          </a:p>
        </p:txBody>
      </p:sp>
      <p:sp>
        <p:nvSpPr>
          <p:cNvPr id="4" name="Text 2"/>
          <p:cNvSpPr txBox="1"/>
          <p:nvPr/>
        </p:nvSpPr>
        <p:spPr>
          <a:xfrm>
            <a:off x="457200" y="1737360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595959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Subsurface Survey</a:t>
            </a:r>
            <a:endParaRPr lang="en-US" sz="1800" dirty="0"/>
          </a:p>
        </p:txBody>
      </p:sp>
      <p:sp>
        <p:nvSpPr>
          <p:cNvPr id="5" name="Text 3"/>
          <p:cNvSpPr txBox="1"/>
          <p:nvPr/>
        </p:nvSpPr>
        <p:spPr>
          <a:xfrm>
            <a:off x="457200" y="2468880"/>
            <a:ext cx="8229600" cy="2103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600"/>
              </a:spcAft>
              <a:buSzPct val="100000"/>
              <a:buFont typeface="+mj-lt"/>
              <a:buAutoNum type="arabicPeriod" startAt="1"/>
            </a:pPr>
            <a:r>
              <a:rPr lang="en-US" sz="2000" dirty="0">
                <a:solidFill>
                  <a:srgbClr val="000000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ขอบเขตและผลลัพธ์</a:t>
            </a:r>
            <a:endParaRPr lang="en-US" sz="2000" dirty="0"/>
          </a:p>
          <a:p>
            <a:pPr marL="342900" indent="-342900">
              <a:spcAft>
                <a:spcPts val="600"/>
              </a:spcAft>
              <a:buSzPct val="100000"/>
              <a:buFont typeface="+mj-lt"/>
              <a:buAutoNum type="arabicPeriod" startAt="1"/>
            </a:pPr>
            <a:r>
              <a:rPr lang="en-US" sz="2000" dirty="0">
                <a:solidFill>
                  <a:srgbClr val="000000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ชนิดเครื่องมือและหลักการวัด</a:t>
            </a:r>
            <a:endParaRPr lang="en-US" sz="2000" dirty="0"/>
          </a:p>
          <a:p>
            <a:pPr marL="342900" indent="-342900">
              <a:spcAft>
                <a:spcPts val="600"/>
              </a:spcAft>
              <a:buSzPct val="100000"/>
              <a:buFont typeface="+mj-lt"/>
              <a:buAutoNum type="arabicPeriod" startAt="1"/>
            </a:pPr>
            <a:r>
              <a:rPr lang="en-US" sz="2000" dirty="0">
                <a:solidFill>
                  <a:srgbClr val="000000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เปรียบเทียบเครื่องมือ</a:t>
            </a:r>
            <a:endParaRPr lang="en-US" sz="2000" dirty="0"/>
          </a:p>
          <a:p>
            <a:pPr marL="342900" indent="-342900">
              <a:spcAft>
                <a:spcPts val="600"/>
              </a:spcAft>
              <a:buSzPct val="100000"/>
              <a:buFont typeface="+mj-lt"/>
              <a:buAutoNum type="arabicPeriod" startAt="1"/>
            </a:pPr>
            <a:r>
              <a:rPr lang="en-US" sz="2000" dirty="0">
                <a:solidFill>
                  <a:srgbClr val="000000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เกณฑ์การเลือกใช้</a:t>
            </a:r>
            <a:endParaRPr lang="en-US" sz="2000" dirty="0"/>
          </a:p>
          <a:p>
            <a:pPr marL="342900" indent="-342900">
              <a:spcAft>
                <a:spcPts val="600"/>
              </a:spcAft>
              <a:buSzPct val="100000"/>
              <a:buFont typeface="+mj-lt"/>
              <a:buAutoNum type="arabicPeriod" startAt="1"/>
            </a:pPr>
            <a:r>
              <a:rPr lang="en-US" sz="2000" dirty="0">
                <a:solidFill>
                  <a:srgbClr val="000000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Research trend</a:t>
            </a:r>
            <a:endParaRPr lang="en-US" sz="2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321040" y="475488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808080"/>
                </a:solidFill>
                <a:latin typeface="Tahoma"/>
                <a:ea typeface="Tahoma"/>
                <a:cs typeface="Tahoma"/>
              </a:defRPr>
            </a:lvl1pPr>
          </a:lstStyle>
          <a:p>
            <a:pPr algn="r"/>
            <a:fld id="{F7021451-1387-4CA6-816F-3879F97B5CBC}" type="slidenum">
              <a:rPr b="0" lang="en-US"/>
              <a:t>23</a:t>
            </a:fld>
            <a:endParaRPr lang="en-US"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320040"/>
            <a:ext cx="82296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400" b="1" dirty="0">
                <a:solidFill>
                  <a:srgbClr val="000000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บทที่ 3  ใต้ผิวดิน: ขอบเขตและผลลัพธ์</a:t>
            </a:r>
            <a:endParaRPr lang="en-US" sz="24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1371600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endParaRPr lang="en-US" sz="1400" dirty="0"/>
          </a:p>
        </p:txBody>
      </p:sp>
      <p:sp>
        <p:nvSpPr>
          <p:cNvPr id="4" name="Text 2"/>
          <p:cNvSpPr txBox="1"/>
          <p:nvPr/>
        </p:nvSpPr>
        <p:spPr>
          <a:xfrm>
            <a:off x="457200" y="1920240"/>
            <a:ext cx="8229600" cy="2651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300" dirty="0">
                <a:solidFill>
                  <a:srgbClr val="000000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บริเวณ: วัตถุและโครงสร้างที่ฝังอยู่ใต้ผิวดิน และโครงสร้างชั้นดินใต้ผิว (ขอบเขตหลังเป็นการทดลองรวม)</a:t>
            </a:r>
            <a:endParaRPr lang="en-US" sz="13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300" dirty="0">
                <a:solidFill>
                  <a:srgbClr val="000000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ผลลัพธ์: ตำแหน่งและความลึกของสาธารณูปโภคใต้ดิน; ภาพตัดคุณสมบัติทางกายภาพของชั้นดิน (geophysical survey)</a:t>
            </a:r>
            <a:endParaRPr lang="en-US" sz="13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300" dirty="0">
                <a:solidFill>
                  <a:srgbClr val="000000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การใช้งาน: ข้อมูลอ้างอิงก่อนการขุดเพื่อลดความเสียหายและงานแก้ไขซ้ำ; การสำรวจธรณีฟิสิกส์จัดอยู่ใน mine surveys ตามหนังสือ</a:t>
            </a:r>
            <a:endParaRPr lang="en-US" sz="1300" dirty="0"/>
          </a:p>
        </p:txBody>
      </p:sp>
      <p:sp>
        <p:nvSpPr>
          <p:cNvPr id="5" name="Text 3"/>
          <p:cNvSpPr txBox="1"/>
          <p:nvPr/>
        </p:nvSpPr>
        <p:spPr>
          <a:xfrm>
            <a:off x="457200" y="4572000"/>
            <a:ext cx="7680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808080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อ้างอิง: Elementary Surveying §1.6 หน้า 12 [S044]; Jaw &amp; Hashim 2013 [S049]; Penhall [S050 แหล่งรอง]</a:t>
            </a:r>
            <a:endParaRPr lang="en-US" sz="9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321040" y="475488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808080"/>
                </a:solidFill>
                <a:latin typeface="Tahoma"/>
                <a:ea typeface="Tahoma"/>
                <a:cs typeface="Tahoma"/>
              </a:defRPr>
            </a:lvl1pPr>
          </a:lstStyle>
          <a:p>
            <a:pPr algn="r"/>
            <a:fld id="{F7021451-1387-4CA6-816F-3879F97B5CBC}" type="slidenum">
              <a:rPr b="0" lang="en-US"/>
              <a:t>24</a:t>
            </a:fld>
            <a:endParaRPr lang="en-US"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320040"/>
            <a:ext cx="82296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400" b="1" dirty="0">
                <a:solidFill>
                  <a:srgbClr val="000000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บทที่ 3  ใต้ผิวดิน: ชนิดเครื่องมือและหลักการวัด</a:t>
            </a:r>
            <a:endParaRPr lang="en-US" sz="24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1371600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endParaRPr lang="en-US" sz="1400" dirty="0"/>
          </a:p>
        </p:txBody>
      </p:sp>
      <p:sp>
        <p:nvSpPr>
          <p:cNvPr id="4" name="Text 2"/>
          <p:cNvSpPr txBox="1"/>
          <p:nvPr/>
        </p:nvSpPr>
        <p:spPr>
          <a:xfrm>
            <a:off x="457200" y="1920240"/>
            <a:ext cx="8229600" cy="2651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300" dirty="0">
                <a:solidFill>
                  <a:srgbClr val="000000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GPR: การสะท้อนของคลื่นแม่เหล็กไฟฟ้า</a:t>
            </a:r>
            <a:endParaRPr lang="en-US" sz="13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300" dirty="0">
                <a:solidFill>
                  <a:srgbClr val="000000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เครื่องตรวจหาสาธารณูปโภค: การป้อนสัญญาณเข้าตัวนำที่ฝังอยู่</a:t>
            </a:r>
            <a:endParaRPr lang="en-US" sz="13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300" dirty="0">
                <a:solidFill>
                  <a:srgbClr val="000000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ERT/Seismic: ความต้านทานไฟฟ้า/ความเร็วคลื่นของชั้นดิน (ร่าง)</a:t>
            </a:r>
            <a:endParaRPr lang="en-US" sz="1300" dirty="0"/>
          </a:p>
        </p:txBody>
      </p:sp>
      <p:sp>
        <p:nvSpPr>
          <p:cNvPr id="5" name="Text 3"/>
          <p:cNvSpPr txBox="1"/>
          <p:nvPr/>
        </p:nvSpPr>
        <p:spPr>
          <a:xfrm>
            <a:off x="457200" y="4572000"/>
            <a:ext cx="7680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808080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หมายเหตุ: ถ้อยคำหลักการเป็นร่างจากความรู้ทั่วไป ยังไม่ตรวจแหล่ง ยกเว้นรายการที่มีรหัส S</a:t>
            </a:r>
            <a:endParaRPr lang="en-US" sz="9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321040" y="475488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808080"/>
                </a:solidFill>
                <a:latin typeface="Tahoma"/>
                <a:ea typeface="Tahoma"/>
                <a:cs typeface="Tahoma"/>
              </a:defRPr>
            </a:lvl1pPr>
          </a:lstStyle>
          <a:p>
            <a:pPr algn="r"/>
            <a:fld id="{F7021451-1387-4CA6-816F-3879F97B5CBC}" type="slidenum">
              <a:rPr b="0" lang="en-US"/>
              <a:t>25</a:t>
            </a:fld>
            <a:endParaRPr lang="en-US"/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320040"/>
            <a:ext cx="82296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400" b="1" dirty="0">
                <a:solidFill>
                  <a:srgbClr val="000000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บทที่ 3  ใต้ผิวดิน: เปรียบเทียบเครื่องมือ</a:t>
            </a:r>
            <a:endParaRPr lang="en-US" sz="2400" dirty="0"/>
          </a:p>
        </p:txBody>
      </p:sp>
      <p:graphicFrame>
        <p:nvGraphicFramePr>
          <p:cNvPr id="27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005840"/>
          <a:ext cx="8229600" cy="914400"/>
        </p:xfrm>
        <a:graphic>
          <a:graphicData uri="http://schemas.openxmlformats.org/drawingml/2006/table">
            <a:tbl>
              <a:tblPr/>
              <a:tblGrid>
                <a:gridCol w="1737360"/>
                <a:gridCol w="2103120"/>
                <a:gridCol w="960120"/>
                <a:gridCol w="960120"/>
                <a:gridCol w="1371600"/>
                <a:gridCol w="1097280"/>
              </a:tblGrid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000000"/>
                          </a:solidFill>
                          <a:latin typeface="Tahoma" pitchFamily="34" charset="0"/>
                          <a:ea typeface="Tahoma" pitchFamily="34" charset="-122"/>
                          <a:cs typeface="Tahoma" pitchFamily="34" charset="-120"/>
                        </a:rPr>
                        <a:t>ชนิดเครื่องมือ</a:t>
                      </a:r>
                      <a:endParaRPr lang="en-US" sz="900" dirty="0">
                        <a:latin typeface="Tahoma" charset="0"/>
                        <a:ea typeface="Tahoma" charset="0"/>
                        <a:cs typeface="Tahoma" charset="0"/>
                      </a:endParaRPr>
                    </a:p>
                  </a:txBody>
                  <a:tcPr marL="45720" marR="45720" marT="27432" marB="27432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000000"/>
                          </a:solidFill>
                          <a:latin typeface="Tahoma" pitchFamily="34" charset="0"/>
                          <a:ea typeface="Tahoma" pitchFamily="34" charset="-122"/>
                          <a:cs typeface="Tahoma" pitchFamily="34" charset="-120"/>
                        </a:rPr>
                        <a:t>ตัวอย่างผลิตภัณฑ์*</a:t>
                      </a:r>
                      <a:endParaRPr lang="en-US" sz="900" dirty="0">
                        <a:latin typeface="Tahoma" charset="0"/>
                        <a:ea typeface="Tahoma" charset="0"/>
                        <a:cs typeface="Tahoma" charset="0"/>
                      </a:endParaRPr>
                    </a:p>
                  </a:txBody>
                  <a:tcPr marL="45720" marR="45720" marT="27432" marB="27432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000000"/>
                          </a:solidFill>
                          <a:latin typeface="Tahoma" pitchFamily="34" charset="0"/>
                          <a:ea typeface="Tahoma" pitchFamily="34" charset="-122"/>
                          <a:cs typeface="Tahoma" pitchFamily="34" charset="-120"/>
                        </a:rPr>
                        <a:t>ผลลัพธ์ที่ได้</a:t>
                      </a:r>
                      <a:endParaRPr lang="en-US" sz="900" dirty="0">
                        <a:latin typeface="Tahoma" charset="0"/>
                        <a:ea typeface="Tahoma" charset="0"/>
                        <a:cs typeface="Tahoma" charset="0"/>
                      </a:endParaRPr>
                    </a:p>
                  </a:txBody>
                  <a:tcPr marL="45720" marR="45720" marT="27432" marB="27432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000000"/>
                          </a:solidFill>
                          <a:latin typeface="Tahoma" pitchFamily="34" charset="0"/>
                          <a:ea typeface="Tahoma" pitchFamily="34" charset="-122"/>
                          <a:cs typeface="Tahoma" pitchFamily="34" charset="-120"/>
                        </a:rPr>
                        <a:t>ความแม่นยำ**</a:t>
                      </a:r>
                      <a:endParaRPr lang="en-US" sz="900" dirty="0">
                        <a:latin typeface="Tahoma" charset="0"/>
                        <a:ea typeface="Tahoma" charset="0"/>
                        <a:cs typeface="Tahoma" charset="0"/>
                      </a:endParaRPr>
                    </a:p>
                  </a:txBody>
                  <a:tcPr marL="45720" marR="45720" marT="27432" marB="27432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000000"/>
                          </a:solidFill>
                          <a:latin typeface="Tahoma" pitchFamily="34" charset="0"/>
                          <a:ea typeface="Tahoma" pitchFamily="34" charset="-122"/>
                          <a:cs typeface="Tahoma" pitchFamily="34" charset="-120"/>
                        </a:rPr>
                        <a:t>ข้อจำกัด (สภาพแวดล้อม + เวลาประมวลผล)</a:t>
                      </a:r>
                      <a:endParaRPr lang="en-US" sz="900" dirty="0">
                        <a:latin typeface="Tahoma" charset="0"/>
                        <a:ea typeface="Tahoma" charset="0"/>
                        <a:cs typeface="Tahoma" charset="0"/>
                      </a:endParaRPr>
                    </a:p>
                  </a:txBody>
                  <a:tcPr marL="45720" marR="45720" marT="27432" marB="27432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000000"/>
                          </a:solidFill>
                          <a:latin typeface="Tahoma" pitchFamily="34" charset="0"/>
                          <a:ea typeface="Tahoma" pitchFamily="34" charset="-122"/>
                          <a:cs typeface="Tahoma" pitchFamily="34" charset="-120"/>
                        </a:rPr>
                        <a:t>ต้นทุนเชิงสัมพัทธ์ (บาท)</a:t>
                      </a:r>
                      <a:endParaRPr lang="en-US" sz="900" dirty="0">
                        <a:latin typeface="Tahoma" charset="0"/>
                        <a:ea typeface="Tahoma" charset="0"/>
                        <a:cs typeface="Tahoma" charset="0"/>
                      </a:endParaRPr>
                    </a:p>
                  </a:txBody>
                  <a:tcPr marL="45720" marR="45720" marT="27432" marB="27432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Tahoma" pitchFamily="34" charset="0"/>
                          <a:ea typeface="Tahoma" pitchFamily="34" charset="-122"/>
                          <a:cs typeface="Tahoma" pitchFamily="34" charset="-120"/>
                        </a:rPr>
                        <a:t>Ground-penetrating radar (GPR)</a:t>
                      </a:r>
                      <a:endParaRPr lang="en-US" sz="900" dirty="0">
                        <a:latin typeface="Tahoma" charset="0"/>
                        <a:ea typeface="Tahoma" charset="0"/>
                        <a:cs typeface="Tahoma" charset="0"/>
                      </a:endParaRPr>
                    </a:p>
                  </a:txBody>
                  <a:tcPr marL="45720" marR="45720" marT="27432" marB="27432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Tahoma" pitchFamily="34" charset="0"/>
                          <a:ea typeface="Tahoma" pitchFamily="34" charset="-122"/>
                          <a:cs typeface="Tahoma" pitchFamily="34" charset="-120"/>
                        </a:rPr>
                        <a:t>GSSI, Guideline Geo (MALÅ), Screening Eagle, IDS GeoRadar</a:t>
                      </a:r>
                      <a:endParaRPr lang="en-US" sz="900" dirty="0">
                        <a:latin typeface="Tahoma" charset="0"/>
                        <a:ea typeface="Tahoma" charset="0"/>
                        <a:cs typeface="Tahoma" charset="0"/>
                      </a:endParaRPr>
                    </a:p>
                  </a:txBody>
                  <a:tcPr marL="45720" marR="45720" marT="27432" marB="27432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A6A6A6"/>
                          </a:solidFill>
                          <a:latin typeface="Tahoma" pitchFamily="34" charset="0"/>
                          <a:ea typeface="Tahoma" pitchFamily="34" charset="-122"/>
                          <a:cs typeface="Tahoma" pitchFamily="34" charset="-120"/>
                        </a:rPr>
                        <a:t>—</a:t>
                      </a:r>
                      <a:endParaRPr lang="en-US" sz="900" dirty="0">
                        <a:latin typeface="Tahoma" charset="0"/>
                        <a:ea typeface="Tahoma" charset="0"/>
                        <a:cs typeface="Tahoma" charset="0"/>
                      </a:endParaRPr>
                    </a:p>
                  </a:txBody>
                  <a:tcPr marL="45720" marR="45720" marT="27432" marB="27432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A6A6A6"/>
                          </a:solidFill>
                          <a:latin typeface="Tahoma" pitchFamily="34" charset="0"/>
                          <a:ea typeface="Tahoma" pitchFamily="34" charset="-122"/>
                          <a:cs typeface="Tahoma" pitchFamily="34" charset="-120"/>
                        </a:rPr>
                        <a:t>—</a:t>
                      </a:r>
                      <a:endParaRPr lang="en-US" sz="900" dirty="0">
                        <a:latin typeface="Tahoma" charset="0"/>
                        <a:ea typeface="Tahoma" charset="0"/>
                        <a:cs typeface="Tahoma" charset="0"/>
                      </a:endParaRPr>
                    </a:p>
                  </a:txBody>
                  <a:tcPr marL="45720" marR="45720" marT="27432" marB="27432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A6A6A6"/>
                          </a:solidFill>
                          <a:latin typeface="Tahoma" pitchFamily="34" charset="0"/>
                          <a:ea typeface="Tahoma" pitchFamily="34" charset="-122"/>
                          <a:cs typeface="Tahoma" pitchFamily="34" charset="-120"/>
                        </a:rPr>
                        <a:t>—</a:t>
                      </a:r>
                      <a:endParaRPr lang="en-US" sz="900" dirty="0">
                        <a:latin typeface="Tahoma" charset="0"/>
                        <a:ea typeface="Tahoma" charset="0"/>
                        <a:cs typeface="Tahoma" charset="0"/>
                      </a:endParaRPr>
                    </a:p>
                  </a:txBody>
                  <a:tcPr marL="45720" marR="45720" marT="27432" marB="27432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A6A6A6"/>
                          </a:solidFill>
                          <a:latin typeface="Tahoma" pitchFamily="34" charset="0"/>
                          <a:ea typeface="Tahoma" pitchFamily="34" charset="-122"/>
                          <a:cs typeface="Tahoma" pitchFamily="34" charset="-120"/>
                        </a:rPr>
                        <a:t>—</a:t>
                      </a:r>
                      <a:endParaRPr lang="en-US" sz="900" dirty="0">
                        <a:latin typeface="Tahoma" charset="0"/>
                        <a:ea typeface="Tahoma" charset="0"/>
                        <a:cs typeface="Tahoma" charset="0"/>
                      </a:endParaRPr>
                    </a:p>
                  </a:txBody>
                  <a:tcPr marL="45720" marR="45720" marT="27432" marB="27432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Tahoma" pitchFamily="34" charset="0"/>
                          <a:ea typeface="Tahoma" pitchFamily="34" charset="-122"/>
                          <a:cs typeface="Tahoma" pitchFamily="34" charset="-120"/>
                        </a:rPr>
                        <a:t>เครื่องตรวจหาสาธารณูปโภคด้วยสนามแม่เหล็กไฟฟ้า</a:t>
                      </a:r>
                      <a:endParaRPr lang="en-US" sz="900" dirty="0">
                        <a:latin typeface="Tahoma" charset="0"/>
                        <a:ea typeface="Tahoma" charset="0"/>
                        <a:cs typeface="Tahoma" charset="0"/>
                      </a:endParaRPr>
                    </a:p>
                  </a:txBody>
                  <a:tcPr marL="45720" marR="45720" marT="27432" marB="27432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Tahoma" pitchFamily="34" charset="0"/>
                          <a:ea typeface="Tahoma" pitchFamily="34" charset="-122"/>
                          <a:cs typeface="Tahoma" pitchFamily="34" charset="-120"/>
                        </a:rPr>
                        <a:t>Radiodetection, Vivax-Metrotech, Leica Geosystems</a:t>
                      </a:r>
                      <a:endParaRPr lang="en-US" sz="900" dirty="0">
                        <a:latin typeface="Tahoma" charset="0"/>
                        <a:ea typeface="Tahoma" charset="0"/>
                        <a:cs typeface="Tahoma" charset="0"/>
                      </a:endParaRPr>
                    </a:p>
                  </a:txBody>
                  <a:tcPr marL="45720" marR="45720" marT="27432" marB="27432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A6A6A6"/>
                          </a:solidFill>
                          <a:latin typeface="Tahoma" pitchFamily="34" charset="0"/>
                          <a:ea typeface="Tahoma" pitchFamily="34" charset="-122"/>
                          <a:cs typeface="Tahoma" pitchFamily="34" charset="-120"/>
                        </a:rPr>
                        <a:t>—</a:t>
                      </a:r>
                      <a:endParaRPr lang="en-US" sz="900" dirty="0">
                        <a:latin typeface="Tahoma" charset="0"/>
                        <a:ea typeface="Tahoma" charset="0"/>
                        <a:cs typeface="Tahoma" charset="0"/>
                      </a:endParaRPr>
                    </a:p>
                  </a:txBody>
                  <a:tcPr marL="45720" marR="45720" marT="27432" marB="27432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A6A6A6"/>
                          </a:solidFill>
                          <a:latin typeface="Tahoma" pitchFamily="34" charset="0"/>
                          <a:ea typeface="Tahoma" pitchFamily="34" charset="-122"/>
                          <a:cs typeface="Tahoma" pitchFamily="34" charset="-120"/>
                        </a:rPr>
                        <a:t>—</a:t>
                      </a:r>
                      <a:endParaRPr lang="en-US" sz="900" dirty="0">
                        <a:latin typeface="Tahoma" charset="0"/>
                        <a:ea typeface="Tahoma" charset="0"/>
                        <a:cs typeface="Tahoma" charset="0"/>
                      </a:endParaRPr>
                    </a:p>
                  </a:txBody>
                  <a:tcPr marL="45720" marR="45720" marT="27432" marB="27432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A6A6A6"/>
                          </a:solidFill>
                          <a:latin typeface="Tahoma" pitchFamily="34" charset="0"/>
                          <a:ea typeface="Tahoma" pitchFamily="34" charset="-122"/>
                          <a:cs typeface="Tahoma" pitchFamily="34" charset="-120"/>
                        </a:rPr>
                        <a:t>—</a:t>
                      </a:r>
                      <a:endParaRPr lang="en-US" sz="900" dirty="0">
                        <a:latin typeface="Tahoma" charset="0"/>
                        <a:ea typeface="Tahoma" charset="0"/>
                        <a:cs typeface="Tahoma" charset="0"/>
                      </a:endParaRPr>
                    </a:p>
                  </a:txBody>
                  <a:tcPr marL="45720" marR="45720" marT="27432" marB="27432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A6A6A6"/>
                          </a:solidFill>
                          <a:latin typeface="Tahoma" pitchFamily="34" charset="0"/>
                          <a:ea typeface="Tahoma" pitchFamily="34" charset="-122"/>
                          <a:cs typeface="Tahoma" pitchFamily="34" charset="-120"/>
                        </a:rPr>
                        <a:t>—</a:t>
                      </a:r>
                      <a:endParaRPr lang="en-US" sz="900" dirty="0">
                        <a:latin typeface="Tahoma" charset="0"/>
                        <a:ea typeface="Tahoma" charset="0"/>
                        <a:cs typeface="Tahoma" charset="0"/>
                      </a:endParaRPr>
                    </a:p>
                  </a:txBody>
                  <a:tcPr marL="45720" marR="45720" marT="27432" marB="27432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Tahoma" pitchFamily="34" charset="0"/>
                          <a:ea typeface="Tahoma" pitchFamily="34" charset="-122"/>
                          <a:cs typeface="Tahoma" pitchFamily="34" charset="-120"/>
                        </a:rPr>
                        <a:t>Electrical resistivity tomography (ERT)</a:t>
                      </a:r>
                      <a:endParaRPr lang="en-US" sz="900" dirty="0">
                        <a:latin typeface="Tahoma" charset="0"/>
                        <a:ea typeface="Tahoma" charset="0"/>
                        <a:cs typeface="Tahoma" charset="0"/>
                      </a:endParaRPr>
                    </a:p>
                  </a:txBody>
                  <a:tcPr marL="45720" marR="45720" marT="27432" marB="27432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Tahoma" pitchFamily="34" charset="0"/>
                          <a:ea typeface="Tahoma" pitchFamily="34" charset="-122"/>
                          <a:cs typeface="Tahoma" pitchFamily="34" charset="-120"/>
                        </a:rPr>
                        <a:t>Iris Instruments, Guideline Geo (ABEM), Advanced Geosciences</a:t>
                      </a:r>
                      <a:endParaRPr lang="en-US" sz="900" dirty="0">
                        <a:latin typeface="Tahoma" charset="0"/>
                        <a:ea typeface="Tahoma" charset="0"/>
                        <a:cs typeface="Tahoma" charset="0"/>
                      </a:endParaRPr>
                    </a:p>
                  </a:txBody>
                  <a:tcPr marL="45720" marR="45720" marT="27432" marB="27432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A6A6A6"/>
                          </a:solidFill>
                          <a:latin typeface="Tahoma" pitchFamily="34" charset="0"/>
                          <a:ea typeface="Tahoma" pitchFamily="34" charset="-122"/>
                          <a:cs typeface="Tahoma" pitchFamily="34" charset="-120"/>
                        </a:rPr>
                        <a:t>—</a:t>
                      </a:r>
                      <a:endParaRPr lang="en-US" sz="900" dirty="0">
                        <a:latin typeface="Tahoma" charset="0"/>
                        <a:ea typeface="Tahoma" charset="0"/>
                        <a:cs typeface="Tahoma" charset="0"/>
                      </a:endParaRPr>
                    </a:p>
                  </a:txBody>
                  <a:tcPr marL="45720" marR="45720" marT="27432" marB="27432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A6A6A6"/>
                          </a:solidFill>
                          <a:latin typeface="Tahoma" pitchFamily="34" charset="0"/>
                          <a:ea typeface="Tahoma" pitchFamily="34" charset="-122"/>
                          <a:cs typeface="Tahoma" pitchFamily="34" charset="-120"/>
                        </a:rPr>
                        <a:t>—</a:t>
                      </a:r>
                      <a:endParaRPr lang="en-US" sz="900" dirty="0">
                        <a:latin typeface="Tahoma" charset="0"/>
                        <a:ea typeface="Tahoma" charset="0"/>
                        <a:cs typeface="Tahoma" charset="0"/>
                      </a:endParaRPr>
                    </a:p>
                  </a:txBody>
                  <a:tcPr marL="45720" marR="45720" marT="27432" marB="27432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A6A6A6"/>
                          </a:solidFill>
                          <a:latin typeface="Tahoma" pitchFamily="34" charset="0"/>
                          <a:ea typeface="Tahoma" pitchFamily="34" charset="-122"/>
                          <a:cs typeface="Tahoma" pitchFamily="34" charset="-120"/>
                        </a:rPr>
                        <a:t>—</a:t>
                      </a:r>
                      <a:endParaRPr lang="en-US" sz="900" dirty="0">
                        <a:latin typeface="Tahoma" charset="0"/>
                        <a:ea typeface="Tahoma" charset="0"/>
                        <a:cs typeface="Tahoma" charset="0"/>
                      </a:endParaRPr>
                    </a:p>
                  </a:txBody>
                  <a:tcPr marL="45720" marR="45720" marT="27432" marB="27432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A6A6A6"/>
                          </a:solidFill>
                          <a:latin typeface="Tahoma" pitchFamily="34" charset="0"/>
                          <a:ea typeface="Tahoma" pitchFamily="34" charset="-122"/>
                          <a:cs typeface="Tahoma" pitchFamily="34" charset="-120"/>
                        </a:rPr>
                        <a:t>—</a:t>
                      </a:r>
                      <a:endParaRPr lang="en-US" sz="900" dirty="0">
                        <a:latin typeface="Tahoma" charset="0"/>
                        <a:ea typeface="Tahoma" charset="0"/>
                        <a:cs typeface="Tahoma" charset="0"/>
                      </a:endParaRPr>
                    </a:p>
                  </a:txBody>
                  <a:tcPr marL="45720" marR="45720" marT="27432" marB="27432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Tahoma" pitchFamily="34" charset="0"/>
                          <a:ea typeface="Tahoma" pitchFamily="34" charset="-122"/>
                          <a:cs typeface="Tahoma" pitchFamily="34" charset="-120"/>
                        </a:rPr>
                        <a:t>Seismic refraction / MASW</a:t>
                      </a:r>
                      <a:endParaRPr lang="en-US" sz="900" dirty="0">
                        <a:latin typeface="Tahoma" charset="0"/>
                        <a:ea typeface="Tahoma" charset="0"/>
                        <a:cs typeface="Tahoma" charset="0"/>
                      </a:endParaRPr>
                    </a:p>
                  </a:txBody>
                  <a:tcPr marL="45720" marR="45720" marT="27432" marB="27432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Tahoma" pitchFamily="34" charset="0"/>
                          <a:ea typeface="Tahoma" pitchFamily="34" charset="-122"/>
                          <a:cs typeface="Tahoma" pitchFamily="34" charset="-120"/>
                        </a:rPr>
                        <a:t>Geometrics</a:t>
                      </a:r>
                      <a:endParaRPr lang="en-US" sz="900" dirty="0">
                        <a:latin typeface="Tahoma" charset="0"/>
                        <a:ea typeface="Tahoma" charset="0"/>
                        <a:cs typeface="Tahoma" charset="0"/>
                      </a:endParaRPr>
                    </a:p>
                  </a:txBody>
                  <a:tcPr marL="45720" marR="45720" marT="27432" marB="27432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A6A6A6"/>
                          </a:solidFill>
                          <a:latin typeface="Tahoma" pitchFamily="34" charset="0"/>
                          <a:ea typeface="Tahoma" pitchFamily="34" charset="-122"/>
                          <a:cs typeface="Tahoma" pitchFamily="34" charset="-120"/>
                        </a:rPr>
                        <a:t>—</a:t>
                      </a:r>
                      <a:endParaRPr lang="en-US" sz="900" dirty="0">
                        <a:latin typeface="Tahoma" charset="0"/>
                        <a:ea typeface="Tahoma" charset="0"/>
                        <a:cs typeface="Tahoma" charset="0"/>
                      </a:endParaRPr>
                    </a:p>
                  </a:txBody>
                  <a:tcPr marL="45720" marR="45720" marT="27432" marB="27432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A6A6A6"/>
                          </a:solidFill>
                          <a:latin typeface="Tahoma" pitchFamily="34" charset="0"/>
                          <a:ea typeface="Tahoma" pitchFamily="34" charset="-122"/>
                          <a:cs typeface="Tahoma" pitchFamily="34" charset="-120"/>
                        </a:rPr>
                        <a:t>—</a:t>
                      </a:r>
                      <a:endParaRPr lang="en-US" sz="900" dirty="0">
                        <a:latin typeface="Tahoma" charset="0"/>
                        <a:ea typeface="Tahoma" charset="0"/>
                        <a:cs typeface="Tahoma" charset="0"/>
                      </a:endParaRPr>
                    </a:p>
                  </a:txBody>
                  <a:tcPr marL="45720" marR="45720" marT="27432" marB="27432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A6A6A6"/>
                          </a:solidFill>
                          <a:latin typeface="Tahoma" pitchFamily="34" charset="0"/>
                          <a:ea typeface="Tahoma" pitchFamily="34" charset="-122"/>
                          <a:cs typeface="Tahoma" pitchFamily="34" charset="-120"/>
                        </a:rPr>
                        <a:t>—</a:t>
                      </a:r>
                      <a:endParaRPr lang="en-US" sz="900" dirty="0">
                        <a:latin typeface="Tahoma" charset="0"/>
                        <a:ea typeface="Tahoma" charset="0"/>
                        <a:cs typeface="Tahoma" charset="0"/>
                      </a:endParaRPr>
                    </a:p>
                  </a:txBody>
                  <a:tcPr marL="45720" marR="45720" marT="27432" marB="27432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A6A6A6"/>
                          </a:solidFill>
                          <a:latin typeface="Tahoma" pitchFamily="34" charset="0"/>
                          <a:ea typeface="Tahoma" pitchFamily="34" charset="-122"/>
                          <a:cs typeface="Tahoma" pitchFamily="34" charset="-120"/>
                        </a:rPr>
                        <a:t>—</a:t>
                      </a:r>
                      <a:endParaRPr lang="en-US" sz="900" dirty="0">
                        <a:latin typeface="Tahoma" charset="0"/>
                        <a:ea typeface="Tahoma" charset="0"/>
                        <a:cs typeface="Tahoma" charset="0"/>
                      </a:endParaRPr>
                    </a:p>
                  </a:txBody>
                  <a:tcPr marL="45720" marR="45720" marT="27432" marB="27432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Tahoma" pitchFamily="34" charset="0"/>
                          <a:ea typeface="Tahoma" pitchFamily="34" charset="-122"/>
                          <a:cs typeface="Tahoma" pitchFamily="34" charset="-120"/>
                        </a:rPr>
                        <a:t>การขุดเปิดยืนยันตำแหน่ง (vacuum excavation)</a:t>
                      </a:r>
                      <a:endParaRPr lang="en-US" sz="900" dirty="0">
                        <a:latin typeface="Tahoma" charset="0"/>
                        <a:ea typeface="Tahoma" charset="0"/>
                        <a:cs typeface="Tahoma" charset="0"/>
                      </a:endParaRPr>
                    </a:p>
                  </a:txBody>
                  <a:tcPr marL="45720" marR="45720" marT="27432" marB="27432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Tahoma" pitchFamily="34" charset="0"/>
                          <a:ea typeface="Tahoma" pitchFamily="34" charset="-122"/>
                          <a:cs typeface="Tahoma" pitchFamily="34" charset="-120"/>
                        </a:rPr>
                        <a:t>ผู้ให้บริการงานขุด (ไม่ใช่เครื่องมือวัดโดยตรง)</a:t>
                      </a:r>
                      <a:endParaRPr lang="en-US" sz="900" dirty="0">
                        <a:latin typeface="Tahoma" charset="0"/>
                        <a:ea typeface="Tahoma" charset="0"/>
                        <a:cs typeface="Tahoma" charset="0"/>
                      </a:endParaRPr>
                    </a:p>
                  </a:txBody>
                  <a:tcPr marL="45720" marR="45720" marT="27432" marB="27432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A6A6A6"/>
                          </a:solidFill>
                          <a:latin typeface="Tahoma" pitchFamily="34" charset="0"/>
                          <a:ea typeface="Tahoma" pitchFamily="34" charset="-122"/>
                          <a:cs typeface="Tahoma" pitchFamily="34" charset="-120"/>
                        </a:rPr>
                        <a:t>—</a:t>
                      </a:r>
                      <a:endParaRPr lang="en-US" sz="900" dirty="0">
                        <a:latin typeface="Tahoma" charset="0"/>
                        <a:ea typeface="Tahoma" charset="0"/>
                        <a:cs typeface="Tahoma" charset="0"/>
                      </a:endParaRPr>
                    </a:p>
                  </a:txBody>
                  <a:tcPr marL="45720" marR="45720" marT="27432" marB="27432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A6A6A6"/>
                          </a:solidFill>
                          <a:latin typeface="Tahoma" pitchFamily="34" charset="0"/>
                          <a:ea typeface="Tahoma" pitchFamily="34" charset="-122"/>
                          <a:cs typeface="Tahoma" pitchFamily="34" charset="-120"/>
                        </a:rPr>
                        <a:t>—</a:t>
                      </a:r>
                      <a:endParaRPr lang="en-US" sz="900" dirty="0">
                        <a:latin typeface="Tahoma" charset="0"/>
                        <a:ea typeface="Tahoma" charset="0"/>
                        <a:cs typeface="Tahoma" charset="0"/>
                      </a:endParaRPr>
                    </a:p>
                  </a:txBody>
                  <a:tcPr marL="45720" marR="45720" marT="27432" marB="27432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A6A6A6"/>
                          </a:solidFill>
                          <a:latin typeface="Tahoma" pitchFamily="34" charset="0"/>
                          <a:ea typeface="Tahoma" pitchFamily="34" charset="-122"/>
                          <a:cs typeface="Tahoma" pitchFamily="34" charset="-120"/>
                        </a:rPr>
                        <a:t>—</a:t>
                      </a:r>
                      <a:endParaRPr lang="en-US" sz="900" dirty="0">
                        <a:latin typeface="Tahoma" charset="0"/>
                        <a:ea typeface="Tahoma" charset="0"/>
                        <a:cs typeface="Tahoma" charset="0"/>
                      </a:endParaRPr>
                    </a:p>
                  </a:txBody>
                  <a:tcPr marL="45720" marR="45720" marT="27432" marB="27432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A6A6A6"/>
                          </a:solidFill>
                          <a:latin typeface="Tahoma" pitchFamily="34" charset="0"/>
                          <a:ea typeface="Tahoma" pitchFamily="34" charset="-122"/>
                          <a:cs typeface="Tahoma" pitchFamily="34" charset="-120"/>
                        </a:rPr>
                        <a:t>—</a:t>
                      </a:r>
                      <a:endParaRPr lang="en-US" sz="900" dirty="0">
                        <a:latin typeface="Tahoma" charset="0"/>
                        <a:ea typeface="Tahoma" charset="0"/>
                        <a:cs typeface="Tahoma" charset="0"/>
                      </a:endParaRPr>
                    </a:p>
                  </a:txBody>
                  <a:tcPr marL="45720" marR="45720" marT="27432" marB="27432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4" name="Text 1"/>
          <p:cNvSpPr txBox="1"/>
          <p:nvPr/>
        </p:nvSpPr>
        <p:spPr>
          <a:xfrm>
            <a:off x="457200" y="4572000"/>
            <a:ext cx="7680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808080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* รายการตัวอย่างผลิตภัณฑ์มาจากความรู้ทั่วไป ยังไม่ตรวจ datasheet และไม่ใช่การแนะนำ  ** ค่าความแม่นยำที่จะใส่เป็นค่าที่ผู้ผลิตระบุ</a:t>
            </a:r>
            <a:endParaRPr lang="en-US" sz="9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321040" y="475488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808080"/>
                </a:solidFill>
                <a:latin typeface="Tahoma"/>
                <a:ea typeface="Tahoma"/>
                <a:cs typeface="Tahoma"/>
              </a:defRPr>
            </a:lvl1pPr>
          </a:lstStyle>
          <a:p>
            <a:pPr algn="r"/>
            <a:fld id="{F7021451-1387-4CA6-816F-3879F97B5CBC}" type="slidenum">
              <a:rPr b="0" lang="en-US"/>
              <a:t>26</a:t>
            </a:fld>
            <a:endParaRPr lang="en-US"/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320040"/>
            <a:ext cx="82296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400" b="1" dirty="0">
                <a:solidFill>
                  <a:srgbClr val="000000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บทที่ 3  ใต้ผิวดิน: เกณฑ์การเลือกใช้</a:t>
            </a:r>
            <a:endParaRPr lang="en-US" sz="24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1371600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endParaRPr lang="en-US" sz="1400" dirty="0"/>
          </a:p>
        </p:txBody>
      </p:sp>
      <p:sp>
        <p:nvSpPr>
          <p:cNvPr id="4" name="Text 2"/>
          <p:cNvSpPr txBox="1"/>
          <p:nvPr/>
        </p:nvSpPr>
        <p:spPr>
          <a:xfrm>
            <a:off x="457200" y="1920240"/>
            <a:ext cx="8229600" cy="2651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400" dirty="0">
                <a:solidFill>
                  <a:srgbClr val="000000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ขนาดพื้นที่และลักษณะพื้นที่ปฏิบัติงาน</a:t>
            </a:r>
            <a:endParaRPr lang="en-US" sz="14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400" dirty="0">
                <a:solidFill>
                  <a:srgbClr val="000000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ความถูกต้องที่ต้องการ</a:t>
            </a:r>
            <a:endParaRPr lang="en-US" sz="14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400" dirty="0">
                <a:solidFill>
                  <a:srgbClr val="000000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สภาพแวดล้อมหน้างาน</a:t>
            </a:r>
            <a:endParaRPr lang="en-US" sz="14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400" dirty="0">
                <a:solidFill>
                  <a:srgbClr val="000000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เวลาประมวลผลและบุคลากร</a:t>
            </a:r>
            <a:endParaRPr lang="en-US" sz="14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400" dirty="0">
                <a:solidFill>
                  <a:srgbClr val="000000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ต้นทุนการจัดซื้อหรือจ้าง</a:t>
            </a:r>
            <a:endParaRPr lang="en-US" sz="14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400" dirty="0">
                <a:solidFill>
                  <a:srgbClr val="808080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(รอเติมเนื้อหา: เกณฑ์ข้างต้นเป็นโครงร่าง)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321040" y="475488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808080"/>
                </a:solidFill>
                <a:latin typeface="Tahoma"/>
                <a:ea typeface="Tahoma"/>
                <a:cs typeface="Tahoma"/>
              </a:defRPr>
            </a:lvl1pPr>
          </a:lstStyle>
          <a:p>
            <a:pPr algn="r"/>
            <a:fld id="{F7021451-1387-4CA6-816F-3879F97B5CBC}" type="slidenum">
              <a:rPr b="0" lang="en-US"/>
              <a:t>27</a:t>
            </a:fld>
            <a:endParaRPr lang="en-US"/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320040"/>
            <a:ext cx="82296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400" b="1" dirty="0">
                <a:solidFill>
                  <a:srgbClr val="000000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บทที่ 3  ใต้ผิวดิน: Research trend</a:t>
            </a:r>
            <a:endParaRPr lang="en-US" sz="24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1371600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endParaRPr lang="en-US" sz="1400" dirty="0"/>
          </a:p>
        </p:txBody>
      </p:sp>
      <p:sp>
        <p:nvSpPr>
          <p:cNvPr id="4" name="Text 2"/>
          <p:cNvSpPr txBox="1"/>
          <p:nvPr/>
        </p:nvSpPr>
        <p:spPr>
          <a:xfrm>
            <a:off x="457200" y="1920240"/>
            <a:ext cx="8229600" cy="2651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1400" dirty="0">
                <a:solidFill>
                  <a:srgbClr val="808080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(รอเติมเนื้อหา)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321040" y="475488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808080"/>
                </a:solidFill>
                <a:latin typeface="Tahoma"/>
                <a:ea typeface="Tahoma"/>
                <a:cs typeface="Tahoma"/>
              </a:defRPr>
            </a:lvl1pPr>
          </a:lstStyle>
          <a:p>
            <a:pPr algn="r"/>
            <a:fld id="{F7021451-1387-4CA6-816F-3879F97B5CBC}" type="slidenum">
              <a:rPr b="0" lang="en-US"/>
              <a:t>28</a:t>
            </a:fld>
            <a:endParaRPr lang="en-US"/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54864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595959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บทที่ 4</a:t>
            </a:r>
            <a:endParaRPr lang="en-US" sz="16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914400"/>
            <a:ext cx="8229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000" b="1" dirty="0">
                <a:solidFill>
                  <a:srgbClr val="000000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การติดตามการเปลี่ยนแปลง</a:t>
            </a:r>
            <a:endParaRPr lang="en-US" sz="3000" dirty="0"/>
          </a:p>
        </p:txBody>
      </p:sp>
      <p:sp>
        <p:nvSpPr>
          <p:cNvPr id="4" name="Text 2"/>
          <p:cNvSpPr txBox="1"/>
          <p:nvPr/>
        </p:nvSpPr>
        <p:spPr>
          <a:xfrm>
            <a:off x="457200" y="1737360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595959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Change &amp; Deformation Monitoring</a:t>
            </a:r>
            <a:endParaRPr lang="en-US" sz="1800" dirty="0"/>
          </a:p>
        </p:txBody>
      </p:sp>
      <p:sp>
        <p:nvSpPr>
          <p:cNvPr id="5" name="Text 3"/>
          <p:cNvSpPr txBox="1"/>
          <p:nvPr/>
        </p:nvSpPr>
        <p:spPr>
          <a:xfrm>
            <a:off x="457200" y="2468880"/>
            <a:ext cx="8229600" cy="2103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600"/>
              </a:spcAft>
              <a:buSzPct val="100000"/>
              <a:buFont typeface="+mj-lt"/>
              <a:buAutoNum type="arabicPeriod" startAt="1"/>
            </a:pPr>
            <a:r>
              <a:rPr lang="en-US" sz="2000" dirty="0">
                <a:solidFill>
                  <a:srgbClr val="000000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ขอบเขตและผลลัพธ์</a:t>
            </a:r>
            <a:endParaRPr lang="en-US" sz="2000" dirty="0"/>
          </a:p>
          <a:p>
            <a:pPr marL="342900" indent="-342900">
              <a:spcAft>
                <a:spcPts val="600"/>
              </a:spcAft>
              <a:buSzPct val="100000"/>
              <a:buFont typeface="+mj-lt"/>
              <a:buAutoNum type="arabicPeriod" startAt="1"/>
            </a:pPr>
            <a:r>
              <a:rPr lang="en-US" sz="2000" dirty="0">
                <a:solidFill>
                  <a:srgbClr val="000000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ชนิดเครื่องมือและหลักการวัด</a:t>
            </a:r>
            <a:endParaRPr lang="en-US" sz="2000" dirty="0"/>
          </a:p>
          <a:p>
            <a:pPr marL="342900" indent="-342900">
              <a:spcAft>
                <a:spcPts val="600"/>
              </a:spcAft>
              <a:buSzPct val="100000"/>
              <a:buFont typeface="+mj-lt"/>
              <a:buAutoNum type="arabicPeriod" startAt="1"/>
            </a:pPr>
            <a:r>
              <a:rPr lang="en-US" sz="2000" dirty="0">
                <a:solidFill>
                  <a:srgbClr val="000000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เปรียบเทียบเครื่องมือ</a:t>
            </a:r>
            <a:endParaRPr lang="en-US" sz="2000" dirty="0"/>
          </a:p>
          <a:p>
            <a:pPr marL="342900" indent="-342900">
              <a:spcAft>
                <a:spcPts val="600"/>
              </a:spcAft>
              <a:buSzPct val="100000"/>
              <a:buFont typeface="+mj-lt"/>
              <a:buAutoNum type="arabicPeriod" startAt="1"/>
            </a:pPr>
            <a:r>
              <a:rPr lang="en-US" sz="2000" dirty="0">
                <a:solidFill>
                  <a:srgbClr val="000000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เกณฑ์การเลือกใช้</a:t>
            </a:r>
            <a:endParaRPr lang="en-US" sz="2000" dirty="0"/>
          </a:p>
          <a:p>
            <a:pPr marL="342900" indent="-342900">
              <a:spcAft>
                <a:spcPts val="600"/>
              </a:spcAft>
              <a:buSzPct val="100000"/>
              <a:buFont typeface="+mj-lt"/>
              <a:buAutoNum type="arabicPeriod" startAt="1"/>
            </a:pPr>
            <a:r>
              <a:rPr lang="en-US" sz="2000" dirty="0">
                <a:solidFill>
                  <a:srgbClr val="000000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Research trend</a:t>
            </a:r>
            <a:endParaRPr lang="en-US" sz="2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321040" y="475488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808080"/>
                </a:solidFill>
                <a:latin typeface="Tahoma"/>
                <a:ea typeface="Tahoma"/>
                <a:cs typeface="Tahoma"/>
              </a:defRPr>
            </a:lvl1pPr>
          </a:lstStyle>
          <a:p>
            <a:pPr algn="r"/>
            <a:fld id="{F7021451-1387-4CA6-816F-3879F97B5CBC}" type="slidenum">
              <a:rPr b="0" lang="en-US"/>
              <a:t>29</a:t>
            </a:fld>
            <a:endParaRPr lang="en-US"/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320040"/>
            <a:ext cx="82296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400" b="1" dirty="0">
                <a:solidFill>
                  <a:srgbClr val="000000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บทที่ 4  การติดตามการเปลี่ยนแปลง: ขอบเขตและผลลัพธ์</a:t>
            </a:r>
            <a:endParaRPr lang="en-US" sz="24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1371600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endParaRPr lang="en-US" sz="1400" dirty="0"/>
          </a:p>
        </p:txBody>
      </p:sp>
      <p:sp>
        <p:nvSpPr>
          <p:cNvPr id="4" name="Text 2"/>
          <p:cNvSpPr txBox="1"/>
          <p:nvPr/>
        </p:nvSpPr>
        <p:spPr>
          <a:xfrm>
            <a:off x="457200" y="1920240"/>
            <a:ext cx="8229600" cy="2651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300" dirty="0">
                <a:solidFill>
                  <a:srgbClr val="000000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ลักษณะ: การวัดซ้ำต่างเวลาและเปรียบเทียบผล ใช้ได้ในทุกบริเวณ (ข้อเสนอของผู้นำเสนอ)</a:t>
            </a:r>
            <a:endParaRPr lang="en-US" sz="13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300" dirty="0">
                <a:solidFill>
                  <a:srgbClr val="000000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ผลลัพธ์: การเคลื่อนตัวของโครงสร้าง (เขื่อน สะพาน อาคารสูง) ผลของภัยพิบัติ และการเปลี่ยนแปลงระดับโลก</a:t>
            </a:r>
            <a:endParaRPr lang="en-US" sz="13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300" dirty="0">
                <a:solidFill>
                  <a:srgbClr val="000000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การติดตามการเปลี่ยนแปลงเป็นส่วนหนึ่งของนิยามหน้าที่ surveyor ตาม FIG</a:t>
            </a:r>
            <a:endParaRPr lang="en-US" sz="1300" dirty="0"/>
          </a:p>
        </p:txBody>
      </p:sp>
      <p:sp>
        <p:nvSpPr>
          <p:cNvPr id="5" name="Text 3"/>
          <p:cNvSpPr txBox="1"/>
          <p:nvPr/>
        </p:nvSpPr>
        <p:spPr>
          <a:xfrm>
            <a:off x="457200" y="4572000"/>
            <a:ext cx="7680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808080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อ้างอิง: Elementary Surveying §1.2 หน้า 2 [S041]; §1.13 หน้า 19-20 [S047]</a:t>
            </a:r>
            <a:endParaRPr lang="en-US" sz="9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321040" y="475488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808080"/>
                </a:solidFill>
                <a:latin typeface="Tahoma"/>
                <a:ea typeface="Tahoma"/>
                <a:cs typeface="Tahoma"/>
              </a:defRPr>
            </a:lvl1pPr>
          </a:lstStyle>
          <a:p>
            <a:pPr algn="r"/>
            <a:fld id="{F7021451-1387-4CA6-816F-3879F97B5CBC}" type="slidenum">
              <a:rPr b="0" lang="en-US"/>
              <a:t>30</a:t>
            </a:fld>
            <a:endParaRPr lang="en-US"/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320040"/>
            <a:ext cx="82296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400" b="1" dirty="0">
                <a:solidFill>
                  <a:srgbClr val="000000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บทที่ 4  การติดตามการเปลี่ยนแปลง: ชนิดเครื่องมือและหลักการวัด</a:t>
            </a:r>
            <a:endParaRPr lang="en-US" sz="24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1371600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endParaRPr lang="en-US" sz="1400" dirty="0"/>
          </a:p>
        </p:txBody>
      </p:sp>
      <p:sp>
        <p:nvSpPr>
          <p:cNvPr id="4" name="Text 2"/>
          <p:cNvSpPr txBox="1"/>
          <p:nvPr/>
        </p:nvSpPr>
        <p:spPr>
          <a:xfrm>
            <a:off x="457200" y="1920240"/>
            <a:ext cx="8229600" cy="2651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300" dirty="0">
                <a:solidFill>
                  <a:srgbClr val="000000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การวัดซ้ำที่จุดเดิมหรือพื้นที่เดิม แล้วเทียบผลต่างต่างเวลา</a:t>
            </a:r>
            <a:endParaRPr lang="en-US" sz="13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300" dirty="0">
                <a:solidFill>
                  <a:srgbClr val="000000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InSAR: ผลต่างเฟสของคลื่นไมโครเวฟ (ดู S011)</a:t>
            </a:r>
            <a:endParaRPr lang="en-US" sz="1300" dirty="0"/>
          </a:p>
        </p:txBody>
      </p:sp>
      <p:sp>
        <p:nvSpPr>
          <p:cNvPr id="5" name="Text 3"/>
          <p:cNvSpPr txBox="1"/>
          <p:nvPr/>
        </p:nvSpPr>
        <p:spPr>
          <a:xfrm>
            <a:off x="457200" y="4572000"/>
            <a:ext cx="7680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808080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หมายเหตุ: ถ้อยคำหลักการเป็นร่างจากความรู้ทั่วไป ยังไม่ตรวจแหล่ง ยกเว้นรายการที่มีรหัส S</a:t>
            </a:r>
            <a:endParaRPr lang="en-US" sz="9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321040" y="475488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808080"/>
                </a:solidFill>
                <a:latin typeface="Tahoma"/>
                <a:ea typeface="Tahoma"/>
                <a:cs typeface="Tahoma"/>
              </a:defRPr>
            </a:lvl1pPr>
          </a:lstStyle>
          <a:p>
            <a:pPr algn="r"/>
            <a:fld id="{F7021451-1387-4CA6-816F-3879F97B5CBC}" type="slidenum">
              <a:rPr b="0" lang="en-US"/>
              <a:t>31</a:t>
            </a:fld>
            <a:endParaRPr lang="en-US"/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320040"/>
            <a:ext cx="82296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400" b="1" dirty="0">
                <a:solidFill>
                  <a:srgbClr val="000000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บทที่ 4  การติดตามการเปลี่ยนแปลง: เปรียบเทียบเครื่องมือ</a:t>
            </a:r>
            <a:endParaRPr lang="en-US" sz="2400" dirty="0"/>
          </a:p>
        </p:txBody>
      </p:sp>
      <p:graphicFrame>
        <p:nvGraphicFramePr>
          <p:cNvPr id="33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005840"/>
          <a:ext cx="8229600" cy="914400"/>
        </p:xfrm>
        <a:graphic>
          <a:graphicData uri="http://schemas.openxmlformats.org/drawingml/2006/table">
            <a:tbl>
              <a:tblPr/>
              <a:tblGrid>
                <a:gridCol w="1737360"/>
                <a:gridCol w="2103120"/>
                <a:gridCol w="960120"/>
                <a:gridCol w="960120"/>
                <a:gridCol w="1371600"/>
                <a:gridCol w="1097280"/>
              </a:tblGrid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000000"/>
                          </a:solidFill>
                          <a:latin typeface="Tahoma" pitchFamily="34" charset="0"/>
                          <a:ea typeface="Tahoma" pitchFamily="34" charset="-122"/>
                          <a:cs typeface="Tahoma" pitchFamily="34" charset="-120"/>
                        </a:rPr>
                        <a:t>ชนิดเครื่องมือ</a:t>
                      </a:r>
                      <a:endParaRPr lang="en-US" sz="900" dirty="0">
                        <a:latin typeface="Tahoma" charset="0"/>
                        <a:ea typeface="Tahoma" charset="0"/>
                        <a:cs typeface="Tahoma" charset="0"/>
                      </a:endParaRPr>
                    </a:p>
                  </a:txBody>
                  <a:tcPr marL="45720" marR="45720" marT="27432" marB="27432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000000"/>
                          </a:solidFill>
                          <a:latin typeface="Tahoma" pitchFamily="34" charset="0"/>
                          <a:ea typeface="Tahoma" pitchFamily="34" charset="-122"/>
                          <a:cs typeface="Tahoma" pitchFamily="34" charset="-120"/>
                        </a:rPr>
                        <a:t>ตัวอย่างผลิตภัณฑ์*</a:t>
                      </a:r>
                      <a:endParaRPr lang="en-US" sz="900" dirty="0">
                        <a:latin typeface="Tahoma" charset="0"/>
                        <a:ea typeface="Tahoma" charset="0"/>
                        <a:cs typeface="Tahoma" charset="0"/>
                      </a:endParaRPr>
                    </a:p>
                  </a:txBody>
                  <a:tcPr marL="45720" marR="45720" marT="27432" marB="27432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000000"/>
                          </a:solidFill>
                          <a:latin typeface="Tahoma" pitchFamily="34" charset="0"/>
                          <a:ea typeface="Tahoma" pitchFamily="34" charset="-122"/>
                          <a:cs typeface="Tahoma" pitchFamily="34" charset="-120"/>
                        </a:rPr>
                        <a:t>ผลลัพธ์ที่ได้</a:t>
                      </a:r>
                      <a:endParaRPr lang="en-US" sz="900" dirty="0">
                        <a:latin typeface="Tahoma" charset="0"/>
                        <a:ea typeface="Tahoma" charset="0"/>
                        <a:cs typeface="Tahoma" charset="0"/>
                      </a:endParaRPr>
                    </a:p>
                  </a:txBody>
                  <a:tcPr marL="45720" marR="45720" marT="27432" marB="27432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000000"/>
                          </a:solidFill>
                          <a:latin typeface="Tahoma" pitchFamily="34" charset="0"/>
                          <a:ea typeface="Tahoma" pitchFamily="34" charset="-122"/>
                          <a:cs typeface="Tahoma" pitchFamily="34" charset="-120"/>
                        </a:rPr>
                        <a:t>ความแม่นยำ**</a:t>
                      </a:r>
                      <a:endParaRPr lang="en-US" sz="900" dirty="0">
                        <a:latin typeface="Tahoma" charset="0"/>
                        <a:ea typeface="Tahoma" charset="0"/>
                        <a:cs typeface="Tahoma" charset="0"/>
                      </a:endParaRPr>
                    </a:p>
                  </a:txBody>
                  <a:tcPr marL="45720" marR="45720" marT="27432" marB="27432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000000"/>
                          </a:solidFill>
                          <a:latin typeface="Tahoma" pitchFamily="34" charset="0"/>
                          <a:ea typeface="Tahoma" pitchFamily="34" charset="-122"/>
                          <a:cs typeface="Tahoma" pitchFamily="34" charset="-120"/>
                        </a:rPr>
                        <a:t>ข้อจำกัด (สภาพแวดล้อม + เวลาประมวลผล)</a:t>
                      </a:r>
                      <a:endParaRPr lang="en-US" sz="900" dirty="0">
                        <a:latin typeface="Tahoma" charset="0"/>
                        <a:ea typeface="Tahoma" charset="0"/>
                        <a:cs typeface="Tahoma" charset="0"/>
                      </a:endParaRPr>
                    </a:p>
                  </a:txBody>
                  <a:tcPr marL="45720" marR="45720" marT="27432" marB="27432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000000"/>
                          </a:solidFill>
                          <a:latin typeface="Tahoma" pitchFamily="34" charset="0"/>
                          <a:ea typeface="Tahoma" pitchFamily="34" charset="-122"/>
                          <a:cs typeface="Tahoma" pitchFamily="34" charset="-120"/>
                        </a:rPr>
                        <a:t>ต้นทุนเชิงสัมพัทธ์ (บาท)</a:t>
                      </a:r>
                      <a:endParaRPr lang="en-US" sz="900" dirty="0">
                        <a:latin typeface="Tahoma" charset="0"/>
                        <a:ea typeface="Tahoma" charset="0"/>
                        <a:cs typeface="Tahoma" charset="0"/>
                      </a:endParaRPr>
                    </a:p>
                  </a:txBody>
                  <a:tcPr marL="45720" marR="45720" marT="27432" marB="27432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Tahoma" pitchFamily="34" charset="0"/>
                          <a:ea typeface="Tahoma" pitchFamily="34" charset="-122"/>
                          <a:cs typeface="Tahoma" pitchFamily="34" charset="-120"/>
                        </a:rPr>
                        <a:t>Robotic total station + prism (monitoring)</a:t>
                      </a:r>
                      <a:endParaRPr lang="en-US" sz="900" dirty="0">
                        <a:latin typeface="Tahoma" charset="0"/>
                        <a:ea typeface="Tahoma" charset="0"/>
                        <a:cs typeface="Tahoma" charset="0"/>
                      </a:endParaRPr>
                    </a:p>
                  </a:txBody>
                  <a:tcPr marL="45720" marR="45720" marT="27432" marB="27432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Tahoma" pitchFamily="34" charset="0"/>
                          <a:ea typeface="Tahoma" pitchFamily="34" charset="-122"/>
                          <a:cs typeface="Tahoma" pitchFamily="34" charset="-120"/>
                        </a:rPr>
                        <a:t>Leica Geosystems (GeoMoS), Trimble (4D Control), Topcon</a:t>
                      </a:r>
                      <a:endParaRPr lang="en-US" sz="900" dirty="0">
                        <a:latin typeface="Tahoma" charset="0"/>
                        <a:ea typeface="Tahoma" charset="0"/>
                        <a:cs typeface="Tahoma" charset="0"/>
                      </a:endParaRPr>
                    </a:p>
                  </a:txBody>
                  <a:tcPr marL="45720" marR="45720" marT="27432" marB="27432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A6A6A6"/>
                          </a:solidFill>
                          <a:latin typeface="Tahoma" pitchFamily="34" charset="0"/>
                          <a:ea typeface="Tahoma" pitchFamily="34" charset="-122"/>
                          <a:cs typeface="Tahoma" pitchFamily="34" charset="-120"/>
                        </a:rPr>
                        <a:t>—</a:t>
                      </a:r>
                      <a:endParaRPr lang="en-US" sz="900" dirty="0">
                        <a:latin typeface="Tahoma" charset="0"/>
                        <a:ea typeface="Tahoma" charset="0"/>
                        <a:cs typeface="Tahoma" charset="0"/>
                      </a:endParaRPr>
                    </a:p>
                  </a:txBody>
                  <a:tcPr marL="45720" marR="45720" marT="27432" marB="27432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A6A6A6"/>
                          </a:solidFill>
                          <a:latin typeface="Tahoma" pitchFamily="34" charset="0"/>
                          <a:ea typeface="Tahoma" pitchFamily="34" charset="-122"/>
                          <a:cs typeface="Tahoma" pitchFamily="34" charset="-120"/>
                        </a:rPr>
                        <a:t>—</a:t>
                      </a:r>
                      <a:endParaRPr lang="en-US" sz="900" dirty="0">
                        <a:latin typeface="Tahoma" charset="0"/>
                        <a:ea typeface="Tahoma" charset="0"/>
                        <a:cs typeface="Tahoma" charset="0"/>
                      </a:endParaRPr>
                    </a:p>
                  </a:txBody>
                  <a:tcPr marL="45720" marR="45720" marT="27432" marB="27432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A6A6A6"/>
                          </a:solidFill>
                          <a:latin typeface="Tahoma" pitchFamily="34" charset="0"/>
                          <a:ea typeface="Tahoma" pitchFamily="34" charset="-122"/>
                          <a:cs typeface="Tahoma" pitchFamily="34" charset="-120"/>
                        </a:rPr>
                        <a:t>—</a:t>
                      </a:r>
                      <a:endParaRPr lang="en-US" sz="900" dirty="0">
                        <a:latin typeface="Tahoma" charset="0"/>
                        <a:ea typeface="Tahoma" charset="0"/>
                        <a:cs typeface="Tahoma" charset="0"/>
                      </a:endParaRPr>
                    </a:p>
                  </a:txBody>
                  <a:tcPr marL="45720" marR="45720" marT="27432" marB="27432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A6A6A6"/>
                          </a:solidFill>
                          <a:latin typeface="Tahoma" pitchFamily="34" charset="0"/>
                          <a:ea typeface="Tahoma" pitchFamily="34" charset="-122"/>
                          <a:cs typeface="Tahoma" pitchFamily="34" charset="-120"/>
                        </a:rPr>
                        <a:t>—</a:t>
                      </a:r>
                      <a:endParaRPr lang="en-US" sz="900" dirty="0">
                        <a:latin typeface="Tahoma" charset="0"/>
                        <a:ea typeface="Tahoma" charset="0"/>
                        <a:cs typeface="Tahoma" charset="0"/>
                      </a:endParaRPr>
                    </a:p>
                  </a:txBody>
                  <a:tcPr marL="45720" marR="45720" marT="27432" marB="27432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Tahoma" pitchFamily="34" charset="0"/>
                          <a:ea typeface="Tahoma" pitchFamily="34" charset="-122"/>
                          <a:cs typeface="Tahoma" pitchFamily="34" charset="-120"/>
                        </a:rPr>
                        <a:t>GNSS ต่อเนื่อง (continuous monitoring)</a:t>
                      </a:r>
                      <a:endParaRPr lang="en-US" sz="900" dirty="0">
                        <a:latin typeface="Tahoma" charset="0"/>
                        <a:ea typeface="Tahoma" charset="0"/>
                        <a:cs typeface="Tahoma" charset="0"/>
                      </a:endParaRPr>
                    </a:p>
                  </a:txBody>
                  <a:tcPr marL="45720" marR="45720" marT="27432" marB="27432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Tahoma" pitchFamily="34" charset="0"/>
                          <a:ea typeface="Tahoma" pitchFamily="34" charset="-122"/>
                          <a:cs typeface="Tahoma" pitchFamily="34" charset="-120"/>
                        </a:rPr>
                        <a:t>Leica Geosystems, Trimble, Septentrio</a:t>
                      </a:r>
                      <a:endParaRPr lang="en-US" sz="900" dirty="0">
                        <a:latin typeface="Tahoma" charset="0"/>
                        <a:ea typeface="Tahoma" charset="0"/>
                        <a:cs typeface="Tahoma" charset="0"/>
                      </a:endParaRPr>
                    </a:p>
                  </a:txBody>
                  <a:tcPr marL="45720" marR="45720" marT="27432" marB="27432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A6A6A6"/>
                          </a:solidFill>
                          <a:latin typeface="Tahoma" pitchFamily="34" charset="0"/>
                          <a:ea typeface="Tahoma" pitchFamily="34" charset="-122"/>
                          <a:cs typeface="Tahoma" pitchFamily="34" charset="-120"/>
                        </a:rPr>
                        <a:t>—</a:t>
                      </a:r>
                      <a:endParaRPr lang="en-US" sz="900" dirty="0">
                        <a:latin typeface="Tahoma" charset="0"/>
                        <a:ea typeface="Tahoma" charset="0"/>
                        <a:cs typeface="Tahoma" charset="0"/>
                      </a:endParaRPr>
                    </a:p>
                  </a:txBody>
                  <a:tcPr marL="45720" marR="45720" marT="27432" marB="27432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A6A6A6"/>
                          </a:solidFill>
                          <a:latin typeface="Tahoma" pitchFamily="34" charset="0"/>
                          <a:ea typeface="Tahoma" pitchFamily="34" charset="-122"/>
                          <a:cs typeface="Tahoma" pitchFamily="34" charset="-120"/>
                        </a:rPr>
                        <a:t>—</a:t>
                      </a:r>
                      <a:endParaRPr lang="en-US" sz="900" dirty="0">
                        <a:latin typeface="Tahoma" charset="0"/>
                        <a:ea typeface="Tahoma" charset="0"/>
                        <a:cs typeface="Tahoma" charset="0"/>
                      </a:endParaRPr>
                    </a:p>
                  </a:txBody>
                  <a:tcPr marL="45720" marR="45720" marT="27432" marB="27432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A6A6A6"/>
                          </a:solidFill>
                          <a:latin typeface="Tahoma" pitchFamily="34" charset="0"/>
                          <a:ea typeface="Tahoma" pitchFamily="34" charset="-122"/>
                          <a:cs typeface="Tahoma" pitchFamily="34" charset="-120"/>
                        </a:rPr>
                        <a:t>—</a:t>
                      </a:r>
                      <a:endParaRPr lang="en-US" sz="900" dirty="0">
                        <a:latin typeface="Tahoma" charset="0"/>
                        <a:ea typeface="Tahoma" charset="0"/>
                        <a:cs typeface="Tahoma" charset="0"/>
                      </a:endParaRPr>
                    </a:p>
                  </a:txBody>
                  <a:tcPr marL="45720" marR="45720" marT="27432" marB="27432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A6A6A6"/>
                          </a:solidFill>
                          <a:latin typeface="Tahoma" pitchFamily="34" charset="0"/>
                          <a:ea typeface="Tahoma" pitchFamily="34" charset="-122"/>
                          <a:cs typeface="Tahoma" pitchFamily="34" charset="-120"/>
                        </a:rPr>
                        <a:t>—</a:t>
                      </a:r>
                      <a:endParaRPr lang="en-US" sz="900" dirty="0">
                        <a:latin typeface="Tahoma" charset="0"/>
                        <a:ea typeface="Tahoma" charset="0"/>
                        <a:cs typeface="Tahoma" charset="0"/>
                      </a:endParaRPr>
                    </a:p>
                  </a:txBody>
                  <a:tcPr marL="45720" marR="45720" marT="27432" marB="27432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Tahoma" pitchFamily="34" charset="0"/>
                          <a:ea typeface="Tahoma" pitchFamily="34" charset="-122"/>
                          <a:cs typeface="Tahoma" pitchFamily="34" charset="-120"/>
                        </a:rPr>
                        <a:t>วัดซ้ำด้วย TLS / UAV (ดูบท 1)</a:t>
                      </a:r>
                      <a:endParaRPr lang="en-US" sz="900" dirty="0">
                        <a:latin typeface="Tahoma" charset="0"/>
                        <a:ea typeface="Tahoma" charset="0"/>
                        <a:cs typeface="Tahoma" charset="0"/>
                      </a:endParaRPr>
                    </a:p>
                  </a:txBody>
                  <a:tcPr marL="45720" marR="45720" marT="27432" marB="27432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Tahoma" pitchFamily="34" charset="0"/>
                          <a:ea typeface="Tahoma" pitchFamily="34" charset="-122"/>
                          <a:cs typeface="Tahoma" pitchFamily="34" charset="-120"/>
                        </a:rPr>
                        <a:t>(ดูบท 1)</a:t>
                      </a:r>
                      <a:endParaRPr lang="en-US" sz="900" dirty="0">
                        <a:latin typeface="Tahoma" charset="0"/>
                        <a:ea typeface="Tahoma" charset="0"/>
                        <a:cs typeface="Tahoma" charset="0"/>
                      </a:endParaRPr>
                    </a:p>
                  </a:txBody>
                  <a:tcPr marL="45720" marR="45720" marT="27432" marB="27432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A6A6A6"/>
                          </a:solidFill>
                          <a:latin typeface="Tahoma" pitchFamily="34" charset="0"/>
                          <a:ea typeface="Tahoma" pitchFamily="34" charset="-122"/>
                          <a:cs typeface="Tahoma" pitchFamily="34" charset="-120"/>
                        </a:rPr>
                        <a:t>—</a:t>
                      </a:r>
                      <a:endParaRPr lang="en-US" sz="900" dirty="0">
                        <a:latin typeface="Tahoma" charset="0"/>
                        <a:ea typeface="Tahoma" charset="0"/>
                        <a:cs typeface="Tahoma" charset="0"/>
                      </a:endParaRPr>
                    </a:p>
                  </a:txBody>
                  <a:tcPr marL="45720" marR="45720" marT="27432" marB="27432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A6A6A6"/>
                          </a:solidFill>
                          <a:latin typeface="Tahoma" pitchFamily="34" charset="0"/>
                          <a:ea typeface="Tahoma" pitchFamily="34" charset="-122"/>
                          <a:cs typeface="Tahoma" pitchFamily="34" charset="-120"/>
                        </a:rPr>
                        <a:t>—</a:t>
                      </a:r>
                      <a:endParaRPr lang="en-US" sz="900" dirty="0">
                        <a:latin typeface="Tahoma" charset="0"/>
                        <a:ea typeface="Tahoma" charset="0"/>
                        <a:cs typeface="Tahoma" charset="0"/>
                      </a:endParaRPr>
                    </a:p>
                  </a:txBody>
                  <a:tcPr marL="45720" marR="45720" marT="27432" marB="27432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A6A6A6"/>
                          </a:solidFill>
                          <a:latin typeface="Tahoma" pitchFamily="34" charset="0"/>
                          <a:ea typeface="Tahoma" pitchFamily="34" charset="-122"/>
                          <a:cs typeface="Tahoma" pitchFamily="34" charset="-120"/>
                        </a:rPr>
                        <a:t>—</a:t>
                      </a:r>
                      <a:endParaRPr lang="en-US" sz="900" dirty="0">
                        <a:latin typeface="Tahoma" charset="0"/>
                        <a:ea typeface="Tahoma" charset="0"/>
                        <a:cs typeface="Tahoma" charset="0"/>
                      </a:endParaRPr>
                    </a:p>
                  </a:txBody>
                  <a:tcPr marL="45720" marR="45720" marT="27432" marB="27432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A6A6A6"/>
                          </a:solidFill>
                          <a:latin typeface="Tahoma" pitchFamily="34" charset="0"/>
                          <a:ea typeface="Tahoma" pitchFamily="34" charset="-122"/>
                          <a:cs typeface="Tahoma" pitchFamily="34" charset="-120"/>
                        </a:rPr>
                        <a:t>—</a:t>
                      </a:r>
                      <a:endParaRPr lang="en-US" sz="900" dirty="0">
                        <a:latin typeface="Tahoma" charset="0"/>
                        <a:ea typeface="Tahoma" charset="0"/>
                        <a:cs typeface="Tahoma" charset="0"/>
                      </a:endParaRPr>
                    </a:p>
                  </a:txBody>
                  <a:tcPr marL="45720" marR="45720" marT="27432" marB="27432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Tahoma" pitchFamily="34" charset="0"/>
                          <a:ea typeface="Tahoma" pitchFamily="34" charset="-122"/>
                          <a:cs typeface="Tahoma" pitchFamily="34" charset="-120"/>
                        </a:rPr>
                        <a:t>InSAR จากดาวเทียม</a:t>
                      </a:r>
                      <a:endParaRPr lang="en-US" sz="900" dirty="0">
                        <a:latin typeface="Tahoma" charset="0"/>
                        <a:ea typeface="Tahoma" charset="0"/>
                        <a:cs typeface="Tahoma" charset="0"/>
                      </a:endParaRPr>
                    </a:p>
                  </a:txBody>
                  <a:tcPr marL="45720" marR="45720" marT="27432" marB="27432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Tahoma" pitchFamily="34" charset="0"/>
                          <a:ea typeface="Tahoma" pitchFamily="34" charset="-122"/>
                          <a:cs typeface="Tahoma" pitchFamily="34" charset="-120"/>
                        </a:rPr>
                        <a:t>ESA (Sentinel-1), JAXA (ALOS-2), Airbus (TerraSAR-X)</a:t>
                      </a:r>
                      <a:endParaRPr lang="en-US" sz="900" dirty="0">
                        <a:latin typeface="Tahoma" charset="0"/>
                        <a:ea typeface="Tahoma" charset="0"/>
                        <a:cs typeface="Tahoma" charset="0"/>
                      </a:endParaRPr>
                    </a:p>
                  </a:txBody>
                  <a:tcPr marL="45720" marR="45720" marT="27432" marB="27432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A6A6A6"/>
                          </a:solidFill>
                          <a:latin typeface="Tahoma" pitchFamily="34" charset="0"/>
                          <a:ea typeface="Tahoma" pitchFamily="34" charset="-122"/>
                          <a:cs typeface="Tahoma" pitchFamily="34" charset="-120"/>
                        </a:rPr>
                        <a:t>—</a:t>
                      </a:r>
                      <a:endParaRPr lang="en-US" sz="900" dirty="0">
                        <a:latin typeface="Tahoma" charset="0"/>
                        <a:ea typeface="Tahoma" charset="0"/>
                        <a:cs typeface="Tahoma" charset="0"/>
                      </a:endParaRPr>
                    </a:p>
                  </a:txBody>
                  <a:tcPr marL="45720" marR="45720" marT="27432" marB="27432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A6A6A6"/>
                          </a:solidFill>
                          <a:latin typeface="Tahoma" pitchFamily="34" charset="0"/>
                          <a:ea typeface="Tahoma" pitchFamily="34" charset="-122"/>
                          <a:cs typeface="Tahoma" pitchFamily="34" charset="-120"/>
                        </a:rPr>
                        <a:t>—</a:t>
                      </a:r>
                      <a:endParaRPr lang="en-US" sz="900" dirty="0">
                        <a:latin typeface="Tahoma" charset="0"/>
                        <a:ea typeface="Tahoma" charset="0"/>
                        <a:cs typeface="Tahoma" charset="0"/>
                      </a:endParaRPr>
                    </a:p>
                  </a:txBody>
                  <a:tcPr marL="45720" marR="45720" marT="27432" marB="27432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A6A6A6"/>
                          </a:solidFill>
                          <a:latin typeface="Tahoma" pitchFamily="34" charset="0"/>
                          <a:ea typeface="Tahoma" pitchFamily="34" charset="-122"/>
                          <a:cs typeface="Tahoma" pitchFamily="34" charset="-120"/>
                        </a:rPr>
                        <a:t>—</a:t>
                      </a:r>
                      <a:endParaRPr lang="en-US" sz="900" dirty="0">
                        <a:latin typeface="Tahoma" charset="0"/>
                        <a:ea typeface="Tahoma" charset="0"/>
                        <a:cs typeface="Tahoma" charset="0"/>
                      </a:endParaRPr>
                    </a:p>
                  </a:txBody>
                  <a:tcPr marL="45720" marR="45720" marT="27432" marB="27432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A6A6A6"/>
                          </a:solidFill>
                          <a:latin typeface="Tahoma" pitchFamily="34" charset="0"/>
                          <a:ea typeface="Tahoma" pitchFamily="34" charset="-122"/>
                          <a:cs typeface="Tahoma" pitchFamily="34" charset="-120"/>
                        </a:rPr>
                        <a:t>—</a:t>
                      </a:r>
                      <a:endParaRPr lang="en-US" sz="900" dirty="0">
                        <a:latin typeface="Tahoma" charset="0"/>
                        <a:ea typeface="Tahoma" charset="0"/>
                        <a:cs typeface="Tahoma" charset="0"/>
                      </a:endParaRPr>
                    </a:p>
                  </a:txBody>
                  <a:tcPr marL="45720" marR="45720" marT="27432" marB="27432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Tahoma" pitchFamily="34" charset="0"/>
                          <a:ea typeface="Tahoma" pitchFamily="34" charset="-122"/>
                          <a:cs typeface="Tahoma" pitchFamily="34" charset="-120"/>
                        </a:rPr>
                        <a:t>Ground-based radar interferometry</a:t>
                      </a:r>
                      <a:endParaRPr lang="en-US" sz="900" dirty="0">
                        <a:latin typeface="Tahoma" charset="0"/>
                        <a:ea typeface="Tahoma" charset="0"/>
                        <a:cs typeface="Tahoma" charset="0"/>
                      </a:endParaRPr>
                    </a:p>
                  </a:txBody>
                  <a:tcPr marL="45720" marR="45720" marT="27432" marB="27432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Tahoma" pitchFamily="34" charset="0"/>
                          <a:ea typeface="Tahoma" pitchFamily="34" charset="-122"/>
                          <a:cs typeface="Tahoma" pitchFamily="34" charset="-120"/>
                        </a:rPr>
                        <a:t>IDS GeoRadar (IBIS), MetaSensing</a:t>
                      </a:r>
                      <a:endParaRPr lang="en-US" sz="900" dirty="0">
                        <a:latin typeface="Tahoma" charset="0"/>
                        <a:ea typeface="Tahoma" charset="0"/>
                        <a:cs typeface="Tahoma" charset="0"/>
                      </a:endParaRPr>
                    </a:p>
                  </a:txBody>
                  <a:tcPr marL="45720" marR="45720" marT="27432" marB="27432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A6A6A6"/>
                          </a:solidFill>
                          <a:latin typeface="Tahoma" pitchFamily="34" charset="0"/>
                          <a:ea typeface="Tahoma" pitchFamily="34" charset="-122"/>
                          <a:cs typeface="Tahoma" pitchFamily="34" charset="-120"/>
                        </a:rPr>
                        <a:t>—</a:t>
                      </a:r>
                      <a:endParaRPr lang="en-US" sz="900" dirty="0">
                        <a:latin typeface="Tahoma" charset="0"/>
                        <a:ea typeface="Tahoma" charset="0"/>
                        <a:cs typeface="Tahoma" charset="0"/>
                      </a:endParaRPr>
                    </a:p>
                  </a:txBody>
                  <a:tcPr marL="45720" marR="45720" marT="27432" marB="27432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A6A6A6"/>
                          </a:solidFill>
                          <a:latin typeface="Tahoma" pitchFamily="34" charset="0"/>
                          <a:ea typeface="Tahoma" pitchFamily="34" charset="-122"/>
                          <a:cs typeface="Tahoma" pitchFamily="34" charset="-120"/>
                        </a:rPr>
                        <a:t>—</a:t>
                      </a:r>
                      <a:endParaRPr lang="en-US" sz="900" dirty="0">
                        <a:latin typeface="Tahoma" charset="0"/>
                        <a:ea typeface="Tahoma" charset="0"/>
                        <a:cs typeface="Tahoma" charset="0"/>
                      </a:endParaRPr>
                    </a:p>
                  </a:txBody>
                  <a:tcPr marL="45720" marR="45720" marT="27432" marB="27432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A6A6A6"/>
                          </a:solidFill>
                          <a:latin typeface="Tahoma" pitchFamily="34" charset="0"/>
                          <a:ea typeface="Tahoma" pitchFamily="34" charset="-122"/>
                          <a:cs typeface="Tahoma" pitchFamily="34" charset="-120"/>
                        </a:rPr>
                        <a:t>—</a:t>
                      </a:r>
                      <a:endParaRPr lang="en-US" sz="900" dirty="0">
                        <a:latin typeface="Tahoma" charset="0"/>
                        <a:ea typeface="Tahoma" charset="0"/>
                        <a:cs typeface="Tahoma" charset="0"/>
                      </a:endParaRPr>
                    </a:p>
                  </a:txBody>
                  <a:tcPr marL="45720" marR="45720" marT="27432" marB="27432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A6A6A6"/>
                          </a:solidFill>
                          <a:latin typeface="Tahoma" pitchFamily="34" charset="0"/>
                          <a:ea typeface="Tahoma" pitchFamily="34" charset="-122"/>
                          <a:cs typeface="Tahoma" pitchFamily="34" charset="-120"/>
                        </a:rPr>
                        <a:t>—</a:t>
                      </a:r>
                      <a:endParaRPr lang="en-US" sz="900" dirty="0">
                        <a:latin typeface="Tahoma" charset="0"/>
                        <a:ea typeface="Tahoma" charset="0"/>
                        <a:cs typeface="Tahoma" charset="0"/>
                      </a:endParaRPr>
                    </a:p>
                  </a:txBody>
                  <a:tcPr marL="45720" marR="45720" marT="27432" marB="27432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Tahoma" pitchFamily="34" charset="0"/>
                          <a:ea typeface="Tahoma" pitchFamily="34" charset="-122"/>
                          <a:cs typeface="Tahoma" pitchFamily="34" charset="-120"/>
                        </a:rPr>
                        <a:t>เซนเซอร์ธรณีเทคนิค (inclinometer, piezometer)</a:t>
                      </a:r>
                      <a:endParaRPr lang="en-US" sz="900" dirty="0">
                        <a:latin typeface="Tahoma" charset="0"/>
                        <a:ea typeface="Tahoma" charset="0"/>
                        <a:cs typeface="Tahoma" charset="0"/>
                      </a:endParaRPr>
                    </a:p>
                  </a:txBody>
                  <a:tcPr marL="45720" marR="45720" marT="27432" marB="27432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Tahoma" pitchFamily="34" charset="0"/>
                          <a:ea typeface="Tahoma" pitchFamily="34" charset="-122"/>
                          <a:cs typeface="Tahoma" pitchFamily="34" charset="-120"/>
                        </a:rPr>
                        <a:t>Geokon, Slope Indicator</a:t>
                      </a:r>
                      <a:endParaRPr lang="en-US" sz="900" dirty="0">
                        <a:latin typeface="Tahoma" charset="0"/>
                        <a:ea typeface="Tahoma" charset="0"/>
                        <a:cs typeface="Tahoma" charset="0"/>
                      </a:endParaRPr>
                    </a:p>
                  </a:txBody>
                  <a:tcPr marL="45720" marR="45720" marT="27432" marB="27432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A6A6A6"/>
                          </a:solidFill>
                          <a:latin typeface="Tahoma" pitchFamily="34" charset="0"/>
                          <a:ea typeface="Tahoma" pitchFamily="34" charset="-122"/>
                          <a:cs typeface="Tahoma" pitchFamily="34" charset="-120"/>
                        </a:rPr>
                        <a:t>—</a:t>
                      </a:r>
                      <a:endParaRPr lang="en-US" sz="900" dirty="0">
                        <a:latin typeface="Tahoma" charset="0"/>
                        <a:ea typeface="Tahoma" charset="0"/>
                        <a:cs typeface="Tahoma" charset="0"/>
                      </a:endParaRPr>
                    </a:p>
                  </a:txBody>
                  <a:tcPr marL="45720" marR="45720" marT="27432" marB="27432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A6A6A6"/>
                          </a:solidFill>
                          <a:latin typeface="Tahoma" pitchFamily="34" charset="0"/>
                          <a:ea typeface="Tahoma" pitchFamily="34" charset="-122"/>
                          <a:cs typeface="Tahoma" pitchFamily="34" charset="-120"/>
                        </a:rPr>
                        <a:t>—</a:t>
                      </a:r>
                      <a:endParaRPr lang="en-US" sz="900" dirty="0">
                        <a:latin typeface="Tahoma" charset="0"/>
                        <a:ea typeface="Tahoma" charset="0"/>
                        <a:cs typeface="Tahoma" charset="0"/>
                      </a:endParaRPr>
                    </a:p>
                  </a:txBody>
                  <a:tcPr marL="45720" marR="45720" marT="27432" marB="27432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A6A6A6"/>
                          </a:solidFill>
                          <a:latin typeface="Tahoma" pitchFamily="34" charset="0"/>
                          <a:ea typeface="Tahoma" pitchFamily="34" charset="-122"/>
                          <a:cs typeface="Tahoma" pitchFamily="34" charset="-120"/>
                        </a:rPr>
                        <a:t>—</a:t>
                      </a:r>
                      <a:endParaRPr lang="en-US" sz="900" dirty="0">
                        <a:latin typeface="Tahoma" charset="0"/>
                        <a:ea typeface="Tahoma" charset="0"/>
                        <a:cs typeface="Tahoma" charset="0"/>
                      </a:endParaRPr>
                    </a:p>
                  </a:txBody>
                  <a:tcPr marL="45720" marR="45720" marT="27432" marB="27432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A6A6A6"/>
                          </a:solidFill>
                          <a:latin typeface="Tahoma" pitchFamily="34" charset="0"/>
                          <a:ea typeface="Tahoma" pitchFamily="34" charset="-122"/>
                          <a:cs typeface="Tahoma" pitchFamily="34" charset="-120"/>
                        </a:rPr>
                        <a:t>—</a:t>
                      </a:r>
                      <a:endParaRPr lang="en-US" sz="900" dirty="0">
                        <a:latin typeface="Tahoma" charset="0"/>
                        <a:ea typeface="Tahoma" charset="0"/>
                        <a:cs typeface="Tahoma" charset="0"/>
                      </a:endParaRPr>
                    </a:p>
                  </a:txBody>
                  <a:tcPr marL="45720" marR="45720" marT="27432" marB="27432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4" name="Text 1"/>
          <p:cNvSpPr txBox="1"/>
          <p:nvPr/>
        </p:nvSpPr>
        <p:spPr>
          <a:xfrm>
            <a:off x="457200" y="4572000"/>
            <a:ext cx="7680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808080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* รายการตัวอย่างผลิตภัณฑ์มาจากความรู้ทั่วไป ยังไม่ตรวจ datasheet และไม่ใช่การแนะนำ  ** ค่าความแม่นยำที่จะใส่เป็นค่าที่ผู้ผลิตระบุ</a:t>
            </a:r>
            <a:endParaRPr lang="en-US" sz="9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321040" y="475488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808080"/>
                </a:solidFill>
                <a:latin typeface="Tahoma"/>
                <a:ea typeface="Tahoma"/>
                <a:cs typeface="Tahoma"/>
              </a:defRPr>
            </a:lvl1pPr>
          </a:lstStyle>
          <a:p>
            <a:pPr algn="r"/>
            <a:fld id="{F7021451-1387-4CA6-816F-3879F97B5CBC}" type="slidenum">
              <a:rPr b="0" lang="en-US"/>
              <a:t>32</a:t>
            </a:fld>
            <a:endParaRPr lang="en-US"/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320040"/>
            <a:ext cx="82296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400" b="1" dirty="0">
                <a:solidFill>
                  <a:srgbClr val="000000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บทที่ 4  การติดตามการเปลี่ยนแปลง: เกณฑ์การเลือกใช้</a:t>
            </a:r>
            <a:endParaRPr lang="en-US" sz="24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1371600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endParaRPr lang="en-US" sz="1400" dirty="0"/>
          </a:p>
        </p:txBody>
      </p:sp>
      <p:sp>
        <p:nvSpPr>
          <p:cNvPr id="4" name="Text 2"/>
          <p:cNvSpPr txBox="1"/>
          <p:nvPr/>
        </p:nvSpPr>
        <p:spPr>
          <a:xfrm>
            <a:off x="457200" y="1920240"/>
            <a:ext cx="8229600" cy="2651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400" dirty="0">
                <a:solidFill>
                  <a:srgbClr val="000000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ขนาดพื้นที่และลักษณะพื้นที่ปฏิบัติงาน</a:t>
            </a:r>
            <a:endParaRPr lang="en-US" sz="14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400" dirty="0">
                <a:solidFill>
                  <a:srgbClr val="000000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ความถูกต้องที่ต้องการ</a:t>
            </a:r>
            <a:endParaRPr lang="en-US" sz="14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400" dirty="0">
                <a:solidFill>
                  <a:srgbClr val="000000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สภาพแวดล้อมหน้างาน</a:t>
            </a:r>
            <a:endParaRPr lang="en-US" sz="14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400" dirty="0">
                <a:solidFill>
                  <a:srgbClr val="000000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เวลาประมวลผลและบุคลากร</a:t>
            </a:r>
            <a:endParaRPr lang="en-US" sz="14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400" dirty="0">
                <a:solidFill>
                  <a:srgbClr val="000000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ต้นทุนการจัดซื้อหรือจ้าง</a:t>
            </a:r>
            <a:endParaRPr lang="en-US" sz="14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400" dirty="0">
                <a:solidFill>
                  <a:srgbClr val="808080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(รอเติมเนื้อหา: เกณฑ์ข้างต้นเป็นโครงร่าง)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321040" y="475488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808080"/>
                </a:solidFill>
                <a:latin typeface="Tahoma"/>
                <a:ea typeface="Tahoma"/>
                <a:cs typeface="Tahoma"/>
              </a:defRPr>
            </a:lvl1pPr>
          </a:lstStyle>
          <a:p>
            <a:pPr algn="r"/>
            <a:fld id="{F7021451-1387-4CA6-816F-3879F97B5CBC}" type="slidenum">
              <a:rPr b="0" lang="en-US"/>
              <a:t>33</a:t>
            </a:fld>
            <a:endParaRPr lang="en-US"/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320040"/>
            <a:ext cx="82296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400" b="1" dirty="0">
                <a:solidFill>
                  <a:srgbClr val="000000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บทที่ 4  การติดตามการเปลี่ยนแปลง: Research trend</a:t>
            </a:r>
            <a:endParaRPr lang="en-US" sz="24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1371600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endParaRPr lang="en-US" sz="1400" dirty="0"/>
          </a:p>
        </p:txBody>
      </p:sp>
      <p:sp>
        <p:nvSpPr>
          <p:cNvPr id="4" name="Text 2"/>
          <p:cNvSpPr txBox="1"/>
          <p:nvPr/>
        </p:nvSpPr>
        <p:spPr>
          <a:xfrm>
            <a:off x="457200" y="1920240"/>
            <a:ext cx="8229600" cy="2651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1400" dirty="0">
                <a:solidFill>
                  <a:srgbClr val="808080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(รอเติมเนื้อหา)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321040" y="475488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808080"/>
                </a:solidFill>
                <a:latin typeface="Tahoma"/>
                <a:ea typeface="Tahoma"/>
                <a:cs typeface="Tahoma"/>
              </a:defRPr>
            </a:lvl1pPr>
          </a:lstStyle>
          <a:p>
            <a:pPr algn="r"/>
            <a:fld id="{F7021451-1387-4CA6-816F-3879F97B5CBC}" type="slidenum">
              <a:rPr b="0" lang="en-US"/>
              <a:t>34</a:t>
            </a:fld>
            <a:endParaRPr lang="en-US"/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54864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595959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บทที่ 5</a:t>
            </a:r>
            <a:endParaRPr lang="en-US" sz="16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914400"/>
            <a:ext cx="8229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000" b="1" dirty="0">
                <a:solidFill>
                  <a:srgbClr val="000000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การจัดการและวิเคราะห์ข้อมูลเชิงพื้นที่</a:t>
            </a:r>
            <a:endParaRPr lang="en-US" sz="3000" dirty="0"/>
          </a:p>
        </p:txBody>
      </p:sp>
      <p:sp>
        <p:nvSpPr>
          <p:cNvPr id="4" name="Text 2"/>
          <p:cNvSpPr txBox="1"/>
          <p:nvPr/>
        </p:nvSpPr>
        <p:spPr>
          <a:xfrm>
            <a:off x="457200" y="1737360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595959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Spatial Data Management &amp; Analysis</a:t>
            </a:r>
            <a:endParaRPr lang="en-US" sz="1800" dirty="0"/>
          </a:p>
        </p:txBody>
      </p:sp>
      <p:sp>
        <p:nvSpPr>
          <p:cNvPr id="5" name="Text 3"/>
          <p:cNvSpPr txBox="1"/>
          <p:nvPr/>
        </p:nvSpPr>
        <p:spPr>
          <a:xfrm>
            <a:off x="457200" y="2468880"/>
            <a:ext cx="8229600" cy="2103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600"/>
              </a:spcAft>
              <a:buSzPct val="100000"/>
              <a:buFont typeface="+mj-lt"/>
              <a:buAutoNum type="arabicPeriod" startAt="1"/>
            </a:pPr>
            <a:r>
              <a:rPr lang="en-US" sz="2000" dirty="0">
                <a:solidFill>
                  <a:srgbClr val="000000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ขอบเขตและผลลัพธ์</a:t>
            </a:r>
            <a:endParaRPr lang="en-US" sz="2000" dirty="0"/>
          </a:p>
          <a:p>
            <a:pPr marL="342900" indent="-342900">
              <a:spcAft>
                <a:spcPts val="600"/>
              </a:spcAft>
              <a:buSzPct val="100000"/>
              <a:buFont typeface="+mj-lt"/>
              <a:buAutoNum type="arabicPeriod" startAt="1"/>
            </a:pPr>
            <a:r>
              <a:rPr lang="en-US" sz="2000" dirty="0">
                <a:solidFill>
                  <a:srgbClr val="000000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ชนิดเครื่องมือและหลักการวัด</a:t>
            </a:r>
            <a:endParaRPr lang="en-US" sz="2000" dirty="0"/>
          </a:p>
          <a:p>
            <a:pPr marL="342900" indent="-342900">
              <a:spcAft>
                <a:spcPts val="600"/>
              </a:spcAft>
              <a:buSzPct val="100000"/>
              <a:buFont typeface="+mj-lt"/>
              <a:buAutoNum type="arabicPeriod" startAt="1"/>
            </a:pPr>
            <a:r>
              <a:rPr lang="en-US" sz="2000" dirty="0">
                <a:solidFill>
                  <a:srgbClr val="000000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เปรียบเทียบเครื่องมือ</a:t>
            </a:r>
            <a:endParaRPr lang="en-US" sz="2000" dirty="0"/>
          </a:p>
          <a:p>
            <a:pPr marL="342900" indent="-342900">
              <a:spcAft>
                <a:spcPts val="600"/>
              </a:spcAft>
              <a:buSzPct val="100000"/>
              <a:buFont typeface="+mj-lt"/>
              <a:buAutoNum type="arabicPeriod" startAt="1"/>
            </a:pPr>
            <a:r>
              <a:rPr lang="en-US" sz="2000" dirty="0">
                <a:solidFill>
                  <a:srgbClr val="000000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เกณฑ์การเลือกใช้</a:t>
            </a:r>
            <a:endParaRPr lang="en-US" sz="2000" dirty="0"/>
          </a:p>
          <a:p>
            <a:pPr marL="342900" indent="-342900">
              <a:spcAft>
                <a:spcPts val="600"/>
              </a:spcAft>
              <a:buSzPct val="100000"/>
              <a:buFont typeface="+mj-lt"/>
              <a:buAutoNum type="arabicPeriod" startAt="1"/>
            </a:pPr>
            <a:r>
              <a:rPr lang="en-US" sz="2000" dirty="0">
                <a:solidFill>
                  <a:srgbClr val="000000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Research trend</a:t>
            </a:r>
            <a:endParaRPr lang="en-US" sz="2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321040" y="475488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808080"/>
                </a:solidFill>
                <a:latin typeface="Tahoma"/>
                <a:ea typeface="Tahoma"/>
                <a:cs typeface="Tahoma"/>
              </a:defRPr>
            </a:lvl1pPr>
          </a:lstStyle>
          <a:p>
            <a:pPr algn="r"/>
            <a:fld id="{F7021451-1387-4CA6-816F-3879F97B5CBC}" type="slidenum">
              <a:rPr b="0" lang="en-US"/>
              <a:t>35</a:t>
            </a:fld>
            <a:endParaRPr lang="en-US"/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320040"/>
            <a:ext cx="82296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400" b="1" dirty="0">
                <a:solidFill>
                  <a:srgbClr val="000000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บทที่ 5  การจัดการและวิเคราะห์ข้อมูลเชิงพื้นที่: ขอบเขตและผลลัพธ์</a:t>
            </a:r>
            <a:endParaRPr lang="en-US" sz="24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1371600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endParaRPr lang="en-US" sz="1400" dirty="0"/>
          </a:p>
        </p:txBody>
      </p:sp>
      <p:sp>
        <p:nvSpPr>
          <p:cNvPr id="4" name="Text 2"/>
          <p:cNvSpPr txBox="1"/>
          <p:nvPr/>
        </p:nvSpPr>
        <p:spPr>
          <a:xfrm>
            <a:off x="457200" y="1920240"/>
            <a:ext cx="8229600" cy="2651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300" dirty="0">
                <a:solidFill>
                  <a:srgbClr val="000000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บริเวณ/สิ่งที่หา: ชั้นข้อมูลเชิงพื้นที่จากหลายแหล่ง (งานสำรวจใหม่ แผนที่เดิม ภาพถ่ายทางอากาศและดาวเทียม ข้อมูลตาราง)</a:t>
            </a:r>
            <a:endParaRPr lang="en-US" sz="13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300" dirty="0">
                <a:solidFill>
                  <a:srgbClr val="000000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ผลลัพธ์: ฐานข้อมูลเชิงพื้นที่ แผนที่ และผลวิเคราะห์เพื่อสนับสนุนการจัดการและการตัดสินใจ</a:t>
            </a:r>
            <a:endParaRPr lang="en-US" sz="13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300" dirty="0">
                <a:solidFill>
                  <a:srgbClr val="000000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เงื่อนไข: ทุกชั้นข้อมูลต้องอ้างอิงกรอบพิกัดเดียวกัน จึงซ้อนทับและเทียบกันได้ (พึ่งบท 0)</a:t>
            </a:r>
            <a:endParaRPr lang="en-US" sz="1300" dirty="0"/>
          </a:p>
        </p:txBody>
      </p:sp>
      <p:sp>
        <p:nvSpPr>
          <p:cNvPr id="5" name="Text 3"/>
          <p:cNvSpPr txBox="1"/>
          <p:nvPr/>
        </p:nvSpPr>
        <p:spPr>
          <a:xfrm>
            <a:off x="457200" y="4572000"/>
            <a:ext cx="7680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808080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อ้างอิง: Elementary Surveying §1.8 หน้า 14-15 [S030]</a:t>
            </a:r>
            <a:endParaRPr lang="en-US" sz="9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321040" y="475488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808080"/>
                </a:solidFill>
                <a:latin typeface="Tahoma"/>
                <a:ea typeface="Tahoma"/>
                <a:cs typeface="Tahoma"/>
              </a:defRPr>
            </a:lvl1pPr>
          </a:lstStyle>
          <a:p>
            <a:pPr algn="r"/>
            <a:fld id="{F7021451-1387-4CA6-816F-3879F97B5CBC}" type="slidenum">
              <a:rPr b="0" lang="en-US"/>
              <a:t>36</a:t>
            </a:fld>
            <a:endParaRPr lang="en-US"/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320040"/>
            <a:ext cx="82296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400" b="1" dirty="0">
                <a:solidFill>
                  <a:srgbClr val="000000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บทที่ 5  การจัดการและวิเคราะห์ข้อมูลเชิงพื้นที่: ชนิดเครื่องมือและหลักการวัด</a:t>
            </a:r>
            <a:endParaRPr lang="en-US" sz="24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1371600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endParaRPr lang="en-US" sz="1400" dirty="0"/>
          </a:p>
        </p:txBody>
      </p:sp>
      <p:sp>
        <p:nvSpPr>
          <p:cNvPr id="4" name="Text 2"/>
          <p:cNvSpPr txBox="1"/>
          <p:nvPr/>
        </p:nvSpPr>
        <p:spPr>
          <a:xfrm>
            <a:off x="457200" y="1920240"/>
            <a:ext cx="8229600" cy="2651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300" dirty="0">
                <a:solidFill>
                  <a:srgbClr val="000000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กรอบพิกัดร่วม: ทุกชั้นข้อมูลอ้างระบบพิกัดเดียวกัน [S030]</a:t>
            </a:r>
            <a:endParaRPr lang="en-US" sz="13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300" dirty="0">
                <a:solidFill>
                  <a:srgbClr val="000000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ข้อมูล vector (จุด เส้น พื้นที่) และ raster (เซลล์/พิกเซล; โดยทั่วไป raster หยาบกว่า vector) [S031]</a:t>
            </a:r>
            <a:endParaRPr lang="en-US" sz="13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300" dirty="0">
                <a:solidFill>
                  <a:srgbClr val="000000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การวิเคราะห์เชิงพื้นที่: overlay, adjacency, connectivity [S032]</a:t>
            </a:r>
            <a:endParaRPr lang="en-US" sz="13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300" dirty="0">
                <a:solidFill>
                  <a:srgbClr val="000000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รูปแบบข้อมูลบนคลาวด์ที่อ่านเป็นส่วน ๆ (COG, FlatGeobuf, GeoParquet, COPC) [S037]</a:t>
            </a:r>
            <a:endParaRPr lang="en-US" sz="13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300" dirty="0">
                <a:solidFill>
                  <a:srgbClr val="000000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machine learning / deep learning / LLM กับข้อมูลเชิงพื้นที่ [S038]</a:t>
            </a:r>
            <a:endParaRPr lang="en-US" sz="1300" dirty="0"/>
          </a:p>
        </p:txBody>
      </p:sp>
      <p:sp>
        <p:nvSpPr>
          <p:cNvPr id="5" name="Text 3"/>
          <p:cNvSpPr txBox="1"/>
          <p:nvPr/>
        </p:nvSpPr>
        <p:spPr>
          <a:xfrm>
            <a:off x="457200" y="4572000"/>
            <a:ext cx="7680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808080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หมายเหตุ: ถ้อยคำหลักการเป็นร่างจากความรู้ทั่วไป ยังไม่ตรวจแหล่ง ยกเว้นรายการที่มีรหัส S</a:t>
            </a:r>
            <a:endParaRPr lang="en-US" sz="9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321040" y="475488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808080"/>
                </a:solidFill>
                <a:latin typeface="Tahoma"/>
                <a:ea typeface="Tahoma"/>
                <a:cs typeface="Tahoma"/>
              </a:defRPr>
            </a:lvl1pPr>
          </a:lstStyle>
          <a:p>
            <a:pPr algn="r"/>
            <a:fld id="{F7021451-1387-4CA6-816F-3879F97B5CBC}" type="slidenum">
              <a:rPr b="0" lang="en-US"/>
              <a:t>37</a:t>
            </a:fld>
            <a:endParaRPr lang="en-US"/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320040"/>
            <a:ext cx="82296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400" b="1" dirty="0">
                <a:solidFill>
                  <a:srgbClr val="000000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บทที่ 5  การจัดการและวิเคราะห์ข้อมูลเชิงพื้นที่: เปรียบเทียบเครื่องมือ</a:t>
            </a:r>
            <a:endParaRPr lang="en-US" sz="2400" dirty="0"/>
          </a:p>
        </p:txBody>
      </p:sp>
      <p:graphicFrame>
        <p:nvGraphicFramePr>
          <p:cNvPr id="39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005840"/>
          <a:ext cx="8229600" cy="914400"/>
        </p:xfrm>
        <a:graphic>
          <a:graphicData uri="http://schemas.openxmlformats.org/drawingml/2006/table">
            <a:tbl>
              <a:tblPr/>
              <a:tblGrid>
                <a:gridCol w="1737360"/>
                <a:gridCol w="2103120"/>
                <a:gridCol w="960120"/>
                <a:gridCol w="960120"/>
                <a:gridCol w="1371600"/>
                <a:gridCol w="1097280"/>
              </a:tblGrid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000000"/>
                          </a:solidFill>
                          <a:latin typeface="Tahoma" pitchFamily="34" charset="0"/>
                          <a:ea typeface="Tahoma" pitchFamily="34" charset="-122"/>
                          <a:cs typeface="Tahoma" pitchFamily="34" charset="-120"/>
                        </a:rPr>
                        <a:t>ชนิดเครื่องมือ</a:t>
                      </a:r>
                      <a:endParaRPr lang="en-US" sz="900" dirty="0">
                        <a:latin typeface="Tahoma" charset="0"/>
                        <a:ea typeface="Tahoma" charset="0"/>
                        <a:cs typeface="Tahoma" charset="0"/>
                      </a:endParaRPr>
                    </a:p>
                  </a:txBody>
                  <a:tcPr marL="45720" marR="45720" marT="27432" marB="27432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000000"/>
                          </a:solidFill>
                          <a:latin typeface="Tahoma" pitchFamily="34" charset="0"/>
                          <a:ea typeface="Tahoma" pitchFamily="34" charset="-122"/>
                          <a:cs typeface="Tahoma" pitchFamily="34" charset="-120"/>
                        </a:rPr>
                        <a:t>ตัวอย่างผลิตภัณฑ์*</a:t>
                      </a:r>
                      <a:endParaRPr lang="en-US" sz="900" dirty="0">
                        <a:latin typeface="Tahoma" charset="0"/>
                        <a:ea typeface="Tahoma" charset="0"/>
                        <a:cs typeface="Tahoma" charset="0"/>
                      </a:endParaRPr>
                    </a:p>
                  </a:txBody>
                  <a:tcPr marL="45720" marR="45720" marT="27432" marB="27432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000000"/>
                          </a:solidFill>
                          <a:latin typeface="Tahoma" pitchFamily="34" charset="0"/>
                          <a:ea typeface="Tahoma" pitchFamily="34" charset="-122"/>
                          <a:cs typeface="Tahoma" pitchFamily="34" charset="-120"/>
                        </a:rPr>
                        <a:t>ผลลัพธ์ที่ได้</a:t>
                      </a:r>
                      <a:endParaRPr lang="en-US" sz="900" dirty="0">
                        <a:latin typeface="Tahoma" charset="0"/>
                        <a:ea typeface="Tahoma" charset="0"/>
                        <a:cs typeface="Tahoma" charset="0"/>
                      </a:endParaRPr>
                    </a:p>
                  </a:txBody>
                  <a:tcPr marL="45720" marR="45720" marT="27432" marB="27432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000000"/>
                          </a:solidFill>
                          <a:latin typeface="Tahoma" pitchFamily="34" charset="0"/>
                          <a:ea typeface="Tahoma" pitchFamily="34" charset="-122"/>
                          <a:cs typeface="Tahoma" pitchFamily="34" charset="-120"/>
                        </a:rPr>
                        <a:t>ความแม่นยำ**</a:t>
                      </a:r>
                      <a:endParaRPr lang="en-US" sz="900" dirty="0">
                        <a:latin typeface="Tahoma" charset="0"/>
                        <a:ea typeface="Tahoma" charset="0"/>
                        <a:cs typeface="Tahoma" charset="0"/>
                      </a:endParaRPr>
                    </a:p>
                  </a:txBody>
                  <a:tcPr marL="45720" marR="45720" marT="27432" marB="27432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000000"/>
                          </a:solidFill>
                          <a:latin typeface="Tahoma" pitchFamily="34" charset="0"/>
                          <a:ea typeface="Tahoma" pitchFamily="34" charset="-122"/>
                          <a:cs typeface="Tahoma" pitchFamily="34" charset="-120"/>
                        </a:rPr>
                        <a:t>ข้อจำกัด (สภาพแวดล้อม + เวลาประมวลผล)</a:t>
                      </a:r>
                      <a:endParaRPr lang="en-US" sz="900" dirty="0">
                        <a:latin typeface="Tahoma" charset="0"/>
                        <a:ea typeface="Tahoma" charset="0"/>
                        <a:cs typeface="Tahoma" charset="0"/>
                      </a:endParaRPr>
                    </a:p>
                  </a:txBody>
                  <a:tcPr marL="45720" marR="45720" marT="27432" marB="27432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000000"/>
                          </a:solidFill>
                          <a:latin typeface="Tahoma" pitchFamily="34" charset="0"/>
                          <a:ea typeface="Tahoma" pitchFamily="34" charset="-122"/>
                          <a:cs typeface="Tahoma" pitchFamily="34" charset="-120"/>
                        </a:rPr>
                        <a:t>ต้นทุนเชิงสัมพัทธ์ (บาท)</a:t>
                      </a:r>
                      <a:endParaRPr lang="en-US" sz="900" dirty="0">
                        <a:latin typeface="Tahoma" charset="0"/>
                        <a:ea typeface="Tahoma" charset="0"/>
                        <a:cs typeface="Tahoma" charset="0"/>
                      </a:endParaRPr>
                    </a:p>
                  </a:txBody>
                  <a:tcPr marL="45720" marR="45720" marT="27432" marB="27432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Tahoma" pitchFamily="34" charset="0"/>
                          <a:ea typeface="Tahoma" pitchFamily="34" charset="-122"/>
                          <a:cs typeface="Tahoma" pitchFamily="34" charset="-120"/>
                        </a:rPr>
                        <a:t>GIS บนเครื่อง (โอเพนซอร์ส)</a:t>
                      </a:r>
                      <a:endParaRPr lang="en-US" sz="900" dirty="0">
                        <a:latin typeface="Tahoma" charset="0"/>
                        <a:ea typeface="Tahoma" charset="0"/>
                        <a:cs typeface="Tahoma" charset="0"/>
                      </a:endParaRPr>
                    </a:p>
                  </a:txBody>
                  <a:tcPr marL="45720" marR="45720" marT="27432" marB="27432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Tahoma" pitchFamily="34" charset="0"/>
                          <a:ea typeface="Tahoma" pitchFamily="34" charset="-122"/>
                          <a:cs typeface="Tahoma" pitchFamily="34" charset="-120"/>
                        </a:rPr>
                        <a:t>QGIS [S033]</a:t>
                      </a:r>
                      <a:endParaRPr lang="en-US" sz="900" dirty="0">
                        <a:latin typeface="Tahoma" charset="0"/>
                        <a:ea typeface="Tahoma" charset="0"/>
                        <a:cs typeface="Tahoma" charset="0"/>
                      </a:endParaRPr>
                    </a:p>
                  </a:txBody>
                  <a:tcPr marL="45720" marR="45720" marT="27432" marB="27432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Tahoma" pitchFamily="34" charset="0"/>
                          <a:ea typeface="Tahoma" pitchFamily="34" charset="-122"/>
                          <a:cs typeface="Tahoma" pitchFamily="34" charset="-120"/>
                        </a:rPr>
                        <a:t>แผนที่และผลวิเคราะห์ [S032]</a:t>
                      </a:r>
                      <a:endParaRPr lang="en-US" sz="900" dirty="0">
                        <a:latin typeface="Tahoma" charset="0"/>
                        <a:ea typeface="Tahoma" charset="0"/>
                        <a:cs typeface="Tahoma" charset="0"/>
                      </a:endParaRPr>
                    </a:p>
                  </a:txBody>
                  <a:tcPr marL="45720" marR="45720" marT="27432" marB="27432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Tahoma" pitchFamily="34" charset="0"/>
                          <a:ea typeface="Tahoma" pitchFamily="34" charset="-122"/>
                          <a:cs typeface="Tahoma" pitchFamily="34" charset="-120"/>
                        </a:rPr>
                        <a:t>ขึ้นกับข้อมูลเข้า; raster หยาบกว่า vector [S031]</a:t>
                      </a:r>
                      <a:endParaRPr lang="en-US" sz="900" dirty="0">
                        <a:latin typeface="Tahoma" charset="0"/>
                        <a:ea typeface="Tahoma" charset="0"/>
                        <a:cs typeface="Tahoma" charset="0"/>
                      </a:endParaRPr>
                    </a:p>
                  </a:txBody>
                  <a:tcPr marL="45720" marR="45720" marT="27432" marB="27432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Tahoma" pitchFamily="34" charset="0"/>
                          <a:ea typeface="Tahoma" pitchFamily="34" charset="-122"/>
                          <a:cs typeface="Tahoma" pitchFamily="34" charset="-120"/>
                        </a:rPr>
                        <a:t>ต้องจัดการ plugin/Python; ซัพพอร์ตใช้ทรัพยากร [S034]</a:t>
                      </a:r>
                      <a:endParaRPr lang="en-US" sz="900" dirty="0">
                        <a:latin typeface="Tahoma" charset="0"/>
                        <a:ea typeface="Tahoma" charset="0"/>
                        <a:cs typeface="Tahoma" charset="0"/>
                      </a:endParaRPr>
                    </a:p>
                  </a:txBody>
                  <a:tcPr marL="45720" marR="45720" marT="27432" marB="27432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Tahoma" pitchFamily="34" charset="0"/>
                          <a:ea typeface="Tahoma" pitchFamily="34" charset="-122"/>
                          <a:cs typeface="Tahoma" pitchFamily="34" charset="-120"/>
                        </a:rPr>
                        <a:t>ไม่มีค่าลิขสิทธิ์ (GPLv2+) [S033]</a:t>
                      </a:r>
                      <a:endParaRPr lang="en-US" sz="900" dirty="0">
                        <a:latin typeface="Tahoma" charset="0"/>
                        <a:ea typeface="Tahoma" charset="0"/>
                        <a:cs typeface="Tahoma" charset="0"/>
                      </a:endParaRPr>
                    </a:p>
                  </a:txBody>
                  <a:tcPr marL="45720" marR="45720" marT="27432" marB="27432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Tahoma" pitchFamily="34" charset="0"/>
                          <a:ea typeface="Tahoma" pitchFamily="34" charset="-122"/>
                          <a:cs typeface="Tahoma" pitchFamily="34" charset="-120"/>
                        </a:rPr>
                        <a:t>GIS บนเครื่อง (เชิงพาณิชย์)</a:t>
                      </a:r>
                      <a:endParaRPr lang="en-US" sz="900" dirty="0">
                        <a:latin typeface="Tahoma" charset="0"/>
                        <a:ea typeface="Tahoma" charset="0"/>
                        <a:cs typeface="Tahoma" charset="0"/>
                      </a:endParaRPr>
                    </a:p>
                  </a:txBody>
                  <a:tcPr marL="45720" marR="45720" marT="27432" marB="27432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Tahoma" pitchFamily="34" charset="0"/>
                          <a:ea typeface="Tahoma" pitchFamily="34" charset="-122"/>
                          <a:cs typeface="Tahoma" pitchFamily="34" charset="-120"/>
                        </a:rPr>
                        <a:t>ArcGIS Pro (Esri)</a:t>
                      </a:r>
                      <a:endParaRPr lang="en-US" sz="900" dirty="0">
                        <a:latin typeface="Tahoma" charset="0"/>
                        <a:ea typeface="Tahoma" charset="0"/>
                        <a:cs typeface="Tahoma" charset="0"/>
                      </a:endParaRPr>
                    </a:p>
                  </a:txBody>
                  <a:tcPr marL="45720" marR="45720" marT="27432" marB="27432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Tahoma" pitchFamily="34" charset="0"/>
                          <a:ea typeface="Tahoma" pitchFamily="34" charset="-122"/>
                          <a:cs typeface="Tahoma" pitchFamily="34" charset="-120"/>
                        </a:rPr>
                        <a:t>เหมือนกัน [S032]</a:t>
                      </a:r>
                      <a:endParaRPr lang="en-US" sz="900" dirty="0">
                        <a:latin typeface="Tahoma" charset="0"/>
                        <a:ea typeface="Tahoma" charset="0"/>
                        <a:cs typeface="Tahoma" charset="0"/>
                      </a:endParaRPr>
                    </a:p>
                  </a:txBody>
                  <a:tcPr marL="45720" marR="45720" marT="27432" marB="27432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Tahoma" pitchFamily="34" charset="0"/>
                          <a:ea typeface="Tahoma" pitchFamily="34" charset="-122"/>
                          <a:cs typeface="Tahoma" pitchFamily="34" charset="-120"/>
                        </a:rPr>
                        <a:t>เหมือนกัน [S031]</a:t>
                      </a:r>
                      <a:endParaRPr lang="en-US" sz="900" dirty="0">
                        <a:latin typeface="Tahoma" charset="0"/>
                        <a:ea typeface="Tahoma" charset="0"/>
                        <a:cs typeface="Tahoma" charset="0"/>
                      </a:endParaRPr>
                    </a:p>
                  </a:txBody>
                  <a:tcPr marL="45720" marR="45720" marT="27432" marB="27432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Tahoma" pitchFamily="34" charset="0"/>
                          <a:ea typeface="Tahoma" pitchFamily="34" charset="-122"/>
                          <a:cs typeface="Tahoma" pitchFamily="34" charset="-120"/>
                        </a:rPr>
                        <a:t>ความสามารถขึ้นกับระดับลิขสิทธิ์และ extension [S034]</a:t>
                      </a:r>
                      <a:endParaRPr lang="en-US" sz="900" dirty="0">
                        <a:latin typeface="Tahoma" charset="0"/>
                        <a:ea typeface="Tahoma" charset="0"/>
                        <a:cs typeface="Tahoma" charset="0"/>
                      </a:endParaRPr>
                    </a:p>
                  </a:txBody>
                  <a:tcPr marL="45720" marR="45720" marT="27432" marB="27432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Tahoma" pitchFamily="34" charset="0"/>
                          <a:ea typeface="Tahoma" pitchFamily="34" charset="-122"/>
                          <a:cs typeface="Tahoma" pitchFamily="34" charset="-120"/>
                        </a:rPr>
                        <a:t>Basic/Standard/Advanced ถาวร USD 1,656/6,300/12,510 (≈ 5.5 หมื่น/2.1 แสน/4.1 แสนบาท***) + maintenance ต่อปี USD 460/1,750/3,475 [S035]</a:t>
                      </a:r>
                      <a:endParaRPr lang="en-US" sz="900" dirty="0">
                        <a:latin typeface="Tahoma" charset="0"/>
                        <a:ea typeface="Tahoma" charset="0"/>
                        <a:cs typeface="Tahoma" charset="0"/>
                      </a:endParaRPr>
                    </a:p>
                  </a:txBody>
                  <a:tcPr marL="45720" marR="45720" marT="27432" marB="27432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Tahoma" pitchFamily="34" charset="0"/>
                          <a:ea typeface="Tahoma" pitchFamily="34" charset="-122"/>
                          <a:cs typeface="Tahoma" pitchFamily="34" charset="-120"/>
                        </a:rPr>
                        <a:t>รูปแบบข้อมูลบนคลาวด์</a:t>
                      </a:r>
                      <a:endParaRPr lang="en-US" sz="900" dirty="0">
                        <a:latin typeface="Tahoma" charset="0"/>
                        <a:ea typeface="Tahoma" charset="0"/>
                        <a:cs typeface="Tahoma" charset="0"/>
                      </a:endParaRPr>
                    </a:p>
                  </a:txBody>
                  <a:tcPr marL="45720" marR="45720" marT="27432" marB="27432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Tahoma" pitchFamily="34" charset="0"/>
                          <a:ea typeface="Tahoma" pitchFamily="34" charset="-122"/>
                          <a:cs typeface="Tahoma" pitchFamily="34" charset="-120"/>
                        </a:rPr>
                        <a:t>COG, FlatGeobuf, GeoParquet, COPC</a:t>
                      </a:r>
                      <a:endParaRPr lang="en-US" sz="900" dirty="0">
                        <a:latin typeface="Tahoma" charset="0"/>
                        <a:ea typeface="Tahoma" charset="0"/>
                        <a:cs typeface="Tahoma" charset="0"/>
                      </a:endParaRPr>
                    </a:p>
                  </a:txBody>
                  <a:tcPr marL="45720" marR="45720" marT="27432" marB="27432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Tahoma" pitchFamily="34" charset="0"/>
                          <a:ea typeface="Tahoma" pitchFamily="34" charset="-122"/>
                          <a:cs typeface="Tahoma" pitchFamily="34" charset="-120"/>
                        </a:rPr>
                        <a:t>เข้าถึงเฉพาะส่วนของข้อมูลใหญ่ผ่านเว็บ [S037]</a:t>
                      </a:r>
                      <a:endParaRPr lang="en-US" sz="900" dirty="0">
                        <a:latin typeface="Tahoma" charset="0"/>
                        <a:ea typeface="Tahoma" charset="0"/>
                        <a:cs typeface="Tahoma" charset="0"/>
                      </a:endParaRPr>
                    </a:p>
                  </a:txBody>
                  <a:tcPr marL="45720" marR="45720" marT="27432" marB="27432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Tahoma" pitchFamily="34" charset="0"/>
                          <a:ea typeface="Tahoma" pitchFamily="34" charset="-122"/>
                          <a:cs typeface="Tahoma" pitchFamily="34" charset="-120"/>
                        </a:rPr>
                        <a:t>ไม่เกี่ยว (รูปแบบจัดเก็บ)</a:t>
                      </a:r>
                      <a:endParaRPr lang="en-US" sz="900" dirty="0">
                        <a:latin typeface="Tahoma" charset="0"/>
                        <a:ea typeface="Tahoma" charset="0"/>
                        <a:cs typeface="Tahoma" charset="0"/>
                      </a:endParaRPr>
                    </a:p>
                  </a:txBody>
                  <a:tcPr marL="45720" marR="45720" marT="27432" marB="27432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Tahoma" pitchFamily="34" charset="0"/>
                          <a:ea typeface="Tahoma" pitchFamily="34" charset="-122"/>
                          <a:cs typeface="Tahoma" pitchFamily="34" charset="-120"/>
                        </a:rPr>
                        <a:t>ไม่มีรูปแบบเดียวเหมาะทุกกรณี; GeoParquet บางข้อกำหนดยังหารือ [S037]</a:t>
                      </a:r>
                      <a:endParaRPr lang="en-US" sz="900" dirty="0">
                        <a:latin typeface="Tahoma" charset="0"/>
                        <a:ea typeface="Tahoma" charset="0"/>
                        <a:cs typeface="Tahoma" charset="0"/>
                      </a:endParaRPr>
                    </a:p>
                  </a:txBody>
                  <a:tcPr marL="45720" marR="45720" marT="27432" marB="27432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A6A6A6"/>
                          </a:solidFill>
                          <a:latin typeface="Tahoma" pitchFamily="34" charset="0"/>
                          <a:ea typeface="Tahoma" pitchFamily="34" charset="-122"/>
                          <a:cs typeface="Tahoma" pitchFamily="34" charset="-120"/>
                        </a:rPr>
                        <a:t>—</a:t>
                      </a:r>
                      <a:endParaRPr lang="en-US" sz="900" dirty="0">
                        <a:latin typeface="Tahoma" charset="0"/>
                        <a:ea typeface="Tahoma" charset="0"/>
                        <a:cs typeface="Tahoma" charset="0"/>
                      </a:endParaRPr>
                    </a:p>
                  </a:txBody>
                  <a:tcPr marL="45720" marR="45720" marT="27432" marB="27432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4" name="Text 1"/>
          <p:cNvSpPr txBox="1"/>
          <p:nvPr/>
        </p:nvSpPr>
        <p:spPr>
          <a:xfrm>
            <a:off x="457200" y="4572000"/>
            <a:ext cx="7680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808080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* รายการตัวอย่างผลิตภัณฑ์มาจากความรู้ทั่วไป ยังไม่ตรวจ datasheet และไม่ใช่การแนะนำ  ** ค่าความแม่นยำที่จะใส่เป็นค่าที่ผู้ผลิตระบุ</a:t>
            </a:r>
            <a:endParaRPr lang="en-US" sz="9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321040" y="475488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808080"/>
                </a:solidFill>
                <a:latin typeface="Tahoma"/>
                <a:ea typeface="Tahoma"/>
                <a:cs typeface="Tahoma"/>
              </a:defRPr>
            </a:lvl1pPr>
          </a:lstStyle>
          <a:p>
            <a:pPr algn="r"/>
            <a:fld id="{F7021451-1387-4CA6-816F-3879F97B5CBC}" type="slidenum">
              <a:rPr b="0" lang="en-US"/>
              <a:t>38</a:t>
            </a:fld>
            <a:endParaRPr lang="en-US"/>
          </a:p>
        </p:txBody>
      </p:sp>
    </p:spTree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320040"/>
            <a:ext cx="82296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400" b="1" dirty="0">
                <a:solidFill>
                  <a:srgbClr val="000000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บทที่ 5  การจัดการและวิเคราะห์ข้อมูลเชิงพื้นที่: เกณฑ์การเลือกใช้</a:t>
            </a:r>
            <a:endParaRPr lang="en-US" sz="24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1371600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endParaRPr lang="en-US" sz="1400" dirty="0"/>
          </a:p>
        </p:txBody>
      </p:sp>
      <p:sp>
        <p:nvSpPr>
          <p:cNvPr id="4" name="Text 2"/>
          <p:cNvSpPr txBox="1"/>
          <p:nvPr/>
        </p:nvSpPr>
        <p:spPr>
          <a:xfrm>
            <a:off x="457200" y="1920240"/>
            <a:ext cx="8229600" cy="2651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400" dirty="0">
                <a:solidFill>
                  <a:srgbClr val="000000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ขนาดพื้นที่และลักษณะพื้นที่ปฏิบัติงาน</a:t>
            </a:r>
            <a:endParaRPr lang="en-US" sz="14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400" dirty="0">
                <a:solidFill>
                  <a:srgbClr val="000000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ความถูกต้องที่ต้องการ</a:t>
            </a:r>
            <a:endParaRPr lang="en-US" sz="14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400" dirty="0">
                <a:solidFill>
                  <a:srgbClr val="000000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สภาพแวดล้อมหน้างาน</a:t>
            </a:r>
            <a:endParaRPr lang="en-US" sz="14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400" dirty="0">
                <a:solidFill>
                  <a:srgbClr val="000000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เวลาประมวลผลและบุคลากร</a:t>
            </a:r>
            <a:endParaRPr lang="en-US" sz="14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400" dirty="0">
                <a:solidFill>
                  <a:srgbClr val="000000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ต้นทุนการจัดซื้อหรือจ้าง</a:t>
            </a:r>
            <a:endParaRPr lang="en-US" sz="14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400" dirty="0">
                <a:solidFill>
                  <a:srgbClr val="808080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(รอเติมเนื้อหา: เกณฑ์ข้างต้นเป็นโครงร่าง)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321040" y="475488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808080"/>
                </a:solidFill>
                <a:latin typeface="Tahoma"/>
                <a:ea typeface="Tahoma"/>
                <a:cs typeface="Tahoma"/>
              </a:defRPr>
            </a:lvl1pPr>
          </a:lstStyle>
          <a:p>
            <a:pPr algn="r"/>
            <a:fld id="{F7021451-1387-4CA6-816F-3879F97B5CBC}" type="slidenum">
              <a:rPr b="0" lang="en-US"/>
              <a:t>39</a:t>
            </a:fld>
            <a:endParaRPr lang="en-US"/>
          </a:p>
        </p:txBody>
      </p:sp>
    </p:spTree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320040"/>
            <a:ext cx="82296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400" b="1" dirty="0">
                <a:solidFill>
                  <a:srgbClr val="000000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บทที่ 5  การจัดการและวิเคราะห์ข้อมูลเชิงพื้นที่: Research trend</a:t>
            </a:r>
            <a:endParaRPr lang="en-US" sz="24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1371600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endParaRPr lang="en-US" sz="1400" dirty="0"/>
          </a:p>
        </p:txBody>
      </p:sp>
      <p:sp>
        <p:nvSpPr>
          <p:cNvPr id="4" name="Text 2"/>
          <p:cNvSpPr txBox="1"/>
          <p:nvPr/>
        </p:nvSpPr>
        <p:spPr>
          <a:xfrm>
            <a:off x="457200" y="1920240"/>
            <a:ext cx="8229600" cy="2651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400" dirty="0">
                <a:solidFill>
                  <a:srgbClr val="000000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GeoAI: ML/DL/LLM กับข้อมูลเชิงพื้นที่; ประเด็นคือ explainability, reproducibility, data bias; ทิศทาง geo-foundation models และ multimodal [S038]</a:t>
            </a:r>
            <a:endParaRPr lang="en-US" sz="14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400" dirty="0">
                <a:solidFill>
                  <a:srgbClr val="000000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ข้อมูลเชิงพื้นที่บนคลาวด์: รูปแบบอ่านเป็นส่วน ๆ; บางข้อกำหนดยังอยู่ระหว่างหารือ [S037]</a:t>
            </a:r>
            <a:endParaRPr lang="en-US" sz="14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400" dirty="0">
                <a:solidFill>
                  <a:srgbClr val="000000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Urban digital twin: โครงสร้างสนับสนุนการตัดสินใจ; ประเด็นคือ data silos, interoperability, governance [S039]</a:t>
            </a:r>
            <a:endParaRPr lang="en-US" sz="1400" dirty="0"/>
          </a:p>
        </p:txBody>
      </p:sp>
      <p:sp>
        <p:nvSpPr>
          <p:cNvPr id="5" name="Text 3"/>
          <p:cNvSpPr txBox="1"/>
          <p:nvPr/>
        </p:nvSpPr>
        <p:spPr>
          <a:xfrm>
            <a:off x="457200" y="4572000"/>
            <a:ext cx="7680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808080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อ้างอิง: IJGI 14(2):56 [S038]; guide.cloudnativegeo.org [S037]; IJGI 15(7):278 [S039]</a:t>
            </a:r>
            <a:endParaRPr lang="en-US" sz="9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321040" y="475488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808080"/>
                </a:solidFill>
                <a:latin typeface="Tahoma"/>
                <a:ea typeface="Tahoma"/>
                <a:cs typeface="Tahoma"/>
              </a:defRPr>
            </a:lvl1pPr>
          </a:lstStyle>
          <a:p>
            <a:pPr algn="r"/>
            <a:fld id="{F7021451-1387-4CA6-816F-3879F97B5CBC}" type="slidenum">
              <a:rPr b="0" lang="en-US"/>
              <a:t>40</a:t>
            </a:fld>
            <a:endParaRPr lang="en-US"/>
          </a:p>
        </p:txBody>
      </p:sp>
    </p:spTree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320040"/>
            <a:ext cx="82296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400" b="1" dirty="0">
                <a:solidFill>
                  <a:srgbClr val="000000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สรุป: ภาพรวมและ trend ร่วม</a:t>
            </a:r>
            <a:endParaRPr lang="en-US" sz="24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1645920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808080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(รอเติมเนื้อหา)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321040" y="475488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808080"/>
                </a:solidFill>
                <a:latin typeface="Tahoma"/>
                <a:ea typeface="Tahoma"/>
                <a:cs typeface="Tahoma"/>
              </a:defRPr>
            </a:lvl1pPr>
          </a:lstStyle>
          <a:p>
            <a:pPr algn="r"/>
            <a:fld id="{F7021451-1387-4CA6-816F-3879F97B5CBC}" type="slidenum">
              <a:rPr b="0" lang="en-US"/>
              <a:t>41</a:t>
            </a:fld>
            <a:endParaRPr lang="en-US"/>
          </a:p>
        </p:txBody>
      </p:sp>
    </p:spTree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320040"/>
            <a:ext cx="82296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400" b="1" dirty="0">
                <a:solidFill>
                  <a:srgbClr val="000000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แหล่งอ้างอิง</a:t>
            </a:r>
            <a:endParaRPr lang="en-US" sz="24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1645920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808080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(รอเติมเนื้อหา - ดู Reading_List_Option2.md และ Research_Sources.xlsx)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321040" y="475488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808080"/>
                </a:solidFill>
                <a:latin typeface="Tahoma"/>
                <a:ea typeface="Tahoma"/>
                <a:cs typeface="Tahoma"/>
              </a:defRPr>
            </a:lvl1pPr>
          </a:lstStyle>
          <a:p>
            <a:pPr algn="r"/>
            <a:fld id="{F7021451-1387-4CA6-816F-3879F97B5CBC}" type="slidenum">
              <a:rPr b="0" lang="en-US"/>
              <a:t>42</a:t>
            </a:fld>
            <a:endParaRPr lang="en-US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42</Slides>
  <Notes>42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42</vt:i4>
      </vt:variant>
    </vt:vector>
  </HeadingPairs>
  <TitlesOfParts>
    <vt:vector size="45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  <vt:lpstr>Slide 22</vt:lpstr>
      <vt:lpstr>Slide 23</vt:lpstr>
      <vt:lpstr>Slide 24</vt:lpstr>
      <vt:lpstr>Slide 25</vt:lpstr>
      <vt:lpstr>Slide 26</vt:lpstr>
      <vt:lpstr>Slide 27</vt:lpstr>
      <vt:lpstr>Slide 28</vt:lpstr>
      <vt:lpstr>Slide 29</vt:lpstr>
      <vt:lpstr>Slide 30</vt:lpstr>
      <vt:lpstr>Slide 31</vt:lpstr>
      <vt:lpstr>Slide 32</vt:lpstr>
      <vt:lpstr>Slide 33</vt:lpstr>
      <vt:lpstr>Slide 34</vt:lpstr>
      <vt:lpstr>Slide 35</vt:lpstr>
      <vt:lpstr>Slide 36</vt:lpstr>
      <vt:lpstr>Slide 37</vt:lpstr>
      <vt:lpstr>Slide 38</vt:lpstr>
      <vt:lpstr>Slide 39</vt:lpstr>
      <vt:lpstr>Slide 40</vt:lpstr>
      <vt:lpstr>Slide 41</vt:lpstr>
      <vt:lpstr>Slide 42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Survey Engineering Technologies - outline</dc:title>
  <dc:subject>PptxGenJS Presentation</dc:subject>
  <dc:creator>PptxGenJS</dc:creator>
  <cp:lastModifiedBy>PptxGenJS</cp:lastModifiedBy>
  <cp:revision>1</cp:revision>
  <dcterms:created xsi:type="dcterms:W3CDTF">2026-10-02T06:50:32Z</dcterms:created>
  <dcterms:modified xsi:type="dcterms:W3CDTF">2026-10-02T06:50:32Z</dcterms:modified>
</cp:coreProperties>
</file>