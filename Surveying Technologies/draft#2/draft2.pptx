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โน้ตผู้บรรยาย: รอตรวจแหล่ง: RTK (Real-Time Kinematic): เทคนิคการรังวัดเฟสคลื่นพาห์ (Carrier Phase) โดยใช้ Base Station ตั้งบนจุดที่ทราบพิกัดแน่นอน ส่งค่าแก้ (Correction Data) ผ่านคลื่นวิทยุ (Radio) หรืออินเทอร์เน็ตไปยัง Rover ช่วยขจัดความคลาดเคลื่อนจากชั้นบรรยากาศและวงโคเซนเซอร์ ให้ความแม่นยำทางราบระดับ 1–2 เซนติเมตร เมื่อสถานีประมวลผลได้สถานะ Fixed</a:t>
            </a:r>
          </a:p>
          <a:p/>
          <a:p>
            <a:r>
              <a:t>อ้างอิงต้นทาง: [12][13][14][21][22][23][24][25][26][27][28][15][18][19][20]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โน้ตผู้บรรยาย: รอตรวจแหล่ง: CORS (Continuously Operating Reference Station): สถานีรับสัญญาณ GNSS ถาวรที่บันทึกข้อมูลตลอด 24 ชั่วโมง รอตรวจแหล่ง: LRTN (กรมที่ดิน): เครือข่ายสถานีมากกว่า 600 สถานีทั่วประเทศ ออกแบบรองรับงานรังวัดที่ดิน ออกโฉนด อ้างอิงระบบพิกัด WGS84 และแปลงเป็น Indian 1975 (UTM)</a:t>
            </a:r>
          </a:p>
          <a:p/>
          <a:p>
            <a:r>
              <a:t>อ้างอิงต้นทาง: [37][39][40][41][42][43][36][28][38]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อ้างอิงต้นทาง: [28][46][32][48]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โน้ตผู้บรรยาย: รอตรวจแหล่ง: การทำระดับและคำนวณตำแหน่ง 3D: กล้องสามารถทำระดับ (Leveling) และคำนวณพิกัดฉาก 3 มิติ (X, Y, Z) ได้จากการประมวลผลมุมราบ มุมดิ่ง และระยะทางเอียงร่วมกัน การรังวัดระยะทาง: เครื่อง EDM ยิงสัญญาณเลเซอร์ไปยังเป้าหมาย เช่น ปริซึมสะท้อนแสง (Reflector Prism) หรือวัดแบบไม่ใช้ปริซึม (Reflectorless) บนพื้นผิววัตถุ โดยคำนวณระยะทางด้วยหลักการ Time-of-Flight หรือ Phase Shift ในการปฏิบัติงานจริงต้องตั้งค่าปรับแก้สภาพบรรยากาศ (Atmospheric Correction - ppm) ตามอุณหภูมิและความดันอากาศ รวมถึงป้อนค่าคงที่ปริซึม (Prism Constant) ให้ถูกต้องตามผู้ผลิต</a:t>
            </a:r>
          </a:p>
          <a:p/>
          <a:p>
            <a:r>
              <a:t>อ้างอิงต้นทาง: [1][2][3][4][5]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โน้ตผู้บรรยาย: รอตรวจแหล่ง: การรังวัดย้อนหาตำแหน่งตั้งกล้อง (Resection): สามารถตั้งกล้องบนจุดสุ่มที่ยังไม่ทราบพิกัด แล้วส่องรังวัดมุมและระยะไปยังหมุดอ้างอิงที่ทราบพิกัดตั้งแต่ 2 จุดขึ้นไป เพื่อให้ระบบในตัวกล้องคำนวณหาตำแหน่งพิกัดจุดตั้งกล้องได้ทันที รอตรวจแหล่ง: การเก็บรายละเอียดและการเดินวงรอบ (Traverse Survey): ส่องรังวัดแบบรัศมีเพื่อเก็บพิกัดและรายละเอียดภูมิประเทศ หรือเดินวงรอบปิด (Closed Loop Traverse) เพื่อสร้างหมุดควบคุมย่อย ซึ่งสามารถตรวจสอบความถูกต้องภาคสนามได้จากค่าความคลาดเคลื่อนทางมุม (Angular Misclosure) และทางราบ (Linear Misclosure) ตามมาตรฐานสากล เช่น ISO 17123-3</a:t>
            </a:r>
          </a:p>
          <a:p/>
          <a:p>
            <a:r>
              <a:t>อ้างอิงต้นทาง: [5][10][7][8][6][9]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โน้ตผู้บรรยาย: งานก่อสร้างและงานโครงสร้าง: ใช้ GNSS วางผังภาพรวมโครงการ แล้วใช้ Total Station ตรวจสอบแนวดิ่ง (Plumbness) ตั้งแนวเสา ฐานราก และติดตามการเคลื่อนตัวของโครงสร้าง การยึดโยงระบบพิกัด: การรังวัดด้วย Total Station โดยอ้างอิงจากหมุดควบคุม GNSS ช่วยให้ข้อมูลรายละเอียดทั้งหมดถูกยึดโยงเข้ากับระบบพิกัดอ้างอิงของประเทศ (เช่น UTM, Indian 1975, WGS84 หรือ ITRF) อย่างถูกต้องและเป็นมาตรฐานเดียวกัน</a:t>
            </a:r>
          </a:p>
          <a:p/>
          <a:p>
            <a:r>
              <a:t>อ้างอิงต้นทาง: [11][12][4][14][13][6]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โน้ตผู้บรรยาย: รอตรวจแหล่ง: หลักการทำงานแบบ Passive Sensing: UAV Photogrammetry เป็นการสำรวจระยะไกลแบบไม่ยิงลำแสงสะท้อน (Passive) โดยถ่ายภาพทางอากาศ 2 มิติหลายๆ ภาพจากมุมมองที่ต่างกันและมีส่วนทับซ้อนกัน แล้วนำมาคำนวณสร้างเรขาคณิต 3 มิติด้วยหลักการทางคณิตศาสตร์แบบสามเหลี่ยม (Triangulation) รอตรวจแหล่ง: ส่วนซ้อนในแนวบิน (Forward Overlap): กำหนดให้อยู่ที่ 70–80% (เกณฑ์มาตรฐานทั่วไปแนะนำไม่น้อยกว่า 75%) เพื่อให้รูปภาพประชิดมีจุดเด่นร่วมกันเพียงพอสำหรับการประมวลผลปรับเกลี่ยบล็อกภาพถ่าย (Bundle Adjustment) รอตรวจแหล่ง: ส่วนเกยระหว่างแนวบิน (Sidelap): กำหนดให้อยู่ที่ 60–75% (เกณฑ์มาตรฐานทั่วไปแนะนำไม่น้อยกว่า 60%) เพื่อเชื่อมโยงโครงข่ายภาพถ่ายทางข้าง ลดความบิดเบี้ยวบริเวณขอบพื้นที่</a:t>
            </a:r>
          </a:p>
          <a:p/>
          <a:p>
            <a:r>
              <a:t>อ้างอิงต้นทาง: [1][3]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โน้ตผู้บรรยาย: รอตรวจแหล่ง: ระยะพื้นต่อพิกเซล (Ground Sampling Distance - GSD): ระยะทางจริงบนดินที่ครอบคลุมโดย 1 พิกเซลในภาพถ่าย (เช่น 1–3. ซม./พิกเซล) ค่า GSD ยิ่งเล็ก ภาพจะยิ่งมีความละเอียดและให้ความถูกต้องเชิงตำแหน่งสูงขึ้น รอตรวจแหล่ง: GCP (Ground Control Point): เป้าบนพื้นดินรูปกากบาทหรือตารางหมากรุกที่มีสีตัดกับพื้นผิว (ขนาดกว้าง/ยาวไม่น้อยกว่า 25 เท่าของค่า GSD) ซึ่งผ่านการรังวัดพิกัดจริงด้วย GNSS RTK ใช้ดึงและยึดโยงโมเดลเข้ากับระบบพิกัดจริงบนดิน ขจัดความคลาดเคลื่อนทางเรขาคณิต (เช่น ปัญหารูปทรงแอ่นโค้งแบบ Doming Effect) รอตรวจแหล่ง: *Consumer Grade (โดรนทั่วไป)*: ใช้ GCP อย่างน้อย 9 จุด ต่อบล็อกการบิน กระจายสม่ำเสมอห่างกันไม่เกิน 200 เมตร รอตรวจแหล่ง: *Professional Grade*: ใช้ GCP อย่างน้อย 5 จุด ระยะห่างไม่เกิน 500 เมตร รอตรวจแหล่ง: *Survey Grade (โดรน RTK/PPK)*: ใช้ GCP เพียง 2 จุดขึ้นไป ต่อเที่ยวบิน เพื่อควบคุมและดึงระดับพิกัด</a:t>
            </a:r>
          </a:p>
          <a:p/>
          <a:p>
            <a:r>
              <a:t>อ้างอิงต้นทาง: [10][8][14][24][12][15][5][20][21][22][23]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โน้ตผู้บรรยาย: True-Orthophoto: การประมวลผลขั้นสูงสำหรับพื้นที่เมืองหรืออาคารสูง โดยใช้ DSM ความละเอียดสูงร่วมกับอัลกอริทึมวิเคราะห์การบดบัง (Self-occlusion) เพื่อขจัดปัญหาภาพล้มเอียงของสิ่งก่อสร้าง (Radial Displacement) ทำให้วัตถุทรงสูงปรากฏในมุมมองตั้งตรงตามจริงทุกจุดโดยไม่มีภาพซ้อนทับ</a:t>
            </a:r>
          </a:p>
          <a:p/>
          <a:p>
            <a:r>
              <a:t>อ้างอิงต้นทาง: [5][3][30]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โน้ตผู้บรรยาย: รอตรวจแหล่ง: Multirotor (โดรนหลายใบพัด): ขึ้น-ลงทางดิ่งได้สะดวก เหมาะสำหรับพื้นที่ขนาดเล็กถึงปานกลาง (ประมาณ 1–5 ตร.กม.) และงานเก็บรายละเอียดอาคาร/โครงสร้าง รอตรวจแหล่ง: Fixed-Wing / VTOL (โดรนปีกไฟว์ / โดรนปีกไฟว์ขึ้นลงทางดิ่ง): บินได้ไกลและนาน ครอบคลุมพื้นที่ได้หลายตารางกิโลเมตรต่อ 1 เที่ยวบิน เหมาะสำหรับงานแนวระเบียงยาว (Corridor Mapping) ถนน ทางรถไฟ และผังเมืองขนาดใหญ่</a:t>
            </a:r>
          </a:p>
          <a:p/>
          <a:p>
            <a:r>
              <a:t>อ้างอิงต้นทาง: [33][34][39][40][7][37][38]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โน้ตผู้บรรยาย: รอตรวจแหล่ง: ระบบวัดระยะทางแบบ Active Sensing: LiDAR (Light Detection and Ranging) เป็นระบบสำรวจระยะไกลแบบส่งสัญญาณเอง (Active) โดยยิงพัลส์เลเซอร์ (เช่น คลื่นอินฟราเรดใกล้ / Near Infrared ความยาวคลื่น 1550 นาโนเมตร) ออกไปกระทบวัตถุหรือพื้นผิว แล้วรับสัญญาณสะท้อนกลับมา รอตรวจแหล่ง: องค์ประกอบหลักในการระบุตำแหน่ง 3 มิติ (Sensor Fusion): รอตรวจแหล่ง: การคำนวณตำแหน่ง 3D: ระบบจะนำระยะทางที่วัดได้จากเลเซอร์ มารวมกับพิกัด GNSS และมุมการวางตัวจาก IMU เพื่อประมวลผลออกมาเป็นตำแหน่งพิกัดฉาก 3 มิติ (X, Y, Z) และค่าความเข้มสัญญาณสะท้อน (Intensity) ของแต่ละจุดกระทบ รอตรวจแหล่ง: คุณสมบัติสะท้อนกลับหลายครั้ง (Multiple Returns): พัลส์เลเซอร์ 1 พัลส์ สามารถสะท้อนกลับได้หลายครั้ง (เช่น First return สะท้อนจากยอดไม้, Intermediate returns สะท้อนจากกิ่งก้าน, และ Last return สะท้อนจากพื้นดิน) ทำให้ LiDAR มีศักยภาพสูงในการเจาะผ่านช่องว่างทรงพุ่มไม้ลงไปวัดระดับพื้นดินจริงใต้ต้นไม้ได้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โน้ตผู้บรรยาย: รอตรวจแหล่ง: ให้ความถูกต้องทางดิ่งสูงระดับ 1–3 เซนติเมตร ถึง 15 เซนติเมตร ขึ้นอยู่กับระดับความสูงบินและสเปกของเซนเซอร์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โน้ตผู้บรรยาย: รอตรวจแหล่ง: รวมข้อดีของการบินสแกนทางอากาศที่เจาะผ่านทรงพุ่มไม้ เข้ากับความคล่องตัว ให้ความหนาแน่นจุดสูง (50–200+ จุด/ตร.ม.) และมีค่าใช้จ่ายดำเนินงานต่ำกว่าเครื่องบินขนาดใหญ่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โน้ตผู้บรรยาย: รอตรวจแหล่ง: Point Cloud (กลุ่มเมฆจุด 3 มิติ): กลุ่มข้อมูลพิกัด X, Y, Z มหาศาลที่สะท้อนจากวัตถุและภูมิประเทศ บันทึกคุณลักษณะเพิ่มเติม เช่น ค่าความเข้มสัญญาณ (Intensity), ลำดับการสะท้อน (Return Number) และค่าสี RGB รอตรวจแหล่ง: มีการกำหนดรหัสประเภทจุดมาตรฐาน (ASPRS Standard Point Classes) เช่น Class 1: Unclassified, Class 2: Ground, Class 3–5: Low/Medium/High Vegetation, Class 6: Building, Class 7: Low Point (Noise), Class 9: Water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โน้ตผู้บรรยาย: Morphological Filter: ใช้เกณฑ์ความชันและความสูงในการสกัดจุดออกด้วยโครงสร้างกริด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โน้ตผู้บรรยาย: รอตรวจแหล่ง: กำหนดขนาดเซลล์กริด (เช่น 0. เมตร) และใช้ Search Radius ในการประมาณค่าเชิงพื้นที่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โน้ตผู้บรรยาย: รอตรวจแหล่ง: เป็นเทคโนโลยีสำรวจระยะไกลแบบ Passive Sensing ที่พึ่งพาแสงสว่างตามธรรมชาติในการบันทึกภาพถ่าย 2 มิติ รอตรวจแหล่ง: บินถ่ายภาพทางอากาศหลายมุมมองที่มีส่วนซ้อนส่วนเกยกันอย่างเหมาะสม (ส่วนซ้อนในแนวบิน Overlap 70–80%, ส่วนเกยทางข้าง Sidelap 60–70%) รอตรวจแหล่ง: นำภาพมาประมวลผลผ่านอัลกอริทึม Structure from Motion (SfM) และ Multi-View Stereo (MVS) เพื่อคำนวณตำแหน่งและทิศทางกล้อง พร้อมประมาณค่าพิกัดฉาก 3 มิติด้วยหลักการทางเรขาคณิตแบบสามเหลี่ยม (Triangulation)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โน้ตผู้บรรยาย: รอตรวจแหล่ง: บูรณาการประมวลผลร่วมกัน 3 เซนเซอร์หลัก ได้แก่ Laser Scanner, GNSS (ระบุพิกัดพาหนะ) และ IMU (ระบุการเอียงและการวางตัว Roll, Pitch, Yaw) รอตรวจแหล่ง: ผลลัพธ์หลัก: ได้กลุ่มเมฆจุด 3 มิติ (3D Point Cloud) ที่บันทึกพิกัด X, Y, Z และค่าความเข้มสัญญาณสะท้อน (Intensity)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โน้ตผู้บรรยาย: รอตรวจแหล่ง: LiDAR: เซนเซอร์และระบบ GNSS/IMU มีราคาสูงกว่า Photogrammetry มาก (ชุดโดรน LiDAR อยู่ที่ช่วง 15,000–350,000+ เทียบกับ Photogrammetry ที่ 2,000–30,000) ข้อมูลดิบไม่มีสีภาพถ่าย และต้องใช้ทักษะในการกรองคัดแยกจุดพื้นดิน (Ground Filtering)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โน้ตผู้บรรยาย: รอตรวจแหล่ง: ลักษณะข้อมูล: ส่งคลื่นเสียงลงไปตรงๆ เป็นลำคลื่นแคบเพียงลำเดียว ได้ข้อมูลความลึกเป็นจุดเดี่ยวต่อการส่ง 1 ครั้ง (Single point per ping)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โน้ตผู้บรรยาย: รอตรวจแหล่ง: ลักษณะข้อมูล: ส่งคลื่นเสียงออกเป็นแถบพัดกระจายหลายลำคลื่นพร้อมกัน (Wide Swath / Fan-shaped) ทำให้ได้ข้อมูลครอบคลุมพื้นที่พื้นท้องน้ำ 100% (100% Bottom Ensonification Coverage) ได้ผลลัพธ์เป็นกลุ่มจุด 3 มิติ (3D Point Cloud) ความละเอียดสูงระดับเซนติเมตร ตลอดจนข้อมูลความเข้มการสะท้อนกลับ (Backscatter) เพื่อจำแนกประเภทวัสดุพื้นท้องน้ำ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โน้ตผู้บรรยาย: รอตรวจแหล่ง: การวางแนวรังวัดภาคสนาม (Survey Line Planning): กำหนดแนวรังวัดเป็นเส้นตัดขวางลำน้ำ (Cross-section lines) และแนวตัดตามยาว (Longitudinal profile lines) โดยวางระยะห่างของแนวรังวัดให้เหมาะสมกับขนาดและความซับซ้อนของลำน้ำ (เช่น แนวตัดขวางทุกๆ 5 เมตร และแนวตัดตามยาวทุกๆ 25 เมตร ในงานสำรวจคลอง)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โน้ตผู้บรรยาย: Progressive TIN Densification (PTD): สร้างโครงข่ายสามเหลี่ยมระดับหยาบจากจุดระดับต่ำสุด แล้วขยายการคำนวณคัดเลือกจุดพื้นดินเข้าสู่ TIN อย่างต่อเนื่องตามเกณฑ์มุมและความสูง Cloth Simulation Filter (CSF): จำลองการพลิก Point Cloud กลับหัวแล้วทิ้งผ้าเสมือนลงมาคลุม จุดที่ผ้าสัมผัสจะถูกระบุและคัดแยกเป็นพื้นดิน Surface / Interpolation-based Filters: ใช้สมการพื้นผิวหรือ Thin Plate Spline (TPS) ในการประมาณค่าเพื่อคัดเลือกจุดพื้นดิน มาตรฐานการจัดเก็บข้อมูล: ข้อมูล Point Cloud มักจัดเก็บและส่งออกในรูปแบบไฟล์มาตรฐานเปิดสากล คือ .las หรือไฟล์บีบอัด .laz ซึ่งบันทึกพิกัด X, Y, Z ร่วมกับค่าประเภทจุด (Class Code เช่น Class 2: Ground), ค่าความเข้มสัญญาณสะท้อน (Intensity) และสี RGB315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โน้ตผู้บรรยาย: เรขาคณิตสำรวจ (COGO - Coordinate Geometry): ใช้ในการคำนวณระยะทางและทิศทาง (Distance and Bearing) ระหว่างจุดพิกัดสำรวจ ซึ่งช่วยกำหนดขอบเขตพื้นที่เชิงกฎหมาย (Legal Boundaries) และสร้างคำอธิบายแนวเขต (Boundary Descriptions) ที่มีความถูกต้องสูงสำหรับงานสำรวจรังวัด การนำข้อมูลสำรวจไปประยุกต์ใช้: การนำข้อมูลจุดสำรวจความแม่นยำสูง (Mass points) มาเชื่อมโยงกับฐานข้อมูล GIS ช่วยให้จัดเก็บ สืบค้น และคำนวณเรขาคณิตได้อย่างมีประสิทธิภาพ รองรับการนำไปใช้ในงานออกแบบทางวิศวกรรมโยธา การบริหารจัดการโครงสร้างพื้นฐาน และงานคูคลองหรือลุ่มน้ำ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โน้ตผู้บรรยาย: รอตรวจแหล่ง: ความลาดชัน (Slope Analysis): คำนวณอัตราการเปลี่ยนแปลงความสูงต่อระยะทางทางราบ (แสดงผลเป็นองศา 0–90 องศา หรือเปอร์เซ็นต์) สำหรับประเมินความเสี่ยงและเลือกพื้นที่เหมาะสม รอตรวจแหล่ง: ทิศทางความลาดชัน (Aspect Analysis): คำนวณทิศทางที่ความลาดชันหันไป (ทิศทางตามเข็มนาฬิกา 0–360 องศา จากทิศเหนือ) ซึ่งสำคัญต่อการประเมินการรับรังสีอาทิตย์ ลม ปริมาณฝน และสภาพจุลภาคทางภูมิอากาศ รอตรวจแหล่ง: การจำลองเงาแสง (Hillshade Analysis): คำนวณการส่องสว่างตามมุมสูงและทิศทางของดวงอาทิตย์ เพื่อสร้างภาพจำลองเงาภูมิประเทศ 3 มิติที่สมจริง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โน้ตผู้บรรยาย: รอตรวจแหล่ง: กระบวนการลำดับชั้นเชิงวิเคราะห์ (AHP - Analytic Hierarchy Process): ประยุกต์ใช้เทคนิคของ Saaty โดยคำนวณเปรียบเทียบความสำคัญทีละคู่ (Pairwise Comparison Matrix - PCM) บนสเกล 1–9 ร่วมกับความคิดเห็นของผู้เชี่ยวชาญ เพื่อกำหนดน้ำหนักความสำคัญถ่วงน้ำหนัก (Normalized Weights) ให้แก่แต่ละชั้นปัจจัย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โน้ตผู้บรรยาย: รอตรวจแหล่ง: องค์ประกอบหลัก 3 ประการของ Spatial Database (เช่น PostGIS และ Geodatabase): รอตรวจแหล่ง: Spatial Indexing: ใช้ดรรชนีเชิงพื้นที่แบบหลายมิติ เช่น R-Tree และ Quadtree ที่อาศัยกล่องขอบเขตล้อมรอบ (Bounding Box / MBR) ในการสืบค้นพื้นที่ทับซ้อน แทนที่ B-Tree แบบเดิมที่ไม่สามารถจัดลำดับข้อมูล 2 มิติได้ การบริหารจัดการฐานข้อมูลระดับองค์กร (Enterprise Geodatabase): ประยุกต์ใช้ฐานข้อมูลเชิงสัมพันธ์ (RDBMS) เช่น PostgreSQL/PostGIS, Oracle หรือ SQL Server ร่วมกับ ArcSDE รองรับระบบจัดการหลายเวอร์ชัน (Multi-user Versioning / Long Transactions) เพื่อให้ผู้ใช้หลายคนสามารถเข้าถึง จัดการโทโพโลยี (Topology) และแก้ไขข้อมูลเชิงพื้นที่พร้อมกันได้โดยข้อมูลไม่สูญหายหรือขัดแย้งกัน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โน้ตผู้บรรยาย: รอตรวจแหล่ง: TIN (Triangulated Irregular Network): โครงสร้างเวกเตอร์ที่เชื่อมโยงจุดพิกัดความสูงสุ่ม (Nodes / Mass points) เข้าด้วยกันเป็นพื้นผิวสามเหลี่ยมที่ไม่ซ้อนทับกัน (Faces) ตามหลัก Delaunay Triangulation จุดเด่นของ TIN คือสามารถปรับความหนาแน่นของสามเหลี่ยมตามความขรุขระของพื้นที่ (ใช้โครงข่ายหนาแน่นในพื้นที่ชัน/ขรุขระ และใช้โครงข่ายเบาบางในพื้นที่ราบ) พร้อมรองรับการป้อน Breaklines (เช่น แนวสันเขา คันดิน ขอบถนน หรือลำน้ำ) เพื่อบังคับไม่ให้ขอบสามเหลี่ยมลากข้ามแนวโครงสร้างจริง ทำให้ได้ภูมิประเทศที่มีความถูกต้องทางกายภาพสูง4.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โน้ตผู้บรรยาย: รอตรวจแหล่ง: DTM ถูกนำไปใช้เป็นฐานเรขาคณิตสำหรับการคำนวณปริมาณงานดินตัด-ดินถม (Earthwork Cut-and-Fill Volumes), การวิเคราะห์ทางอุทกวิทยาและการไหลของน้ำ (Hydrological &amp; Flood Modeling) และการวิเคราะห์คุณลักษณะทางภูมิประเทศ เช่น ความลาดชัน (Slope), ทิศทางความลาดชัน (Aspect) และทัศนวิสัยการมองเห็น (Viewshed)4.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โน้ตผู้บรรยาย: รอตรวจแหล่ง: Metric Reference (ข้อมูลอ้างอิงมิติทางกายภาพจริง): ใช้เป็นฐานอ้างอิงมิติที่แม่นยำสำหรับการสร้าง ควบคุม และตรวจสอบแบบจำลอง 3 มิติ1618. รอตรวจแหล่ง: Deformation &amp; Structural Monitoring: ใช้ตรวจสอบและวัดการเคลื่อนตัว การทรุดตัว (Settlement), การเอียง (Tilt), รอยแตกร้าว (Cracking), ตรวจสอบระยะปลอดภัยขอบเขตโครงสร้างรถไฟ (Structure-Gauge / Clearance Inspection) และตรวจสอบหน้าตัดคันหินคันทาง (Ballast Profile) ด้วยความแม่นยำระดับมิลลิเมตร8.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โน้ตผู้บรรยาย: รอตรวจแหล่ง: ระดับความก้าวหน้าทางดิจิทัล: แยกความแตกต่างชัดเจนระหว่าง Digital Model (มีเฉพาะโมเดลเรขาคณิต 3D), Digital Shadow (มีข้อมูลไหลทางเดียวจากกายภาพไปดิจิทัล) และ Digital Twin (มีข้อมูลไหลและตอบกลับสองทางแบบอัตโนมัติ)3132.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โน้ตผู้บรรยาย: รอตรวจแหล่ง: Input Stage: นำข้อมูลเรขาคณิตความละเอียดสูงจาก Point Cloud (TLS, SLAM, UAV) และโมเดล Scan-to-BIM มาสร้างเป็นฐานเรขาคณิตเสมือน1233. รอตรวจแหล่ง: Sensing &amp; Integration Stage: เชื่อมโยงโมเดล 3D เข้ากับเครือข่ายเซนเซอร์ตรวจวัดสด (IoT / Physical Sensors) ผ่านสัญญาณไร้สาย (เช่น 4G, LoRaWAN, REST APIs) เซนเซอร์ที่นิยมใช้ ได้แก่ เซนเซอร์วัดความเค้น/การยืดหด (Fiber Optic / Strain Gauges), เครื่องวัดการสั่นสะเทือน (Vibrometers), เซนเซอร์วัดการเอียง (Tilt Sensors), เครื่องวัดระดับน้ำ (Stage Gauges / Piezometers), เครื่องวัดปริมาณฝน (Rain Gauges) และเครื่องวัดกระแสน้ำ (ADCP)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โน้ตผู้บรรยาย: รอตรวจแหล่ง: งานเฝ้าระวังภัยพิบัติน้ำท่วมและลุ่มน้ำเมือง (Hydro-Pluviometric Monitoring): โครงการแม่น้ำไทเบอร์ (Tiber River) ในกรุงโรม ซึ่งสร้าง Point Cloud และโมเดล Scan-to-BIM ของสะพาน 16 แห่งและตลิ่ง บูรณาการเข้ากับระบบ WebGIS และเซนเซอร์อุทกศาสตร์เพื่อบริหารจัดการความเสี่ยงน้ำท่วมและการบำรุงรักษาตลิ่งตามเงื่อนไขจริง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โน้ตผู้บรรยาย: รอตรวจแหล่ง: กำหนดคุณภาพ Point Cloud: ควบคุมค่า Accuracy, Resolution และ Coverage ให้สอดคล้องกับวัตถุประสงค์4952. รอตรวจแหล่ง: ประโยชน์และการใช้งาน: ใช้จัดทำแบบจำลองสภาวะจริง (As-is / As-built BIM) สำหรับอาคารเดิมที่ไม่มีแบบแปลนดิจิทัล, งานบูรณะอนุรักษ์โบราณสถานและมรดกทางวัฒนธรรม, การวิเคราะห์แบบจำลองพลังงานและภัยอพยพ, และการจำลองมิติเวลาและความปลอดภัยไซต์งาน (4D Construction Safety Simulation)5758.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โน้ตผู้บรรยาย: CIM และ 3D City Model: การนำ IFC 4. Models เข้าสู่แพลตฟอร์ม Geospatial Contextualisation เช่น Autodesk InfraWorks, Esri ArcGIS Enterprise หรือ WebGIS ช่วยสร้าง City Information Model (CIM) หรือ 3D City Twin สำหรับใช้วิเคราะห์ผังเมือง, จำลองภัยพิบัติระดับเมือง, วิเคราะห์การส่องสว่าง/พลังงาน, ตลอดจนการตรวจสอบการชนกันของแบบและระยะทำงาน (4D/5D Clash Detection &amp; Construction Simulation) ในระดับเมืองได้อย่างแม่นยำ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โน้ตผู้บรรยาย: รอตรวจแหล่ง: การประยุกต์ใช้ Mobile LiDAR ร่วมกับปัญญาประดิษฐ์โครงข่ายประสาทเทียม (Deep Learning เช่น PointNet++) เพื่อสกัดองค์ประกอบของถนนแบบ 3 มิติ ระบบสามารถจำแนกประเภทวัตถุ (Semantic Segmentation) ได้แก่ พื้นถนน, เสาไฟฟ้า, ยานพาหนะ, ต้นไม้ และอาคาร โดยได้ค่าความแม่นยำรวมสูงถึง 92.4% และค่า mIoU 0.846 รอตรวจแหล่ง: สามารถวัดค่าพารามิเตอร์ทางวิศวกรรมได้อย่างแม่นยำระดับซับเซนติเมตร (RMSE เฉลี่ย 0. ซม.) เช่น ความกว้างช่องจราจร, ความยาวเส้นทาง, ขนาดทางข้ามหมากลาย และความสูงเสาไฟฟ้า รอตรวจแหล่ง: ช่วยลดระยะเวลาประมวลผลข้อมูลภาคสนามด้วยมือลงได้ถึง 85% (จากเดิม 40 ชั่วโมง เหลือเพียง 6 ชั่วโมงต่อกิโลเมตร) รอตรวจแหล่ง: การนำ Mobile LiDAR และ Photogrammetry มาสร้างดิจิทัลทวิน (Digital Twin) สำหรับบริหารโครงสร้างพื้นฐาน เช่น โครงการของ Georgia Department of Transportation (GDOT) ที่ดึงข้อมูลสินทรัพย์ทางหลวงกว่า 80,000 ไมล์ เปลี่ยน "Dark Data" หรือข้อมูลซ่อนเร้น ให้กลายเป็นฐานข้อมูลเชิงพื้นที่เพื่อการวางแผนและตั้งงบประมาณ รอตรวจแหล่ง: กรณีศึกษา เมือง Perry, Iowa ใช้ Mobile LiDAR สแกนเมืองทั้งเมือง (ปริมาณข้อมูล 4. Terabytes) เพื่อสร้าง 3D Reality Mesh ในการบริหารจัดการสินทรัพย์โครงสร้างพื้นฐานสีเทา (ถนน, ทางเท้า, ขอบถนน) ร่วมกับโครงสร้างพื้นฐานสีเขียว (ต้นไม้, พื้นที่ธรรมชาติ)</a:t>
            </a:r>
          </a:p>
          <a:p/>
          <a:p>
            <a:r>
              <a:t>อ้างอิงต้นทาง: [8][1][2][3][4][5][6][7]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โน้ตผู้บรรยาย: รอตรวจแหล่ง: การใช้เครื่องหยั่งความลึกแบบหลายลำคลื่น (Multibeam Echo Sounder - MBES) ในการสแกนพื้นผิวใต้น้ำแบบครอบคลุม 100% เพื่อสร้างแบบจำลอง 3 มิติความละเอียดสูงสำหรับทางน้ำ โครงสร้างใต้น้ำ และการศึกษาสัณฐานธารน้ำ การใช้ UAV ร่วมกับงานสำรวจภาพถ่าย เพื่อติดตามการพังพลายของลาดไหล่ทางและตลิ่ง (เช่น บริเวณเขื่อนแควน้อยบำรุงแดน) รวมถึงการสำรวจหน้าตัดแม่น้ำ (เช่น แม่น้ำลำภาชี) เพื่อใช้ในแบบจำลองการไหล การประยุกต์ข้อมูลทางอุทกวิทยาเพื่อติดตามประเมินการตกตะกอนและการกัดเซาะของลำน้ำ (Soil Erosion &amp; Deposition) ร่วมกับคู่มือการปฏิบัติงานด้านตะกอน</a:t>
            </a:r>
          </a:p>
          <a:p/>
          <a:p>
            <a:r>
              <a:t>อ้างอิงต้นทาง: [12][14][15][16][17][18][13]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โน้ตผู้บรรยาย: รอตรวจแหล่ง: งานวิจัยสำรวจคันทางถนนในจังหวัดลำปาง พบว่าการคำนวณปริมาตรดินจาก UAV มีค่าต่างจากการสำรวจด้วยกล้องสถานีรวม (Total Station) เพียง 8% (UAV คำนวณได้ 570. ลบ.ม. vs Total Station 620. ลบ.ม.) รอตรวจแหล่ง: โครงการสำรวจปริมาณดินถมก่อนก่อสร้างอาคารด่านพรมแดนสระแก้ว พบว่าปริมาณดินถมที่คำนวณจาก UAV ต่างจากรายการวัสดุและค่าใช้จ่าย (BOQ) อยู่ 9.79% รอตรวจแหล่ง: การสำรวจด้วย LiDAR บน UAV (เช่น YellowScan Mapper บน DJI Matrice 300 RTK) ในพื้นที่เขาใหญ่ 3,000 ไร่ สามารถเก็บข้อมูลภูมิประเทศได้อย่างรวดเร็ว โดยมีค่าความคลาดเคลื่อนทางดิ่งเฉลี่ยไม่เกิน 5 เซนติเมตร รอตรวจแหล่ง: การผลิตภาพถ่ายออร์โธที่ถูกต้องเชิงพิกัด (Orthomosaic) และแบบจำลอง 3 มิติ เพื่อใช้ติดตามสภาพพื้นที่จริงเทียบกับแผนงาน Construction Schedule</a:t>
            </a:r>
          </a:p>
          <a:p/>
          <a:p>
            <a:r>
              <a:t>อ้างอิงต้นทาง: [14][26][27][19][8][22][23][15]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โน้ตผู้บรรยาย: รอตรวจแหล่ง: จังหวัดนครศรีธรรมราช (1990–2025): พบการกัดเซาะรุนแรงบริเวณอ่าวปากพนังและบ้านเกาะทัง (อัตราการถอยร่น -3 ถึง -5 ม./ปี และบางจุดวิกฤตเกิน -30 ม./ปี) ในขณะที่บริเวณแหลมตะลุมพุกเกิดการทับถมของตะกอนงอกออกไป (+32. ม./ปี) รอตรวจแหล่ง: เกาะคอเขา และบ้านน้ำเค็ม จ.พังงา: การคำนวณอัตราการกัดเซาะจำแนกเป็นระดับรุนแรง (&gt; -5 ม./ปี) และปานกลาง (-1 ถึง -5 ม./ปี) ซึ่งพบว่าการสร้างกำแพงกันคลื่น (Seawall) หลังเกิดสึนามิกลายเป็นปัจจัยเร่งการกัดเซาะในพื้นที่ข้างเคียง รอตรวจแหล่ง: หาดนาใต้-หาดเขาปิหลาย จ.พังงา: การใช้ UAV DSM เปรียบเทียบสัณฐานชายหาดช่วงมรสุมและหลังมรสุม พบความแม่นยำสูงเมื่อเทียบกับ RTK ภาคสนาม (RMSE ความสูง 0. - 0. เมตร) ช่วยแสดงการเปลี่ยนแปลงความลาดชันและปริมาณเนินทรายได้อย่างชัดเจน</a:t>
            </a:r>
          </a:p>
          <a:p/>
          <a:p>
            <a:r>
              <a:t>อ้างอิงต้นทาง: [28][33][32][34][35][36]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โน้ตผู้บรรยาย: Virtual Singapore: การสร้างดิจิทัลทวินระดับชาติโดยบูรณาการ aerial LiDAR, Street-mounted scanning และเซนเซอร์ IoT เพื่อการวางแผนคมนาคม ผังเมือง และสาธารณูปโภคร่วมกันระหว่างหน่วยงาน การส่งออกข้อมูลเส้นชั้นความสูง (Contours) และข้อมูล Profile / Cross-section ที่ได้จาก UAV Photogrammetry หรือ LiDAR เข้าสู่ซอฟต์แวร์ออกแบบทางวิศวกรรม (เช่น CAD / Civil 3D) เพื่อใช้ในงานออกแบบถนน ระบบระบายน้ำ และงานจัดรูปที่ดิน</a:t>
            </a:r>
          </a:p>
          <a:p/>
          <a:p>
            <a:r>
              <a:t>อ้างอิงต้นทาง: [37][38][39][40][41][42][43]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โน้ตผู้บรรยาย: รอตรวจแหล่ง: โมเดลการประมวลผลกลุ่มจุด 3 มิติ (3D Point Cloud Processing Models): การสำรวจในยุคใหม่เปลี่ยนจากการใช้มนุษย์แปลความหมายมาเป็นการใช้สถาปัตยกรรมโครงข่ายประสาทเทียมขั้นสูง เช่น PointNet++, 3D CNNs, VoxelNet และ Transformers (เช่น Point Transformer, TransPCNet) ในการประมวลผลข้อมูล Point Cloud เชิงพื้นที่ 3 มิติโดยตรง. รอตรวจแหล่ง: การจัดหมวดหมู่และการแบ่งแยกพื้นที่เชิงความหมาย (Semantic Segmentation): AI สามารถจำแนกวัตถุและคุณลักษณะของพื้นที่ออกจากกันได้อย่างแม่นยำสูง เช่น แยกพื้นถนน, เสาไฟฟ้า, ยานพาหนะ, ต้นไม้, อาคาร, สายไฟ และท่อใต้ดิน. ตัวอย่างเช่น การใช้โมเดล PointNet++ ประมวลผลข้อมูล Mobile LiDAR บนถนนเมืองเบงกาลูรู สามารถแยกแยะวัตถุหลัก 5 ประเภท ได้ความแม่นยำรวมสูงถึง 92.4% และค่า mIoU 0.846. ข้อจำกัดและการตรวจสอบโดยมนุษย์: แม้ระบบอัตโนมัติจะประมวลผลได้รวดเร็ว แต่มนุษย์ยังคงจำเป็นในการควบคุมคุณภาพ (QA/QC), ตรวจสอบความถูกต้องทางกฎหมาย และตัดสินใจในเงื่อนไขสนามที่ซับซ้อน.</a:t>
            </a:r>
          </a:p>
          <a:p/>
          <a:p>
            <a:r>
              <a:t>อ้างอิงต้นทาง: [5][12][17][1][7]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โน้ตผู้บรรยาย: รอตรวจแหล่ง: การสกัดเรขาคณิตถนนและบัญชีสินทรัพย์ (Road Geometry &amp; Asset Inventory): เทคโนโลยี Mobile LiDAR ร่วมกับ AI สามารถวัดขนาดองค์ประกอบทางวิศวกรรมได้อัตโนมัติ เช่น ความกว้างช่องจราจร (Lane width), ความยาวเส้นทาง, ขนาดทางข้ามหมากลาย (Zebra crossing) และความสูงเสาไฟฟ้า โดยมีความคลาดเคลื่อนต่ำในระดับซับเซนติเมตร (RMSE เฉลี่ยเพียง 0. ซม.). รอตรวจแหล่ง: การลดเวลาและต้นทุนอย่างมหาศาล: กระบวนการสกัดข้อมูลอัตโนมัติช่วยลดเวลาการทำงานด้วยมือ (Manual processing) ลงได้ถึง 85% (ลดเวลาจาก 40 ชั่วโมง เหลือเพียง 6 ชั่วโมงต่อกิโลเมตร) และลดค่าใช้จ่ายด้านแรงงานในสัดส่วนเท่ากัน. รอตรวจแหล่ง: การกู้คืนข้อมูลซ่อนเร้น (Unlocking "Dark Data"): ระบบ Generative AI และ Feature Recognition สามารถอ่านแบบ CAD ดั้งเดิม, เลเยอร์ GIS และบันทึกประวัติศาสตร์ เพื่อดึงคุณลักษณะของสินทรัพย์ที่ไม่เคยถูกจัดหมวดหมู่มาก่อน มาแปลงเป็นฐานข้อมูลเชิงพื้นที่ที่ใช้งานได้จริง (เช่น โครงการ Georgia DOT ที่สกัดข้อมูลถนนกว่า 80,000 ไมล์).</a:t>
            </a:r>
          </a:p>
          <a:p/>
          <a:p>
            <a:r>
              <a:t>อ้างอิงต้นทาง: [4][1][29]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โน้ตผู้บรรยาย: รอตรวจแหล่ง: การเข้าถึงแบบหลายอุปกรณ์และการทำงานร่วมกัน (Cross-Device Collaboration): แพลตฟอร์มคลาวด์ช่วยให้ทีมงานวิศวกร, ผู้ดูแลโครงการ และช่างสำรวจภาคสนาม สามารถเข้าถึง มาร์กอัป (Annotate), วัดขนาด และแชร์โมเดล 3 มิติร่วมกันได้แบบเรียลไทม์ผ่านเว็บเบราว์เซอร์หรืออุปกรณ์เคลื่อนที่. รอตรวจแหล่ง: เวิร์กโฟลว์และ API อัตโนมัติ (Automated Workflows &amp; APIs): ระบบอย่าง Anvil Labs หรือ DroneDeploy นำเสนอ Cloud APIs สำหรับอัปโหลดข้อมูลดิบ เพื่อแปลงเป็นโมเดล 3 มิติ, สร้าง Orthomosaic, และตรวจจับความผิดปกติผ่านอัลกอริทึมบนคลาวด์โดยไม่ต้องลงซอฟต์แวร์ประมวลผลหนักๆ ในเครื่อง local.</a:t>
            </a:r>
          </a:p>
          <a:p/>
          <a:p>
            <a:r>
              <a:t>อ้างอิงต้นทาง: [32][35]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โน้ตผู้บรรยาย: รอตรวจแหล่ง: การบูรณาการ RTK GNSS ร่วมกับ SLAM (Drift Elimination): ระบบ SLAM แบบบริสุทธิ์มักเกิดปัญหา SLAM Drift (ความคลาดเคลื่อนสะสมตามระยะทางเดิน ซึ่งอาจเบี่ยงเบนได้ 50 ซม. ถึงมากกว่า 1 เมตร ทุกๆ ระยะ 500 เมตร) การนำ RTK GNSS ที่มีความแม่นยำระดับเซนติเมตรเข้ามาดึงปรับใน Factor Graph Optimization ช่วยขจัด Drift ได้แบบเรียลไทม์ ทำให้ค่าพิกัดสัมบูรณ์กลางแจ้งมีความแม่นยำสูงถึง ≤ 2 ซม.. รอตรวจแหล่ง: การผสานเซนเซอร์หลายรูปแบบ (Multi-Sensor Fusion): การทำงานร่วมกันระหว่างเซนเซอร์วัดการเคลื่อนที่ IMU ความถี่สูง (200Hz), กล้องบันทึกภาพถ่าย RGB, เครื่องรับสัญญาณ RTK GNSS และ LiDAR ช่วยให้การสำรวจดำเนินไปอย่างต่อเนื่องและไม่มี Drift แม้จะเดินเข้า-ออกระหว่างพื้นที่กลางแจ้งและพื้นที่ร่ม/อาคารที่อับสัญญาณดาวเทียม.</a:t>
            </a:r>
          </a:p>
          <a:p/>
          <a:p>
            <a:r>
              <a:t>อ้างอิงต้นทาง: [41][9][43]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โน้ตผู้บรรยาย: รอตรวจแหล่ง: แนวคิดและคุณลักษณะหลัก: ดิจิทัลทวิน (Digital Twin) คือแบบจำลองเสมือนจริง 3 มิติของโครงสร้างพื้นฐานกายภาพ ที่มีการเชื่อมโยงข้อมูลแบบสองทิศทาง (Bidirectional Data Exchange) และอัปเดตสถานะตามจริงผ่านเซนเซอร์ IoT, GIS, BIM และ LiDAR ตลอดวงจรชีวิตของสินทรัพย์. รอตรวจแหล่ง: แบบจำลองระดับเมืองและระดับชาติ (City &amp; National Scale Twins): ตัวอย่างเช่น Virtual Singapore ที่บูรณาการข้อมูล GIS 3 มิติ, LiDAR และเซนเซอร์ IoT จากกว่า 100 หน่วยงาน เพื่อจำลองการจราจร, การไหลเวียนความร้อน และการวางผังเมือง หรือ Perry, Iowa ที่สร้างดิจิทัลทวินครอบคลุมทั้งเมืองเพื่อบริหารจัดการโครงสร้างพื้นฐานสีเทา (ถนน, ทางเท้า) และสีเขียว (พื้นที่ป่าไม้). รอตรวจแหล่ง: ความยั่งยืนและการลดผลกระทบสิ่งแวดล้อม: ช่วยลดการเดินทางลงพื้นที่สำรวจซ้ำซ้อน (ลดการปล่อยก๊าซเรือนกระจก), ประหยัดงบประมาณบำรุงรักษา (เช่น กรมขนส่งฮาวายประหยัดได้ 940,000 ต่อปี) และเพิ่มความปลอดภัยให้กับเจ้าหน้าที่.</a:t>
            </a:r>
          </a:p>
          <a:p/>
          <a:p>
            <a:r>
              <a:t>อ้างอิงต้นทาง: [57][10][52][62][65][66][9]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โน้ตผู้บรรยาย: รอตรวจแหล่ง: การบรรลุจุดสมดุลของการสำรวจ (The Surveying Sweet Spot): การหลอมรวมระหว่าง LiDAR, RTK GNSS, AI และ Cloud Processing ทำให้งานสำรวจบรรลุความสมบูรณ์แบบทั้ง 4 ด้านพร้อมกัน คือ ความถูกต้องสูง (High Accuracy), ความรวดเร็ว (Speed), ความคุ้มค่าด้านต้นทุน (Cost Efficiency) และ ความปลอดภัยของเจ้าหน้าที่ (Safety).</a:t>
            </a:r>
          </a:p>
          <a:p/>
          <a:p>
            <a:r>
              <a:t>อ้างอิงต้นทาง: [1][17]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45775" cy="2011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4400" b="1" lang="th-TH">
                <a:latin typeface="TH Sarabun New"/>
                <a:ea typeface="TH Sarabun New"/>
                <a:cs typeface="TH Sarabun New"/>
              </a:rPr>
              <a:t>เทคโนโลยีการสำรวจภูมิประเทศสำหรับหน่วยงานภาครัฐ</a:t>
            </a:r>
          </a:p>
          <a:p>
            <a:pPr>
              <a:spcBef>
                <a:spcPts val="1400"/>
              </a:spcBef>
            </a:pPr>
            <a:r>
              <a:rPr sz="2600" b="0" lang="th-TH">
                <a:latin typeface="TH Sarabun New"/>
                <a:ea typeface="TH Sarabun New"/>
                <a:cs typeface="TH Sarabun New"/>
              </a:rPr>
              <a:t>Draft #2 · ยังไม่ตกแต่ง · ตัวเลขอยู่ในโน้ตผู้บรรยายและรอตรวจแหล่งที่มา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45775" cy="2011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4400" b="1" lang="th-TH">
                <a:latin typeface="TH Sarabun New"/>
                <a:ea typeface="TH Sarabun New"/>
                <a:cs typeface="TH Sarabun New"/>
              </a:rPr>
              <a:t>บทนำและความสำคัญของงานสำรวจภูมิประเทศ</a:t>
            </a:r>
          </a:p>
          <a:p>
            <a:pPr>
              <a:spcBef>
                <a:spcPts val="1400"/>
              </a:spcBef>
            </a:pPr>
            <a:r>
              <a:rPr sz="2600" b="0" lang="th-TH">
                <a:latin typeface="TH Sarabun New"/>
                <a:ea typeface="TH Sarabun New"/>
                <a:cs typeface="TH Sarabun New"/>
              </a:rPr>
              <a:t>บทที่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3400" b="1" lang="th-TH">
                <a:latin typeface="TH Sarabun New"/>
                <a:ea typeface="TH Sarabun New"/>
                <a:cs typeface="TH Sarabun New"/>
              </a:rPr>
              <a:t>1.1 ความสำคัญของข้อมูลภูมิประเทศต่อการออกแบบและก่อสร้าง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94385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3000" b="0" lang="th-TH">
                <a:latin typeface="TH Sarabun New"/>
                <a:ea typeface="TH Sarabun New"/>
                <a:cs typeface="TH Sarabun New"/>
              </a:rPr>
              <a:t>ข้อมูลภูมิประเทศเป็นข้อมูลพื้นฐานที่สุดของงานวางแผน ออกแบบ และก่อสร้าง ได้แก่ ระดับความสูง ความลาดชัน ขอบเขตพื้นที่ และตำแหน่งของสิ่งปลูกสร้าง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3000" b="0" lang="th-TH">
                <a:latin typeface="TH Sarabun New"/>
                <a:ea typeface="TH Sarabun New"/>
                <a:cs typeface="TH Sarabun New"/>
              </a:rPr>
              <a:t>ใช้คำนวณปริมาณงานดิน กำหนดแนวทางระบายน้ำ ประเมินพื้นที่เสี่ยงน้ำท่วมและการกัดเซาะ และกำหนดแนวโครงการ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3000" b="0" lang="th-TH">
                <a:latin typeface="TH Sarabun New"/>
                <a:ea typeface="TH Sarabun New"/>
                <a:cs typeface="TH Sarabun New"/>
              </a:rPr>
              <a:t>ความคลาดเคลื่อนของข้อมูลสำรวจส่งผลต่อเนื่องถึงแบบก่อสร้าง ปริมาณงาน งบประมาณ และความปลอดภัยของโครงสร้าง จึงต้องเลือกวิธีสำรวจให้สอดคล้องกับความถูกต้องที่โครงการต้องการ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3400" b="1" lang="th-TH">
                <a:latin typeface="TH Sarabun New"/>
                <a:ea typeface="TH Sarabun New"/>
                <a:cs typeface="TH Sarabun New"/>
              </a:rPr>
              <a:t>1.2 การเปลี่ยนแปลงของเทคโนโลยีงานสำรวจ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94385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3000" b="0" lang="th-TH">
                <a:latin typeface="TH Sarabun New"/>
                <a:ea typeface="TH Sarabun New"/>
                <a:cs typeface="TH Sarabun New"/>
              </a:rPr>
              <a:t>ยุคดั้งเดิม: ใช้เทปวัดระยะ กล้องระดับ และกล้องวัดมุม ต้องอาศัยกำลังคนและเวลาในสนามมาก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3000" b="0" lang="th-TH">
                <a:latin typeface="TH Sarabun New"/>
                <a:ea typeface="TH Sarabun New"/>
                <a:cs typeface="TH Sarabun New"/>
              </a:rPr>
              <a:t>ยุคอิเล็กทรอนิกส์: กล้อง Total Station และเครื่องรับสัญญาณดาวเทียม GNSS ช่วยให้วัดได้เร็วและบันทึกข้อมูลเป็นดิจิทัล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3000" b="0" lang="th-TH">
                <a:latin typeface="TH Sarabun New"/>
                <a:ea typeface="TH Sarabun New"/>
                <a:cs typeface="TH Sarabun New"/>
              </a:rPr>
              <a:t>ยุคปัจจุบัน: UAV/Drone และ LiDAR เก็บข้อมูลได้ครอบคลุมพื้นที่กว้างในเวลาสั้น ผลลัพธ์เปลี่ยนจากข้อมูลเป็นจุดไม่กี่จุด เป็นข้อมูลพื้นผิวที่ประกอบด้วยจุดจำนวนมาก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3400" b="1" lang="th-TH">
                <a:latin typeface="TH Sarabun New"/>
                <a:ea typeface="TH Sarabun New"/>
                <a:cs typeface="TH Sarabun New"/>
              </a:rPr>
              <a:t>1.3 จากการสำรวจแบบดั้งเดิมสู่ Digital Survey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376275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3000" b="0" lang="th-TH">
                <a:latin typeface="TH Sarabun New"/>
                <a:ea typeface="TH Sarabun New"/>
                <a:cs typeface="TH Sarabun New"/>
              </a:rPr>
              <a:t>Digital Survey คือการสำรวจที่ข้อมูลเป็นดิจิทัลตลอดกระบวนการ ตั้งแต่การเก็บข้อมูล การประมวลผล จนถึงการส่งมอบ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3000" b="0" lang="th-TH">
                <a:latin typeface="TH Sarabun New"/>
                <a:ea typeface="TH Sarabun New"/>
                <a:cs typeface="TH Sarabun New"/>
              </a:rPr>
              <a:t>ข้อมูลที่ได้นำไปใช้ต่อในระบบ CAD, GIS และ BIM ได้โดยตรง ลดการคัดลอกและแปลงข้อมูลซ้ำ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3000" b="0" lang="th-TH">
                <a:latin typeface="TH Sarabun New"/>
                <a:ea typeface="TH Sarabun New"/>
                <a:cs typeface="TH Sarabun New"/>
              </a:rPr>
              <a:t>ช่วยลดระยะเวลาปฏิบัติงานภาคสนาม ลดความเสี่ยงของผู้ปฏิบัติงานในพื้นที่อันตราย และตรวจสอบย้อนกลับได้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45775" cy="2011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4400" b="1" lang="th-TH">
                <a:latin typeface="TH Sarabun New"/>
                <a:ea typeface="TH Sarabun New"/>
                <a:cs typeface="TH Sarabun New"/>
              </a:rPr>
              <a:t>เทคโนโลยีการกำหนดตำแหน่งด้วยดาวเทียม GNSS</a:t>
            </a:r>
          </a:p>
          <a:p>
            <a:pPr>
              <a:spcBef>
                <a:spcPts val="1400"/>
              </a:spcBef>
            </a:pPr>
            <a:r>
              <a:rPr sz="2600" b="0" lang="th-TH">
                <a:latin typeface="TH Sarabun New"/>
                <a:ea typeface="TH Sarabun New"/>
                <a:cs typeface="TH Sarabun New"/>
              </a:rPr>
              <a:t>บทที่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3400" b="1" lang="th-TH">
                <a:latin typeface="TH Sarabun New"/>
                <a:ea typeface="TH Sarabun New"/>
                <a:cs typeface="TH Sarabun New"/>
              </a:rPr>
              <a:t>2.1 GNSS, RTK และ Network RTK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87070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H Sarabun New"/>
                <a:ea typeface="TH Sarabun New"/>
                <a:cs typeface="TH Sarabun New"/>
              </a:rPr>
              <a:t>GNSS (Global Navigation Satellite System): เป็นคำรวมของระบบดาวเทียมนำทางจากหลายประเทศ ได้แก่ GPS (สหรัฐฯ), GLONASS (รัสเซีย), Galileo (สหภาพยุโรป) และ BeiDou (จีน) เครื่องรับ GNSS สมัยใหม่สามารถรับสัญญาณแบบ Multi-Constellation และ Multi-Frequency ช่วยเพิ่มเสถียรภาพและความแม่นยำในการวัดพิกัด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H Sarabun New"/>
                <a:ea typeface="TH Sarabun New"/>
                <a:cs typeface="TH Sarabun New"/>
              </a:rPr>
              <a:t>Network RTK: แก้ข้อจำกัดเรื่องระยะห่าง Base Station โดยใช้เครือข่ายสถานีฐานถาวร (CORS) ที่ประมวลผลร่วมกันผ่านเซิร์ฟเวอร์กลาง ส่งค่าแก้ผ่านโปรโตคอล NTRIP โดยใช้เทคนิคสร้างสถานีอ้างอิงเสมือน VRS (Virtual Reference Station), FKP หรือ MAC ผู้ใช้สามารถทำงานได้ด้วยเครื่อง Rover เพียงเครื่องเดียว ให้ความแม่นยำสม่ำเสมอทั่วพื้นที่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3400" b="1" lang="th-TH">
                <a:latin typeface="TH Sarabun New"/>
                <a:ea typeface="TH Sarabun New"/>
                <a:cs typeface="TH Sarabun New"/>
              </a:rPr>
              <a:t>2.2 CORS และระบบอ้างอิงพิกัด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39826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H Sarabun New"/>
                <a:ea typeface="TH Sarabun New"/>
                <a:cs typeface="TH Sarabun New"/>
              </a:rPr>
              <a:t>RTSD CORS (กรมแผนที่ทหาร): เน้นความแม่นยำระดับ Geodetic อ้างอิงระบบพิกัดสากล ITRF / WGS84 เหมาะสำหรับงานโครงสร้างพื้นฐาน แผนที่ระดับชาติ งานวิชาการ และงานยุทธศาสตร์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H Sarabun New"/>
                <a:ea typeface="TH Sarabun New"/>
                <a:cs typeface="TH Sarabun New"/>
              </a:rPr>
              <a:t>ระบบอ้างอิงพิกัด (Coordinate Reference Systems): การรังวัดด้วย GNSS ได้ค่าพิกัดบนทรงรีสากล (เช่น WGS84 หรือ ITRF) จึงต้องนำมาผ่านกระบวนการแปลงพิกัด (On-site Calibration / Localization) เพื่อให้อยู่ในระบบพิกัดฉากราบท้องถิ่น (เช่น UTM หรือ Indian 1975) และใช้แบบจำลองยีออยด์ (เช่น TGM2017) ในการแปลงความสูงเหนือทรงรี (Ellipsoidal Height) เป็นความสูงออร์โทเมตริกเหนือระดับทะเลปานกลาง (Orthometric Height)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3400" b="1" lang="th-TH">
                <a:latin typeface="TH Sarabun New"/>
                <a:ea typeface="TH Sarabun New"/>
                <a:cs typeface="TH Sarabun New"/>
              </a:rPr>
              <a:t>2.3 การประยุกต์ใช้ GNSS ในงานสำรวจภูมิประเทศ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6233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2200" b="0" lang="th-TH">
                <a:latin typeface="TH Sarabun New"/>
                <a:ea typeface="TH Sarabun New"/>
                <a:cs typeface="TH Sarabun New"/>
              </a:rPr>
              <a:t>งานรังวัดที่ดินและแบ่งแยกแปลง: รังวัดขอบเขตและออกโฉนดตามมาตรฐานกรมที่ดินด้วย Network RTK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200" b="0" lang="th-TH">
                <a:latin typeface="TH Sarabun New"/>
                <a:ea typeface="TH Sarabun New"/>
                <a:cs typeface="TH Sarabun New"/>
              </a:rPr>
              <a:t>งานก่อสร้างและปักหมุดแนว (Construction &amp; Stakeout): กำหนดแนวเส้นทาง วางผังโครงสร้าง และปักหมุดตำแหน่งอาคาร ถนน สะพาน ได้อย่างรวดเร็ว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200" b="0" lang="th-TH">
                <a:latin typeface="TH Sarabun New"/>
                <a:ea typeface="TH Sarabun New"/>
                <a:cs typeface="TH Sarabun New"/>
              </a:rPr>
              <a:t>งานสำรวจรายละเอียดและทำงานร่วมกับโดรน (Drone Survey - RTK/PPK): ใช้บันทึกตำแหน่งศูนย์กลางภาพถ่ายจากโดรน หรือใช้รังวัดตำแหน่งหมุดควบคุมภาพถ่าย (GCPs) และจุดตรวจสอบ (Checkpoints) ภาคสนามด้วยความแม่นยำระดับเซนติเมตร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200" b="0" lang="th-TH">
                <a:latin typeface="TH Sarabun New"/>
                <a:ea typeface="TH Sarabun New"/>
                <a:cs typeface="TH Sarabun New"/>
              </a:rPr>
              <a:t>งานทำระดับด้วย GNSS (GNSS Leveling): ใช้วิธี Static Survey ร่วมกับแบบจำลองยีออยด์ TGM2017 และสถานี CORS ในการคำนวณหาค่าความสูงออร์โทเมตริกสำหรับงานวิศวกรรมโยธาและงานน้ำ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45775" cy="2011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4400" b="1" lang="th-TH">
                <a:latin typeface="TH Sarabun New"/>
                <a:ea typeface="TH Sarabun New"/>
                <a:cs typeface="TH Sarabun New"/>
              </a:rPr>
              <a:t>เทคโนโลยีการสำรวจด้วย Total Station</a:t>
            </a:r>
          </a:p>
          <a:p>
            <a:pPr>
              <a:spcBef>
                <a:spcPts val="1400"/>
              </a:spcBef>
            </a:pPr>
            <a:r>
              <a:rPr sz="2600" b="0" lang="th-TH">
                <a:latin typeface="TH Sarabun New"/>
                <a:ea typeface="TH Sarabun New"/>
                <a:cs typeface="TH Sarabun New"/>
              </a:rPr>
              <a:t>บทที่ 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3400" b="1" lang="th-TH">
                <a:latin typeface="TH Sarabun New"/>
                <a:ea typeface="TH Sarabun New"/>
                <a:cs typeface="TH Sarabun New"/>
              </a:rPr>
              <a:t>3.1 การรังวัดมุม ระยะทาง และระดับ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87070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3000" b="0" lang="th-TH">
                <a:latin typeface="TH Sarabun New"/>
                <a:ea typeface="TH Sarabun New"/>
                <a:cs typeface="TH Sarabun New"/>
              </a:rPr>
              <a:t>อุปกรณ์และการรวมระบบ: กล้อง Total Station เป็นการพัฒนาเครื่องมือวัดสำรวจโดยรวมกล้องวัดมุมดิจิทัล (Digital Theodolite) เข้ากับเครื่องวัดระยะทางด้วยคลื่นอิเล็กทรอนิกส์ (EDM) และไมโครโพรเซสเซอร์บันทึกประมวลผลไว้ในเครื่องเดียวกัน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3000" b="0" lang="th-TH">
                <a:latin typeface="TH Sarabun New"/>
                <a:ea typeface="TH Sarabun New"/>
                <a:cs typeface="TH Sarabun New"/>
              </a:rPr>
              <a:t>การรังวัดมุม: วัดค่ามุมราบ (Horizontal Angle) และมุมดิ่ง (Vertical Angle / Zenith Angle) โดยใช้จานองศาในแนวราบและแนวดิ่ง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3400" b="1" lang="th-TH">
                <a:latin typeface="TH Sarabun New"/>
                <a:ea typeface="TH Sarabun New"/>
                <a:cs typeface="TH Sarabun New"/>
              </a:rPr>
              <a:t>3.2 การสำรวจรายละเอียดภูมิประเทศ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75259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2600" b="0" lang="th-TH">
                <a:latin typeface="TH Sarabun New"/>
                <a:ea typeface="TH Sarabun New"/>
                <a:cs typeface="TH Sarabun New"/>
              </a:rPr>
              <a:t>การตั้งกล้องและส่อง Backsight: เริ่มต้นโดยตั้งกล้องบนหมุดหลักฐานที่ทราบพิกัด (Occupied Station) ผ่านดิ่งกล้อง (Optical หรือ Laser Plummet) ปรับระดับฟองกลมหรือฟองอิเล็กทรอนิกส์ให้ประณีต จากนั้นตั้งค่า Backsight โดยป้อนพิกัดหมุดอ้างอิงหรือป้อนมุมแอซิมัท (Azimuth) ทราบค่า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600" b="0" lang="th-TH">
                <a:latin typeface="TH Sarabun New"/>
                <a:ea typeface="TH Sarabun New"/>
                <a:cs typeface="TH Sarabun New"/>
              </a:rPr>
              <a:t>การประมวลผลแบบ Digital Survey: ข้อมูลพิกัดและรหัสรายละเอียด (Feature Code) ที่บันทึกไว้สามารถส่งออกไปยังโปรแกรม CADD และ GIS เพื่อเขียนแบบและสร้างแผนที่ภูมิประเทศได้ทันที โดยไม่ต้องป้อนข้อมูลซ้ำ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3400" b="1" lang="th-TH">
                <a:latin typeface="TH Sarabun New"/>
                <a:ea typeface="TH Sarabun New"/>
                <a:cs typeface="TH Sarabun New"/>
              </a:rPr>
              <a:t>3.3 การทำงานร่วมกับ GNSS และระบบพิกัด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75259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2600" b="0" lang="th-TH">
                <a:latin typeface="TH Sarabun New"/>
                <a:ea typeface="TH Sarabun New"/>
                <a:cs typeface="TH Sarabun New"/>
              </a:rPr>
              <a:t>จุดเด่นที่เสริมซึ่งกันและกัน: GNSS มีประสิทธิภาพสูงในพื้นที่เปิดโล่งและครอบคลุมระยะทางไกล ส่วน Total Station เหมาะอย่างยิ่งสำหรับพื้นที่อับสัญญาณดาวเทียม เช่น ภายในอาคาร ตรอกซอกซอย หรือใต้เรือนยอดไม้หนาแน่น รวมถึงงานที่ต้องการความถูกต้องละเอียดประณีตระดับมิลลิเมตร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600" b="0" lang="th-TH">
                <a:latin typeface="TH Sarabun New"/>
                <a:ea typeface="TH Sarabun New"/>
                <a:cs typeface="TH Sarabun New"/>
              </a:rPr>
              <a:t>การสร้างและส่งต่อหมุดควบคุม: ใช้ GNSS (เช่น NRTK หรือ Radio RTK) รังวัดกำหนดหมุดควบคุมหลักภายนอกอาคาร (เช่น BM1, BM2) แล้วใช้ Total Station ส่องอ้างอิง Backsight เดินวงรอบต่อเข้าไปเก็บรายละเอียดในพื้นที่อับสัญญาณหรือภายในอาคาร (เช่น BM3, BM4)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45775" cy="2011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4400" b="1" lang="th-TH">
                <a:latin typeface="TH Sarabun New"/>
                <a:ea typeface="TH Sarabun New"/>
                <a:cs typeface="TH Sarabun New"/>
              </a:rPr>
              <a:t>เทคโนโลยีการสำรวจด้วย UAV/Drone</a:t>
            </a:r>
          </a:p>
          <a:p>
            <a:pPr>
              <a:spcBef>
                <a:spcPts val="1400"/>
              </a:spcBef>
            </a:pPr>
            <a:r>
              <a:rPr sz="2600" b="0" lang="th-TH">
                <a:latin typeface="TH Sarabun New"/>
                <a:ea typeface="TH Sarabun New"/>
                <a:cs typeface="TH Sarabun New"/>
              </a:rPr>
              <a:t>บทที่ 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3400" b="1" lang="th-TH">
                <a:latin typeface="TH Sarabun New"/>
                <a:ea typeface="TH Sarabun New"/>
                <a:cs typeface="TH Sarabun New"/>
              </a:rPr>
              <a:t>4.1 Photogrammetry และการถ่ายภาพทางอากาศ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28015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3000" b="0" lang="th-TH">
                <a:latin typeface="TH Sarabun New"/>
                <a:ea typeface="TH Sarabun New"/>
                <a:cs typeface="TH Sarabun New"/>
              </a:rPr>
              <a:t>Structure from Motion (SfM): ตรวจจับและจับคู่จุดลักษณะเด่น (Feature Matching) ข้ามภาพถ่ายเพื่อประเมินตำแหน่ง ทิศทาง ค่าพารามิเตอร์กล้อง และสร้างกลุ่มเมฆจุดแบบโปร่ง (Sparse Point Cloud)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3000" b="0" lang="th-TH">
                <a:latin typeface="TH Sarabun New"/>
                <a:ea typeface="TH Sarabun New"/>
                <a:cs typeface="TH Sarabun New"/>
              </a:rPr>
              <a:t>Multi-View Stereo (MVS): คำนวณความหนาแน่นเชิงลึกเพื่อสร้างกลุ่มเมฆจุดความหนาแน่นสูง (Dense Point Cloud) และพื้นผิว 3D Mesh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3400" b="1" lang="th-TH">
                <a:latin typeface="TH Sarabun New"/>
                <a:ea typeface="TH Sarabun New"/>
                <a:cs typeface="TH Sarabun New"/>
              </a:rPr>
              <a:t>4.2 การวางแผนแนวบินและการกำหนด GCP /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62889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2800" b="0" lang="th-TH">
                <a:latin typeface="TH Sarabun New"/>
                <a:ea typeface="TH Sarabun New"/>
                <a:cs typeface="TH Sarabun New"/>
              </a:rPr>
              <a:t>ความสูงบิน (Flight Altitude): กำหนดขอบเขตพื้นที่ครอบคลุมและความละเอียดภาพ โดยสัมพันธ์กับทางยาวโฟกัส (Focal Length) และขนาดเซนเซอร์กล้อง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800" b="0" lang="th-TH">
                <a:latin typeface="TH Sarabun New"/>
                <a:ea typeface="TH Sarabun New"/>
                <a:cs typeface="TH Sarabun New"/>
              </a:rPr>
              <a:t>รูปแบบบล็อกการบิน: นิยมบินเป็นตารางสี่เหลี่ยมมุมฉาก (Grid Flight Line) เพื่อความแข็งแรงของโครงข่ายการประมวลผล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800" b="0" lang="th-TH">
                <a:latin typeface="TH Sarabun New"/>
                <a:ea typeface="TH Sarabun New"/>
                <a:cs typeface="TH Sarabun New"/>
              </a:rPr>
              <a:t>Checkpoint (CP): หมุดที่รังวัดพิกัดจริงด้วย RTK แต่ไม่ถูกนำไปใช้ดึงโมเดล มีไว้สำหรับเปรียบเทียบค่าพิกัดกับโมเดล 3D เพื่อคำนวณค่า RMSE ในการประเมินความถูกต้องสัมบูรณ์อย่างเที่ยงตรง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3400" b="1" lang="th-TH">
                <a:latin typeface="TH Sarabun New"/>
                <a:ea typeface="TH Sarabun New"/>
                <a:cs typeface="TH Sarabun New"/>
              </a:rPr>
              <a:t>4.3 การสร้าง Orthophoto และ Digital Surface Model (DSM)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87070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3000" b="0" lang="th-TH">
                <a:latin typeface="TH Sarabun New"/>
                <a:ea typeface="TH Sarabun New"/>
                <a:cs typeface="TH Sarabun New"/>
              </a:rPr>
              <a:t>Digital Surface Model (DSM): แบบจำลองความสูงเชิงพื้นผิวที่สร้างจากพอยต์คลาวด์หนาแน่น บันทึกระดับความสูงของทุกวัตถุบนดิน (พื้นดิน + อาคาร + ต้นไม้)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3000" b="0" lang="th-TH">
                <a:latin typeface="TH Sarabun New"/>
                <a:ea typeface="TH Sarabun New"/>
                <a:cs typeface="TH Sarabun New"/>
              </a:rPr>
              <a:t>Orthophoto / Orthomosaic: แผนที่ภาพถ่ายทางอากาศที่ถูกปรับแก้ความเอียงและมุมมองภาพ (Orthorectification) โดยใช้ DSM หรือ DTM เป็นพื้นผิวอ้างอิง ทำให้ได้แผนที่ที่มีมาตราส่วนสม่ำเสมอทั่วทั้งแผ่น สามารถวัดระยะทางและคำนวณพื้นที่ได้ตามจริง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3400" b="1" lang="th-TH">
                <a:latin typeface="TH Sarabun New"/>
                <a:ea typeface="TH Sarabun New"/>
                <a:cs typeface="TH Sarabun New"/>
              </a:rPr>
              <a:t>4.4 การประยุกต์ใช้ในพื้นที่ขนาดใหญ่และพื้นที่เข้าถึงยาก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82574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2600" b="0" lang="th-TH">
                <a:latin typeface="TH Sarabun New"/>
                <a:ea typeface="TH Sarabun New"/>
                <a:cs typeface="TH Sarabun New"/>
              </a:rPr>
              <a:t>จุดเด่นเชิงปฏิบัติการ: โดรนสำรวจสามารถเก็บข้อมูลพื้นที่ขนาดใหญ่ได้อย่างรวดเร็ว มีความคล่องตัวสูง ช่วยลดเวลา กำลังคน และค่าใช้จ่ายเมื่อเทียบกับการสำรวจทางบกแบบดั้งเดิม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600" b="0" lang="th-TH">
                <a:latin typeface="TH Sarabun New"/>
                <a:ea typeface="TH Sarabun New"/>
                <a:cs typeface="TH Sarabun New"/>
              </a:rPr>
              <a:t>การทำงานในพื้นที่เสี่ยงภัย: เหมาะสำหรับพื้นที่อันตราย หน้าผาชัน พื้นที่พรุ/อับชื้น หรือพื้นที่ประสบภัยพิบัติทางธรรมชาติ ซึ่งผู้สำรวจไม่สามารถเดินเท้าเข้าถึงได้อย่างปลอดภัย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600" b="0" lang="th-TH">
                <a:latin typeface="TH Sarabun New"/>
                <a:ea typeface="TH Sarabun New"/>
                <a:cs typeface="TH Sarabun New"/>
              </a:rPr>
              <a:t>ขอบเขตการนำไปใช้งาน: งานวิศวกรรมโยธาและผังเมือง, งานคำนวณปริมาณดินตัด-ดินถม (Earthwork Volume), งานเกษตรกรรมแม่นยำ, งานรังวัดชายฝั่ง และงานบันทึกประเมินความเสียหายหลังภัยพิบัติ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45775" cy="2011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4400" b="1" lang="th-TH">
                <a:latin typeface="TH Sarabun New"/>
                <a:ea typeface="TH Sarabun New"/>
                <a:cs typeface="TH Sarabun New"/>
              </a:rPr>
              <a:t>เทคโนโลยี LiDAR สำหรับการสำรวจภูมิประเทศ</a:t>
            </a:r>
          </a:p>
          <a:p>
            <a:pPr>
              <a:spcBef>
                <a:spcPts val="1400"/>
              </a:spcBef>
            </a:pPr>
            <a:r>
              <a:rPr sz="2600" b="0" lang="th-TH">
                <a:latin typeface="TH Sarabun New"/>
                <a:ea typeface="TH Sarabun New"/>
                <a:cs typeface="TH Sarabun New"/>
              </a:rPr>
              <a:t>บทที่ 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3400" b="1" lang="th-TH">
                <a:latin typeface="TH Sarabun New"/>
                <a:ea typeface="TH Sarabun New"/>
                <a:cs typeface="TH Sarabun New"/>
              </a:rPr>
              <a:t>5.1 หลักการทำงานของ LiDAR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50170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H Sarabun New"/>
                <a:ea typeface="TH Sarabun New"/>
                <a:cs typeface="TH Sarabun New"/>
              </a:rPr>
              <a:t>การวัดระยะทางด้วย Time-of-Flight (ToF): ตัวรับสัญญาณจะบันทึกระยะเวลาที่พัลส์เลเซอร์ใช้ในการเดินทางไปและกลับ แล้วนำมาคำนวณระยะทางระหว่างเซนเซอร์กับเป้าหมายโดยอาศัยความเร็วแสง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H Sarabun New"/>
                <a:ea typeface="TH Sarabun New"/>
                <a:cs typeface="TH Sarabun New"/>
              </a:rPr>
              <a:t>Laser Scanner: ยิงและรับพัลส์เลเซอร์ พร้อมกระจายลำแสงผ่านกระจกสแกน (Scanning Mirror) ได้นับแสนถึงล้านพัลส์ต่อวินาที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H Sarabun New"/>
                <a:ea typeface="TH Sarabun New"/>
                <a:cs typeface="TH Sarabun New"/>
              </a:rPr>
              <a:t>GNSS (DGPS/RTK/PPK): บันทึกค่าพิกัดตำแหน่งทางภูมิศาสตร์ (X, Y, Z) ของตัวเซนเซอร์หรือพาหนะขณะเคลื่อนที่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H Sarabun New"/>
                <a:ea typeface="TH Sarabun New"/>
                <a:cs typeface="TH Sarabun New"/>
              </a:rPr>
              <a:t>IMU / IRS (Inertial Measurement Unit): บันทึกการเปลี่ยนทิศทางและการวางตัวของพาหนะในขณะนั้น ได้แก่ ค่า Roll (เอียงข้าง), Pitch (ก้ม/เงย) และ Heading/Yaw (ทิศทาง)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3400" b="1" lang="th-TH">
                <a:latin typeface="TH Sarabun New"/>
                <a:ea typeface="TH Sarabun New"/>
                <a:cs typeface="TH Sarabun New"/>
              </a:rPr>
              <a:t>5.2 Airborne LiDAR (อากาศยาน LiDAR / เครื่องบิน-เฮลิคอปเตอร์)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243535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3000" b="0" lang="th-TH">
                <a:latin typeface="TH Sarabun New"/>
                <a:ea typeface="TH Sarabun New"/>
                <a:cs typeface="TH Sarabun New"/>
              </a:rPr>
              <a:t>ติดตั้งบนเครื่องบินปีกไฟว์หรือเฮลิคอปเตอร์ เหมาะสำหรับการสแกนทำแผนที่ระดับภูมิภาค พื้นที่ขนาดใหญ่มาก หรือแนวระเบียงยาว (Corridor Mapping) เช่น แผนที่ลุ่มน้ำ สายส่งไฟฟ้า ทางหลวง และงานป่าไม้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3400" b="1" lang="th-TH">
                <a:latin typeface="TH Sarabun New"/>
                <a:ea typeface="TH Sarabun New"/>
                <a:cs typeface="TH Sarabun New"/>
              </a:rPr>
              <a:t>5.3 Mobile Terrestrial LiDAR (LiDAR เคลื่อนที่ทางบก - MLS)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94385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3000" b="0" lang="th-TH">
                <a:latin typeface="TH Sarabun New"/>
                <a:ea typeface="TH Sarabun New"/>
                <a:cs typeface="TH Sarabun New"/>
              </a:rPr>
              <a:t>ติดตั้งบนยานพาหนะทางบก (เช่น รถบรรทุกหรือรถ RTV) ทำงานร่วมกับสแกนเนอร์เลเซอร์, GNSS, IMU และ Wheel DMI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3000" b="0" lang="th-TH">
                <a:latin typeface="TH Sarabun New"/>
                <a:ea typeface="TH Sarabun New"/>
                <a:cs typeface="TH Sarabun New"/>
              </a:rPr>
              <a:t>เด่นในการเก็บข้อมูลมุมมองเฉียงและด้านข้างที่มีความหนาแน่นจุดสูงมาก เช่น หน้าผาชายฝั่ง ลานทราย คันดิน ผนังอาคาร และถนน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3000" b="0" lang="th-TH">
                <a:latin typeface="TH Sarabun New"/>
                <a:ea typeface="TH Sarabun New"/>
                <a:cs typeface="TH Sarabun New"/>
              </a:rPr>
              <a:t>ต้องทำกระบวนการ Boresight Alignment เพื่อปรับแก้ความคลาดเคลื่อนเชิงมุมระหว่างเซนเซอร์ LiDAR กับ IMU ก่อนและหลังการสแกน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3400" b="1" lang="th-TH">
                <a:latin typeface="TH Sarabun New"/>
                <a:ea typeface="TH Sarabun New"/>
                <a:cs typeface="TH Sarabun New"/>
              </a:rPr>
              <a:t>5.4 UAV LiDAR (LiDAR บนโดรน)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184480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3000" b="0" lang="th-TH">
                <a:latin typeface="TH Sarabun New"/>
                <a:ea typeface="TH Sarabun New"/>
                <a:cs typeface="TH Sarabun New"/>
              </a:rPr>
              <a:t>ติดตั้งเซนเซอร์ LiDAR ขนาดเบาบนอากาศยานไร้นักบิน (UAV) เหมาะสำหรับพื้นที่ขนาดเล็กถึงปานกลาง พื้นที่เสี่ยงภัย หรือพื้นที่ป่าไม้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3400" b="1" lang="th-TH">
                <a:latin typeface="TH Sarabun New"/>
                <a:ea typeface="TH Sarabun New"/>
                <a:cs typeface="TH Sarabun New"/>
              </a:rPr>
              <a:t>5.5 Point Cloud และการจำแนกข้อมูล Ground/Non-Ground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184480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3000" b="0" lang="th-TH">
                <a:latin typeface="TH Sarabun New"/>
                <a:ea typeface="TH Sarabun New"/>
                <a:cs typeface="TH Sarabun New"/>
              </a:rPr>
              <a:t>มาตรฐานไฟล์ LAS/LAZ: เป็นมาตรฐานเปิดสากลที่กำหนดโดย ASPRS ประกอบด้วย Public Header Block, Variable Length Records (VLRs) และ Point Data Records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3400" b="1" lang="th-TH">
                <a:latin typeface="TH Sarabun New"/>
                <a:ea typeface="TH Sarabun New"/>
                <a:cs typeface="TH Sarabun New"/>
              </a:rPr>
              <a:t>5.6 การจำแนกข้อมูล Ground / Non-Ground (Ground Filtering)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5445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H Sarabun New"/>
                <a:ea typeface="TH Sarabun New"/>
                <a:cs typeface="TH Sarabun New"/>
              </a:rPr>
              <a:t>เป็นกระบวนการคัดแยกพอยต์คลาวด์ออกเป็นกลุ่ม Ground (พื้นดินเปล่า) และ Non-Ground (สิ่งก่อสร้าง อาคาร ต้นไม้ ยานพาหนะ และสัญญาณรบกวน/Noise)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H Sarabun New"/>
                <a:ea typeface="TH Sarabun New"/>
                <a:cs typeface="TH Sarabun New"/>
              </a:rPr>
              <a:t>หลักการทางกายภาพในการคัดแยก: อาศัยจุดระดับต่ำสุดในพื้นที่ (Lowest Elevation), เกณฑ์ความชัน (Slope Threshold), ความต่างระดับความสูง (Elevation Difference) และความราบเรียบของพื้นผิว (Smoothness)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H Sarabun New"/>
                <a:ea typeface="TH Sarabun New"/>
                <a:cs typeface="TH Sarabun New"/>
              </a:rPr>
              <a:t>Progressive TIN Densification (PTD): สร้างโครงข่ายสามเหลี่ยมระดับหยาบจากจุดต่ำสุด แล้วขยายการคำนวณปรับแก้หาจุดพื้นดินอย่างต่อเนื่อง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H Sarabun New"/>
                <a:ea typeface="TH Sarabun New"/>
                <a:cs typeface="TH Sarabun New"/>
              </a:rPr>
              <a:t>Cloth Simulation Filter (CSF): จำลองการพลิก Point Cloud กลับหัวแล้วทิ้งผ้าเสมือนลงมาคลุม จุดที่ผ้าสัมผัสจะถูกคัดแยกเป็นพื้นดิน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3400" b="1" lang="th-TH">
                <a:latin typeface="TH Sarabun New"/>
                <a:ea typeface="TH Sarabun New"/>
                <a:cs typeface="TH Sarabun New"/>
              </a:rPr>
              <a:t>5.7 กระบวนการแปลงจุดพอยต์คลาวด์เป็น DTM (Rasterization / Interpolation)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31393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2600" b="0" lang="th-TH">
                <a:latin typeface="TH Sarabun New"/>
                <a:ea typeface="TH Sarabun New"/>
                <a:cs typeface="TH Sarabun New"/>
              </a:rPr>
              <a:t>คัดเลือกเฉพาะจุดพอยต์คลาวด์ที่ได้รับการจำแนกประเภทเป็น Ground (Class 2)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600" b="0" lang="th-TH">
                <a:latin typeface="TH Sarabun New"/>
                <a:ea typeface="TH Sarabun New"/>
                <a:cs typeface="TH Sarabun New"/>
              </a:rPr>
              <a:t>นำจุดพื้นดินมาประมาณค่าผ่านอัลกอริทึม เช่น Points2Grid (Local Binning) ที่คัดเลือกค่าความสูงต่ำสุดในแต่ละเซลล์กริด หรือใช้ Kriging, IDW และ Triangulation (TIN to Raster)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600" b="0" lang="th-TH">
                <a:latin typeface="TH Sarabun New"/>
                <a:ea typeface="TH Sarabun New"/>
                <a:cs typeface="TH Sarabun New"/>
              </a:rPr>
              <a:t>ผลลัพธ์ DTM แบบ Regular Grid หรือ TIN จะถูกนำไปใช้คำนวณปริมาณงานดินตัด-ดินถม (Cut &amp; Fill Volume), งานวิเคราะห์ทางอุทกวิทยา และการเขียนเส้นชั้นความสูง (Contour Lines) ในระบบ CADD/GIS ต่อไป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45775" cy="2011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4400" b="1" lang="th-TH">
                <a:latin typeface="TH Sarabun New"/>
                <a:ea typeface="TH Sarabun New"/>
                <a:cs typeface="TH Sarabun New"/>
              </a:rPr>
              <a:t>การสำรวจภูมิประเทศด้วยเทคโนโลยีภาพถ่ายและ Point Cloud</a:t>
            </a:r>
          </a:p>
          <a:p>
            <a:pPr>
              <a:spcBef>
                <a:spcPts val="1400"/>
              </a:spcBef>
            </a:pPr>
            <a:r>
              <a:rPr sz="2600" b="0" lang="th-TH">
                <a:latin typeface="TH Sarabun New"/>
                <a:ea typeface="TH Sarabun New"/>
                <a:cs typeface="TH Sarabun New"/>
              </a:rPr>
              <a:t>บทที่ 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3400" b="1" lang="th-TH">
                <a:latin typeface="TH Sarabun New"/>
                <a:ea typeface="TH Sarabun New"/>
                <a:cs typeface="TH Sarabun New"/>
              </a:rPr>
              <a:t>6.1 Photogrammetry (การรังวัดด้วยภาพถ่าย)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184480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3000" b="0" lang="th-TH">
                <a:latin typeface="TH Sarabun New"/>
                <a:ea typeface="TH Sarabun New"/>
                <a:cs typeface="TH Sarabun New"/>
              </a:rPr>
              <a:t>ผลลัพธ์หลัก: ได้แผนที่ภาพถ่ายดัดแก้ (Orthophoto), แบบจำลอง 3D Textured Mesh และกลุ่มเมฆจุด (Point Cloud) ที่มีค่าสีสันสมจริง (RGB) ในตัว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3400" b="1" lang="th-TH">
                <a:latin typeface="TH Sarabun New"/>
                <a:ea typeface="TH Sarabun New"/>
                <a:cs typeface="TH Sarabun New"/>
              </a:rPr>
              <a:t>6.2 LiDAR (Light Detection and Ranging)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94385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3000" b="0" lang="th-TH">
                <a:latin typeface="TH Sarabun New"/>
                <a:ea typeface="TH Sarabun New"/>
                <a:cs typeface="TH Sarabun New"/>
              </a:rPr>
              <a:t>เป็นเทคโนโลยีสำรวจระยะไกลแบบ Active Sensing ที่ส่งพัลส์เลเซอร์ออกไปกระทบวัตถุด้วยตัวเอง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3000" b="0" lang="th-TH">
                <a:latin typeface="TH Sarabun New"/>
                <a:ea typeface="TH Sarabun New"/>
                <a:cs typeface="TH Sarabun New"/>
              </a:rPr>
              <a:t>ยิงพัลส์เลเซอร์นับแสนถึงล้านพัลส์ต่อวินาที แล้วคำนวณระยะทางจากระยะเวลาที่พัลส์เลเซอร์ใช้ในการเดินทางไป-กลับ (Time-of-Flight)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3000" b="0" lang="th-TH">
                <a:latin typeface="TH Sarabun New"/>
                <a:ea typeface="TH Sarabun New"/>
                <a:cs typeface="TH Sarabun New"/>
              </a:rPr>
              <a:t>คุณสมบัติเด่น: บันทึกสัญญาณสะท้อนกลับได้หลายครั้ง (Multiple Returns) จึงสามารถเจาะผ่านช่องว่างทรงพุ่มไม้ลงไปวัดระดับพื้นดินจริงใต้ต้นไม้ได้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3400" b="1" lang="th-TH">
                <a:latin typeface="TH Sarabun New"/>
                <a:ea typeface="TH Sarabun New"/>
                <a:cs typeface="TH Sarabun New"/>
              </a:rPr>
              <a:t>6.3 ข้อจำกัดเชิงการปฏิบัติงาน (Limitations)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302590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3000" b="0" lang="th-TH">
                <a:latin typeface="TH Sarabun New"/>
                <a:ea typeface="TH Sarabun New"/>
                <a:cs typeface="TH Sarabun New"/>
              </a:rPr>
              <a:t>Photogrammetry: ขึ้นกับแสงแดดธรรมชาติ (ทำงานกลางคืนไม่ได้) ไม่สามารถถ่ายทะลุพืชพรรณป่าไม้ได้ (ถ่ายติดเฉพาะยอดทรงพุ่มไม้) พื้นผิวที่ไร้ Texture หรือเงามันสะท้อนแสง (เช่น ผิวน้ำ หิมะ ทราย) จะจับคู่จุดภาพไม่ได้ และใช้เวลาประมวลผลซอฟต์แวร์ SfM นานกว่า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3400" b="1" lang="th-TH">
                <a:latin typeface="TH Sarabun New"/>
                <a:ea typeface="TH Sarabun New"/>
                <a:cs typeface="TH Sarabun New"/>
              </a:rPr>
              <a:t>6.4 ควรเลือกใช้ Photogrammetry เมื่อ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35330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3000" b="0" lang="th-TH">
                <a:latin typeface="TH Sarabun New"/>
                <a:ea typeface="TH Sarabun New"/>
                <a:cs typeface="TH Sarabun New"/>
              </a:rPr>
              <a:t>พื้นที่โครงการเป็นพื้นที่เปิดโล่ง ไร้สิ่งบดบัง เช่น งานก่อสร้างอาคาร, งานเหมืองเปิด, งานวางผังเมือง หรือแปลงเกษตรเปิด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3000" b="0" lang="th-TH">
                <a:latin typeface="TH Sarabun New"/>
                <a:ea typeface="TH Sarabun New"/>
                <a:cs typeface="TH Sarabun New"/>
              </a:rPr>
              <a:t>ต้องการผลลัพธ์ที่เป็นภาพถ่ายจริง แผนที่ภาพถ่ายดัดแก้ (Orthophoto) หรือโมเดล 3D มีสีสัมผัสสมจริง เพื่อใช้สื่อสาร วางผัง หรือตรวจรอยร้าวอาคาร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3000" b="0" lang="th-TH">
                <a:latin typeface="TH Sarabun New"/>
                <a:ea typeface="TH Sarabun New"/>
                <a:cs typeface="TH Sarabun New"/>
              </a:rPr>
              <a:t>ต้องการควบคุมงบประมาณอุปกรณ์เริ่มต้นให้ประหยัดที่สุด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3400" b="1" lang="th-TH">
                <a:latin typeface="TH Sarabun New"/>
                <a:ea typeface="TH Sarabun New"/>
                <a:cs typeface="TH Sarabun New"/>
              </a:rPr>
              <a:t>6.5 ควรเลือกใช้ LiDAR เมื่อ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94385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3000" b="0" lang="th-TH">
                <a:latin typeface="TH Sarabun New"/>
                <a:ea typeface="TH Sarabun New"/>
                <a:cs typeface="TH Sarabun New"/>
              </a:rPr>
              <a:t>พื้นที่มีพืชพรรณ ต้นไม้ หรือป่าไม้ปกคลุมหนาแน่น ที่ต้องการสร้างแบบจำลองภูมิประเทศพื้นดินเปล่า (Bare-Earth DTM)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3000" b="0" lang="th-TH">
                <a:latin typeface="TH Sarabun New"/>
                <a:ea typeface="TH Sarabun New"/>
                <a:cs typeface="TH Sarabun New"/>
              </a:rPr>
              <a:t>งานที่ต้องการความถูกต้องทางดิ่งสูงเป็นพิเศษ เช่น งานคำนวณปริมาณดินตัด-ดินถม (Cut &amp; Fill) ในภูมิประเทศซับซ้อน หรือการวิเคราะห์ทางอุทกวิทยา/น้ำท่วม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3000" b="0" lang="th-TH">
                <a:latin typeface="TH Sarabun New"/>
                <a:ea typeface="TH Sarabun New"/>
                <a:cs typeface="TH Sarabun New"/>
              </a:rPr>
              <a:t>การสำรวจพื้นที่แนวระเบียงยาว (Corridor Mapping) เช่น สายส่งไฟฟ้า ถนน ทางรถไฟ งานสแกนเวลากลางคืน หรือพื้นที่ที่มีความต่างระดับซับซ้อน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3400" b="1" lang="th-TH">
                <a:latin typeface="TH Sarabun New"/>
                <a:ea typeface="TH Sarabun New"/>
                <a:cs typeface="TH Sarabun New"/>
              </a:rPr>
              <a:t>6.6 การใช้งานแบบผสมผสาน (Hybrid Workflow)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361645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3000" b="0" lang="th-TH">
                <a:latin typeface="TH Sarabun New"/>
                <a:ea typeface="TH Sarabun New"/>
                <a:cs typeface="TH Sarabun New"/>
              </a:rPr>
              <a:t>ในปัจจุบันนิยมใช้การเก็บข้อมูลร่วมกันทั้งสองระบบ โดยนำ LiDAR มาใช้สร้างโครงสร้างทางเรขาคณิตและระดับความสูงภูมิประเทศที่แม่นยำ แล้วนำภาพถ่ายจาก Photogrammetry มาทาบซ้อน (Overlay Texture) เพื่อสร้างโมเดลดิจิทัลทวิน (Digital Twin) หรือ BIM ที่มีความแม่นยำทั้งมิติเรขาคณิตและความสมจริงทางสายตา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45775" cy="2011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4400" b="1" lang="th-TH">
                <a:latin typeface="TH Sarabun New"/>
                <a:ea typeface="TH Sarabun New"/>
                <a:cs typeface="TH Sarabun New"/>
              </a:rPr>
              <a:t>การสำรวจภูมิประเทศทางน้ำและใต้น้ำ</a:t>
            </a:r>
          </a:p>
          <a:p>
            <a:pPr>
              <a:spcBef>
                <a:spcPts val="1400"/>
              </a:spcBef>
            </a:pPr>
            <a:r>
              <a:rPr sz="2600" b="0" lang="th-TH">
                <a:latin typeface="TH Sarabun New"/>
                <a:ea typeface="TH Sarabun New"/>
                <a:cs typeface="TH Sarabun New"/>
              </a:rPr>
              <a:t>บทที่ 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3400" b="1" lang="th-TH">
                <a:latin typeface="TH Sarabun New"/>
                <a:ea typeface="TH Sarabun New"/>
                <a:cs typeface="TH Sarabun New"/>
              </a:rPr>
              <a:t>7.1 เครื่องหยั่งความลึกแบบคลื่นเสียงความถี่เดียว/ลำคลื่นเดียว (Single-Beam Echo Sounder - SBES)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82574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2600" b="0" lang="th-TH">
                <a:latin typeface="TH Sarabun New"/>
                <a:ea typeface="TH Sarabun New"/>
                <a:cs typeface="TH Sarabun New"/>
              </a:rPr>
              <a:t>ความถี่และการใช้งาน: มีทั้งแบบคลื่นความถี่เดียวและคลื่นความถี่คู่ (Dual Frequency) ซึ่งความถี่สูงใช้หาผิวชั้นบนของท้องน้ำ ส่วนความถี่ต่ำสามารถทะลุทะลวงชั้นตะกอนนุ่มใต้น้ำได้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600" b="0" lang="th-TH">
                <a:latin typeface="TH Sarabun New"/>
                <a:ea typeface="TH Sarabun New"/>
                <a:cs typeface="TH Sarabun New"/>
              </a:rPr>
              <a:t>ข้อดีและจุดประสงค์: อุปกรณ์มีราคาถูก ติดตั้งง่าย เหมาะสำหรับพื้นที่น้ำตื้น ลำน้ำขนาดเล็ก คลอง ชลประทาน งานสำรวจตรวจสอบจุด (Spot checks) หรือพื้นที่จำกัดงบประมาณ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600" b="0" lang="th-TH">
                <a:latin typeface="TH Sarabun New"/>
                <a:ea typeface="TH Sarabun New"/>
                <a:cs typeface="TH Sarabun New"/>
              </a:rPr>
              <a:t>การวัดสอบเครื่องมือ (Calibration): ต้องทำการวัดสอบ (Bar Check / Calibration) ที่ระดับความลึกต่างๆ และสภาวะน้ำใส/น้ำขุ่น เพื่อหาค่าวัดสอบนำไปปรับแก้ข้อมูลความลึกให้มีความถูกต้องสูงขึ้น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3400" b="1" lang="th-TH">
                <a:latin typeface="TH Sarabun New"/>
                <a:ea typeface="TH Sarabun New"/>
                <a:cs typeface="TH Sarabun New"/>
              </a:rPr>
              <a:t>7.2 เครื่องหยั่งความลึกแบบหลายลำคลื่น (Multibeam Echo Sounder - MBES)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75259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2600" b="0" lang="th-TH">
                <a:latin typeface="TH Sarabun New"/>
                <a:ea typeface="TH Sarabun New"/>
                <a:cs typeface="TH Sarabun New"/>
              </a:rPr>
              <a:t>องค์ประกอบระบบและเซนเซอร์ประกอบ: ต้องทำงานร่วมกับเซนเซอร์ประกอบหลายชนิด ได้แก่ เครื่องรับสัญญาณ RTK GNSS (หาพิกัดราบ-สูง), เซนเซอร์ IMU/INS (วัดการโคลงของเรือ Pitch, Roll, Heave, Yaw) และอุปกรณ์วัดความเร็วเสียงในน้ำ (SVP/CTD)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600" b="0" lang="th-TH">
                <a:latin typeface="TH Sarabun New"/>
                <a:ea typeface="TH Sarabun New"/>
                <a:cs typeface="TH Sarabun New"/>
              </a:rPr>
              <a:t>การทดสอบความถูกต้องและการคาลิเบรต (Patch Test): ต้องทำ Patch Test ก่อนการสำรวจเพื่อแก้ความเบี่ยงเบนทางตำแหน่งและมุมของหัวส่งสัญญาณเทียบกับตัวเรือ ได้แก่ Roll Test (รังวัดบนพื้นท้องน้ำราบ), Pitch Test (รังวัดข้ามความลาดชัน/ภูมิประเทศขรุขระ) และ Yaw/Heading Test (รังวัดเส้นทางขนานเยื้องบนวัตถุเด่นใต้น้ำ)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3400" b="1" lang="th-TH">
                <a:latin typeface="TH Sarabun New"/>
                <a:ea typeface="TH Sarabun New"/>
                <a:cs typeface="TH Sarabun New"/>
              </a:rPr>
              <a:t>7.3 การสำรวจหน้าตัดลำน้ำและท้องน้ำ (River Cross-Section and Bathymetric Surveying)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50170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H Sarabun New"/>
                <a:ea typeface="TH Sarabun New"/>
                <a:cs typeface="TH Sarabun New"/>
              </a:rPr>
              <a:t>การตัดแบ่งกลุ่มจุดตามลักษณะสัณฐาน (Segmentation: Flat, Relief, Steep slope)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H Sarabun New"/>
                <a:ea typeface="TH Sarabun New"/>
                <a:cs typeface="TH Sarabun New"/>
              </a:rPr>
              <a:t>การใช้ตัวกรองสถิติ SOR (Statistical Outlier Removal) เพื่อขจัดจุดกระจัดกระจาย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H Sarabun New"/>
                <a:ea typeface="TH Sarabun New"/>
                <a:cs typeface="TH Sarabun New"/>
              </a:rPr>
              <a:t>การใช้แบบจำลอง CSF (Cloth Simulation Filter) เพื่อแยกจุดพื้นท้องน้ำจริงออกจากจุดที่ไม่ใช่พื้นดิน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H Sarabun New"/>
                <a:ea typeface="TH Sarabun New"/>
                <a:cs typeface="TH Sarabun New"/>
              </a:rPr>
              <a:t>การสร้างแบบจำลองภูมิประเทศใต้น้ำ (Digital Bathymetric Model - DBM): นำจุดความลึกที่กรองแล้วมาสร้างเป็นแผนที่เส้นชั้นความสูงใต้น้ำ (Bathymetric Contours), แบบจำลองโครงข่ายสามเหลี่ยม (TIN) หรือแบบจำลองความลึกแรสเตอร์ (Raster DBM)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3400" b="1" lang="th-TH">
                <a:latin typeface="TH Sarabun New"/>
                <a:ea typeface="TH Sarabun New"/>
                <a:cs typeface="TH Sarabun New"/>
              </a:rPr>
              <a:t>7.4 การเขียนรูปตัดและการคำนวณปริมาตร (Cross-Sections &amp; Volume Calculations)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28015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3000" b="0" lang="th-TH">
                <a:latin typeface="TH Sarabun New"/>
                <a:ea typeface="TH Sarabun New"/>
                <a:cs typeface="TH Sarabun New"/>
              </a:rPr>
              <a:t>สกัดรูปตัดตามยาว (Longitudinal Profile) และรูปตัดตามขวาง (Cross-Section Profile) ตามแนวสเตชันเพื่อการวางแผนและออกแบบทางวิศวกรรม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3000" b="0" lang="th-TH">
                <a:latin typeface="TH Sarabun New"/>
                <a:ea typeface="TH Sarabun New"/>
                <a:cs typeface="TH Sarabun New"/>
              </a:rPr>
              <a:t>คำนวณปริมาตรน้ำ ปริมาตรการความจุ หรือปริมาตรดินขุด-ดินถม (Cut/Fill Volume) ผ่านวิธีการทางคณิตศาสตร์ เช่น Composite Method (TIN Surface), Average End Area Method และ Prismoidal Method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3400" b="1" lang="th-TH">
                <a:latin typeface="TH Sarabun New"/>
                <a:ea typeface="TH Sarabun New"/>
                <a:cs typeface="TH Sarabun New"/>
              </a:rPr>
              <a:t>7.5 การบูรณาการข้อมูลบนบกและใต้น้ำ (Integration of Topographic and Bathymetric Data)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302590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3000" b="0" lang="th-TH">
                <a:latin typeface="TH Sarabun New"/>
                <a:ea typeface="TH Sarabun New"/>
                <a:cs typeface="TH Sarabun New"/>
              </a:rPr>
              <a:t>แนวคิดแบบจำลองความสูง-ความลึกแบบไร้รอยต่อ (Seamless Topo-Bathy Model): เป็นการรวมแบบจำลองความสูงภูมิประเทศบนบก (Topography/DEM) และแบบจำลองความลึกใต้น้ำ (Bathymetry/DBM) เข้าด้วยกันเป็นชุดข้อมูลเดียวกัน เพื่อให้เห็นลักษณะการเชื่อมต่อของชายฝั่ง ตลิ่ง และท้องน้ำอย่างไร้รอยต่อ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3400" b="1" lang="th-TH">
                <a:latin typeface="TH Sarabun New"/>
                <a:ea typeface="TH Sarabun New"/>
                <a:cs typeface="TH Sarabun New"/>
              </a:rPr>
              <a:t>7.6 การผสานเทคโนโลยีสำรวจ (Multi-Technology Integration)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309905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3000" b="0" lang="th-TH">
                <a:latin typeface="TH Sarabun New"/>
                <a:ea typeface="TH Sarabun New"/>
                <a:cs typeface="TH Sarabun New"/>
              </a:rPr>
              <a:t>ข้อมูลบนบกและชายฝั่ง/น้ำตื้น: รวบรวมโดยเทคโนโลยีถ่ายภาพทางอากาศด้วยโดรน (UAV Photogrammetry), เทคโนโลยี LiDAR บนบก/อากาศ หรือการรังวัดด้วย RTK GNSS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3000" b="0" lang="th-TH">
                <a:latin typeface="TH Sarabun New"/>
                <a:ea typeface="TH Sarabun New"/>
                <a:cs typeface="TH Sarabun New"/>
              </a:rPr>
              <a:t>ข้อมูลใต้น้ำ: รวบรวมโดยเครื่องหยั่งความลึก MBES, SBES หรือ Bathymetric LiDAR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3400" b="1" lang="th-TH">
                <a:latin typeface="TH Sarabun New"/>
                <a:ea typeface="TH Sarabun New"/>
                <a:cs typeface="TH Sarabun New"/>
              </a:rPr>
              <a:t>7.7 การแปลงและอ้างอิงหมุดฐานพิกัด (Datums &amp; Georeferencing)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47141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H Sarabun New"/>
                <a:ea typeface="TH Sarabun New"/>
                <a:cs typeface="TH Sarabun New"/>
              </a:rPr>
              <a:t>การรวมข้อมูลต้องแปลงให้อยู่บนระบบพิกัดราบ (Horizontal Datum) เดียวกัน (เช่น WGS84, UTM, HTRS96/TM) และระดับอ้างอิงความสูง/ความลึก (Vertical Datum) เดียวกัน (เช่น ระดับน้ำทะเลปานกลาง - MSW/NAVD88)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H Sarabun New"/>
                <a:ea typeface="TH Sarabun New"/>
                <a:cs typeface="TH Sarabun New"/>
              </a:rPr>
              <a:t>แปลงข้อมูลกลุ่มจุดให้อยู่ในรูปแบบมาตรฐาน (เช่น .las) และรวมเข้าด้วยกันในระบบ GIS โดยใช้เทคนิคการกำหนดค่าเซลล์ (เช่น Binning approach หรือ Interpolation) เพื่อสร้างเป็น Seamless Raster DEM ความละเอียดสูง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H Sarabun New"/>
                <a:ea typeface="TH Sarabun New"/>
                <a:cs typeface="TH Sarabun New"/>
              </a:rPr>
              <a:t>การใช้เทคนิค Hydro-enforcement ปรับแก้แบบจำลองความสูงภูมิประเทศ เพื่อให้การจำลองการไหลของน้ำผ่านพื้นผิวในระบบ GIS ทำได้อย่างถูกต้องตามหลักอุทกวิทยา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3400" b="1" lang="th-TH">
                <a:latin typeface="TH Sarabun New"/>
                <a:ea typeface="TH Sarabun New"/>
                <a:cs typeface="TH Sarabun New"/>
              </a:rPr>
              <a:t>7.8 การศึกษาน้ำทับตะกอนและการปรับปรุงโค้งความจุอ่างเก็บน้ำ (Reservoir Sedimentation &amp; AEC Curves)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28015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3000" b="0" lang="th-TH">
                <a:latin typeface="TH Sarabun New"/>
                <a:ea typeface="TH Sarabun New"/>
                <a:cs typeface="TH Sarabun New"/>
              </a:rPr>
              <a:t>สำรวจความลึกและสร้าง DEM ท้องอ่างเก็บน้ำ เพื่อนำมาปรับปรุง เส้นโค้งความสัมพันธ์ระหว่างระดับ-พื้นที่-ความจุ (Elevation-Area-Capacity Curves / AEC Curves) ให้เป็นปัจจุบัน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3000" b="0" lang="th-TH">
                <a:latin typeface="TH Sarabun New"/>
                <a:ea typeface="TH Sarabun New"/>
                <a:cs typeface="TH Sarabun New"/>
              </a:rPr>
              <a:t>ประเมินอัตราการตกตะกอน (Siltation Rate), การสูญเสียความจุเก็บกักน้ำ และคาดการณ์อายุการใช้งานของอ่างเก็บน้ำ (Life Expectancy) เพื่อนำไปวางแผนอนุรักษ์ดินและน้ำในพื้นที่ลุ่มน้ำรับน้ำ (Catchment Area Treatment)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3400" b="1" lang="th-TH">
                <a:latin typeface="TH Sarabun New"/>
                <a:ea typeface="TH Sarabun New"/>
                <a:cs typeface="TH Sarabun New"/>
              </a:rPr>
              <a:t>7.9 งานวางแผน ออกแบบ และขุดลอกในโครงการชลประทาน (Irrigation Canal &amp; River Engineering)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309905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3000" b="0" lang="th-TH">
                <a:latin typeface="TH Sarabun New"/>
                <a:ea typeface="TH Sarabun New"/>
                <a:cs typeface="TH Sarabun New"/>
              </a:rPr>
              <a:t>สำรวจหน้าตัดลำน้ำและคลองส่งน้ำ/คลองระบายน้ำ (เช่น การประยุกต์ใช้ในคลองบ้านนาลาว) เพื่อประเมินสภาพความกว้างและความลึก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3000" b="0" lang="th-TH">
                <a:latin typeface="TH Sarabun New"/>
                <a:ea typeface="TH Sarabun New"/>
                <a:cs typeface="TH Sarabun New"/>
              </a:rPr>
              <a:t>คำนวณปริมาตรตะกอนทับถมและปริมาตรดินที่ต้องขุดลอก (Dredging Volume) สำหรับงานบำรุงรักษาคลองและทางน้ำชลประทาน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3400" b="1" lang="th-TH">
                <a:latin typeface="TH Sarabun New"/>
                <a:ea typeface="TH Sarabun New"/>
                <a:cs typeface="TH Sarabun New"/>
              </a:rPr>
              <a:t>7.10 การจำลองทางอุทกวิทยาและการเตือนภัยน้ำท่วม (Hydrological &amp; Hydraulic Modeling)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87070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3000" b="0" lang="th-TH">
                <a:latin typeface="TH Sarabun New"/>
                <a:ea typeface="TH Sarabun New"/>
                <a:cs typeface="TH Sarabun New"/>
              </a:rPr>
              <a:t>นำแบบจำลองความสูง DEM/DBM ที่ได้จากการบูรณาการ ไปวิเคราะห์ทิศทางการไหลของน้ำ (Flow Direction), การสะสมตัวของน้ำท่า (Flow Accumulation), การกำหนดขอบเขตลุ่มน้ำย่อย (Watershed Delineation) และจุดออกของน้ำ (Pour-points)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3000" b="0" lang="th-TH">
                <a:latin typeface="TH Sarabun New"/>
                <a:ea typeface="TH Sarabun New"/>
                <a:cs typeface="TH Sarabun New"/>
              </a:rPr>
              <a:t>ใช้เป็นข้อมูลนำเข้าในแบบจำลองไฮโดรลิกส์เพื่อจำลองการไหลของน้ำ พยากรณ์ระดับน้ำท่วมขัง (Flood Inundation Modeling) กำหนดเขตพื้นที่เสี่ยงภัยน้ำท่วม (Floodplains) และวางแผนบริหารจัดการน้ำในฤดูมรสุม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45775" cy="2011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4400" b="1" lang="th-TH">
                <a:latin typeface="TH Sarabun New"/>
                <a:ea typeface="TH Sarabun New"/>
                <a:cs typeface="TH Sarabun New"/>
              </a:rPr>
              <a:t>การประมวลผลและจัดการข้อมูลสำรวจ</a:t>
            </a:r>
          </a:p>
          <a:p>
            <a:pPr>
              <a:spcBef>
                <a:spcPts val="1400"/>
              </a:spcBef>
            </a:pPr>
            <a:r>
              <a:rPr sz="2600" b="0" lang="th-TH">
                <a:latin typeface="TH Sarabun New"/>
                <a:ea typeface="TH Sarabun New"/>
                <a:cs typeface="TH Sarabun New"/>
              </a:rPr>
              <a:t>บทที่ 8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3400" b="1" lang="th-TH">
                <a:latin typeface="TH Sarabun New"/>
                <a:ea typeface="TH Sarabun New"/>
                <a:cs typeface="TH Sarabun New"/>
              </a:rPr>
              <a:t>8.1 Point Cloud Processing (การประมวลผลกลุ่มเมฆจุด 3 มิติ)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94385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H Sarabun New"/>
                <a:ea typeface="TH Sarabun New"/>
                <a:cs typeface="TH Sarabun New"/>
              </a:rPr>
              <a:t>การกรองสัญญาณรบกวน (Noise &amp; Outlier Filtering): ข้อมูล Point Cloud ดิบมักมีจุดคลาดเคลื่อน (Outliers) ทั้งจุดที่สูงเกินจริง (เกิดจากนก อากาศยาน หรือสัญญาณสะท้อน) และจุดที่ต่ำกว่าระดับพื้นดินจริง ซึ่งต้องถูกสแกนและกำจัดออกในขั้นตอน Preprocessing ก่อนประมวลผลต่อ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H Sarabun New"/>
                <a:ea typeface="TH Sarabun New"/>
                <a:cs typeface="TH Sarabun New"/>
              </a:rPr>
              <a:t>การคัดแยกจุดพื้นดินและไม่ใช่พื้นดิน (Ground Filtering / Point Cloud Classification): กระบวนการจำแนกจุดพอยต์คลาวด์เพื่อแยกออกจากกันระหว่างจุดบน พื้นดินเปล่า (Ground) และวัตถุเหนือดิน (Non-Ground) เช่น อาคาร สิ่งปลูกสร้าง ต้นไม้ พืชพรรณ และยานพาหนะ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H Sarabun New"/>
                <a:ea typeface="TH Sarabun New"/>
                <a:cs typeface="TH Sarabun New"/>
              </a:rPr>
              <a:t>Morphological Filter: อาศัยเกณฑ์ความชันและความสูงในการสกัดและตัดจุดที่ไม่ใช่พื้นดินออกผ่านโครงสร้างกริด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3400" b="1" lang="th-TH">
                <a:latin typeface="TH Sarabun New"/>
                <a:ea typeface="TH Sarabun New"/>
                <a:cs typeface="TH Sarabun New"/>
              </a:rPr>
              <a:t>8.2 นิยามและประเภทของแบบจำลองความสูง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62889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2800" b="0" lang="th-TH">
                <a:latin typeface="TH Sarabun New"/>
                <a:ea typeface="TH Sarabun New"/>
                <a:cs typeface="TH Sarabun New"/>
              </a:rPr>
              <a:t>DSM (Digital Surface Model): แบบจำลองความสูงเชิงพื้นผิวที่รวมวัตถุและโครงสร้างทั้งหมดบนดิน (พื้นดิน + อาคาร + ต้นไม้)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800" b="0" lang="th-TH">
                <a:latin typeface="TH Sarabun New"/>
                <a:ea typeface="TH Sarabun New"/>
                <a:cs typeface="TH Sarabun New"/>
              </a:rPr>
              <a:t>DTM (Digital Terrain Model): แบบจำลองภูมิประเทศที่แสดงเฉพาะ พื้นดินเปล่า (Bare-Earth) โดยขจัดสิ่งปลูกสร้าง ต้นไม้ และพืชพรรณออกทั้งหมดหลังผ่าน Ground Filtering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800" b="0" lang="th-TH">
                <a:latin typeface="TH Sarabun New"/>
                <a:ea typeface="TH Sarabun New"/>
                <a:cs typeface="TH Sarabun New"/>
              </a:rPr>
              <a:t>DEM (Digital Elevation Model): นิยามกว้างๆ ของแบบจำลองความสูงเชิงตัวเลข ซึ่งใช้หมายถึง DTM หรือ DSM ขึ้นอยู่กับบริบทใช้งาน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3400" b="1" lang="th-TH">
                <a:latin typeface="TH Sarabun New"/>
                <a:ea typeface="TH Sarabun New"/>
                <a:cs typeface="TH Sarabun New"/>
              </a:rPr>
              <a:t>8.3 กระบวนการแปลงจุดเป็นแบบจำลองความสูง (Gridding / Interpolation)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368960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3000" b="0" lang="th-TH">
                <a:latin typeface="TH Sarabun New"/>
                <a:ea typeface="TH Sarabun New"/>
                <a:cs typeface="TH Sarabun New"/>
              </a:rPr>
              <a:t>นำเฉพาะจุดที่จำแนกเป็น Ground (Class 2) มาประมาณค่าเชิงพื้นที่เพื่อสร้างเป็น Regular Grid (Raster)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3000" b="0" lang="th-TH">
                <a:latin typeface="TH Sarabun New"/>
                <a:ea typeface="TH Sarabun New"/>
                <a:cs typeface="TH Sarabun New"/>
              </a:rPr>
              <a:t>อัลกอริทึมประมาณค่า: เช่น Points2Grid (Local Binning) ซึ่งคัดเลือกค่าความสูงต่ำสุดในแต่ละเซลล์กริด, Inverse Distance Weighting (IDW), Kriging, Spline หรือ Triangulation (TIN to Raster)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3400" b="1" lang="th-TH">
                <a:latin typeface="TH Sarabun New"/>
                <a:ea typeface="TH Sarabun New"/>
                <a:cs typeface="TH Sarabun New"/>
              </a:rPr>
              <a:t>8.4 โครงสร้างการแสดงผลภูมิประเทศ (Terrain Structures)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28015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3000" b="0" lang="th-TH">
                <a:latin typeface="TH Sarabun New"/>
                <a:ea typeface="TH Sarabun New"/>
                <a:cs typeface="TH Sarabun New"/>
              </a:rPr>
              <a:t>Regular Grid / Raster: แบ่งพื้นที่เป็นเซลล์ตารางสี่เหลี่ยมขนาดเท่ากัน จัดเก็บค่าความสูงในแต่ละเซลล์ โครงสร้างเรียบง่ายและประมวลผลได้รวดเร็ว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3000" b="0" lang="th-TH">
                <a:latin typeface="TH Sarabun New"/>
                <a:ea typeface="TH Sarabun New"/>
                <a:cs typeface="TH Sarabun New"/>
              </a:rPr>
              <a:t>TIN (Triangulated Irregular Network): เชื่อมโยงจุดความสูงสุ่มเข้าด้วยกันเป็นโครงข่ายสามเหลี่ยมที่ไม่ซ้อนทับกันตามหลัก Delaunay Triangulation โดยปรับความหนาแน่นตามความขรุขระของพื้นที่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3400" b="1" lang="th-TH">
                <a:latin typeface="TH Sarabun New"/>
                <a:ea typeface="TH Sarabun New"/>
                <a:cs typeface="TH Sarabun New"/>
              </a:rPr>
              <a:t>8.5 การลากเส้นชั้นความสูง (Contour Generation)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368960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3000" b="0" lang="th-TH">
                <a:latin typeface="TH Sarabun New"/>
                <a:ea typeface="TH Sarabun New"/>
                <a:cs typeface="TH Sarabun New"/>
              </a:rPr>
              <a:t>ลากเส้นเชื่อมต่อจุดที่มีระดับความสูงเท่ากันจากการประมาณค่าบนโครงสร้าง TIN หรือ Grid/Raster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3000" b="0" lang="th-TH">
                <a:latin typeface="TH Sarabun New"/>
                <a:ea typeface="TH Sarabun New"/>
                <a:cs typeface="TH Sarabun New"/>
              </a:rPr>
              <a:t>แนวเส้นบังคับ (Breaklines): ป้อนแนวเส้น Breaklines (เช่น ขอบถนน คันดิน สันเขา หรือลำน้ำ) เข้าไปเพื่อบังคับไม่ให้โครงข่ายสามเหลี่ยมหรือเส้นชั้นความสูงลากข้ามแนวโครงสร้างจริงตามธรรมชาติ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3400" b="1" lang="th-TH">
                <a:latin typeface="TH Sarabun New"/>
                <a:ea typeface="TH Sarabun New"/>
                <a:cs typeface="TH Sarabun New"/>
              </a:rPr>
              <a:t>8.6 ความถูกต้องสัมพัทธ์และความถูกต้องสัมบูรณ์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191795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3000" b="0" lang="th-TH">
                <a:latin typeface="TH Sarabun New"/>
                <a:ea typeface="TH Sarabun New"/>
                <a:cs typeface="TH Sarabun New"/>
              </a:rPr>
              <a:t>Relative Accuracy: ความแม่นยำภายในโมเดลเอง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3000" b="0" lang="th-TH">
                <a:latin typeface="TH Sarabun New"/>
                <a:ea typeface="TH Sarabun New"/>
                <a:cs typeface="TH Sarabun New"/>
              </a:rPr>
              <a:t>Absolute Accuracy: ความแม่นยำเมื่อเทียบกับระบบพิกัดอ้างอิงจริงบนโลก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3400" b="1" lang="th-TH">
                <a:latin typeface="TH Sarabun New"/>
                <a:ea typeface="TH Sarabun New"/>
                <a:cs typeface="TH Sarabun New"/>
              </a:rPr>
              <a:t>8.7 การใช้จุดตรวจสอบอิสระ (Independent Checkpoints - CPs)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309905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3000" b="0" lang="th-TH">
                <a:latin typeface="TH Sarabun New"/>
                <a:ea typeface="TH Sarabun New"/>
                <a:cs typeface="TH Sarabun New"/>
              </a:rPr>
              <a:t>รังวัดพิกัดจุด CPs ภาคสนามด้วยเครื่องมือความถูกต้องสูง (เช่น GNSS RTK หรือ Total Station) โดยไม่นำจุด CPs เหล่านี้ไปใช้ในการปรับแก้โมเดล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3000" b="0" lang="th-TH">
                <a:latin typeface="TH Sarabun New"/>
                <a:ea typeface="TH Sarabun New"/>
                <a:cs typeface="TH Sarabun New"/>
              </a:rPr>
              <a:t>นำพิกัดจากจุด CPs มาเปรียบเทียบกับค่าพิกัดที่อ่านได้จากโมเดล 3D / DEM เพื่อประเมินความคลาดเคลื่อนจริง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3400" b="1" lang="th-TH">
                <a:latin typeface="TH Sarabun New"/>
                <a:ea typeface="TH Sarabun New"/>
                <a:cs typeface="TH Sarabun New"/>
              </a:rPr>
              <a:t>8.8 ตัวชี้วัดทางสถิติ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87070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3000" b="0" lang="th-TH">
                <a:latin typeface="TH Sarabun New"/>
                <a:ea typeface="TH Sarabun New"/>
                <a:cs typeface="TH Sarabun New"/>
              </a:rPr>
              <a:t>RMSE (Root Mean Square Error): ตัวชี้วัดหลักในการวัดค่ารากที่สองของความคลาดเคลื่อนเฉลี่ยกำลังสอง ทั้งทางราบ (RMSE_{xy}) และทางดิ่ง (RMSE_z)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3000" b="0" lang="th-TH">
                <a:latin typeface="TH Sarabun New"/>
                <a:ea typeface="TH Sarabun New"/>
                <a:cs typeface="TH Sarabun New"/>
              </a:rPr>
              <a:t>การประเมินทางสถิติอื่นๆ: คำนวณค่าคลาดเคลื่อนเฉลี่ย (Mean Error), ค่าส่วนเบี่ยงเบนมาตรฐาน (S.D.) และประเมินสัดส่วนความผิดพลาดในการจำแนกประเภท (Type I Error คือจุดพื้นดินโดนจัดผิด และ Type II Error คือจุดไม่ใช่พื้นดินโดนจัดเป็นพื้นดิน)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45775" cy="2011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4400" b="1" lang="th-TH">
                <a:latin typeface="TH Sarabun New"/>
                <a:ea typeface="TH Sarabun New"/>
                <a:cs typeface="TH Sarabun New"/>
              </a:rPr>
              <a:t>GIS และการบูรณาการข้อมูลเชิงพื้นที่</a:t>
            </a:r>
          </a:p>
          <a:p>
            <a:pPr>
              <a:spcBef>
                <a:spcPts val="1400"/>
              </a:spcBef>
            </a:pPr>
            <a:r>
              <a:rPr sz="2600" b="0" lang="th-TH">
                <a:latin typeface="TH Sarabun New"/>
                <a:ea typeface="TH Sarabun New"/>
                <a:cs typeface="TH Sarabun New"/>
              </a:rPr>
              <a:t>บทที่ 9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3400" b="1" lang="th-TH">
                <a:latin typeface="TH Sarabun New"/>
                <a:ea typeface="TH Sarabun New"/>
                <a:cs typeface="TH Sarabun New"/>
              </a:rPr>
              <a:t>9.1 การจัดการข้อมูลสำรวจในระบบ GIS (Management of Survey Data in GIS)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87070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H Sarabun New"/>
                <a:ea typeface="TH Sarabun New"/>
                <a:cs typeface="TH Sarabun New"/>
              </a:rPr>
              <a:t>การรวบรวมข้อมูลภาคสนาม (Field Data Collection): ข้อมูลสำรวจรังวัดภูมิประเทศรวบรวมได้จากอุปกรณ์สำรวจภาคสนาม เช่น เครื่องรับสัญญาณ GPS/GNSS และการสำรวจรังวัดพิกัดความสูง โดยใช้งานร่วมกับแอปพลิเคชันจัดการข้อมูลสนามอย่าง ArcGIS Field Maps เพื่อจัดเก็บตำแหน่งจุดสำรวจ (Topographic Points)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H Sarabun New"/>
                <a:ea typeface="TH Sarabun New"/>
                <a:cs typeface="TH Sarabun New"/>
              </a:rPr>
              <a:t>การบันทึกตำแหน่งและค่าคุณลักษณะ (Positioning &amp; Attribute Recording): ข้อมูลตำแหน่งจุดสำรวจจะถูกบันทึกเป็นค่าพิกัดเชิงมิติ (x, y) ค่าความสูง (z) และรหัสจุดสำรวจ (Point IDs) ข้อมูลเหล่านี้จะนำเข้าสู่ GIS เพื่อสร้างเป็นฟีเจอร์เวกเตอร์ (Feature Classes) หรือประมวลผลเป็นแบบจำลองพื้นผิวต่อเนื่อง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3400" b="1" lang="th-TH">
                <a:latin typeface="TH Sarabun New"/>
                <a:ea typeface="TH Sarabun New"/>
                <a:cs typeface="TH Sarabun New"/>
              </a:rPr>
              <a:t>9.2 แบบจำลองพื้นผิวภูมิประเทศ (Surface Models)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39826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H Sarabun New"/>
                <a:ea typeface="TH Sarabun New"/>
                <a:cs typeface="TH Sarabun New"/>
              </a:rPr>
              <a:t>แบบจำลองความสูงเชิงเลข (DEM / Surface Raster): จัดเก็บค่าความสูงในรูปแบบตารางแรสเตอร์ (Grid cells) เหมาะสำหรับพื้นที่ขนาดใหญ่ มีโครงสร้างข้อมูลที่เรียบง่าย แต่ความถูกต้องจะขึ้นอยู่กับขนาดของเซลล์ (Resolution)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H Sarabun New"/>
                <a:ea typeface="TH Sarabun New"/>
                <a:cs typeface="TH Sarabun New"/>
              </a:rPr>
              <a:t>เครือข่ายสามเหลี่ยมไม่เป็นระเบียบ (TIN - Triangulated Irregular Network): โครงสร้างเวกเตอร์ที่ประกอบด้วยหมุดความสูง (Nodes / Mass points), เส้นขอบสามเหลี่ยม (Edges) และพื้นผิวสามเหลี่ยม (Faces) ตามหลัก Delaunay Triangulation โดยมีความหนาแน่นจุดผันแปรตามความขรุขระของพื้นที่ และสามารถแทรกเส้นขอบรอยหักงอ (Breaklines) เช่น สันเขา หรือลำน้ำ เพื่อคงความถูกต้องของภูมิประเทศได้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3400" b="1" lang="th-TH">
                <a:latin typeface="TH Sarabun New"/>
                <a:ea typeface="TH Sarabun New"/>
                <a:cs typeface="TH Sarabun New"/>
              </a:rPr>
              <a:t>9.3 การคำนวณคุณลักษณะทางภูมิประเทศ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368960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3000" b="0" lang="th-TH">
                <a:latin typeface="TH Sarabun New"/>
                <a:ea typeface="TH Sarabun New"/>
                <a:cs typeface="TH Sarabun New"/>
              </a:rPr>
              <a:t>การวิเคราะห์การมองเห็น (Viewshed / Line-of-Sight Analysis): วิเคราะห์แนวสายตาจากจุดสังเกตไปยังทุกเซลล์บนพื้นผิว เพื่อระบุพื้นที่ที่มองเห็นและถูกบดบัง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3000" b="0" lang="th-TH">
                <a:latin typeface="TH Sarabun New"/>
                <a:ea typeface="TH Sarabun New"/>
                <a:cs typeface="TH Sarabun New"/>
              </a:rPr>
              <a:t>การสร้างภาพตัดตามแนว (Vertical Profiles): สกัดค่าความสูงตามแนวเส้นทางเพื่อประเมินหน้าตัดภูมิประเทศสำหรับงานตัดถนนและระบบสาธารณูปโภค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3400" b="1" lang="th-TH">
                <a:latin typeface="TH Sarabun New"/>
                <a:ea typeface="TH Sarabun New"/>
                <a:cs typeface="TH Sarabun New"/>
              </a:rPr>
              <a:t>9.4 การวิเคราะห์ทางอุทกวิทยาและการคำนวณปริมาตร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87070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3000" b="0" lang="th-TH">
                <a:latin typeface="TH Sarabun New"/>
                <a:ea typeface="TH Sarabun New"/>
                <a:cs typeface="TH Sarabun New"/>
              </a:rPr>
              <a:t>การวิเคราะห์ทางอุทกวิทยา (Hydrological Analysis): ใช้ข้อมูล DEM ในการจำลองทิศทางการไหลของน้ำ (Flow direction) การสะสมตัวของน้ำท่า (Flow accumulation) การขีดขอบเขตลุ่มน้ำ (Watershed delineation) และการกำหนดจุดออกของน้ำ (Pour-points) เพื่อคาดการณ์น้ำท่วมและบริหารจัดการน้ำ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3000" b="0" lang="th-TH">
                <a:latin typeface="TH Sarabun New"/>
                <a:ea typeface="TH Sarabun New"/>
                <a:cs typeface="TH Sarabun New"/>
              </a:rPr>
              <a:t>การคำนวณปริมาตร (Volume Calculations): คำนวณปริมาตรงานดินขุด-ดินถม (Cut and fill) ในงานวิศวกรรม หรือประเมินความจุของอ่างเก็บน้ำ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3400" b="1" lang="th-TH">
                <a:latin typeface="TH Sarabun New"/>
                <a:ea typeface="TH Sarabun New"/>
                <a:cs typeface="TH Sarabun New"/>
              </a:rPr>
              <a:t>9.5 การซ้อนทับข้อมูลหลายประเภท (Overlay Analysis of Multiple Data Types)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302590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3000" b="0" lang="th-TH">
                <a:latin typeface="TH Sarabun New"/>
                <a:ea typeface="TH Sarabun New"/>
                <a:cs typeface="TH Sarabun New"/>
              </a:rPr>
              <a:t>แนวคิดการซ้อนทับชั้นข้อมูล (Multi-Layer Overlay): การนำชั้นข้อมูลเชิงพื้นที่หลายเรื่อง (Thematic Layers) เช่น ดิน, การใช้ประโยชน์ที่ดิน, ธรณีวิทยา, และความลาดชัน ที่อยู่ในระบบพิกัดเดียวกัน มาซ้อนทับกันเพื่อประเมินความสัมพันธ์เชิงพื้นที่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3400" b="1" lang="th-TH">
                <a:latin typeface="TH Sarabun New"/>
                <a:ea typeface="TH Sarabun New"/>
                <a:cs typeface="TH Sarabun New"/>
              </a:rPr>
              <a:t>9.6 เปรียบเทียบเทคนิคการซ้อนทับ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24078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2600" b="0" lang="th-TH">
                <a:latin typeface="TH Sarabun New"/>
                <a:ea typeface="TH Sarabun New"/>
                <a:cs typeface="TH Sarabun New"/>
              </a:rPr>
              <a:t>Vector Overlay: ดำเนินการผ่านคำสั่งทางเรขาคณิต เช่น การรวมพื้นที่ (Union), การตัดเอาส่วนร่วม (Intersection) และการหาผลต่าง (Difference) มีความซับซ้อนในการประมวลผลสูง และอาจเกิดปัญหาโพลีกอนคลาดเคลื่อนขนาดเล็ก (Sliver polygons) จากความไม่ตรงกันของการดิจิไทซ์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600" b="0" lang="th-TH">
                <a:latin typeface="TH Sarabun New"/>
                <a:ea typeface="TH Sarabun New"/>
                <a:cs typeface="TH Sarabun New"/>
              </a:rPr>
              <a:t>Raster Overlay &amp; Map Algebra: ประมวลผลแบบ Cell-by-cell บนโครงสร้างตารางแรสเตอร์ โดยใช้พีชคณิตแผนที่ (Map Algebra) ร่วมกับตัวดำเนินการทางคณิตศาสตร์, ตัวดำเนินการตรรกศาสตร์ (Boolean Operators: AND, OR, NOT) และฟังก์ชันท้องถิ่น (Local Functions)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3400" b="1" lang="th-TH">
                <a:latin typeface="TH Sarabun New"/>
                <a:ea typeface="TH Sarabun New"/>
                <a:cs typeface="TH Sarabun New"/>
              </a:rPr>
              <a:t>9.7 การตัดสินใจแบบหลายหลักเกณฑ์เชิงพื้นที่ (GIS-MCDA / AHP)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79755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3000" b="0" lang="th-TH">
                <a:latin typeface="TH Sarabun New"/>
                <a:ea typeface="TH Sarabun New"/>
                <a:cs typeface="TH Sarabun New"/>
              </a:rPr>
              <a:t>การซ้อนทับแบบถ่วงน้ำหนัก (Weighted Overlay / Weighted Linear Combination - WLC): แปลงชั้นข้อมูลเป็นแรสเตอร์ จัดลำดับคะแนนคุณลักษณะ (Feature Rank r_i) และคูณด้วยน้ำหนักของปัจจัย (W_i) แล้วซ้อนทับกัน ตัวอย่างเช่น การประเมินพื้นที่ศักยภาพน้ำใต้ดิน (Groundwater Potential Zones) โดยรวมปัจจัยน้ำฝน ธรณีสัณฐาน ธรณีวิทยา ดิน ความลาดชัน ความหนาแน่นลำน้ำ ความหนาแน่นรอยแตก และการใช้ประโยชน์ที่ดิน เข้าด้วยกันอย่างมีระบบ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3400" b="1" lang="th-TH">
                <a:latin typeface="TH Sarabun New"/>
                <a:ea typeface="TH Sarabun New"/>
                <a:cs typeface="TH Sarabun New"/>
              </a:rPr>
              <a:t>9.8 การจัดทำแผนที่และการแปลงตำแหน่ง (Mapping &amp; Locators)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55574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2800" b="0" lang="th-TH">
                <a:latin typeface="TH Sarabun New"/>
                <a:ea typeface="TH Sarabun New"/>
                <a:cs typeface="TH Sarabun New"/>
              </a:rPr>
              <a:t>การแสดงผลเชิงตาร์โตกราฟี: ใช้สัญลักษณ์เฉพาะเรื่อง (Thematic Symbols), การลำดับชั้นการวาด (Drawing order), ค่าความโปร่งแสง และการสร้างเส้นชั้นความสูง (Contours) เพื่อสื่อสารผลการวิเคราะห์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800" b="0" lang="th-TH">
                <a:latin typeface="TH Sarabun New"/>
                <a:ea typeface="TH Sarabun New"/>
                <a:cs typeface="TH Sarabun New"/>
              </a:rPr>
              <a:t>เครื่องมือระบุตำแหน่ง (Locators &amp; Geocoding): แปลงข้อมูลตำแหน่งที่ไม่ใช่แผนที่ ให้กลายเป็นฟีเจอร์เชิงพื้นที่ เช่น พิกัด (x,y), ที่อยู่ (Street addresses), รหัสไปรษณีย์ (Postal codes) และตำแหน่งตามระยะทางบนเส้นทาง (Route measures/Mileposts)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3400" b="1" lang="th-TH">
                <a:latin typeface="TH Sarabun New"/>
                <a:ea typeface="TH Sarabun New"/>
                <a:cs typeface="TH Sarabun New"/>
              </a:rPr>
              <a:t>9.9 สถาปัตยกรรมฐานข้อมูลเชิงพื้นที่ (Spatial Database / Geodatabase)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94385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H Sarabun New"/>
                <a:ea typeface="TH Sarabun New"/>
                <a:cs typeface="TH Sarabun New"/>
              </a:rPr>
              <a:t>ข้อจำกัดของระบบแฟ้มข้อมูลดั้งเดิม (Flat Files / Coverages / Shapefiles): ไม่รองรับการแก้ไขข้อมูลพร้อมกันหลายผู้ใช้ (No Concurrent Multi-user Editing), ขาดการจัดการผ่าน SQL โดยตรง และมีข้อจำกัดด้านขนาดไฟล์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H Sarabun New"/>
                <a:ea typeface="TH Sarabun New"/>
                <a:cs typeface="TH Sarabun New"/>
              </a:rPr>
              <a:t>Spatial Data Types: เพิ่มประเภทข้อมูลรูปทรงทางภูมิศาสตร์ เช่น Point, Line, Polygon, Multi-points/polygons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H Sarabun New"/>
                <a:ea typeface="TH Sarabun New"/>
                <a:cs typeface="TH Sarabun New"/>
              </a:rPr>
              <a:t>Spatial Functions: มีฟังก์ชันเรขาคณิตตามมาตรฐาน OGC/SFSQL สำหรับประมวลผลด้วยภาษา SQL แบ่งเป็น ฟังก์ชันการแปลงข้อมูล (Conversion), การจัดการ (Management), การวัดค่าคุณลักษณะ (Retrieval), การเปรียบเทียบความสัมพันธ์ (Comparison เช่น ST_Intersects, ST_Contains) และการสร้างรูปทรงใหม่ (Generation เช่น ST_Buffer, ST_Union)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45775" cy="2011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4400" b="1" lang="th-TH">
                <a:latin typeface="TH Sarabun New"/>
                <a:ea typeface="TH Sarabun New"/>
                <a:cs typeface="TH Sarabun New"/>
              </a:rPr>
              <a:t>การบูรณาการข้อมูลสำรวจในรูปแบบ 3D</a:t>
            </a:r>
          </a:p>
          <a:p>
            <a:pPr>
              <a:spcBef>
                <a:spcPts val="1400"/>
              </a:spcBef>
            </a:pPr>
            <a:r>
              <a:rPr sz="2600" b="0" lang="th-TH">
                <a:latin typeface="TH Sarabun New"/>
                <a:ea typeface="TH Sarabun New"/>
                <a:cs typeface="TH Sarabun New"/>
              </a:rPr>
              <a:t>บทที่ 10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3400" b="1" lang="th-TH">
                <a:latin typeface="TH Sarabun New"/>
                <a:ea typeface="TH Sarabun New"/>
                <a:cs typeface="TH Sarabun New"/>
              </a:rPr>
              <a:t>10.1 โครงสร้างข้อมูลเชิงพื้นที่ (Data Structures)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243535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3000" b="0" lang="th-TH">
                <a:latin typeface="TH Sarabun New"/>
                <a:ea typeface="TH Sarabun New"/>
                <a:cs typeface="TH Sarabun New"/>
              </a:rPr>
              <a:t>Regular Grid / Raster: โครงสร้างแบบตารางกริดสี่เหลี่ยมสม่ำเสมอ จัดเก็บค่าความสูง (Z) ในแต่ละเซลล์ (Pixel) มีข้อดีคือโครงสร้างข้อมูลเรียบง่าย ประมวลผลรวดเร็ว เหมาะสำหรับพื้นที่ขนาดใหญ่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3400" b="1" lang="th-TH">
                <a:latin typeface="TH Sarabun New"/>
                <a:ea typeface="TH Sarabun New"/>
                <a:cs typeface="TH Sarabun New"/>
              </a:rPr>
              <a:t>10.2 การนำไปบูรณาการและประยุกต์ใช้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243535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3000" b="0" lang="th-TH">
                <a:latin typeface="TH Sarabun New"/>
                <a:ea typeface="TH Sarabun New"/>
                <a:cs typeface="TH Sarabun New"/>
              </a:rPr>
              <a:t>ใช้เป็นพื้นผิวปรับแก้ทางเรขาคณิตในการสร้างแผนที่ภาพถ่ายดัดแก้จริง (True-Orthophoto) และใช้วางตำแหน่งโมเดลโครงสร้าง 3D บนสภาพแวดล้อมจริงในระบบ CADD, GIS และ Autodesk InfraWorks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3400" b="1" lang="th-TH">
                <a:latin typeface="TH Sarabun New"/>
                <a:ea typeface="TH Sarabun New"/>
                <a:cs typeface="TH Sarabun New"/>
              </a:rPr>
              <a:t>10.3 คุณลักษณะและรูปแบบไฟล์มาตรฐาน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35330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3000" b="0" lang="th-TH">
                <a:latin typeface="TH Sarabun New"/>
                <a:ea typeface="TH Sarabun New"/>
                <a:cs typeface="TH Sarabun New"/>
              </a:rPr>
              <a:t>ให้ความแม่นยำเชิงตำแหน่งสูงระดับมิลลิเมตรถึงเซนติเมตร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3000" b="0" lang="th-TH">
                <a:latin typeface="TH Sarabun New"/>
                <a:ea typeface="TH Sarabun New"/>
                <a:cs typeface="TH Sarabun New"/>
              </a:rPr>
              <a:t>นอกเหนือจากค่าพิกัด X, Y, Z แล้ว Data Record ยังบันทึกคุณลักษณะเชิงอรรถประโยชน์ เช่น ค่าความเข้มสัญญาณสะท้อนเลเซอร์ (Intensity), ลำดับการสะท้อน (Return Number) และค่าสีภาพถ่ายสมจริง (RGB)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3000" b="0" lang="th-TH">
                <a:latin typeface="TH Sarabun New"/>
                <a:ea typeface="TH Sarabun New"/>
                <a:cs typeface="TH Sarabun New"/>
              </a:rPr>
              <a:t>จัดเก็บในรูปแบบไฟล์มาตรฐานสากล เช่น .las, .laz, .e57 หรือ .pts.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3400" b="1" lang="th-TH">
                <a:latin typeface="TH Sarabun New"/>
                <a:ea typeface="TH Sarabun New"/>
                <a:cs typeface="TH Sarabun New"/>
              </a:rPr>
              <a:t>10.4 บทบาทและหน้าที่ในงานบูรณาการ 3D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302590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3000" b="0" lang="th-TH">
                <a:latin typeface="TH Sarabun New"/>
                <a:ea typeface="TH Sarabun New"/>
                <a:cs typeface="TH Sarabun New"/>
              </a:rPr>
              <a:t>Scan-to-BIM &amp; QA/QC: นำ Point Cloud ของสภาวะจริงหลังการก่อสร้าง (As-built / As-is Condition) มาเปรียบเทียบกับแบบจำลองการออกแบบ (As-designed BIM Model) เพื่อหาค่าเบี่ยงเบนทางเรขาคณิต (Deviation Identification) และตรวจสอบคุณภาพการก่อสร้าง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3400" b="1" lang="th-TH">
                <a:latin typeface="TH Sarabun New"/>
                <a:ea typeface="TH Sarabun New"/>
                <a:cs typeface="TH Sarabun New"/>
              </a:rPr>
              <a:t>10.5 นิยามและโครงสร้างสถาปัตยกรรม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87070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3000" b="0" lang="th-TH">
                <a:latin typeface="TH Sarabun New"/>
                <a:ea typeface="TH Sarabun New"/>
                <a:cs typeface="TH Sarabun New"/>
              </a:rPr>
              <a:t>Digital Twin คือตัวแทนเสมือนจริงในโลกดิจิทัล (Virtual Entity) ของวัตถุ โครงสร้าง หรือระบบทางกายภาพจริง (Physical Entity) ในโลกจริง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3000" b="0" lang="th-TH">
                <a:latin typeface="TH Sarabun New"/>
                <a:ea typeface="TH Sarabun New"/>
                <a:cs typeface="TH Sarabun New"/>
              </a:rPr>
              <a:t>หัวใจสำคัญ: ต้องมีกลไก การแลกเปลี่ยนข้อมูลแบบสองทาง (Bi-Directional Data Interaction) และการสะท้อนข้อมูลแบบ Real-Time หรือใกล้เคียง Real-Time ทำให้ฝาแฝดดิจิทัลสามารถปรับปรุงสถานะ (Real-time Updating) และสนับสนุนการตัดสินใจได้อย่างแม่นยำ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3400" b="1" lang="th-TH">
                <a:latin typeface="TH Sarabun New"/>
                <a:ea typeface="TH Sarabun New"/>
                <a:cs typeface="TH Sarabun New"/>
              </a:rPr>
              <a:t>10.6 การบูรณาการข้อมูลสำรวจ 3D ร่วมกับเครือข่ายเซนเซอร์ IoT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243535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3000" b="0" lang="th-TH">
                <a:latin typeface="TH Sarabun New"/>
                <a:ea typeface="TH Sarabun New"/>
                <a:cs typeface="TH Sarabun New"/>
              </a:rPr>
              <a:t>Analytics &amp; Visualization Stage: นำข้อมูลจากเซนเซอร์ไปประมวลผลร่วมกับแบบจำลองไฟไนเอลิเมนต์ (FEM/FEA) หรือปัญญาประดิษฐ์ (Deep Learning / CNN) เพื่อประเมินพฤติกรรมโครงสร้าง และแสดงผลผ่านแดชบอร์ด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3400" b="1" lang="th-TH">
                <a:latin typeface="TH Sarabun New"/>
                <a:ea typeface="TH Sarabun New"/>
                <a:cs typeface="TH Sarabun New"/>
              </a:rPr>
              <a:t>10.7 ตัวอย่างการประยุกต์ใช้ในงานโครงสร้างพื้นฐาน (Case Studies)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55574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2800" b="0" lang="th-TH">
                <a:latin typeface="TH Sarabun New"/>
                <a:ea typeface="TH Sarabun New"/>
                <a:cs typeface="TH Sarabun New"/>
              </a:rPr>
              <a:t>งานติดตามสุขภาพโครงสร้างสะพาน (Bridge Structural Health Monitoring): เช่น สะพาน IB5 ในสหราชอาณาจักร หรือสะพานแขวน Clifton ที่บูรณาการเซนเซอร์ FBG, สแกนเนอร์เลเซอร์ และกล้องถ่ายภาพ เพื่อตรวจจับน้ำหนักรถไฟ (BWIM), ตรวจสอบรอยร้าว และทำวิเคราะห์อายุการใช้งานโครงสร้าง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800" b="0" lang="th-TH">
                <a:latin typeface="TH Sarabun New"/>
                <a:ea typeface="TH Sarabun New"/>
                <a:cs typeface="TH Sarabun New"/>
              </a:rPr>
              <a:t>งานประเมินความเสียหายหลังภัยพิบัติ: การใช้โดรนสแกนสร้าง Point Cloud และ BIM ของอาคารหลังแผ่นดินไหว เพื่อวิเคราะห์รอยร้าวและการเปลี่ยนรูปของโครงสร้างเมื่อเทียบกับสภาวะก่อนเกิดภัย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3400" b="1" lang="th-TH">
                <a:latin typeface="TH Sarabun New"/>
                <a:ea typeface="TH Sarabun New"/>
                <a:cs typeface="TH Sarabun New"/>
              </a:rPr>
              <a:t>10.8 กระบวนการ Scan-to-BIM (Point Cloud to BIM Reconstruction)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6233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2200" b="0" lang="th-TH">
                <a:latin typeface="TH Sarabun New"/>
                <a:ea typeface="TH Sarabun New"/>
                <a:cs typeface="TH Sarabun New"/>
              </a:rPr>
              <a:t>คือกระบวนการแปลงข้อมูล Point Cloud เข้าสู่โปรแกรมสร้างแบบจำลองสารสนเทศอาคาร (BIM Authoring Tools) เพื่อสร้างโมเดล 3D ที่พ่วงด้วยข้อมูลเชิงอรรถประโยชน์ (Semantic Information) และระดับความละเอียด (Level of Development - LOD)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200" b="0" lang="th-TH">
                <a:latin typeface="TH Sarabun New"/>
                <a:ea typeface="TH Sarabun New"/>
                <a:cs typeface="TH Sarabun New"/>
              </a:rPr>
              <a:t>กำหนดความต้องการข้อมูล (Information Requirements): กำหนดองค์ประกอบอาคารที่ต้องการและระดับ LOD.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200" b="0" lang="th-TH">
                <a:latin typeface="TH Sarabun New"/>
                <a:ea typeface="TH Sarabun New"/>
                <a:cs typeface="TH Sarabun New"/>
              </a:rPr>
              <a:t>การลงทะเบียนพอยต์คลาวด์ (Registration): ปรับตรึงพอยต์คลาวด์กับแบบด้วยเทคนิค PCA หรือ ICP.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200" b="0" lang="th-TH">
                <a:latin typeface="TH Sarabun New"/>
                <a:ea typeface="TH Sarabun New"/>
                <a:cs typeface="TH Sarabun New"/>
              </a:rPr>
              <a:t>การคัดแยกและสร้างโมเดล 3D: สกัดระนาบองค์ประกอบ (Plane Detection) ด้วยอัลกอริทึม RANSAC หรือวิธี Scan-vs-BIM เพื่อสร้างวัตถุพารามิเตอร์ (Parametric Building Elements)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3400" b="1" lang="th-TH">
                <a:latin typeface="TH Sarabun New"/>
                <a:ea typeface="TH Sarabun New"/>
                <a:cs typeface="TH Sarabun New"/>
              </a:rPr>
              <a:t>10.9 มาตรฐาน Open BIM และ IFC 4.3 (ISO 19650)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75259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2600" b="0" lang="th-TH">
                <a:latin typeface="TH Sarabun New"/>
                <a:ea typeface="TH Sarabun New"/>
                <a:cs typeface="TH Sarabun New"/>
              </a:rPr>
              <a:t>ช่วยแก้ปัญหาข้อจำกัดของไฟล์โมเดลแบบปิด (Proprietary Formats) โดยมาตรฐาน Open BIM ผ่านข้อกำหนด IFC 4. (ISO 19650) ที่พัฒนาโดย buildingSMART ได้ขยายขอบเขตให้ครอบคลุมโครงสร้างพื้นฐานแนวยาว (Linear Infrastructure) เช่น ถนน ทางรถไฟ (IFC 4. Rail) สะพาน (Bridges) และทางน้ำ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600" b="0" lang="th-TH">
                <a:latin typeface="TH Sarabun New"/>
                <a:ea typeface="TH Sarabun New"/>
                <a:cs typeface="TH Sarabun New"/>
              </a:rPr>
              <a:t>ช่วยให้วัตถุในโมเดลถูกจัดโครงสร้างทางความหมาย (Semantic Structuring) ผ่าน Property Sets (Psets) และรหัสระบุเฉพาะ (Persistent IDs / GUID) ทำให้สามารถแลกเปลี่ยนข้อมูลข้ามแพลตฟอร์มซอฟต์แวร์ได้อย่างสมบูรณ์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3400" b="1" lang="th-TH">
                <a:latin typeface="TH Sarabun New"/>
                <a:ea typeface="TH Sarabun New"/>
                <a:cs typeface="TH Sarabun New"/>
              </a:rPr>
              <a:t>10.10 การบูรณาการ BIM-GIS และ CIM (City Information Modelling)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39826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H Sarabun New"/>
                <a:ea typeface="TH Sarabun New"/>
                <a:cs typeface="TH Sarabun New"/>
              </a:rPr>
              <a:t>การทำงานร่วมกันระหว่าง BIM และ GIS: BIM มีจุดเด่นในเรื่องรายละเอียดเชิงลึก เรขาคณิต และโครงสร้างภายในอาคาร/องค์ประกอบ (Indoor / Component Semantics) ขณะที่ GIS มีจุดเด่นด้านบริบทสภาพแวดล้อมเชิงพื้นที่ ภูมิประเทศ และเครือข่ายระดับเมือง/ภูมิภาค (Outdoor / Geospatial Context)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H Sarabun New"/>
                <a:ea typeface="TH Sarabun New"/>
                <a:cs typeface="TH Sarabun New"/>
              </a:rPr>
              <a:t>ความท้าทายและการแปลงมาตรฐาน (IFC &amp; CityGML): การเชื่อมโยงจำเป็นต้องมีการจับคู่ทางความหมาย (Semantic Mapping / Reference Ontology) ระหว่าง IFC (ฝั่ง BIM) และ CityGML (ฝั่ง GIS) หรือใช้โมเดลกลางสากล (Unified Building Model - UBM) เพื่อให้สามารถแปลงข้อมูลสองทาง (Bidirectional Conversion) ได้อย่างถูกต้อง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45775" cy="2011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4400" b="1" lang="th-TH">
                <a:latin typeface="TH Sarabun New"/>
                <a:ea typeface="TH Sarabun New"/>
                <a:cs typeface="TH Sarabun New"/>
              </a:rPr>
              <a:t>ตัวอย่างการประยุกต์ใช้เทคโนโลยีการสำรวจ</a:t>
            </a:r>
          </a:p>
          <a:p>
            <a:pPr>
              <a:spcBef>
                <a:spcPts val="1400"/>
              </a:spcBef>
            </a:pPr>
            <a:r>
              <a:rPr sz="2600" b="0" lang="th-TH">
                <a:latin typeface="TH Sarabun New"/>
                <a:ea typeface="TH Sarabun New"/>
                <a:cs typeface="TH Sarabun New"/>
              </a:rPr>
              <a:t>บทที่ 11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3400" b="1" lang="th-TH">
                <a:latin typeface="TH Sarabun New"/>
                <a:ea typeface="TH Sarabun New"/>
                <a:cs typeface="TH Sarabun New"/>
              </a:rPr>
              <a:t>11.1 งานสำรวจถนนและโครงสร้างพื้นฐาน (Road &amp; Infrastructure Surveying)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87070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3000" b="0" lang="th-TH">
                <a:latin typeface="TH Sarabun New"/>
                <a:ea typeface="TH Sarabun New"/>
                <a:cs typeface="TH Sarabun New"/>
              </a:rPr>
              <a:t>การใช้อากาศยานไร้คนขับ (UAV) ขนาดเล็ก (เช่น DJI MINI 2) ในการบินเก็บข้อมูลกิจกรรม ตรวจสอบความปลอดภัยของผู้ปฏิบัติงานและประชาชน การวางแผนจราจร และการติดป้ายสัญญาณในโครงการก่อสร้างทางหลวง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3000" b="0" lang="th-TH">
                <a:latin typeface="TH Sarabun New"/>
                <a:ea typeface="TH Sarabun New"/>
                <a:cs typeface="TH Sarabun New"/>
              </a:rPr>
              <a:t>การใช้ UAV ประสิทธิภาพสูง (เช่น DJI Matrice 200 V2) ติดตั้งกล้องความละเอียดสูง เพื่อสำรวจระดับภูมิประเทศและคำนวณปริมาณดินถมเบื้องต้นก่อนการก่อสร้างด่านพรมแดนและสะพานมิตรภาพ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3400" b="1" lang="th-TH">
                <a:latin typeface="TH Sarabun New"/>
                <a:ea typeface="TH Sarabun New"/>
                <a:cs typeface="TH Sarabun New"/>
              </a:rPr>
              <a:t>11.2 งานสำรวจแม่น้ำและพื้นที่ริมตลิ่ง (River &amp; Riparian Zone Surveying)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75259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2600" b="0" lang="th-TH">
                <a:latin typeface="TH Sarabun New"/>
                <a:ea typeface="TH Sarabun New"/>
                <a:cs typeface="TH Sarabun New"/>
              </a:rPr>
              <a:t>การประยุกต์ใช้เครื่องหยั่งความลึกด้วยคลื่นเสียงแบบลำคลื่นเดียว (Single-Beam Echo Sounder - SBES) ร่วมกับ RTK GNSS ในลำน้ำและคลองชลประทาน (เช่น คลองบ้านนาลาว) เพื่อรวบรวมพิกัดและค่าความลึก นำไปประมวลผลสร้างแผนที่เส้นชั้นความลึก (Bathymetric Contours) และแบบจำลองความลึก (DBM)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600" b="0" lang="th-TH">
                <a:latin typeface="TH Sarabun New"/>
                <a:ea typeface="TH Sarabun New"/>
                <a:cs typeface="TH Sarabun New"/>
              </a:rPr>
              <a:t>การสกัดข้อมูลรูปตัดตามขวาง (Cross-Sections) และรูปตัดตามยาว (Longitudinal Profiles) จากแบบจำลองความสูงเชิงเลข (DEM/DBM) เพื่อใช้ในการออกแบบทางวิศวกรรมลำน้ำ การวิเคราะห์ทางอุทกวิทยา และการคำนวณความจุลำน้ำ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3400" b="1" lang="th-TH">
                <a:latin typeface="TH Sarabun New"/>
                <a:ea typeface="TH Sarabun New"/>
                <a:cs typeface="TH Sarabun New"/>
              </a:rPr>
              <a:t>11.3 งานสำรวจพื้นที่ก่อสร้าง (Construction Site Surveying)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368960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3000" b="0" lang="th-TH">
                <a:latin typeface="TH Sarabun New"/>
                <a:ea typeface="TH Sarabun New"/>
                <a:cs typeface="TH Sarabun New"/>
              </a:rPr>
              <a:t>การใช้ภาพถ่ายทางอากาศจาก UAV ร่วมกับเทคโนโลยี RTK / PPK GNSS ในการสร้างแบบจำลองพื้นผิวเชิงเลข (DSM/DTM) และประมวลผลคำนวณปริมาตรดินแบบ Surface-to-Surface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3000" b="0" lang="th-TH">
                <a:latin typeface="TH Sarabun New"/>
                <a:ea typeface="TH Sarabun New"/>
                <a:cs typeface="TH Sarabun New"/>
              </a:rPr>
              <a:t>การสำรวจภูมิประเทศในขั้นตอนถางป่าขุดตอ (Clearing and Grubbing) เพื่อใช้เป็นระดับดินเดิมที่แม่นยำในการตรวจรับงานงวดดินถม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3400" b="1" lang="th-TH">
                <a:latin typeface="TH Sarabun New"/>
                <a:ea typeface="TH Sarabun New"/>
                <a:cs typeface="TH Sarabun New"/>
              </a:rPr>
              <a:t>11.4 งานสำรวจพื้นที่เสี่ยงต่อการกัดเซาะ (Erosion Risk Area Surveying)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302590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3000" b="0" lang="th-TH">
                <a:latin typeface="TH Sarabun New"/>
                <a:ea typeface="TH Sarabun New"/>
                <a:cs typeface="TH Sarabun New"/>
              </a:rPr>
              <a:t>การประยุกต์ใช้ภาพถ่ายดาวเทียม (เช่น Landsat, IKONOS, QuickBird, Worldview-2, Pleiades) ร่วมกับระบบประมวลผลคลาวด์ Google Earth Engine (GEE), ดัชนี AWEI, เทคนิค Otsu Thresholding และเครื่องมือ DSAS / CoastSat ในการจำกัดขอบเขตแนวชายฝั่งและคำนวณอัตราการเปลี่ยนแปลง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3400" b="1" lang="th-TH">
                <a:latin typeface="TH Sarabun New"/>
                <a:ea typeface="TH Sarabun New"/>
                <a:cs typeface="TH Sarabun New"/>
              </a:rPr>
              <a:t>11.5 งานสำรวจเพื่อการวางแผนและออกแบบ (Surveying for Planning &amp; Design)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55015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2200" b="0" lang="th-TH">
                <a:latin typeface="TH Sarabun New"/>
                <a:ea typeface="TH Sarabun New"/>
                <a:cs typeface="TH Sarabun New"/>
              </a:rPr>
              <a:t>การนำข้อมูลสำรวจและภูมิสารสนเทศหลายชั้นข้อมูล (เช่น ฝน, ธรณีวิทยา, โครงสร้างรอยแตก, ดิน, ความลาดชัน, การใช้ประโยชน์ที่ดิน) มาซ้อนทับกันโดยกำหนดน้ำหนักความสำคัญผ่านกระบวนการ Analytic Hierarchy Process (AHP) เพื่อประเมินพื้นที่เหมาะสมสำหรับการวางแผน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200" b="0" lang="th-TH">
                <a:latin typeface="TH Sarabun New"/>
                <a:ea typeface="TH Sarabun New"/>
                <a:cs typeface="TH Sarabun New"/>
              </a:rPr>
              <a:t>ตัวอย่างการประยุกต์: การจัดทำแผนที่ประเมินพื้นที่ศักยภาพน้ำใต้ดิน (Groundwater Potential Zones) และการประเมินพื้นที่เปราะบางต่อภัยธรรมชาติต่างๆ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200" b="0" lang="th-TH">
                <a:latin typeface="TH Sarabun New"/>
                <a:ea typeface="TH Sarabun New"/>
                <a:cs typeface="TH Sarabun New"/>
              </a:rPr>
              <a:t>การรวมข้อมูล GIS 3 มิติ, BIM และข้อมูลสำรวจ LiDAR เข้าด้วยกันเป็น living 3D model ช่วยให้ผู้ผังเมืองประเมินผลกระทบสิ่งแวดล้อม (Impact Assessment) และจำลองสถานการณ์ต่างๆ (Scenario Modeling) เช่น แบบจำลองน้ำท่วม การไหลเวียนความร้อน หรือการจราจร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45775" cy="2011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4400" b="1" lang="th-TH">
                <a:latin typeface="TH Sarabun New"/>
                <a:ea typeface="TH Sarabun New"/>
                <a:cs typeface="TH Sarabun New"/>
              </a:rPr>
              <a:t>แนวโน้มเทคโนโลยีการสำรวจในอนาคต</a:t>
            </a:r>
          </a:p>
          <a:p>
            <a:pPr>
              <a:spcBef>
                <a:spcPts val="1400"/>
              </a:spcBef>
            </a:pPr>
            <a:r>
              <a:rPr sz="2600" b="0" lang="th-TH">
                <a:latin typeface="TH Sarabun New"/>
                <a:ea typeface="TH Sarabun New"/>
                <a:cs typeface="TH Sarabun New"/>
              </a:rPr>
              <a:t>บทที่ 12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3400" b="1" lang="th-TH">
                <a:latin typeface="TH Sarabun New"/>
                <a:ea typeface="TH Sarabun New"/>
                <a:cs typeface="TH Sarabun New"/>
              </a:rPr>
              <a:t>12.1 ปัญญาประดิษฐ์และระบบเรียนรู้ของเครื่อง (AI &amp; Machine Learning)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39826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H Sarabun New"/>
                <a:ea typeface="TH Sarabun New"/>
                <a:cs typeface="TH Sarabun New"/>
              </a:rPr>
              <a:t>การตรวจจับความผิดปกติและความเสียหายของโครงสร้าง (Defect &amp; Anomaly Detection): อัลกอริทึม Machine Learning ถูกนำมาใช้ประมวลผลภาพถ่าย (เช่น ภาพจากกล้องติดรถยนต์ Blyncsy) และข้อมูล LiDAR เพื่อตรวจจับรอยแตกร้าวบนผิวจราจร, ความเสียหายของแผงกั้นทาง (Guardrails), ขยะสิ่งกีดขวาง, ความชำรุดในท่อระบายน้ำ และการรั่วซึมในอุโมงค์ได้โดยอัตโนมัติ.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400" b="0" lang="th-TH">
                <a:latin typeface="TH Sarabun New"/>
                <a:ea typeface="TH Sarabun New"/>
                <a:cs typeface="TH Sarabun New"/>
              </a:rPr>
              <a:t>การพยากรณ์และประเมินความเสี่ยงเชิงพื้นที่: AI ทำหน้าที่วิเคราะห์รูปแบบข้อมูลอนุกรมเวลา (Time-series Data) เพื่อพยากรณ์การเสื่อมสภาพของสินทรัพย์, คาดการณ์ภัยธรรมชาติ (เช่น น้ำท่วม ดินถล่ม), และวิเคราะห์ความเอียงของเสาไฟฟ้าผ่านภาพถ่าย UAV เพื่อประเมินความเสี่ยงก่อนเกิดภัยพิบัติ.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3400" b="1" lang="th-TH">
                <a:latin typeface="TH Sarabun New"/>
                <a:ea typeface="TH Sarabun New"/>
                <a:cs typeface="TH Sarabun New"/>
              </a:rPr>
              <a:t>12.2 การสกัดคุณลักษณะอัตโนมัติ (Automated Feature Extraction)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20700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3000" b="0" lang="th-TH">
                <a:latin typeface="TH Sarabun New"/>
                <a:ea typeface="TH Sarabun New"/>
                <a:cs typeface="TH Sarabun New"/>
              </a:rPr>
              <a:t>เครื่องมือสกัดจุดและเวกเตอร์อัตโนมัติ (Point Feature Extraction Tools): แพลตฟอร์มการสำรวจชั้นนำ (เช่น FlyPix AI, Pix4D, Skycatch, Propeller Aero, LiDAR360, DroneDeploy, Autodesk ReCap, Bentley iTwin) ใช้ AI และ Photogrammetry ในการตรวจจับและสกัดตำแหน่งวัตถุเดี่ยว เช่น รอยmarking บนถนน, ขอบอาคาร, เสาไฟฟ้า และทรงพุ่มต้นไม้ ออกมาจากชุดข้อมูลภาพถ่ายและ LiDAR.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3400" b="1" lang="th-TH">
                <a:latin typeface="TH Sarabun New"/>
                <a:ea typeface="TH Sarabun New"/>
                <a:cs typeface="TH Sarabun New"/>
              </a:rPr>
              <a:t>12.3 การประมวลผลบนระบบคลาวด์ (Cloud Processing)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55574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2800" b="0" lang="th-TH">
                <a:latin typeface="TH Sarabun New"/>
                <a:ea typeface="TH Sarabun New"/>
                <a:cs typeface="TH Sarabun New"/>
              </a:rPr>
              <a:t>การจัดการและจัดเก็บข้อมูลขนาดใหญ่ (Scalable Cloud Infrastructure): ปริมาณข้อมูลการสำรวจในปัจจุบันมีขนาดใหญ่ระดับ Terabytes (เช่น กลุ่มจุด LiDAR และภาพถ่ายโดรนความละเอียดสูง) ระบบคลาวด์จึงเข้ามาแทนที่เครื่องประมวลผลท้องถิ่น เพื่อรองรับการจัดเก็บ การประมวลผล และการสำรองข้อมูลอย่างมีประสิทธิภาพ.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800" b="0" lang="th-TH">
                <a:latin typeface="TH Sarabun New"/>
                <a:ea typeface="TH Sarabun New"/>
                <a:cs typeface="TH Sarabun New"/>
              </a:rPr>
              <a:t>การลดต้นทุนฮาร์ดแวร์และการบำรุงรักษา: องค์กรไม่จำเป็นต้องลงทุนในซูเปอร์คอมพิวเตอร์ราคาแพง และสามารถขยายขนาดการประมวลผล (Scalability) ได้ตามจริง ช่วยลดค่าใช้จ่ายดูแลรักษาระบบไอที.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3400" b="1" lang="th-TH">
                <a:latin typeface="TH Sarabun New"/>
                <a:ea typeface="TH Sarabun New"/>
                <a:cs typeface="TH Sarabun New"/>
              </a:rPr>
              <a:t>12.4 การสำรวจแบบเรียลไทม์ (Real-time Surveying)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75259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2600" b="0" lang="th-TH">
                <a:latin typeface="TH Sarabun New"/>
                <a:ea typeface="TH Sarabun New"/>
                <a:cs typeface="TH Sarabun New"/>
              </a:rPr>
              <a:t>เครื่องสแกน LiDAR มือถือและเทคโนโลยี SLAM: เครื่องสำรวจแบบถือเคลื่อนที่ (Handheld LiDAR Scanners เช่น TOKNAV TSR20) ประยุกต์ใช้อัลกอริทึม SLAM (Simultaneous Localization and Mapping) ในการสร้างโมเดล Point Cloud 3 มิติได้ทันทีขณะที่เจ้าหน้าที่เดินสำรวจในพื้นที่.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600" b="0" lang="th-TH">
                <a:latin typeface="TH Sarabun New"/>
                <a:ea typeface="TH Sarabun New"/>
                <a:cs typeface="TH Sarabun New"/>
              </a:rPr>
              <a:t>การสตรีมข้อมูลเซนเซอร์ภาคสนาม (Live IoT &amp; Crowdsourced Feeds): การเชื่อมต่อกล้องติดรถยนต์, เซนเซอร์ IoT บนโครงสร้าง และโดรนสตรีมมิง เข้ากับระบบ GIS/Digital Twin ช่วยให้ศูนย์ควบคุมมองเห็นสภาพพื้นที่และการเปลี่ยนแปลงเชิงตำแหน่งได้แบบเรียลไทม์.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3400" b="1" lang="th-TH">
                <a:latin typeface="TH Sarabun New"/>
                <a:ea typeface="TH Sarabun New"/>
                <a:cs typeface="TH Sarabun New"/>
              </a:rPr>
              <a:t>12.5 ดิจิทัลทวินและโครงสร้างพื้นฐานอัจฉริยะ (Digital Twin &amp; Smart Infrastructure)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87070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3000" b="0" lang="th-TH">
                <a:latin typeface="TH Sarabun New"/>
                <a:ea typeface="TH Sarabun New"/>
                <a:cs typeface="TH Sarabun New"/>
              </a:rPr>
              <a:t>แพลตฟอร์มและซอฟต์แวร์สนับสนุน: ขับเคลื่อนด้วยซอฟต์แวร์ระดับองค์กร เช่น Bentley iTwin Platform, Autodesk Tandem, Esri ArcGIS / GeoBIM, Siemens Xcelerator และ Hexagon Smart Digital Reality.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3000" b="0" lang="th-TH">
                <a:latin typeface="TH Sarabun New"/>
                <a:ea typeface="TH Sarabun New"/>
                <a:cs typeface="TH Sarabun New"/>
              </a:rPr>
              <a:t>การบำรุงรักษาเชิงคาดการณ์ (Predictive Maintenance): ตรวจสอบความสมบูรณ์ของสะพาน, ถนน, ท่อส่งน้ำ และระบบสาธารณูปโภคอย่างต่อเนื่อง เพื่อตรวจจับความเค้นหรือการชำรุดก่อนจะเกิดความเสียหายร้ายแรง.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3400" b="1" lang="th-TH">
                <a:latin typeface="TH Sarabun New"/>
                <a:ea typeface="TH Sarabun New"/>
                <a:cs typeface="TH Sarabun New"/>
              </a:rPr>
              <a:t>12.6 การพัฒนาไปสู่ระบบสำรวจอัตโนมัติและอัจฉริยะ (Automated/Intelligent Surveying)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75259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320040" indent="-274320">
              <a:spcAft>
                <a:spcPts val="600"/>
              </a:spcAft>
              <a:buChar char="•"/>
            </a:pPr>
            <a:r>
              <a:rPr sz="2600" b="0" lang="th-TH">
                <a:latin typeface="TH Sarabun New"/>
                <a:ea typeface="TH Sarabun New"/>
                <a:cs typeface="TH Sarabun New"/>
              </a:rPr>
              <a:t>กระบวนการทำงานอัตโนมัติแบบครบวงจร (End-to-End Autonomous Workflows): ยุคใหม่ของการสำรวจมุ่งเน้นการเชื่อมต่อตั้งแต่การบินโดรนเก็บข้อมูลอัตโนมัติ, การส่งข้อมูลเข้าประมวลผลบนคลาวด์, และการใช้ AI แยกแยะวัตถุออกมาเป็นข้อมูลวิศวกรรมพร้อมใช้งานโดยรบกวนการทำงานของมนุษย์น้อยที่สุด.</a:t>
            </a:r>
          </a:p>
          <a:p>
            <a:pPr marL="320040" indent="-274320">
              <a:spcAft>
                <a:spcPts val="600"/>
              </a:spcAft>
              <a:buChar char="•"/>
            </a:pPr>
            <a:r>
              <a:rPr sz="2600" b="0" lang="th-TH">
                <a:latin typeface="TH Sarabun New"/>
                <a:ea typeface="TH Sarabun New"/>
                <a:cs typeface="TH Sarabun New"/>
              </a:rPr>
              <a:t>การปรับเปลี่ยนบทบาทและทักษะของนักสำรวจ: ช่างสำรวจจะเปลี่ยนบทบาทจากการเป็นผู้ถืออุปกรณ์รังวัดในสนาม มาเป็นผู้เชี่ยวชาญด้านการจัดการข้อมูลเชิงพื้นที่ (Spatial Data Managers), ผู้ตรวจสอบอัลกอริทึม AI (AI Auditors) และผู้วางกลยุทธ์ด้าน Digital Twin.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