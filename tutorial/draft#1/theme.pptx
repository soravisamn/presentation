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3106400" cy="7315200"/>
  <p:notesSz cx="7315200" cy="1310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jpe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jpe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e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jpe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jpe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jpe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jpeg"/><Relationship Id="rId11" Type="http://schemas.openxmlformats.org/officeDocument/2006/relationships/image" Target="../media/image-5-11.jpeg"/><Relationship Id="rId12" Type="http://schemas.openxmlformats.org/officeDocument/2006/relationships/image" Target="../media/image-5-12.jpeg"/><Relationship Id="rId13" Type="http://schemas.openxmlformats.org/officeDocument/2006/relationships/image" Target="../media/image-5-13.jpe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106400" cy="23526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0425"/>
            <a:ext cx="13106400" cy="1047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106400" cy="7315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86000"/>
            <a:ext cx="13106400" cy="50196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47700" y="1400175"/>
            <a:ext cx="101536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563" dirty="0">
                <a:solidFill>
                  <a:srgbClr val="B4AF9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จากการรังวัดพิกัดเดี่ยว สู่การจัดการโลกดิจิทัลไร้รอยต่อ</a:t>
            </a:r>
            <a:endParaRPr lang="en-US" sz="3563" dirty="0"/>
          </a:p>
        </p:txBody>
      </p:sp>
      <p:sp>
        <p:nvSpPr>
          <p:cNvPr id="7" name="Text 1"/>
          <p:cNvSpPr/>
          <p:nvPr/>
        </p:nvSpPr>
        <p:spPr>
          <a:xfrm>
            <a:off x="647700" y="514350"/>
            <a:ext cx="103727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5"/>
              </a:lnSpc>
              <a:buNone/>
            </a:pPr>
            <a:r>
              <a:rPr lang="en-US" sz="4665" b="1" dirty="0">
                <a:solidFill>
                  <a:srgbClr val="EFF0F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เทคโนโลยีการสำรวจภูมิประเทศยุคใหม่</a:t>
            </a:r>
            <a:endParaRPr lang="en-US" sz="466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106400" cy="7315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275" y="476250"/>
            <a:ext cx="5915025" cy="6096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175" y="5705475"/>
            <a:ext cx="409575" cy="4095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675" y="5391150"/>
            <a:ext cx="76200" cy="857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700" y="5248275"/>
            <a:ext cx="390525" cy="3524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675" y="4924425"/>
            <a:ext cx="76200" cy="857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4829175"/>
            <a:ext cx="46672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9925" y="1257300"/>
            <a:ext cx="5429250" cy="32766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677150" y="5686425"/>
            <a:ext cx="441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748" dirty="0">
                <a:solidFill>
                  <a:srgbClr val="CBCFD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นำไปใช้ต่อใน CAD, GIS และ BIM ได้โดยตรง</a:t>
            </a:r>
            <a:endParaRPr lang="en-US" sz="1748" dirty="0"/>
          </a:p>
        </p:txBody>
      </p:sp>
      <p:sp>
        <p:nvSpPr>
          <p:cNvPr id="11" name="Text 1"/>
          <p:cNvSpPr/>
          <p:nvPr/>
        </p:nvSpPr>
        <p:spPr>
          <a:xfrm>
            <a:off x="7848600" y="5229225"/>
            <a:ext cx="466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838" dirty="0">
                <a:solidFill>
                  <a:srgbClr val="CFD3D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ผลลัพธ์เป็นกลุ่มเมฆจุด 3 มิติ (3D Point Cloud)</a:t>
            </a:r>
            <a:endParaRPr lang="en-US" sz="1838" dirty="0"/>
          </a:p>
        </p:txBody>
      </p:sp>
      <p:sp>
        <p:nvSpPr>
          <p:cNvPr id="12" name="Text 2"/>
          <p:cNvSpPr/>
          <p:nvPr/>
        </p:nvSpPr>
        <p:spPr>
          <a:xfrm>
            <a:off x="7848600" y="4714875"/>
            <a:ext cx="39433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67" dirty="0">
                <a:solidFill>
                  <a:srgbClr val="C8CC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เก็บข้อมูลครอบคลุมพื้นที่กว้างในเวลาสั้น</a:t>
            </a:r>
            <a:endParaRPr lang="en-US" sz="1867" dirty="0"/>
          </a:p>
        </p:txBody>
      </p:sp>
      <p:sp>
        <p:nvSpPr>
          <p:cNvPr id="13" name="Text 3"/>
          <p:cNvSpPr/>
          <p:nvPr/>
        </p:nvSpPr>
        <p:spPr>
          <a:xfrm>
            <a:off x="7077075" y="647700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348" b="1" dirty="0">
                <a:solidFill>
                  <a:srgbClr val="DDDF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Digital Survey: การสร้างโลกเสมือนจริง</a:t>
            </a:r>
            <a:endParaRPr lang="en-US" sz="2348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419100"/>
            <a:ext cx="6048375" cy="6305550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9700" y="5867400"/>
            <a:ext cx="76200" cy="76200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5715000"/>
            <a:ext cx="295275" cy="390525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9700" y="5391150"/>
            <a:ext cx="76200" cy="85725"/>
          </a:xfrm>
          <a:prstGeom prst="rect">
            <a:avLst/>
          </a:prstGeom>
        </p:spPr>
      </p:pic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5267325"/>
            <a:ext cx="295275" cy="314325"/>
          </a:xfrm>
          <a:prstGeom prst="rect">
            <a:avLst/>
          </a:prstGeom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4781550"/>
            <a:ext cx="295275" cy="352425"/>
          </a:xfrm>
          <a:prstGeom prst="rect">
            <a:avLst/>
          </a:prstGeom>
        </p:spPr>
      </p:pic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" y="1257300"/>
            <a:ext cx="5429250" cy="3276600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1562100" y="5686425"/>
            <a:ext cx="2990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C5C9C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ข้อมูลมีจำกัดเฉพาะจุดที่เดินถึง</a:t>
            </a:r>
            <a:endParaRPr lang="en-US" sz="1875" dirty="0"/>
          </a:p>
        </p:txBody>
      </p:sp>
      <p:sp>
        <p:nvSpPr>
          <p:cNvPr id="22" name="Text 5"/>
          <p:cNvSpPr/>
          <p:nvPr/>
        </p:nvSpPr>
        <p:spPr>
          <a:xfrm>
            <a:off x="1552575" y="5210175"/>
            <a:ext cx="38957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830" dirty="0">
                <a:solidFill>
                  <a:srgbClr val="CCD0D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ได้ข้อมูลเป็นพิกัดเดี่ยว (Sparse points)</a:t>
            </a:r>
            <a:endParaRPr lang="en-US" sz="1830" dirty="0"/>
          </a:p>
        </p:txBody>
      </p:sp>
      <p:sp>
        <p:nvSpPr>
          <p:cNvPr id="23" name="Text 6"/>
          <p:cNvSpPr/>
          <p:nvPr/>
        </p:nvSpPr>
        <p:spPr>
          <a:xfrm>
            <a:off x="1409700" y="4762500"/>
            <a:ext cx="3571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815" dirty="0">
                <a:solidFill>
                  <a:srgbClr val="C8CCD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• อาศัยกำลังคนและเวลาในสนามมาก</a:t>
            </a:r>
            <a:endParaRPr lang="en-US" sz="1815" dirty="0"/>
          </a:p>
        </p:txBody>
      </p:sp>
      <p:sp>
        <p:nvSpPr>
          <p:cNvPr id="24" name="Text 7"/>
          <p:cNvSpPr/>
          <p:nvPr/>
        </p:nvSpPr>
        <p:spPr>
          <a:xfrm>
            <a:off x="1600200" y="581025"/>
            <a:ext cx="3590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310" b="1" dirty="0">
                <a:solidFill>
                  <a:srgbClr val="DADCD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ยุคดั้งเดิม: การรังวัดที่ละจุด</a:t>
            </a:r>
            <a:endParaRPr lang="en-US" sz="231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1400" y="7048500"/>
            <a:ext cx="5705475" cy="266700"/>
          </a:xfrm>
          <a:prstGeom prst="rect">
            <a:avLst/>
          </a:prstGeom>
        </p:spPr>
      </p:pic>
      <p:sp>
        <p:nvSpPr>
          <p:cNvPr id="26" name="Shape 8"/>
          <p:cNvSpPr/>
          <p:nvPr/>
        </p:nvSpPr>
        <p:spPr>
          <a:xfrm>
            <a:off x="819150" y="6410325"/>
            <a:ext cx="11458575" cy="638175"/>
          </a:xfrm>
          <a:prstGeom prst="roundRect">
            <a:avLst>
              <a:gd name="adj" fmla="val 13060"/>
            </a:avLst>
          </a:prstGeom>
          <a:solidFill>
            <a:srgbClr val="355773"/>
          </a:solidFill>
          <a:ln w="9525">
            <a:solidFill>
              <a:srgbClr val="334C61"/>
            </a:solidFill>
            <a:prstDash val="solid"/>
          </a:ln>
        </p:spPr>
      </p:sp>
      <p:pic>
        <p:nvPicPr>
          <p:cNvPr id="2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63375" y="6534150"/>
            <a:ext cx="381000" cy="390525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1562100" y="6524625"/>
            <a:ext cx="100488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75"/>
              </a:lnSpc>
              <a:buNone/>
            </a:pPr>
            <a:r>
              <a:rPr lang="en-US" sz="2115" b="1" dirty="0">
                <a:solidFill>
                  <a:srgbClr val="D7E3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ผลลัพธ์: ลดเวลาปฏิบัติงานภาคสนาม ลดความเสี่ยง และตรวจสอบย้อนกลับได้ 100%</a:t>
            </a:r>
            <a:endParaRPr lang="en-US" sz="2115" dirty="0"/>
          </a:p>
        </p:txBody>
      </p:sp>
      <p:sp>
        <p:nvSpPr>
          <p:cNvPr id="29" name="Text 10"/>
          <p:cNvSpPr/>
          <p:nvPr/>
        </p:nvSpPr>
        <p:spPr>
          <a:xfrm>
            <a:off x="12087225" y="7096125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8C8F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Notebook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106400" cy="7315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29625" y="1247775"/>
            <a:ext cx="4267200" cy="5676900"/>
          </a:xfrm>
          <a:prstGeom prst="roundRect">
            <a:avLst>
              <a:gd name="adj" fmla="val 3237"/>
            </a:avLst>
          </a:prstGeom>
          <a:solidFill>
            <a:srgbClr val="2C363F"/>
          </a:solidFill>
          <a:ln w="9525">
            <a:solidFill>
              <a:srgbClr val="1B222A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5600700"/>
            <a:ext cx="981075" cy="8953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775" y="4457700"/>
            <a:ext cx="1009650" cy="8191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775" y="3333750"/>
            <a:ext cx="990600" cy="8001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5875" y="2247900"/>
            <a:ext cx="914400" cy="75247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850" y="1981200"/>
            <a:ext cx="3695700" cy="8572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0191750" y="5676900"/>
            <a:ext cx="1743075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100" dirty="0">
                <a:solidFill>
                  <a:srgbClr val="D1D5D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สัญญาณสะท้อน</a:t>
            </a:r>
            <a:endParaRPr lang="en-US" sz="210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2100" dirty="0">
                <a:solidFill>
                  <a:srgbClr val="D1D5D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(Multipath)</a:t>
            </a:r>
            <a:endParaRPr lang="en-US" sz="2100" dirty="0"/>
          </a:p>
        </p:txBody>
      </p:sp>
      <p:sp>
        <p:nvSpPr>
          <p:cNvPr id="10" name="Text 2"/>
          <p:cNvSpPr/>
          <p:nvPr/>
        </p:nvSpPr>
        <p:spPr>
          <a:xfrm>
            <a:off x="10191750" y="4648200"/>
            <a:ext cx="1790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995" dirty="0">
                <a:solidFill>
                  <a:srgbClr val="B6BBB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วงโคจรดาวเทียม</a:t>
            </a:r>
            <a:endParaRPr lang="en-US" sz="1995" dirty="0"/>
          </a:p>
        </p:txBody>
      </p:sp>
      <p:sp>
        <p:nvSpPr>
          <p:cNvPr id="11" name="Text 3"/>
          <p:cNvSpPr/>
          <p:nvPr/>
        </p:nvSpPr>
        <p:spPr>
          <a:xfrm>
            <a:off x="10210800" y="3533775"/>
            <a:ext cx="171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950" dirty="0">
                <a:solidFill>
                  <a:srgbClr val="D1D5D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นาฬิกาดาวเทียม</a:t>
            </a:r>
            <a:endParaRPr lang="en-US" sz="1950" dirty="0"/>
          </a:p>
        </p:txBody>
      </p:sp>
      <p:sp>
        <p:nvSpPr>
          <p:cNvPr id="12" name="Text 4"/>
          <p:cNvSpPr/>
          <p:nvPr/>
        </p:nvSpPr>
        <p:spPr>
          <a:xfrm>
            <a:off x="10191750" y="2352675"/>
            <a:ext cx="148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092" dirty="0">
                <a:solidFill>
                  <a:srgbClr val="C3C7C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ชั้นบรรยากาศ</a:t>
            </a:r>
            <a:endParaRPr lang="en-US" sz="2092" dirty="0"/>
          </a:p>
        </p:txBody>
      </p:sp>
      <p:sp>
        <p:nvSpPr>
          <p:cNvPr id="13" name="Text 5"/>
          <p:cNvSpPr/>
          <p:nvPr/>
        </p:nvSpPr>
        <p:spPr>
          <a:xfrm>
            <a:off x="8753475" y="1409700"/>
            <a:ext cx="3667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092" b="1" dirty="0">
                <a:solidFill>
                  <a:srgbClr val="DCDE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ความคลาดเคลื่อนที่ต้องจัดการ</a:t>
            </a:r>
            <a:endParaRPr lang="en-US" sz="2092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75" y="1266825"/>
            <a:ext cx="7781925" cy="5648325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4175" y="3838575"/>
            <a:ext cx="447675" cy="523875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7800" y="3829050"/>
            <a:ext cx="438150" cy="523875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2150" y="1781175"/>
            <a:ext cx="495300" cy="476250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1725" y="1781175"/>
            <a:ext cx="466725" cy="47625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6877050" y="4410075"/>
            <a:ext cx="876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29"/>
              </a:lnSpc>
              <a:buNone/>
            </a:pPr>
            <a:r>
              <a:rPr lang="en-US" sz="2098" dirty="0">
                <a:solidFill>
                  <a:srgbClr val="CCA45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BeiDou</a:t>
            </a:r>
            <a:endParaRPr lang="en-US" sz="2098" dirty="0"/>
          </a:p>
          <a:p>
            <a:pPr algn="ctr" indent="0" marL="0">
              <a:lnSpc>
                <a:spcPts val="2529"/>
              </a:lnSpc>
              <a:buNone/>
            </a:pPr>
            <a:r>
              <a:rPr lang="en-US" sz="2098" dirty="0">
                <a:solidFill>
                  <a:srgbClr val="CCA45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(จีน)</a:t>
            </a:r>
            <a:endParaRPr lang="en-US" sz="2098" dirty="0"/>
          </a:p>
        </p:txBody>
      </p:sp>
      <p:sp>
        <p:nvSpPr>
          <p:cNvPr id="20" name="Text 7"/>
          <p:cNvSpPr/>
          <p:nvPr/>
        </p:nvSpPr>
        <p:spPr>
          <a:xfrm>
            <a:off x="723900" y="4410075"/>
            <a:ext cx="1343025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72"/>
              </a:lnSpc>
              <a:buNone/>
            </a:pPr>
            <a:r>
              <a:rPr lang="en-US" sz="1663" b="1" dirty="0">
                <a:solidFill>
                  <a:srgbClr val="CCA75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Galileo</a:t>
            </a:r>
            <a:endParaRPr lang="en-US" sz="1663" dirty="0"/>
          </a:p>
          <a:p>
            <a:pPr algn="ctr" indent="0" marL="0">
              <a:lnSpc>
                <a:spcPts val="2472"/>
              </a:lnSpc>
              <a:buNone/>
            </a:pPr>
            <a:r>
              <a:rPr lang="en-US" sz="1663" b="1" dirty="0">
                <a:solidFill>
                  <a:srgbClr val="CCA75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(สหภาพยุโรป)</a:t>
            </a:r>
            <a:endParaRPr lang="en-US" sz="1663" dirty="0"/>
          </a:p>
        </p:txBody>
      </p:sp>
      <p:sp>
        <p:nvSpPr>
          <p:cNvPr id="21" name="Text 8"/>
          <p:cNvSpPr/>
          <p:nvPr/>
        </p:nvSpPr>
        <p:spPr>
          <a:xfrm>
            <a:off x="6448425" y="1704975"/>
            <a:ext cx="117157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927" b="1" dirty="0">
                <a:solidFill>
                  <a:srgbClr val="D4AC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GLONASS</a:t>
            </a:r>
            <a:endParaRPr lang="en-US" sz="1927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927" b="1" dirty="0">
                <a:solidFill>
                  <a:srgbClr val="D4AC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(รัสเซีย)</a:t>
            </a:r>
            <a:endParaRPr lang="en-US" sz="1927" dirty="0"/>
          </a:p>
        </p:txBody>
      </p:sp>
      <p:sp>
        <p:nvSpPr>
          <p:cNvPr id="22" name="Text 9"/>
          <p:cNvSpPr/>
          <p:nvPr/>
        </p:nvSpPr>
        <p:spPr>
          <a:xfrm>
            <a:off x="857250" y="1714500"/>
            <a:ext cx="140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475"/>
              </a:lnSpc>
              <a:buNone/>
            </a:pPr>
            <a:r>
              <a:rPr lang="en-US" sz="1695" b="1" dirty="0">
                <a:solidFill>
                  <a:srgbClr val="D2AB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GPS</a:t>
            </a:r>
            <a:endParaRPr lang="en-US" sz="1695" dirty="0"/>
          </a:p>
          <a:p>
            <a:pPr algn="r" indent="0" marL="0">
              <a:lnSpc>
                <a:spcPts val="2475"/>
              </a:lnSpc>
              <a:buNone/>
            </a:pPr>
            <a:r>
              <a:rPr lang="en-US" sz="1695" b="1" dirty="0">
                <a:solidFill>
                  <a:srgbClr val="D2AB5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(สหรัฐอเมริกา)</a:t>
            </a:r>
            <a:endParaRPr lang="en-US" sz="1695" dirty="0"/>
          </a:p>
        </p:txBody>
      </p:sp>
      <p:sp>
        <p:nvSpPr>
          <p:cNvPr id="23" name="Text 10"/>
          <p:cNvSpPr/>
          <p:nvPr/>
        </p:nvSpPr>
        <p:spPr>
          <a:xfrm>
            <a:off x="2905125" y="361950"/>
            <a:ext cx="73723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308" b="1" dirty="0">
                <a:solidFill>
                  <a:srgbClr val="E7E8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ความแม่นยำสัมบูรณ์: ระบบนิเวศ GNSS</a:t>
            </a:r>
            <a:endParaRPr lang="en-US" sz="3308" dirty="0"/>
          </a:p>
        </p:txBody>
      </p:sp>
      <p:sp>
        <p:nvSpPr>
          <p:cNvPr id="24" name="Text 11"/>
          <p:cNvSpPr/>
          <p:nvPr/>
        </p:nvSpPr>
        <p:spPr>
          <a:xfrm>
            <a:off x="12087225" y="7086600"/>
            <a:ext cx="971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923" dirty="0">
                <a:solidFill>
                  <a:srgbClr val="898B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Notebook</a:t>
            </a:r>
            <a:endParaRPr lang="en-US" sz="92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106400" cy="7315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7350" y="7172325"/>
            <a:ext cx="9525" cy="95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601075" y="1343025"/>
            <a:ext cx="3771900" cy="5495925"/>
          </a:xfrm>
          <a:prstGeom prst="roundRect">
            <a:avLst>
              <a:gd name="adj" fmla="val 3725"/>
            </a:avLst>
          </a:prstGeom>
          <a:solidFill>
            <a:srgbClr val="2E3741"/>
          </a:solidFill>
          <a:ln w="66675">
            <a:solidFill>
              <a:srgbClr val="2B343C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619750"/>
            <a:ext cx="85725" cy="762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5314950"/>
            <a:ext cx="85725" cy="762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2324100"/>
            <a:ext cx="3495675" cy="242887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77650" y="4000500"/>
            <a:ext cx="228600" cy="68580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2381250"/>
            <a:ext cx="885825" cy="752475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1600" y="2438400"/>
            <a:ext cx="590550" cy="476250"/>
          </a:xfrm>
          <a:prstGeom prst="rect">
            <a:avLst/>
          </a:prstGeom>
        </p:spPr>
      </p:pic>
      <p:sp>
        <p:nvSpPr>
          <p:cNvPr id="11" name="Shape 1"/>
          <p:cNvSpPr/>
          <p:nvPr/>
        </p:nvSpPr>
        <p:spPr>
          <a:xfrm>
            <a:off x="8591550" y="1409700"/>
            <a:ext cx="3781425" cy="609600"/>
          </a:xfrm>
          <a:prstGeom prst="roundRect">
            <a:avLst>
              <a:gd name="adj" fmla="val 6250"/>
            </a:avLst>
          </a:prstGeom>
          <a:solidFill>
            <a:srgbClr val="172128"/>
          </a:solidFill>
          <a:ln w="38100">
            <a:solidFill>
              <a:srgbClr val="1A232B"/>
            </a:solidFill>
            <a:prstDash val="solid"/>
          </a:ln>
        </p:spPr>
      </p:sp>
      <p:sp>
        <p:nvSpPr>
          <p:cNvPr id="12" name="Text 2"/>
          <p:cNvSpPr/>
          <p:nvPr/>
        </p:nvSpPr>
        <p:spPr>
          <a:xfrm>
            <a:off x="9315450" y="1524000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927" b="1" dirty="0">
                <a:solidFill>
                  <a:srgbClr val="CDD1D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ระบบโครงข่าย CORS</a:t>
            </a:r>
            <a:endParaRPr lang="en-US" sz="1927" dirty="0"/>
          </a:p>
        </p:txBody>
      </p:sp>
      <p:sp>
        <p:nvSpPr>
          <p:cNvPr id="13" name="Text 3"/>
          <p:cNvSpPr/>
          <p:nvPr/>
        </p:nvSpPr>
        <p:spPr>
          <a:xfrm>
            <a:off x="8982075" y="5505450"/>
            <a:ext cx="33051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755" dirty="0">
                <a:solidFill>
                  <a:srgbClr val="929FA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อ้างอิงระบบพิกัดประเทศได้ทันทีโดย</a:t>
            </a:r>
            <a:endParaRPr lang="en-US" sz="1755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755" dirty="0">
                <a:solidFill>
                  <a:srgbClr val="929FA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ไม่ต้องตั้ง Base เอง</a:t>
            </a:r>
            <a:endParaRPr lang="en-US" sz="1755" dirty="0"/>
          </a:p>
        </p:txBody>
      </p:sp>
      <p:sp>
        <p:nvSpPr>
          <p:cNvPr id="14" name="Text 4"/>
          <p:cNvSpPr/>
          <p:nvPr/>
        </p:nvSpPr>
        <p:spPr>
          <a:xfrm>
            <a:off x="9001125" y="5181600"/>
            <a:ext cx="14097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823" dirty="0">
                <a:solidFill>
                  <a:srgbClr val="8F9CA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สถานีฐานถาวร</a:t>
            </a:r>
            <a:endParaRPr lang="en-US" sz="1823" dirty="0"/>
          </a:p>
        </p:txBody>
      </p:sp>
      <p:sp>
        <p:nvSpPr>
          <p:cNvPr id="15" name="Text 5"/>
          <p:cNvSpPr/>
          <p:nvPr/>
        </p:nvSpPr>
        <p:spPr>
          <a:xfrm>
            <a:off x="11601450" y="4772025"/>
            <a:ext cx="409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1173" dirty="0">
                <a:solidFill>
                  <a:srgbClr val="B1B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</a:t>
            </a:r>
            <a:endParaRPr lang="en-US" sz="1173" dirty="0"/>
          </a:p>
        </p:txBody>
      </p:sp>
      <p:sp>
        <p:nvSpPr>
          <p:cNvPr id="16" name="Text 6"/>
          <p:cNvSpPr/>
          <p:nvPr/>
        </p:nvSpPr>
        <p:spPr>
          <a:xfrm>
            <a:off x="9058275" y="4772025"/>
            <a:ext cx="17049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227" dirty="0">
                <a:solidFill>
                  <a:srgbClr val="B0B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Sturdy reference towers</a:t>
            </a:r>
            <a:endParaRPr lang="en-US" sz="1227" dirty="0"/>
          </a:p>
        </p:txBody>
      </p:sp>
      <p:sp>
        <p:nvSpPr>
          <p:cNvPr id="17" name="Text 7"/>
          <p:cNvSpPr/>
          <p:nvPr/>
        </p:nvSpPr>
        <p:spPr>
          <a:xfrm>
            <a:off x="11296650" y="4276725"/>
            <a:ext cx="400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6"/>
              </a:lnSpc>
              <a:buNone/>
            </a:pPr>
            <a:r>
              <a:rPr lang="en-US" sz="1078" dirty="0">
                <a:solidFill>
                  <a:srgbClr val="AEB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GNSS</a:t>
            </a:r>
            <a:endParaRPr lang="en-US" sz="1078" dirty="0"/>
          </a:p>
        </p:txBody>
      </p:sp>
      <p:sp>
        <p:nvSpPr>
          <p:cNvPr id="18" name="Text 8"/>
          <p:cNvSpPr/>
          <p:nvPr/>
        </p:nvSpPr>
        <p:spPr>
          <a:xfrm>
            <a:off x="11620500" y="3171825"/>
            <a:ext cx="590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45" dirty="0">
                <a:solidFill>
                  <a:srgbClr val="9573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1245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245" dirty="0">
                <a:solidFill>
                  <a:srgbClr val="9573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</a:t>
            </a:r>
            <a:endParaRPr lang="en-US" sz="1245" dirty="0"/>
          </a:p>
        </p:txBody>
      </p:sp>
      <p:sp>
        <p:nvSpPr>
          <p:cNvPr id="19" name="Text 9"/>
          <p:cNvSpPr/>
          <p:nvPr/>
        </p:nvSpPr>
        <p:spPr>
          <a:xfrm>
            <a:off x="8839200" y="32480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07"/>
              </a:lnSpc>
              <a:buNone/>
            </a:pPr>
            <a:r>
              <a:rPr lang="en-US" sz="1130" dirty="0">
                <a:solidFill>
                  <a:srgbClr val="5395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GNSS</a:t>
            </a:r>
            <a:endParaRPr lang="en-US" sz="1130" dirty="0"/>
          </a:p>
        </p:txBody>
      </p:sp>
      <p:sp>
        <p:nvSpPr>
          <p:cNvPr id="20" name="Shape 10"/>
          <p:cNvSpPr/>
          <p:nvPr/>
        </p:nvSpPr>
        <p:spPr>
          <a:xfrm>
            <a:off x="4629150" y="1581150"/>
            <a:ext cx="3810000" cy="5267325"/>
          </a:xfrm>
          <a:prstGeom prst="roundRect">
            <a:avLst>
              <a:gd name="adj" fmla="val 3625"/>
            </a:avLst>
          </a:prstGeom>
          <a:solidFill>
            <a:srgbClr val="2D3640"/>
          </a:solidFill>
          <a:ln/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5924550"/>
            <a:ext cx="76200" cy="76200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5619750"/>
            <a:ext cx="76200" cy="76200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5314950"/>
            <a:ext cx="76200" cy="76200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4425" y="4752975"/>
            <a:ext cx="3248025" cy="30480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353175" y="4781550"/>
            <a:ext cx="419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1201" dirty="0">
                <a:solidFill>
                  <a:srgbClr val="B5B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</a:t>
            </a:r>
            <a:endParaRPr lang="en-US" sz="1201" dirty="0"/>
          </a:p>
        </p:txBody>
      </p:sp>
      <p:pic>
        <p:nvPicPr>
          <p:cNvPr id="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5375" y="2228850"/>
            <a:ext cx="3314700" cy="2524125"/>
          </a:xfrm>
          <a:prstGeom prst="rect">
            <a:avLst/>
          </a:prstGeom>
        </p:spPr>
      </p:pic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9525" y="2695575"/>
            <a:ext cx="466725" cy="438150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9675" y="2695575"/>
            <a:ext cx="466725" cy="428625"/>
          </a:xfrm>
          <a:prstGeom prst="rect">
            <a:avLst/>
          </a:prstGeom>
        </p:spPr>
      </p:pic>
      <p:pic>
        <p:nvPicPr>
          <p:cNvPr id="2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5550" y="2305050"/>
            <a:ext cx="504825" cy="352425"/>
          </a:xfrm>
          <a:prstGeom prst="rect">
            <a:avLst/>
          </a:prstGeom>
        </p:spPr>
      </p:pic>
      <p:sp>
        <p:nvSpPr>
          <p:cNvPr id="30" name="Shape 12"/>
          <p:cNvSpPr/>
          <p:nvPr/>
        </p:nvSpPr>
        <p:spPr>
          <a:xfrm>
            <a:off x="4667250" y="1409700"/>
            <a:ext cx="3771900" cy="609600"/>
          </a:xfrm>
          <a:prstGeom prst="roundRect">
            <a:avLst>
              <a:gd name="adj" fmla="val 5859"/>
            </a:avLst>
          </a:prstGeom>
          <a:solidFill>
            <a:srgbClr val="172128"/>
          </a:solidFill>
          <a:ln w="9525">
            <a:solidFill>
              <a:srgbClr val="1A232B"/>
            </a:solidFill>
            <a:prstDash val="solid"/>
          </a:ln>
        </p:spPr>
      </p:sp>
      <p:sp>
        <p:nvSpPr>
          <p:cNvPr id="31" name="Text 13"/>
          <p:cNvSpPr/>
          <p:nvPr/>
        </p:nvSpPr>
        <p:spPr>
          <a:xfrm>
            <a:off x="5591175" y="1552575"/>
            <a:ext cx="1962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954" b="1" dirty="0">
                <a:solidFill>
                  <a:srgbClr val="CAC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PPP &amp; PPP-RTK</a:t>
            </a:r>
            <a:endParaRPr lang="en-US" sz="1954" dirty="0"/>
          </a:p>
        </p:txBody>
      </p:sp>
      <p:sp>
        <p:nvSpPr>
          <p:cNvPr id="32" name="Text 14"/>
          <p:cNvSpPr/>
          <p:nvPr/>
        </p:nvSpPr>
        <p:spPr>
          <a:xfrm>
            <a:off x="5067300" y="5800725"/>
            <a:ext cx="31051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777" dirty="0">
                <a:solidFill>
                  <a:srgbClr val="8F9BA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ครอบคลุมระดับทวีป เหมาะสำหรับ</a:t>
            </a:r>
            <a:endParaRPr lang="en-US" sz="1777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777" dirty="0">
                <a:solidFill>
                  <a:srgbClr val="8F9BA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พื้นที่ห่างไกล</a:t>
            </a:r>
            <a:endParaRPr lang="en-US" sz="1777" dirty="0"/>
          </a:p>
        </p:txBody>
      </p:sp>
      <p:sp>
        <p:nvSpPr>
          <p:cNvPr id="33" name="Text 15"/>
          <p:cNvSpPr/>
          <p:nvPr/>
        </p:nvSpPr>
        <p:spPr>
          <a:xfrm>
            <a:off x="5076825" y="5505450"/>
            <a:ext cx="2657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733" dirty="0">
                <a:solidFill>
                  <a:srgbClr val="909CA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รับค่าแก้ผ่านดาวเทียม (SSR)</a:t>
            </a:r>
            <a:endParaRPr lang="en-US" sz="1733" dirty="0"/>
          </a:p>
        </p:txBody>
      </p:sp>
      <p:sp>
        <p:nvSpPr>
          <p:cNvPr id="34" name="Text 16"/>
          <p:cNvSpPr/>
          <p:nvPr/>
        </p:nvSpPr>
        <p:spPr>
          <a:xfrm>
            <a:off x="5076825" y="5200650"/>
            <a:ext cx="2114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763" dirty="0">
                <a:solidFill>
                  <a:srgbClr val="8E9BA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ความแม่นยำ 3-10 ซม.</a:t>
            </a:r>
            <a:endParaRPr lang="en-US" sz="1763" dirty="0"/>
          </a:p>
        </p:txBody>
      </p:sp>
      <p:sp>
        <p:nvSpPr>
          <p:cNvPr id="35" name="Text 17"/>
          <p:cNvSpPr/>
          <p:nvPr/>
        </p:nvSpPr>
        <p:spPr>
          <a:xfrm>
            <a:off x="6629400" y="283845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3"/>
              </a:lnSpc>
              <a:buNone/>
            </a:pPr>
            <a:r>
              <a:rPr lang="en-US" sz="1127" dirty="0">
                <a:solidFill>
                  <a:srgbClr val="9B7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SSR</a:t>
            </a:r>
            <a:endParaRPr lang="en-US" sz="1127" dirty="0"/>
          </a:p>
        </p:txBody>
      </p:sp>
      <p:sp>
        <p:nvSpPr>
          <p:cNvPr id="36" name="Text 18"/>
          <p:cNvSpPr/>
          <p:nvPr/>
        </p:nvSpPr>
        <p:spPr>
          <a:xfrm>
            <a:off x="7667625" y="2438400"/>
            <a:ext cx="428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1156" dirty="0">
                <a:solidFill>
                  <a:srgbClr val="5095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GNSS</a:t>
            </a:r>
            <a:endParaRPr lang="en-US" sz="1156" dirty="0"/>
          </a:p>
        </p:txBody>
      </p:sp>
      <p:sp>
        <p:nvSpPr>
          <p:cNvPr id="37" name="Shape 19"/>
          <p:cNvSpPr/>
          <p:nvPr/>
        </p:nvSpPr>
        <p:spPr>
          <a:xfrm>
            <a:off x="723900" y="1333500"/>
            <a:ext cx="3781425" cy="5505450"/>
          </a:xfrm>
          <a:prstGeom prst="roundRect">
            <a:avLst>
              <a:gd name="adj" fmla="val 2141"/>
            </a:avLst>
          </a:prstGeom>
          <a:solidFill>
            <a:srgbClr val="2C3841"/>
          </a:solidFill>
          <a:ln w="47625">
            <a:solidFill>
              <a:srgbClr val="29343C"/>
            </a:solidFill>
            <a:prstDash val="solid"/>
          </a:ln>
        </p:spPr>
      </p:sp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2500" y="6229350"/>
            <a:ext cx="76200" cy="85725"/>
          </a:xfrm>
          <a:prstGeom prst="rect">
            <a:avLst/>
          </a:prstGeom>
        </p:spPr>
      </p:pic>
      <p:pic>
        <p:nvPicPr>
          <p:cNvPr id="3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500" y="5619750"/>
            <a:ext cx="76200" cy="76200"/>
          </a:xfrm>
          <a:prstGeom prst="rect">
            <a:avLst/>
          </a:prstGeom>
        </p:spPr>
      </p:pic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500" y="5314950"/>
            <a:ext cx="76200" cy="76200"/>
          </a:xfrm>
          <a:prstGeom prst="rect">
            <a:avLst/>
          </a:prstGeom>
        </p:spPr>
      </p:pic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300" y="2238375"/>
            <a:ext cx="3467100" cy="2895600"/>
          </a:xfrm>
          <a:prstGeom prst="rect">
            <a:avLst/>
          </a:prstGeom>
        </p:spPr>
      </p:pic>
      <p:sp>
        <p:nvSpPr>
          <p:cNvPr id="42" name="Shape 20"/>
          <p:cNvSpPr/>
          <p:nvPr/>
        </p:nvSpPr>
        <p:spPr>
          <a:xfrm>
            <a:off x="742950" y="1409700"/>
            <a:ext cx="3743325" cy="609600"/>
          </a:xfrm>
          <a:prstGeom prst="roundRect">
            <a:avLst>
              <a:gd name="adj" fmla="val 3906"/>
            </a:avLst>
          </a:prstGeom>
          <a:solidFill>
            <a:srgbClr val="172127"/>
          </a:solidFill>
          <a:ln w="9525">
            <a:solidFill>
              <a:srgbClr val="19232B"/>
            </a:solidFill>
            <a:prstDash val="solid"/>
          </a:ln>
        </p:spPr>
      </p:sp>
      <p:sp>
        <p:nvSpPr>
          <p:cNvPr id="43" name="Text 21"/>
          <p:cNvSpPr/>
          <p:nvPr/>
        </p:nvSpPr>
        <p:spPr>
          <a:xfrm>
            <a:off x="971550" y="1533525"/>
            <a:ext cx="3352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79"/>
              </a:lnSpc>
              <a:buNone/>
            </a:pPr>
            <a:r>
              <a:rPr lang="en-US" sz="1998" b="1" dirty="0">
                <a:solidFill>
                  <a:srgbClr val="D3D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RTK (Real-Time Kinematic)</a:t>
            </a:r>
            <a:endParaRPr lang="en-US" sz="1998" dirty="0"/>
          </a:p>
        </p:txBody>
      </p:sp>
      <p:sp>
        <p:nvSpPr>
          <p:cNvPr id="44" name="Text 22"/>
          <p:cNvSpPr/>
          <p:nvPr/>
        </p:nvSpPr>
        <p:spPr>
          <a:xfrm>
            <a:off x="1104900" y="5495925"/>
            <a:ext cx="32194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81"/>
              </a:lnSpc>
              <a:buNone/>
            </a:pPr>
            <a:r>
              <a:rPr lang="en-US" sz="1433" dirty="0">
                <a:solidFill>
                  <a:srgbClr val="8F9CA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ใช้สถานีฐานอ้างอิงในพื้นที่ (Local</a:t>
            </a:r>
            <a:endParaRPr lang="en-US" sz="1433" dirty="0"/>
          </a:p>
          <a:p>
            <a:pPr algn="l" indent="0" marL="0">
              <a:lnSpc>
                <a:spcPts val="3581"/>
              </a:lnSpc>
              <a:buNone/>
            </a:pPr>
            <a:r>
              <a:rPr lang="en-US" sz="1433" dirty="0">
                <a:solidFill>
                  <a:srgbClr val="8F9CA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Base) เวลาตั้งค่าลู่เข้า (TTFI) รวดเร็วเพียบ</a:t>
            </a:r>
            <a:endParaRPr lang="en-US" sz="1433" dirty="0"/>
          </a:p>
          <a:p>
            <a:pPr algn="l" indent="0" marL="0">
              <a:lnSpc>
                <a:spcPts val="3581"/>
              </a:lnSpc>
              <a:buNone/>
            </a:pPr>
            <a:r>
              <a:rPr lang="en-US" sz="1433" dirty="0">
                <a:solidFill>
                  <a:srgbClr val="8F9CA4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วินาที</a:t>
            </a:r>
            <a:endParaRPr lang="en-US" sz="1433" dirty="0"/>
          </a:p>
        </p:txBody>
      </p:sp>
      <p:sp>
        <p:nvSpPr>
          <p:cNvPr id="45" name="Text 23"/>
          <p:cNvSpPr/>
          <p:nvPr/>
        </p:nvSpPr>
        <p:spPr>
          <a:xfrm>
            <a:off x="1114425" y="5191125"/>
            <a:ext cx="19812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785" dirty="0">
                <a:solidFill>
                  <a:srgbClr val="8C99A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ความแม่นยำ 1-2 ซม.</a:t>
            </a:r>
            <a:endParaRPr lang="en-US" sz="1785" dirty="0"/>
          </a:p>
        </p:txBody>
      </p:sp>
      <p:sp>
        <p:nvSpPr>
          <p:cNvPr id="46" name="Text 24"/>
          <p:cNvSpPr/>
          <p:nvPr/>
        </p:nvSpPr>
        <p:spPr>
          <a:xfrm>
            <a:off x="3419475" y="4772025"/>
            <a:ext cx="419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1201" dirty="0">
                <a:solidFill>
                  <a:srgbClr val="B2BA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</a:t>
            </a:r>
            <a:endParaRPr lang="en-US" sz="1201" dirty="0"/>
          </a:p>
        </p:txBody>
      </p:sp>
      <p:sp>
        <p:nvSpPr>
          <p:cNvPr id="47" name="Text 25"/>
          <p:cNvSpPr/>
          <p:nvPr/>
        </p:nvSpPr>
        <p:spPr>
          <a:xfrm>
            <a:off x="3724275" y="42481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5"/>
              </a:lnSpc>
              <a:buNone/>
            </a:pPr>
            <a:r>
              <a:rPr lang="en-US" sz="1130" dirty="0">
                <a:solidFill>
                  <a:srgbClr val="AEB4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GNSS</a:t>
            </a:r>
            <a:endParaRPr lang="en-US" sz="1130" dirty="0"/>
          </a:p>
        </p:txBody>
      </p:sp>
      <p:sp>
        <p:nvSpPr>
          <p:cNvPr id="48" name="Text 26"/>
          <p:cNvSpPr/>
          <p:nvPr/>
        </p:nvSpPr>
        <p:spPr>
          <a:xfrm>
            <a:off x="923925" y="3924300"/>
            <a:ext cx="533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63"/>
              </a:lnSpc>
              <a:buNone/>
            </a:pPr>
            <a:r>
              <a:rPr lang="en-US" sz="1309" dirty="0">
                <a:solidFill>
                  <a:srgbClr val="A9A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309" dirty="0"/>
          </a:p>
          <a:p>
            <a:pPr algn="ctr" indent="0" marL="0">
              <a:lnSpc>
                <a:spcPts val="1363"/>
              </a:lnSpc>
              <a:buNone/>
            </a:pPr>
            <a:r>
              <a:rPr lang="en-US" sz="1309" dirty="0">
                <a:solidFill>
                  <a:srgbClr val="A9A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</a:t>
            </a:r>
            <a:endParaRPr lang="en-US" sz="1309" dirty="0"/>
          </a:p>
        </p:txBody>
      </p:sp>
      <p:sp>
        <p:nvSpPr>
          <p:cNvPr id="49" name="Text 27"/>
          <p:cNvSpPr/>
          <p:nvPr/>
        </p:nvSpPr>
        <p:spPr>
          <a:xfrm>
            <a:off x="2314575" y="380047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8" dirty="0">
                <a:solidFill>
                  <a:srgbClr val="977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radio/4G</a:t>
            </a:r>
            <a:endParaRPr lang="en-US" sz="1208" dirty="0"/>
          </a:p>
        </p:txBody>
      </p:sp>
      <p:sp>
        <p:nvSpPr>
          <p:cNvPr id="50" name="Text 28"/>
          <p:cNvSpPr/>
          <p:nvPr/>
        </p:nvSpPr>
        <p:spPr>
          <a:xfrm>
            <a:off x="3581400" y="324802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3"/>
              </a:lnSpc>
              <a:buNone/>
            </a:pPr>
            <a:r>
              <a:rPr lang="en-US" sz="1098" dirty="0">
                <a:solidFill>
                  <a:srgbClr val="5395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GNSS</a:t>
            </a:r>
            <a:endParaRPr lang="en-US" sz="1098" dirty="0"/>
          </a:p>
        </p:txBody>
      </p:sp>
      <p:sp>
        <p:nvSpPr>
          <p:cNvPr id="51" name="Text 29"/>
          <p:cNvSpPr/>
          <p:nvPr/>
        </p:nvSpPr>
        <p:spPr>
          <a:xfrm>
            <a:off x="1543050" y="324802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1098" dirty="0">
                <a:solidFill>
                  <a:srgbClr val="549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GNSS</a:t>
            </a:r>
            <a:endParaRPr lang="en-US" sz="1098" dirty="0"/>
          </a:p>
        </p:txBody>
      </p:sp>
      <p:sp>
        <p:nvSpPr>
          <p:cNvPr id="52" name="Text 30"/>
          <p:cNvSpPr/>
          <p:nvPr/>
        </p:nvSpPr>
        <p:spPr>
          <a:xfrm>
            <a:off x="12087225" y="7096125"/>
            <a:ext cx="942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713" dirty="0">
                <a:solidFill>
                  <a:srgbClr val="9598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Notebook</a:t>
            </a:r>
            <a:endParaRPr lang="en-US" sz="713" dirty="0"/>
          </a:p>
        </p:txBody>
      </p:sp>
      <p:sp>
        <p:nvSpPr>
          <p:cNvPr id="53" name="Text 31"/>
          <p:cNvSpPr/>
          <p:nvPr/>
        </p:nvSpPr>
        <p:spPr>
          <a:xfrm>
            <a:off x="742950" y="447675"/>
            <a:ext cx="9077325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75"/>
              </a:lnSpc>
              <a:buNone/>
            </a:pPr>
            <a:r>
              <a:rPr lang="en-US" sz="3840" b="1" dirty="0">
                <a:solidFill>
                  <a:srgbClr val="E4E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สถาปัตยกรรมการแก้ค่าความคลาดเคลื่อน</a:t>
            </a:r>
            <a:endParaRPr lang="en-US" sz="3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106400" cy="7315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7134225"/>
            <a:ext cx="114300" cy="76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150" y="4219575"/>
            <a:ext cx="28575" cy="1333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275" y="3781425"/>
            <a:ext cx="638175" cy="52387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9010650" y="3028950"/>
            <a:ext cx="3457575" cy="3200400"/>
          </a:xfrm>
          <a:prstGeom prst="roundRect">
            <a:avLst>
              <a:gd name="adj" fmla="val 744"/>
            </a:avLst>
          </a:prstGeom>
          <a:solidFill>
            <a:srgbClr val="2B3338"/>
          </a:solidFill>
          <a:ln w="19050">
            <a:solidFill>
              <a:srgbClr val="3F4143"/>
            </a:solidFill>
            <a:prstDash val="solid"/>
          </a:ln>
        </p:spPr>
      </p:sp>
      <p:sp>
        <p:nvSpPr>
          <p:cNvPr id="7" name="Text 1"/>
          <p:cNvSpPr/>
          <p:nvPr/>
        </p:nvSpPr>
        <p:spPr>
          <a:xfrm>
            <a:off x="10868025" y="5324475"/>
            <a:ext cx="14382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485" b="1" dirty="0">
                <a:solidFill>
                  <a:srgbClr val="BCC0C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Orthophoto</a:t>
            </a:r>
            <a:pPr algn="ctr" indent="0" marL="0">
              <a:lnSpc>
                <a:spcPts val="1725"/>
              </a:lnSpc>
              <a:buNone/>
            </a:pPr>
            <a:endParaRPr lang="en-US" sz="1208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sz="1208" dirty="0">
                <a:solidFill>
                  <a:srgbClr val="A7ACA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(แผนที่ภาพถ่ายดัดแก้)</a:t>
            </a:r>
            <a:endParaRPr lang="en-US" sz="1208" dirty="0"/>
          </a:p>
        </p:txBody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0" y="3743325"/>
            <a:ext cx="1438275" cy="14287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239250" y="5543550"/>
            <a:ext cx="1381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b="1" dirty="0">
                <a:solidFill>
                  <a:srgbClr val="A5ABA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(แบบจำลองความสูง)</a:t>
            </a:r>
            <a:endParaRPr lang="en-US" sz="1155" dirty="0"/>
          </a:p>
        </p:txBody>
      </p:sp>
      <p:sp>
        <p:nvSpPr>
          <p:cNvPr id="10" name="Text 3"/>
          <p:cNvSpPr/>
          <p:nvPr/>
        </p:nvSpPr>
        <p:spPr>
          <a:xfrm>
            <a:off x="9715500" y="5314950"/>
            <a:ext cx="438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3"/>
              </a:lnSpc>
              <a:buNone/>
            </a:pPr>
            <a:r>
              <a:rPr lang="en-US" sz="1506" b="1" dirty="0">
                <a:solidFill>
                  <a:srgbClr val="C6CA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DSM</a:t>
            </a:r>
            <a:endParaRPr lang="en-US" sz="1506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0675" y="3743325"/>
            <a:ext cx="1428750" cy="142875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0650" y="2981325"/>
            <a:ext cx="3457575" cy="5715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9020175" y="2200275"/>
            <a:ext cx="3448050" cy="781050"/>
          </a:xfrm>
          <a:prstGeom prst="roundRect">
            <a:avLst>
              <a:gd name="adj" fmla="val 915"/>
            </a:avLst>
          </a:prstGeom>
          <a:solidFill>
            <a:srgbClr val="3D4750"/>
          </a:solidFill>
          <a:ln w="9525">
            <a:solidFill>
              <a:srgbClr val="50565B"/>
            </a:solidFill>
            <a:prstDash val="solid"/>
          </a:ln>
        </p:spPr>
      </p:sp>
      <p:sp>
        <p:nvSpPr>
          <p:cNvPr id="14" name="Text 5"/>
          <p:cNvSpPr/>
          <p:nvPr/>
        </p:nvSpPr>
        <p:spPr>
          <a:xfrm>
            <a:off x="9572625" y="2428875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95" b="1" dirty="0">
                <a:solidFill>
                  <a:srgbClr val="D7DBD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ผลลัพธ์เชิงวิศวกรรม</a:t>
            </a:r>
            <a:endParaRPr lang="en-US" sz="1995" dirty="0"/>
          </a:p>
        </p:txBody>
      </p:sp>
      <p:sp>
        <p:nvSpPr>
          <p:cNvPr id="15" name="Text 6"/>
          <p:cNvSpPr/>
          <p:nvPr/>
        </p:nvSpPr>
        <p:spPr>
          <a:xfrm>
            <a:off x="10868025" y="3181350"/>
            <a:ext cx="14573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33" b="1" dirty="0">
                <a:solidFill>
                  <a:srgbClr val="C1C5C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Orthophoto</a:t>
            </a:r>
            <a:endParaRPr lang="en-US" sz="1133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133" b="1" dirty="0">
                <a:solidFill>
                  <a:srgbClr val="C1C5C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(แผนที่ภาพถ่ายดัดแก้)</a:t>
            </a:r>
            <a:endParaRPr lang="en-US" sz="1133" dirty="0"/>
          </a:p>
        </p:txBody>
      </p:sp>
      <p:sp>
        <p:nvSpPr>
          <p:cNvPr id="16" name="Text 7"/>
          <p:cNvSpPr/>
          <p:nvPr/>
        </p:nvSpPr>
        <p:spPr>
          <a:xfrm>
            <a:off x="9239250" y="3429000"/>
            <a:ext cx="1381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40" b="1" dirty="0">
                <a:solidFill>
                  <a:srgbClr val="A4A9A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(แบบจำลองความสูง)</a:t>
            </a:r>
            <a:endParaRPr lang="en-US" sz="1140" dirty="0"/>
          </a:p>
        </p:txBody>
      </p:sp>
      <p:sp>
        <p:nvSpPr>
          <p:cNvPr id="17" name="Text 8"/>
          <p:cNvSpPr/>
          <p:nvPr/>
        </p:nvSpPr>
        <p:spPr>
          <a:xfrm>
            <a:off x="9705975" y="3200400"/>
            <a:ext cx="447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1539" b="1" dirty="0">
                <a:solidFill>
                  <a:srgbClr val="C5C9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DSM</a:t>
            </a:r>
            <a:endParaRPr lang="en-US" sz="1539" dirty="0"/>
          </a:p>
        </p:txBody>
      </p:sp>
      <p:sp>
        <p:nvSpPr>
          <p:cNvPr id="18" name="Text 9"/>
          <p:cNvSpPr/>
          <p:nvPr/>
        </p:nvSpPr>
        <p:spPr>
          <a:xfrm>
            <a:off x="9172575" y="1885950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794" b="1" dirty="0">
                <a:solidFill>
                  <a:srgbClr val="D6DA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794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5750" y="3781425"/>
            <a:ext cx="647700" cy="523875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819650" y="3095625"/>
            <a:ext cx="3457575" cy="3143250"/>
          </a:xfrm>
          <a:prstGeom prst="rect">
            <a:avLst/>
          </a:prstGeom>
          <a:solidFill>
            <a:srgbClr val="2C363C"/>
          </a:solidFill>
          <a:ln w="19050">
            <a:solidFill>
              <a:srgbClr val="232B30"/>
            </a:solidFill>
            <a:prstDash val="solid"/>
          </a:ln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250" y="5838825"/>
            <a:ext cx="3009900" cy="25717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105400" y="5867400"/>
            <a:ext cx="2905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43" dirty="0">
                <a:solidFill>
                  <a:srgbClr val="EEB07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GCP และ Checkpoint เพื่อความถูกต้องสมบูรณ์</a:t>
            </a:r>
            <a:endParaRPr lang="en-US" sz="1043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4425" y="3143250"/>
            <a:ext cx="3267075" cy="2085975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9650" y="3028950"/>
            <a:ext cx="3457575" cy="66675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4829175" y="2200275"/>
            <a:ext cx="3438525" cy="819150"/>
          </a:xfrm>
          <a:prstGeom prst="roundRect">
            <a:avLst>
              <a:gd name="adj" fmla="val 1163"/>
            </a:avLst>
          </a:prstGeom>
          <a:solidFill>
            <a:srgbClr val="3D4750"/>
          </a:solidFill>
          <a:ln w="19050">
            <a:solidFill>
              <a:srgbClr val="4F555B"/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5724525" y="2352675"/>
            <a:ext cx="16859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973" b="1" dirty="0">
                <a:solidFill>
                  <a:srgbClr val="E0E3E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การประมวลผล
</a:t>
            </a:r>
            <a:pPr algn="ctr" indent="0" marL="0">
              <a:lnSpc>
                <a:spcPts val="2550"/>
              </a:lnSpc>
              <a:buNone/>
            </a:pPr>
            <a:r>
              <a:rPr lang="en-US" sz="1620" b="1" dirty="0">
                <a:solidFill>
                  <a:srgbClr val="CFD3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(SfM &amp; MVS)</a:t>
            </a:r>
            <a:endParaRPr lang="en-US" sz="1973" dirty="0"/>
          </a:p>
        </p:txBody>
      </p:sp>
      <p:sp>
        <p:nvSpPr>
          <p:cNvPr id="27" name="Text 14"/>
          <p:cNvSpPr/>
          <p:nvPr/>
        </p:nvSpPr>
        <p:spPr>
          <a:xfrm>
            <a:off x="5181600" y="5229225"/>
            <a:ext cx="2771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63"/>
              </a:lnSpc>
              <a:buNone/>
            </a:pPr>
            <a:r>
              <a:rPr lang="en-US" sz="1627" dirty="0">
                <a:solidFill>
                  <a:srgbClr val="C6CAC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จับคู่จุดลักษณะเด่น</a:t>
            </a:r>
            <a:endParaRPr lang="en-US" sz="1627" dirty="0"/>
          </a:p>
          <a:p>
            <a:pPr algn="ctr" indent="0" marL="0">
              <a:lnSpc>
                <a:spcPts val="2063"/>
              </a:lnSpc>
              <a:buNone/>
            </a:pPr>
            <a:r>
              <a:rPr lang="en-US" sz="1627" dirty="0">
                <a:solidFill>
                  <a:srgbClr val="C6CAC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สร้างกลุ่มเมฆจุดความหนาแน่นสูง</a:t>
            </a:r>
            <a:endParaRPr lang="en-US" sz="1627" dirty="0"/>
          </a:p>
        </p:txBody>
      </p:sp>
      <p:sp>
        <p:nvSpPr>
          <p:cNvPr id="28" name="Text 15"/>
          <p:cNvSpPr/>
          <p:nvPr/>
        </p:nvSpPr>
        <p:spPr>
          <a:xfrm>
            <a:off x="4981575" y="1885950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1"/>
              </a:lnSpc>
              <a:buNone/>
            </a:pPr>
            <a:r>
              <a:rPr lang="en-US" sz="1794" b="1" dirty="0">
                <a:solidFill>
                  <a:srgbClr val="DAD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794" dirty="0"/>
          </a:p>
        </p:txBody>
      </p:sp>
      <p:sp>
        <p:nvSpPr>
          <p:cNvPr id="29" name="Shape 16"/>
          <p:cNvSpPr/>
          <p:nvPr/>
        </p:nvSpPr>
        <p:spPr>
          <a:xfrm>
            <a:off x="628650" y="3057525"/>
            <a:ext cx="3457575" cy="3181350"/>
          </a:xfrm>
          <a:prstGeom prst="rect">
            <a:avLst/>
          </a:prstGeom>
          <a:solidFill>
            <a:srgbClr val="2D363C"/>
          </a:solidFill>
          <a:ln/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75" y="3152775"/>
            <a:ext cx="3076575" cy="201930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1123950" y="5210175"/>
            <a:ext cx="2514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88"/>
              </a:lnSpc>
              <a:buNone/>
            </a:pPr>
            <a:r>
              <a:rPr lang="en-US" sz="1425" dirty="0">
                <a:solidFill>
                  <a:srgbClr val="ACB0B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ส่วนซ้อนในแนวบิน ≥ 75%</a:t>
            </a:r>
            <a:endParaRPr lang="en-US" sz="1425" dirty="0"/>
          </a:p>
          <a:p>
            <a:pPr algn="ctr" indent="0" marL="0">
              <a:lnSpc>
                <a:spcPts val="1988"/>
              </a:lnSpc>
              <a:buNone/>
            </a:pPr>
            <a:r>
              <a:rPr lang="en-US" sz="1425" dirty="0">
                <a:solidFill>
                  <a:srgbClr val="ACB0B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ส่วนเกยระหว่างแนวบิน ≥ 60%</a:t>
            </a:r>
            <a:endParaRPr lang="en-US" sz="1425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3019425"/>
            <a:ext cx="3457575" cy="66675"/>
          </a:xfrm>
          <a:prstGeom prst="rect">
            <a:avLst/>
          </a:prstGeom>
        </p:spPr>
      </p:pic>
      <p:sp>
        <p:nvSpPr>
          <p:cNvPr id="33" name="Shape 18"/>
          <p:cNvSpPr/>
          <p:nvPr/>
        </p:nvSpPr>
        <p:spPr>
          <a:xfrm>
            <a:off x="638175" y="2200275"/>
            <a:ext cx="3448050" cy="819150"/>
          </a:xfrm>
          <a:prstGeom prst="roundRect">
            <a:avLst>
              <a:gd name="adj" fmla="val 1163"/>
            </a:avLst>
          </a:prstGeom>
          <a:solidFill>
            <a:srgbClr val="3D4750"/>
          </a:solidFill>
          <a:ln w="19050">
            <a:solidFill>
              <a:srgbClr val="4F555B"/>
            </a:solidFill>
            <a:prstDash val="solid"/>
          </a:ln>
        </p:spPr>
      </p:sp>
      <p:sp>
        <p:nvSpPr>
          <p:cNvPr id="34" name="Text 19"/>
          <p:cNvSpPr/>
          <p:nvPr/>
        </p:nvSpPr>
        <p:spPr>
          <a:xfrm>
            <a:off x="1476375" y="2314575"/>
            <a:ext cx="181927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800" dirty="0">
                <a:solidFill>
                  <a:srgbClr val="DBDF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การบินถ่ายภาพ</a:t>
            </a:r>
            <a:endParaRPr lang="en-US" sz="1800" dirty="0"/>
          </a:p>
          <a:p>
            <a:pPr algn="ctr" indent="0" marL="0">
              <a:lnSpc>
                <a:spcPts val="2438"/>
              </a:lnSpc>
              <a:buNone/>
            </a:pPr>
            <a:r>
              <a:rPr lang="en-US" sz="1800" dirty="0">
                <a:solidFill>
                  <a:srgbClr val="DBDFE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(Data Capture)</a:t>
            </a:r>
            <a:endParaRPr lang="en-US" sz="1800" dirty="0"/>
          </a:p>
        </p:txBody>
      </p:sp>
      <p:sp>
        <p:nvSpPr>
          <p:cNvPr id="35" name="Text 20"/>
          <p:cNvSpPr/>
          <p:nvPr/>
        </p:nvSpPr>
        <p:spPr>
          <a:xfrm>
            <a:off x="790575" y="1885950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1"/>
              </a:lnSpc>
              <a:buNone/>
            </a:pPr>
            <a:r>
              <a:rPr lang="en-US" sz="1794" b="1" dirty="0">
                <a:solidFill>
                  <a:srgbClr val="D9D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794" dirty="0"/>
          </a:p>
        </p:txBody>
      </p:sp>
      <p:sp>
        <p:nvSpPr>
          <p:cNvPr id="36" name="Text 21"/>
          <p:cNvSpPr/>
          <p:nvPr/>
        </p:nvSpPr>
        <p:spPr>
          <a:xfrm>
            <a:off x="704850" y="542925"/>
            <a:ext cx="112966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65" b="1" dirty="0">
                <a:solidFill>
                  <a:srgbClr val="DDDED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Reality Capture: การสำรวจด้วยภาพถ่ายทางอากาศ</a:t>
            </a:r>
            <a:endParaRPr lang="en-US" sz="3765" dirty="0"/>
          </a:p>
        </p:txBody>
      </p:sp>
      <p:sp>
        <p:nvSpPr>
          <p:cNvPr id="37" name="Text 22"/>
          <p:cNvSpPr/>
          <p:nvPr/>
        </p:nvSpPr>
        <p:spPr>
          <a:xfrm>
            <a:off x="12220575" y="7115175"/>
            <a:ext cx="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13" b="1" dirty="0">
                <a:solidFill>
                  <a:srgbClr val="9CA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Notebook</a:t>
            </a:r>
            <a:endParaRPr lang="en-US" sz="4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2026-10-08T08:16:01Z</dcterms:created>
  <dcterms:modified xsi:type="dcterms:W3CDTF">2026-10-08T08:16:01Z</dcterms:modified>
</cp:coreProperties>
</file>